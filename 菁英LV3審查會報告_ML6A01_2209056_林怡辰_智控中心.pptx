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747" r:id="rId2"/>
    <p:sldMasterId id="2147483758" r:id="rId3"/>
  </p:sldMasterIdLst>
  <p:notesMasterIdLst>
    <p:notesMasterId r:id="rId62"/>
  </p:notesMasterIdLst>
  <p:handoutMasterIdLst>
    <p:handoutMasterId r:id="rId63"/>
  </p:handoutMasterIdLst>
  <p:sldIdLst>
    <p:sldId id="352" r:id="rId4"/>
    <p:sldId id="461" r:id="rId5"/>
    <p:sldId id="356" r:id="rId6"/>
    <p:sldId id="319" r:id="rId7"/>
    <p:sldId id="397" r:id="rId8"/>
    <p:sldId id="414" r:id="rId9"/>
    <p:sldId id="413" r:id="rId10"/>
    <p:sldId id="415" r:id="rId11"/>
    <p:sldId id="411" r:id="rId12"/>
    <p:sldId id="412" r:id="rId13"/>
    <p:sldId id="454" r:id="rId14"/>
    <p:sldId id="456" r:id="rId15"/>
    <p:sldId id="402" r:id="rId16"/>
    <p:sldId id="403" r:id="rId17"/>
    <p:sldId id="404" r:id="rId18"/>
    <p:sldId id="405" r:id="rId19"/>
    <p:sldId id="406" r:id="rId20"/>
    <p:sldId id="407" r:id="rId21"/>
    <p:sldId id="408" r:id="rId22"/>
    <p:sldId id="409" r:id="rId23"/>
    <p:sldId id="410" r:id="rId24"/>
    <p:sldId id="425" r:id="rId25"/>
    <p:sldId id="426" r:id="rId26"/>
    <p:sldId id="430" r:id="rId27"/>
    <p:sldId id="429" r:id="rId28"/>
    <p:sldId id="427" r:id="rId29"/>
    <p:sldId id="419" r:id="rId30"/>
    <p:sldId id="421" r:id="rId31"/>
    <p:sldId id="424" r:id="rId32"/>
    <p:sldId id="423" r:id="rId33"/>
    <p:sldId id="422" r:id="rId34"/>
    <p:sldId id="398" r:id="rId35"/>
    <p:sldId id="431" r:id="rId36"/>
    <p:sldId id="432" r:id="rId37"/>
    <p:sldId id="433" r:id="rId38"/>
    <p:sldId id="434" r:id="rId39"/>
    <p:sldId id="435" r:id="rId40"/>
    <p:sldId id="437" r:id="rId41"/>
    <p:sldId id="436" r:id="rId42"/>
    <p:sldId id="438" r:id="rId43"/>
    <p:sldId id="399" r:id="rId44"/>
    <p:sldId id="439" r:id="rId45"/>
    <p:sldId id="440" r:id="rId46"/>
    <p:sldId id="441" r:id="rId47"/>
    <p:sldId id="442" r:id="rId48"/>
    <p:sldId id="443" r:id="rId49"/>
    <p:sldId id="444" r:id="rId50"/>
    <p:sldId id="445" r:id="rId51"/>
    <p:sldId id="446" r:id="rId52"/>
    <p:sldId id="401" r:id="rId53"/>
    <p:sldId id="447" r:id="rId54"/>
    <p:sldId id="448" r:id="rId55"/>
    <p:sldId id="449" r:id="rId56"/>
    <p:sldId id="450" r:id="rId57"/>
    <p:sldId id="451" r:id="rId58"/>
    <p:sldId id="459" r:id="rId59"/>
    <p:sldId id="460" r:id="rId60"/>
    <p:sldId id="452" r:id="rId6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2BC02B3F-39DE-4620-A1E7-6B3DCA79AB9F}">
          <p14:sldIdLst>
            <p14:sldId id="352"/>
            <p14:sldId id="461"/>
            <p14:sldId id="356"/>
            <p14:sldId id="319"/>
            <p14:sldId id="397"/>
          </p14:sldIdLst>
        </p14:section>
        <p14:section name="PI AOI- 同點比對" id="{F16EEE39-3948-4783-9D28-FF5C4B5214B1}">
          <p14:sldIdLst>
            <p14:sldId id="414"/>
            <p14:sldId id="413"/>
            <p14:sldId id="415"/>
          </p14:sldIdLst>
        </p14:section>
        <p14:section name="PI AOI- Density" id="{1F3E052A-D61E-4103-BAAC-439C236FC3DC}">
          <p14:sldIdLst>
            <p14:sldId id="411"/>
            <p14:sldId id="412"/>
            <p14:sldId id="454"/>
            <p14:sldId id="456"/>
          </p14:sldIdLst>
        </p14:section>
        <p14:section name="PI AOI- Inspection" id="{FF59108D-B069-433C-85B8-580ACBCA523E}">
          <p14:sldIdLst>
            <p14:sldId id="402"/>
            <p14:sldId id="403"/>
            <p14:sldId id="404"/>
            <p14:sldId id="405"/>
            <p14:sldId id="406"/>
          </p14:sldIdLst>
        </p14:section>
        <p14:section name="PI AOI- CAPA" id="{03F23C71-8B46-4A54-A70D-3846D1DE0C3D}">
          <p14:sldIdLst>
            <p14:sldId id="407"/>
            <p14:sldId id="408"/>
            <p14:sldId id="409"/>
            <p14:sldId id="410"/>
          </p14:sldIdLst>
        </p14:section>
        <p14:section name="MQC自動套圖" id="{A91A6AC1-3A75-4B66-9318-C22EA5C49D4A}">
          <p14:sldIdLst>
            <p14:sldId id="425"/>
            <p14:sldId id="426"/>
            <p14:sldId id="430"/>
            <p14:sldId id="429"/>
            <p14:sldId id="427"/>
          </p14:sldIdLst>
        </p14:section>
        <p14:section name="THK輔助決策" id="{92EAC6FB-6FBA-4DBF-A019-448C9106F263}">
          <p14:sldIdLst>
            <p14:sldId id="419"/>
            <p14:sldId id="421"/>
            <p14:sldId id="424"/>
            <p14:sldId id="423"/>
            <p14:sldId id="422"/>
          </p14:sldIdLst>
        </p14:section>
        <p14:section name="管理系統" id="{5E0482F3-94FB-4ABD-A4C6-90C64A5A0C29}">
          <p14:sldIdLst>
            <p14:sldId id="398"/>
          </p14:sldIdLst>
        </p14:section>
        <p14:section name="IMS" id="{76E80B01-0380-4192-BA4D-42ABFF6272ED}">
          <p14:sldIdLst>
            <p14:sldId id="431"/>
            <p14:sldId id="432"/>
          </p14:sldIdLst>
        </p14:section>
        <p14:section name="入口網頁" id="{2A4C853F-2E9F-4E91-97CF-864BE2CC905A}">
          <p14:sldIdLst>
            <p14:sldId id="433"/>
            <p14:sldId id="434"/>
          </p14:sldIdLst>
        </p14:section>
        <p14:section name="專案進度與效益管理" id="{D23E6F75-D7DF-48EF-9737-740DA73AE217}">
          <p14:sldIdLst>
            <p14:sldId id="435"/>
            <p14:sldId id="437"/>
            <p14:sldId id="436"/>
            <p14:sldId id="438"/>
          </p14:sldIdLst>
        </p14:section>
        <p14:section name="影像監控系統" id="{B385040A-36A4-4A3D-AAF1-5C4136272CC9}">
          <p14:sldIdLst>
            <p14:sldId id="399"/>
          </p14:sldIdLst>
        </p14:section>
        <p14:section name="CF鷹眼" id="{BF4B8F14-348C-48F0-9E5F-EB678AF07597}">
          <p14:sldIdLst>
            <p14:sldId id="439"/>
            <p14:sldId id="440"/>
          </p14:sldIdLst>
        </p14:section>
        <p14:section name="CHIPID" id="{E93CA804-2AD2-4505-8DDC-7F7DC72F8EFC}">
          <p14:sldIdLst>
            <p14:sldId id="441"/>
            <p14:sldId id="442"/>
            <p14:sldId id="443"/>
            <p14:sldId id="444"/>
            <p14:sldId id="445"/>
            <p14:sldId id="446"/>
          </p14:sldIdLst>
        </p14:section>
        <p14:section name="機台參數監控" id="{6471E617-B840-4154-A849-8A9E85A22617}">
          <p14:sldIdLst>
            <p14:sldId id="401"/>
            <p14:sldId id="447"/>
            <p14:sldId id="448"/>
            <p14:sldId id="449"/>
            <p14:sldId id="450"/>
            <p14:sldId id="451"/>
          </p14:sldIdLst>
        </p14:section>
        <p14:section name="其他補充" id="{DAAC2DF3-8EAC-49A8-B812-B8630A6A0C24}">
          <p14:sldIdLst>
            <p14:sldId id="459"/>
            <p14:sldId id="460"/>
            <p14:sldId id="452"/>
          </p14:sldIdLst>
        </p14:section>
        <p14:section name="other" id="{73319F26-A33A-4AF3-B13B-AD68E89949A3}">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62"/>
    <a:srgbClr val="FF6600"/>
    <a:srgbClr val="7F7F7F"/>
    <a:srgbClr val="E3F1F3"/>
    <a:srgbClr val="FFF3FE"/>
    <a:srgbClr val="FFF5C1"/>
    <a:srgbClr val="FFFFFF"/>
    <a:srgbClr val="BFBFBF"/>
    <a:srgbClr val="B9C1CF"/>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36" autoAdjust="0"/>
    <p:restoredTop sz="86866" autoAdjust="0"/>
  </p:normalViewPr>
  <p:slideViewPr>
    <p:cSldViewPr snapToGrid="0" showGuides="1">
      <p:cViewPr varScale="1">
        <p:scale>
          <a:sx n="133" d="100"/>
          <a:sy n="133" d="100"/>
        </p:scale>
        <p:origin x="1302" y="120"/>
      </p:cViewPr>
      <p:guideLst>
        <p:guide orient="horz" pos="1620"/>
        <p:guide pos="2880"/>
      </p:guideLst>
    </p:cSldViewPr>
  </p:slideViewPr>
  <p:notesTextViewPr>
    <p:cViewPr>
      <p:scale>
        <a:sx n="100" d="100"/>
        <a:sy n="100" d="100"/>
      </p:scale>
      <p:origin x="0" y="0"/>
    </p:cViewPr>
  </p:notesTextViewPr>
  <p:sorterViewPr>
    <p:cViewPr varScale="1">
      <p:scale>
        <a:sx n="1" d="1"/>
        <a:sy n="1" d="1"/>
      </p:scale>
      <p:origin x="0" y="-192"/>
    </p:cViewPr>
  </p:sorter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handoutMaster" Target="handoutMasters/handout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57B270-C74B-471D-B383-1C29E946AC0C}" type="datetimeFigureOut">
              <a:rPr lang="zh-TW" altLang="en-US" smtClean="0"/>
              <a:pPr/>
              <a:t>2025/12/24</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38B450-74C5-4B74-AE7C-959509467389}" type="slidenum">
              <a:rPr lang="zh-TW" altLang="en-US" smtClean="0"/>
              <a:pPr/>
              <a:t>‹#›</a:t>
            </a:fld>
            <a:endParaRPr lang="zh-TW" altLang="en-US"/>
          </a:p>
        </p:txBody>
      </p:sp>
    </p:spTree>
    <p:extLst>
      <p:ext uri="{BB962C8B-B14F-4D97-AF65-F5344CB8AC3E}">
        <p14:creationId xmlns:p14="http://schemas.microsoft.com/office/powerpoint/2010/main" val="3694024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20998-D27E-49AD-A846-29433AB49256}" type="datetimeFigureOut">
              <a:rPr lang="en-US" smtClean="0"/>
              <a:pPr/>
              <a:t>12/24/2025</a:t>
            </a:fld>
            <a:endParaRPr 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49B736-9D47-4B7E-9D53-4FA46E3FC287}" type="slidenum">
              <a:rPr lang="en-US" smtClean="0"/>
              <a:pPr/>
              <a:t>‹#›</a:t>
            </a:fld>
            <a:endParaRPr lang="en-US"/>
          </a:p>
        </p:txBody>
      </p:sp>
    </p:spTree>
    <p:extLst>
      <p:ext uri="{BB962C8B-B14F-4D97-AF65-F5344CB8AC3E}">
        <p14:creationId xmlns:p14="http://schemas.microsoft.com/office/powerpoint/2010/main" val="3207396558"/>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a:t>
            </a:fld>
            <a:endParaRPr lang="en-US" dirty="0"/>
          </a:p>
        </p:txBody>
      </p:sp>
    </p:spTree>
    <p:extLst>
      <p:ext uri="{BB962C8B-B14F-4D97-AF65-F5344CB8AC3E}">
        <p14:creationId xmlns:p14="http://schemas.microsoft.com/office/powerpoint/2010/main" val="1820282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3</a:t>
            </a:fld>
            <a:endParaRPr lang="en-US" dirty="0"/>
          </a:p>
        </p:txBody>
      </p:sp>
    </p:spTree>
    <p:extLst>
      <p:ext uri="{BB962C8B-B14F-4D97-AF65-F5344CB8AC3E}">
        <p14:creationId xmlns:p14="http://schemas.microsoft.com/office/powerpoint/2010/main" val="1166938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6</a:t>
            </a:fld>
            <a:endParaRPr lang="en-US"/>
          </a:p>
        </p:txBody>
      </p:sp>
    </p:spTree>
    <p:extLst>
      <p:ext uri="{BB962C8B-B14F-4D97-AF65-F5344CB8AC3E}">
        <p14:creationId xmlns:p14="http://schemas.microsoft.com/office/powerpoint/2010/main" val="2269327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同點比對資料源</a:t>
            </a:r>
            <a:r>
              <a:rPr lang="en-US" altLang="zh-TW" dirty="0" smtClean="0"/>
              <a:t>:AIDI + </a:t>
            </a:r>
            <a:r>
              <a:rPr lang="zh-TW" altLang="en-US" dirty="0" smtClean="0"/>
              <a:t>廠商網頁</a:t>
            </a:r>
            <a:r>
              <a:rPr lang="en-US" altLang="zh-TW" dirty="0" smtClean="0"/>
              <a:t>(SCANTIME) </a:t>
            </a:r>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7</a:t>
            </a:fld>
            <a:endParaRPr lang="en-US"/>
          </a:p>
        </p:txBody>
      </p:sp>
    </p:spTree>
    <p:extLst>
      <p:ext uri="{BB962C8B-B14F-4D97-AF65-F5344CB8AC3E}">
        <p14:creationId xmlns:p14="http://schemas.microsoft.com/office/powerpoint/2010/main" val="3066636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8</a:t>
            </a:fld>
            <a:endParaRPr lang="en-US"/>
          </a:p>
        </p:txBody>
      </p:sp>
    </p:spTree>
    <p:extLst>
      <p:ext uri="{BB962C8B-B14F-4D97-AF65-F5344CB8AC3E}">
        <p14:creationId xmlns:p14="http://schemas.microsoft.com/office/powerpoint/2010/main" val="527138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9</a:t>
            </a:fld>
            <a:endParaRPr lang="en-US"/>
          </a:p>
        </p:txBody>
      </p:sp>
    </p:spTree>
    <p:extLst>
      <p:ext uri="{BB962C8B-B14F-4D97-AF65-F5344CB8AC3E}">
        <p14:creationId xmlns:p14="http://schemas.microsoft.com/office/powerpoint/2010/main" val="3602594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10</a:t>
            </a:fld>
            <a:endParaRPr lang="en-US"/>
          </a:p>
        </p:txBody>
      </p:sp>
    </p:spTree>
    <p:extLst>
      <p:ext uri="{BB962C8B-B14F-4D97-AF65-F5344CB8AC3E}">
        <p14:creationId xmlns:p14="http://schemas.microsoft.com/office/powerpoint/2010/main" val="145372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11</a:t>
            </a:fld>
            <a:endParaRPr lang="en-US"/>
          </a:p>
        </p:txBody>
      </p:sp>
    </p:spTree>
    <p:extLst>
      <p:ext uri="{BB962C8B-B14F-4D97-AF65-F5344CB8AC3E}">
        <p14:creationId xmlns:p14="http://schemas.microsoft.com/office/powerpoint/2010/main" val="82551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12</a:t>
            </a:fld>
            <a:endParaRPr lang="en-US"/>
          </a:p>
        </p:txBody>
      </p:sp>
    </p:spTree>
    <p:extLst>
      <p:ext uri="{BB962C8B-B14F-4D97-AF65-F5344CB8AC3E}">
        <p14:creationId xmlns:p14="http://schemas.microsoft.com/office/powerpoint/2010/main" val="1942821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900" dirty="0" smtClean="0"/>
          </a:p>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13</a:t>
            </a:fld>
            <a:endParaRPr lang="en-US"/>
          </a:p>
        </p:txBody>
      </p:sp>
    </p:spTree>
    <p:extLst>
      <p:ext uri="{BB962C8B-B14F-4D97-AF65-F5344CB8AC3E}">
        <p14:creationId xmlns:p14="http://schemas.microsoft.com/office/powerpoint/2010/main" val="3034363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14</a:t>
            </a:fld>
            <a:endParaRPr lang="en-US"/>
          </a:p>
        </p:txBody>
      </p:sp>
    </p:spTree>
    <p:extLst>
      <p:ext uri="{BB962C8B-B14F-4D97-AF65-F5344CB8AC3E}">
        <p14:creationId xmlns:p14="http://schemas.microsoft.com/office/powerpoint/2010/main" val="2641476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900" dirty="0" smtClean="0"/>
              <a:t>統計與管制邏輯：</a:t>
            </a:r>
          </a:p>
          <a:p>
            <a:r>
              <a:rPr lang="zh-TW" altLang="en-US" sz="900" dirty="0" smtClean="0"/>
              <a:t>依</a:t>
            </a:r>
            <a:r>
              <a:rPr lang="en-US" altLang="zh-TW" sz="900" dirty="0" smtClean="0"/>
              <a:t>group by</a:t>
            </a:r>
            <a:r>
              <a:rPr lang="zh-TW" altLang="en-US" sz="900" dirty="0" smtClean="0"/>
              <a:t>計算</a:t>
            </a:r>
            <a:r>
              <a:rPr lang="en-US" altLang="zh-TW" sz="900" dirty="0" smtClean="0"/>
              <a:t>defect density</a:t>
            </a:r>
            <a:endParaRPr lang="zh-TW" altLang="en-US" sz="900" dirty="0" smtClean="0"/>
          </a:p>
          <a:p>
            <a:r>
              <a:rPr lang="zh-TW" altLang="en-US" sz="900" dirty="0" smtClean="0"/>
              <a:t>異常玻璃判定條件為單片</a:t>
            </a:r>
            <a:r>
              <a:rPr lang="en-US" altLang="zh-TW" sz="900" dirty="0" smtClean="0"/>
              <a:t>defect count</a:t>
            </a:r>
            <a:r>
              <a:rPr lang="zh-TW" altLang="en-US" sz="900" dirty="0" smtClean="0"/>
              <a:t>大於平均密度三倍</a:t>
            </a:r>
          </a:p>
          <a:p>
            <a:r>
              <a:rPr lang="zh-TW" altLang="en-US" sz="900" dirty="0" smtClean="0"/>
              <a:t>標準差計算包含未產生</a:t>
            </a:r>
            <a:r>
              <a:rPr lang="en-US" altLang="zh-TW" sz="900" dirty="0" smtClean="0"/>
              <a:t>defect</a:t>
            </a:r>
            <a:r>
              <a:rPr lang="zh-TW" altLang="en-US" sz="900" dirty="0" smtClean="0"/>
              <a:t>之玻璃（</a:t>
            </a:r>
            <a:r>
              <a:rPr lang="en-US" altLang="zh-TW" sz="900" dirty="0" smtClean="0"/>
              <a:t>0</a:t>
            </a:r>
            <a:r>
              <a:rPr lang="zh-TW" altLang="en-US" sz="900" dirty="0" smtClean="0"/>
              <a:t>）</a:t>
            </a:r>
          </a:p>
          <a:p>
            <a:r>
              <a:rPr lang="zh-TW" altLang="en-US" sz="900" dirty="0" smtClean="0"/>
              <a:t>依據平均值與標準差動態產生 </a:t>
            </a:r>
            <a:r>
              <a:rPr lang="en-US" altLang="zh-TW" sz="900" dirty="0" smtClean="0"/>
              <a:t>OOC</a:t>
            </a:r>
            <a:r>
              <a:rPr lang="zh-TW" altLang="en-US" sz="900" dirty="0" smtClean="0"/>
              <a:t>（</a:t>
            </a:r>
            <a:r>
              <a:rPr lang="en-US" altLang="zh-TW" sz="900" dirty="0" smtClean="0"/>
              <a:t>+3σ</a:t>
            </a:r>
            <a:r>
              <a:rPr lang="zh-TW" altLang="en-US" sz="900" dirty="0" smtClean="0"/>
              <a:t>）與 </a:t>
            </a:r>
            <a:r>
              <a:rPr lang="en-US" altLang="zh-TW" sz="900" dirty="0" smtClean="0"/>
              <a:t>OOS</a:t>
            </a:r>
            <a:r>
              <a:rPr lang="zh-TW" altLang="en-US" sz="900" dirty="0" smtClean="0"/>
              <a:t>（</a:t>
            </a:r>
            <a:r>
              <a:rPr lang="en-US" altLang="zh-TW" sz="900" dirty="0" smtClean="0"/>
              <a:t>+6σ</a:t>
            </a:r>
            <a:r>
              <a:rPr lang="zh-TW" altLang="en-US" sz="900" dirty="0" smtClean="0"/>
              <a:t>）規格線</a:t>
            </a:r>
            <a:endParaRPr lang="en-US" altLang="zh-TW" sz="900" dirty="0" smtClean="0"/>
          </a:p>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15</a:t>
            </a:fld>
            <a:endParaRPr lang="en-US"/>
          </a:p>
        </p:txBody>
      </p:sp>
    </p:spTree>
    <p:extLst>
      <p:ext uri="{BB962C8B-B14F-4D97-AF65-F5344CB8AC3E}">
        <p14:creationId xmlns:p14="http://schemas.microsoft.com/office/powerpoint/2010/main" val="228751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16</a:t>
            </a:fld>
            <a:endParaRPr lang="en-US"/>
          </a:p>
        </p:txBody>
      </p:sp>
    </p:spTree>
    <p:extLst>
      <p:ext uri="{BB962C8B-B14F-4D97-AF65-F5344CB8AC3E}">
        <p14:creationId xmlns:p14="http://schemas.microsoft.com/office/powerpoint/2010/main" val="954392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17</a:t>
            </a:fld>
            <a:endParaRPr lang="en-US"/>
          </a:p>
        </p:txBody>
      </p:sp>
    </p:spTree>
    <p:extLst>
      <p:ext uri="{BB962C8B-B14F-4D97-AF65-F5344CB8AC3E}">
        <p14:creationId xmlns:p14="http://schemas.microsoft.com/office/powerpoint/2010/main" val="2141109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18</a:t>
            </a:fld>
            <a:endParaRPr lang="en-US"/>
          </a:p>
        </p:txBody>
      </p:sp>
    </p:spTree>
    <p:extLst>
      <p:ext uri="{BB962C8B-B14F-4D97-AF65-F5344CB8AC3E}">
        <p14:creationId xmlns:p14="http://schemas.microsoft.com/office/powerpoint/2010/main" val="477066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跨資料庫以關聯鑑進行資料</a:t>
            </a:r>
            <a:r>
              <a:rPr lang="en-US" altLang="zh-TW" dirty="0" smtClean="0"/>
              <a:t>Join</a:t>
            </a:r>
          </a:p>
          <a:p>
            <a:r>
              <a:rPr lang="zh-TW" altLang="en-US" dirty="0" smtClean="0"/>
              <a:t>資料來源</a:t>
            </a:r>
          </a:p>
          <a:p>
            <a:r>
              <a:rPr lang="zh-TW" altLang="en-US" dirty="0" smtClean="0"/>
              <a:t>	</a:t>
            </a:r>
            <a:r>
              <a:rPr lang="en-US" altLang="zh-TW" dirty="0" smtClean="0"/>
              <a:t>•	</a:t>
            </a:r>
            <a:r>
              <a:rPr lang="zh-TW" altLang="en-US" dirty="0" smtClean="0"/>
              <a:t>原始資料表：</a:t>
            </a:r>
            <a:r>
              <a:rPr lang="en-US" altLang="zh-TW" dirty="0" err="1" smtClean="0"/>
              <a:t>aoi_summary</a:t>
            </a:r>
            <a:r>
              <a:rPr lang="en-US" altLang="zh-TW" dirty="0" smtClean="0"/>
              <a:t>_{aoi} / aoi_summary_aoi300_capa</a:t>
            </a:r>
          </a:p>
          <a:p>
            <a:r>
              <a:rPr lang="en-US" altLang="zh-TW" dirty="0" smtClean="0"/>
              <a:t>	•	</a:t>
            </a:r>
            <a:r>
              <a:rPr lang="zh-TW" altLang="en-US" dirty="0" smtClean="0"/>
              <a:t>單位資料：每一片 </a:t>
            </a:r>
            <a:r>
              <a:rPr lang="en-US" altLang="zh-TW" dirty="0" smtClean="0"/>
              <a:t>glass run </a:t>
            </a:r>
            <a:r>
              <a:rPr lang="zh-TW" altLang="en-US" dirty="0" smtClean="0"/>
              <a:t>記錄</a:t>
            </a:r>
          </a:p>
          <a:p>
            <a:r>
              <a:rPr lang="zh-TW" altLang="en-US" dirty="0" smtClean="0"/>
              <a:t>關鍵欄位</a:t>
            </a:r>
          </a:p>
          <a:p>
            <a:r>
              <a:rPr lang="zh-TW" altLang="en-US" dirty="0" smtClean="0"/>
              <a:t>	</a:t>
            </a:r>
            <a:r>
              <a:rPr lang="en-US" altLang="zh-TW" dirty="0" smtClean="0"/>
              <a:t>•	</a:t>
            </a:r>
            <a:r>
              <a:rPr lang="en-US" altLang="zh-TW" dirty="0" err="1" smtClean="0"/>
              <a:t>run_day</a:t>
            </a:r>
            <a:r>
              <a:rPr lang="zh-TW" altLang="en-US" dirty="0" smtClean="0"/>
              <a:t>：生產日期</a:t>
            </a:r>
          </a:p>
          <a:p>
            <a:r>
              <a:rPr lang="zh-TW" altLang="en-US" dirty="0" smtClean="0"/>
              <a:t>	</a:t>
            </a:r>
            <a:r>
              <a:rPr lang="en-US" altLang="zh-TW" dirty="0" smtClean="0"/>
              <a:t>•	scantime</a:t>
            </a:r>
            <a:r>
              <a:rPr lang="zh-TW" altLang="en-US" dirty="0" smtClean="0"/>
              <a:t>：實際掃描時間（用來算小時）</a:t>
            </a:r>
          </a:p>
          <a:p>
            <a:r>
              <a:rPr lang="zh-TW" altLang="en-US" dirty="0" smtClean="0"/>
              <a:t>	</a:t>
            </a:r>
            <a:r>
              <a:rPr lang="en-US" altLang="zh-TW" dirty="0" smtClean="0"/>
              <a:t>•	glass_id</a:t>
            </a:r>
            <a:r>
              <a:rPr lang="zh-TW" altLang="en-US" dirty="0" smtClean="0"/>
              <a:t>：玻璃片識別</a:t>
            </a:r>
          </a:p>
          <a:p>
            <a:r>
              <a:rPr lang="zh-TW" altLang="en-US" dirty="0" smtClean="0"/>
              <a:t>	</a:t>
            </a:r>
            <a:r>
              <a:rPr lang="en-US" altLang="zh-TW" dirty="0" smtClean="0"/>
              <a:t>•	recipe_id → </a:t>
            </a:r>
            <a:r>
              <a:rPr lang="zh-TW" altLang="en-US" dirty="0" smtClean="0"/>
              <a:t>推導 </a:t>
            </a:r>
            <a:r>
              <a:rPr lang="en-US" altLang="zh-TW" dirty="0" smtClean="0"/>
              <a:t>pi_type</a:t>
            </a:r>
          </a:p>
          <a:p>
            <a:r>
              <a:rPr lang="en-US" altLang="zh-TW" dirty="0" smtClean="0"/>
              <a:t>	•	</a:t>
            </a:r>
            <a:r>
              <a:rPr lang="en-US" altLang="zh-TW" dirty="0" err="1" smtClean="0"/>
              <a:t>target_count</a:t>
            </a:r>
            <a:r>
              <a:rPr lang="zh-TW" altLang="en-US" dirty="0" smtClean="0"/>
              <a:t>：每日目標產能（可編輯）</a:t>
            </a:r>
          </a:p>
          <a:p>
            <a:r>
              <a:rPr lang="zh-TW" altLang="en-US" dirty="0" smtClean="0"/>
              <a:t>	</a:t>
            </a:r>
            <a:r>
              <a:rPr lang="en-US" altLang="zh-TW" dirty="0" smtClean="0"/>
              <a:t>•	spec</a:t>
            </a:r>
            <a:r>
              <a:rPr lang="zh-TW" altLang="en-US" dirty="0" smtClean="0"/>
              <a:t>：管制門檻（可編輯）</a:t>
            </a:r>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19</a:t>
            </a:fld>
            <a:endParaRPr lang="en-US"/>
          </a:p>
        </p:txBody>
      </p:sp>
    </p:spTree>
    <p:extLst>
      <p:ext uri="{BB962C8B-B14F-4D97-AF65-F5344CB8AC3E}">
        <p14:creationId xmlns:p14="http://schemas.microsoft.com/office/powerpoint/2010/main" val="2406324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20</a:t>
            </a:fld>
            <a:endParaRPr lang="en-US"/>
          </a:p>
        </p:txBody>
      </p:sp>
    </p:spTree>
    <p:extLst>
      <p:ext uri="{BB962C8B-B14F-4D97-AF65-F5344CB8AC3E}">
        <p14:creationId xmlns:p14="http://schemas.microsoft.com/office/powerpoint/2010/main" val="3267957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21</a:t>
            </a:fld>
            <a:endParaRPr lang="en-US"/>
          </a:p>
        </p:txBody>
      </p:sp>
    </p:spTree>
    <p:extLst>
      <p:ext uri="{BB962C8B-B14F-4D97-AF65-F5344CB8AC3E}">
        <p14:creationId xmlns:p14="http://schemas.microsoft.com/office/powerpoint/2010/main" val="962815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22</a:t>
            </a:fld>
            <a:endParaRPr lang="en-US"/>
          </a:p>
        </p:txBody>
      </p:sp>
    </p:spTree>
    <p:extLst>
      <p:ext uri="{BB962C8B-B14F-4D97-AF65-F5344CB8AC3E}">
        <p14:creationId xmlns:p14="http://schemas.microsoft.com/office/powerpoint/2010/main" val="20057580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23</a:t>
            </a:fld>
            <a:endParaRPr lang="en-US"/>
          </a:p>
        </p:txBody>
      </p:sp>
    </p:spTree>
    <p:extLst>
      <p:ext uri="{BB962C8B-B14F-4D97-AF65-F5344CB8AC3E}">
        <p14:creationId xmlns:p14="http://schemas.microsoft.com/office/powerpoint/2010/main" val="7708657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24</a:t>
            </a:fld>
            <a:endParaRPr lang="en-US"/>
          </a:p>
        </p:txBody>
      </p:sp>
    </p:spTree>
    <p:extLst>
      <p:ext uri="{BB962C8B-B14F-4D97-AF65-F5344CB8AC3E}">
        <p14:creationId xmlns:p14="http://schemas.microsoft.com/office/powerpoint/2010/main" val="1877014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25</a:t>
            </a:fld>
            <a:endParaRPr lang="en-US"/>
          </a:p>
        </p:txBody>
      </p:sp>
    </p:spTree>
    <p:extLst>
      <p:ext uri="{BB962C8B-B14F-4D97-AF65-F5344CB8AC3E}">
        <p14:creationId xmlns:p14="http://schemas.microsoft.com/office/powerpoint/2010/main" val="2411890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26</a:t>
            </a:fld>
            <a:endParaRPr lang="en-US"/>
          </a:p>
        </p:txBody>
      </p:sp>
    </p:spTree>
    <p:extLst>
      <p:ext uri="{BB962C8B-B14F-4D97-AF65-F5344CB8AC3E}">
        <p14:creationId xmlns:p14="http://schemas.microsoft.com/office/powerpoint/2010/main" val="190661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27</a:t>
            </a:fld>
            <a:endParaRPr lang="en-US"/>
          </a:p>
        </p:txBody>
      </p:sp>
    </p:spTree>
    <p:extLst>
      <p:ext uri="{BB962C8B-B14F-4D97-AF65-F5344CB8AC3E}">
        <p14:creationId xmlns:p14="http://schemas.microsoft.com/office/powerpoint/2010/main" val="17959770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28</a:t>
            </a:fld>
            <a:endParaRPr lang="en-US"/>
          </a:p>
        </p:txBody>
      </p:sp>
    </p:spTree>
    <p:extLst>
      <p:ext uri="{BB962C8B-B14F-4D97-AF65-F5344CB8AC3E}">
        <p14:creationId xmlns:p14="http://schemas.microsoft.com/office/powerpoint/2010/main" val="3034514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29</a:t>
            </a:fld>
            <a:endParaRPr lang="en-US"/>
          </a:p>
        </p:txBody>
      </p:sp>
    </p:spTree>
    <p:extLst>
      <p:ext uri="{BB962C8B-B14F-4D97-AF65-F5344CB8AC3E}">
        <p14:creationId xmlns:p14="http://schemas.microsoft.com/office/powerpoint/2010/main" val="1114039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30</a:t>
            </a:fld>
            <a:endParaRPr lang="en-US"/>
          </a:p>
        </p:txBody>
      </p:sp>
    </p:spTree>
    <p:extLst>
      <p:ext uri="{BB962C8B-B14F-4D97-AF65-F5344CB8AC3E}">
        <p14:creationId xmlns:p14="http://schemas.microsoft.com/office/powerpoint/2010/main" val="2542988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31</a:t>
            </a:fld>
            <a:endParaRPr lang="en-US"/>
          </a:p>
        </p:txBody>
      </p:sp>
    </p:spTree>
    <p:extLst>
      <p:ext uri="{BB962C8B-B14F-4D97-AF65-F5344CB8AC3E}">
        <p14:creationId xmlns:p14="http://schemas.microsoft.com/office/powerpoint/2010/main" val="10108169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33</a:t>
            </a:fld>
            <a:endParaRPr lang="en-US"/>
          </a:p>
        </p:txBody>
      </p:sp>
    </p:spTree>
    <p:extLst>
      <p:ext uri="{BB962C8B-B14F-4D97-AF65-F5344CB8AC3E}">
        <p14:creationId xmlns:p14="http://schemas.microsoft.com/office/powerpoint/2010/main" val="172976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34</a:t>
            </a:fld>
            <a:endParaRPr lang="en-US"/>
          </a:p>
        </p:txBody>
      </p:sp>
    </p:spTree>
    <p:extLst>
      <p:ext uri="{BB962C8B-B14F-4D97-AF65-F5344CB8AC3E}">
        <p14:creationId xmlns:p14="http://schemas.microsoft.com/office/powerpoint/2010/main" val="22798837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35</a:t>
            </a:fld>
            <a:endParaRPr lang="en-US"/>
          </a:p>
        </p:txBody>
      </p:sp>
    </p:spTree>
    <p:extLst>
      <p:ext uri="{BB962C8B-B14F-4D97-AF65-F5344CB8AC3E}">
        <p14:creationId xmlns:p14="http://schemas.microsoft.com/office/powerpoint/2010/main" val="29394165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36</a:t>
            </a:fld>
            <a:endParaRPr lang="en-US"/>
          </a:p>
        </p:txBody>
      </p:sp>
    </p:spTree>
    <p:extLst>
      <p:ext uri="{BB962C8B-B14F-4D97-AF65-F5344CB8AC3E}">
        <p14:creationId xmlns:p14="http://schemas.microsoft.com/office/powerpoint/2010/main" val="2174034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37</a:t>
            </a:fld>
            <a:endParaRPr lang="en-US"/>
          </a:p>
        </p:txBody>
      </p:sp>
    </p:spTree>
    <p:extLst>
      <p:ext uri="{BB962C8B-B14F-4D97-AF65-F5344CB8AC3E}">
        <p14:creationId xmlns:p14="http://schemas.microsoft.com/office/powerpoint/2010/main" val="517011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38</a:t>
            </a:fld>
            <a:endParaRPr lang="en-US"/>
          </a:p>
        </p:txBody>
      </p:sp>
    </p:spTree>
    <p:extLst>
      <p:ext uri="{BB962C8B-B14F-4D97-AF65-F5344CB8AC3E}">
        <p14:creationId xmlns:p14="http://schemas.microsoft.com/office/powerpoint/2010/main" val="1559589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39</a:t>
            </a:fld>
            <a:endParaRPr lang="en-US"/>
          </a:p>
        </p:txBody>
      </p:sp>
    </p:spTree>
    <p:extLst>
      <p:ext uri="{BB962C8B-B14F-4D97-AF65-F5344CB8AC3E}">
        <p14:creationId xmlns:p14="http://schemas.microsoft.com/office/powerpoint/2010/main" val="36378795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40</a:t>
            </a:fld>
            <a:endParaRPr lang="en-US"/>
          </a:p>
        </p:txBody>
      </p:sp>
    </p:spTree>
    <p:extLst>
      <p:ext uri="{BB962C8B-B14F-4D97-AF65-F5344CB8AC3E}">
        <p14:creationId xmlns:p14="http://schemas.microsoft.com/office/powerpoint/2010/main" val="1181790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zh-TW" sz="900" b="1" dirty="0" smtClean="0">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10"/>
          </p:nvPr>
        </p:nvSpPr>
        <p:spPr/>
        <p:txBody>
          <a:bodyPr/>
          <a:lstStyle/>
          <a:p>
            <a:fld id="{5B49B736-9D47-4B7E-9D53-4FA46E3FC287}" type="slidenum">
              <a:rPr lang="en-US" smtClean="0"/>
              <a:t>42</a:t>
            </a:fld>
            <a:endParaRPr lang="en-US"/>
          </a:p>
        </p:txBody>
      </p:sp>
    </p:spTree>
    <p:extLst>
      <p:ext uri="{BB962C8B-B14F-4D97-AF65-F5344CB8AC3E}">
        <p14:creationId xmlns:p14="http://schemas.microsoft.com/office/powerpoint/2010/main" val="21398312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8B747AB-3FBA-4DEB-91D5-D9FE3B1B4AAF}" type="slidenum">
              <a:rPr lang="zh-TW" altLang="en-US" smtClean="0"/>
              <a:t>44</a:t>
            </a:fld>
            <a:endParaRPr lang="zh-TW" altLang="en-US"/>
          </a:p>
        </p:txBody>
      </p:sp>
    </p:spTree>
    <p:extLst>
      <p:ext uri="{BB962C8B-B14F-4D97-AF65-F5344CB8AC3E}">
        <p14:creationId xmlns:p14="http://schemas.microsoft.com/office/powerpoint/2010/main" val="12265342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8B747AB-3FBA-4DEB-91D5-D9FE3B1B4AAF}" type="slidenum">
              <a:rPr lang="zh-TW" altLang="en-US" smtClean="0"/>
              <a:t>46</a:t>
            </a:fld>
            <a:endParaRPr lang="zh-TW" altLang="en-US"/>
          </a:p>
        </p:txBody>
      </p:sp>
    </p:spTree>
    <p:extLst>
      <p:ext uri="{BB962C8B-B14F-4D97-AF65-F5344CB8AC3E}">
        <p14:creationId xmlns:p14="http://schemas.microsoft.com/office/powerpoint/2010/main" val="33315100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47</a:t>
            </a:fld>
            <a:endParaRPr lang="en-US"/>
          </a:p>
        </p:txBody>
      </p:sp>
    </p:spTree>
    <p:extLst>
      <p:ext uri="{BB962C8B-B14F-4D97-AF65-F5344CB8AC3E}">
        <p14:creationId xmlns:p14="http://schemas.microsoft.com/office/powerpoint/2010/main" val="12030383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B49B736-9D47-4B7E-9D53-4FA46E3FC287}" type="slidenum">
              <a:rPr lang="en-US" smtClean="0"/>
              <a:pPr/>
              <a:t>48</a:t>
            </a:fld>
            <a:endParaRPr lang="en-US"/>
          </a:p>
        </p:txBody>
      </p:sp>
    </p:spTree>
    <p:extLst>
      <p:ext uri="{BB962C8B-B14F-4D97-AF65-F5344CB8AC3E}">
        <p14:creationId xmlns:p14="http://schemas.microsoft.com/office/powerpoint/2010/main" val="39567887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8113" y="766763"/>
            <a:ext cx="6823075" cy="3838575"/>
          </a:xfrm>
        </p:spPr>
      </p:sp>
      <p:sp>
        <p:nvSpPr>
          <p:cNvPr id="3" name="備忘稿版面配置區 2"/>
          <p:cNvSpPr>
            <a:spLocks noGrp="1"/>
          </p:cNvSpPr>
          <p:nvPr>
            <p:ph type="body" idx="1"/>
          </p:nvPr>
        </p:nvSpPr>
        <p:spPr/>
        <p:txBody>
          <a:bodyPr>
            <a:normAutofit/>
          </a:bodyPr>
          <a:lstStyle/>
          <a:p>
            <a:pPr marL="171450" indent="-171450">
              <a:lnSpc>
                <a:spcPct val="150000"/>
              </a:lnSpc>
              <a:buFont typeface="+mj-lt"/>
              <a:buAutoNum type="arabicPeriod"/>
            </a:pPr>
            <a:r>
              <a:rPr lang="en-US" altLang="zh-TW" sz="900" b="1" dirty="0" smtClean="0">
                <a:latin typeface="微軟正黑體" pitchFamily="34" charset="-120"/>
                <a:ea typeface="微軟正黑體" pitchFamily="34" charset="-120"/>
              </a:rPr>
              <a:t>E-M-R</a:t>
            </a:r>
            <a:r>
              <a:rPr lang="zh-TW" altLang="en-US" sz="900" b="1" dirty="0" smtClean="0">
                <a:latin typeface="微軟正黑體" pitchFamily="34" charset="-120"/>
                <a:ea typeface="微軟正黑體" pitchFamily="34" charset="-120"/>
              </a:rPr>
              <a:t> 發生時是機台</a:t>
            </a:r>
            <a:r>
              <a:rPr lang="en-US" altLang="zh-TW" sz="900" b="1" dirty="0" smtClean="0">
                <a:latin typeface="微軟正黑體" pitchFamily="34" charset="-120"/>
                <a:ea typeface="微軟正黑體" pitchFamily="34" charset="-120"/>
              </a:rPr>
              <a:t>/</a:t>
            </a:r>
            <a:r>
              <a:rPr lang="zh-TW" altLang="en-US" sz="900" b="1" dirty="0" smtClean="0">
                <a:latin typeface="微軟正黑體" pitchFamily="34" charset="-120"/>
                <a:ea typeface="微軟正黑體" pitchFamily="34" charset="-120"/>
              </a:rPr>
              <a:t>來料狀況綜合表現的結果</a:t>
            </a:r>
            <a:r>
              <a:rPr lang="en-US" altLang="zh-TW" sz="900" b="1" dirty="0" smtClean="0">
                <a:latin typeface="微軟正黑體" pitchFamily="34" charset="-120"/>
                <a:ea typeface="微軟正黑體" pitchFamily="34" charset="-120"/>
              </a:rPr>
              <a:t>,</a:t>
            </a:r>
            <a:r>
              <a:rPr lang="zh-TW" altLang="en-US" sz="900" b="1" dirty="0" smtClean="0">
                <a:latin typeface="微軟正黑體" pitchFamily="34" charset="-120"/>
                <a:ea typeface="微軟正黑體" pitchFamily="34" charset="-120"/>
              </a:rPr>
              <a:t>目前僅能待</a:t>
            </a:r>
            <a:r>
              <a:rPr lang="en-US" altLang="zh-TW" sz="900" b="1" dirty="0" smtClean="0">
                <a:latin typeface="微軟正黑體" pitchFamily="34" charset="-120"/>
                <a:ea typeface="微軟正黑體" pitchFamily="34" charset="-120"/>
              </a:rPr>
              <a:t>TOS/LCV</a:t>
            </a:r>
            <a:r>
              <a:rPr lang="zh-TW" altLang="en-US" sz="900" b="1" dirty="0" smtClean="0">
                <a:latin typeface="微軟正黑體" pitchFamily="34" charset="-120"/>
                <a:ea typeface="微軟正黑體" pitchFamily="34" charset="-120"/>
              </a:rPr>
              <a:t>檢測異常發生</a:t>
            </a:r>
            <a:r>
              <a:rPr lang="en-US" altLang="zh-TW" sz="900" b="1" dirty="0" smtClean="0">
                <a:latin typeface="微軟正黑體" pitchFamily="34" charset="-120"/>
                <a:ea typeface="微軟正黑體" pitchFamily="34" charset="-120"/>
              </a:rPr>
              <a:t>,</a:t>
            </a:r>
            <a:r>
              <a:rPr lang="zh-TW" altLang="en-US" sz="900" b="1" dirty="0" smtClean="0">
                <a:latin typeface="微軟正黑體" pitchFamily="34" charset="-120"/>
                <a:ea typeface="微軟正黑體" pitchFamily="34" charset="-120"/>
              </a:rPr>
              <a:t>但透過監控可立即知道異常了 </a:t>
            </a:r>
            <a:endParaRPr lang="en-US" altLang="zh-TW" sz="900" b="1" dirty="0" smtClean="0">
              <a:latin typeface="微軟正黑體" pitchFamily="34" charset="-120"/>
              <a:ea typeface="微軟正黑體" pitchFamily="34" charset="-120"/>
            </a:endParaRPr>
          </a:p>
          <a:p>
            <a:pPr marL="171450" indent="-171450">
              <a:lnSpc>
                <a:spcPct val="150000"/>
              </a:lnSpc>
              <a:buFont typeface="+mj-lt"/>
              <a:buAutoNum type="arabicPeriod"/>
            </a:pPr>
            <a:r>
              <a:rPr lang="en-US" altLang="zh-TW" sz="900" b="1" dirty="0" smtClean="0">
                <a:latin typeface="微軟正黑體" pitchFamily="34" charset="-120"/>
                <a:ea typeface="微軟正黑體" pitchFamily="34" charset="-120"/>
              </a:rPr>
              <a:t>E-M-R</a:t>
            </a:r>
            <a:r>
              <a:rPr lang="zh-TW" altLang="en-US" sz="900" b="1" dirty="0" smtClean="0">
                <a:latin typeface="微軟正黑體" pitchFamily="34" charset="-120"/>
                <a:ea typeface="微軟正黑體" pitchFamily="34" charset="-120"/>
              </a:rPr>
              <a:t> </a:t>
            </a:r>
            <a:r>
              <a:rPr lang="en-US" altLang="zh-TW" sz="900" b="1" dirty="0" smtClean="0">
                <a:latin typeface="微軟正黑體" pitchFamily="34" charset="-120"/>
                <a:ea typeface="微軟正黑體" pitchFamily="34" charset="-120"/>
              </a:rPr>
              <a:t>By EQ </a:t>
            </a:r>
            <a:r>
              <a:rPr lang="zh-TW" altLang="en-US" sz="900" b="1" dirty="0" smtClean="0">
                <a:latin typeface="微軟正黑體" pitchFamily="34" charset="-120"/>
                <a:ea typeface="微軟正黑體" pitchFamily="34" charset="-120"/>
              </a:rPr>
              <a:t>可知道機台差異在哪或知道</a:t>
            </a:r>
            <a:r>
              <a:rPr lang="en-US" altLang="zh-TW" sz="900" b="1" dirty="0" smtClean="0">
                <a:latin typeface="微軟正黑體" pitchFamily="34" charset="-120"/>
                <a:ea typeface="微軟正黑體" pitchFamily="34" charset="-120"/>
              </a:rPr>
              <a:t>debug </a:t>
            </a:r>
            <a:r>
              <a:rPr lang="zh-TW" altLang="en-US" sz="900" b="1" dirty="0" smtClean="0">
                <a:latin typeface="微軟正黑體" pitchFamily="34" charset="-120"/>
                <a:ea typeface="微軟正黑體" pitchFamily="34" charset="-120"/>
              </a:rPr>
              <a:t>方向</a:t>
            </a:r>
            <a:endParaRPr lang="en-US" altLang="zh-TW" sz="900" b="1" dirty="0" smtClean="0">
              <a:latin typeface="微軟正黑體" pitchFamily="34" charset="-120"/>
              <a:ea typeface="微軟正黑體" pitchFamily="34" charset="-120"/>
            </a:endParaRPr>
          </a:p>
          <a:p>
            <a:pPr marL="171450" indent="-171450">
              <a:lnSpc>
                <a:spcPct val="150000"/>
              </a:lnSpc>
              <a:buFont typeface="+mj-lt"/>
              <a:buAutoNum type="arabicPeriod"/>
            </a:pPr>
            <a:r>
              <a:rPr lang="zh-TW" altLang="en-US" sz="900" b="1" dirty="0" smtClean="0">
                <a:latin typeface="微軟正黑體" pitchFamily="34" charset="-120"/>
                <a:ea typeface="微軟正黑體" pitchFamily="34" charset="-120"/>
              </a:rPr>
              <a:t>對於新產品導入常以</a:t>
            </a:r>
            <a:r>
              <a:rPr lang="en-US" altLang="zh-TW" sz="900" b="1" dirty="0" smtClean="0">
                <a:latin typeface="微軟正黑體" pitchFamily="34" charset="-120"/>
                <a:ea typeface="微軟正黑體" pitchFamily="34" charset="-120"/>
              </a:rPr>
              <a:t>CD</a:t>
            </a:r>
            <a:r>
              <a:rPr lang="zh-TW" altLang="en-US" sz="900" b="1" dirty="0" smtClean="0">
                <a:latin typeface="微軟正黑體" pitchFamily="34" charset="-120"/>
                <a:ea typeface="微軟正黑體" pitchFamily="34" charset="-120"/>
              </a:rPr>
              <a:t>為基準導入</a:t>
            </a:r>
            <a:r>
              <a:rPr lang="en-US" altLang="zh-TW" sz="900" b="1" dirty="0" smtClean="0">
                <a:latin typeface="微軟正黑體" pitchFamily="34" charset="-120"/>
                <a:ea typeface="微軟正黑體" pitchFamily="34" charset="-120"/>
              </a:rPr>
              <a:t>,</a:t>
            </a:r>
            <a:r>
              <a:rPr lang="zh-TW" altLang="en-US" sz="900" b="1" dirty="0" smtClean="0">
                <a:latin typeface="微軟正黑體" pitchFamily="34" charset="-120"/>
                <a:ea typeface="微軟正黑體" pitchFamily="34" charset="-120"/>
              </a:rPr>
              <a:t>但量產展機後</a:t>
            </a:r>
            <a:r>
              <a:rPr lang="en-US" altLang="zh-TW" sz="900" b="1" dirty="0" smtClean="0">
                <a:latin typeface="微軟正黑體" pitchFamily="34" charset="-120"/>
                <a:ea typeface="微軟正黑體" pitchFamily="34" charset="-120"/>
              </a:rPr>
              <a:t>process window </a:t>
            </a:r>
            <a:r>
              <a:rPr lang="zh-TW" altLang="en-US" sz="900" b="1" dirty="0" smtClean="0">
                <a:latin typeface="微軟正黑體" pitchFamily="34" charset="-120"/>
                <a:ea typeface="微軟正黑體" pitchFamily="34" charset="-120"/>
              </a:rPr>
              <a:t>無法預估，因此透過監控可知各項產品是否有</a:t>
            </a:r>
            <a:r>
              <a:rPr lang="en-US" altLang="zh-TW" sz="900" b="1" dirty="0" smtClean="0">
                <a:latin typeface="微軟正黑體" pitchFamily="34" charset="-120"/>
                <a:ea typeface="微軟正黑體" pitchFamily="34" charset="-120"/>
              </a:rPr>
              <a:t>process window risk</a:t>
            </a:r>
          </a:p>
          <a:p>
            <a:endParaRPr lang="zh-TW" altLang="en-US" i="0" dirty="0"/>
          </a:p>
        </p:txBody>
      </p:sp>
      <p:sp>
        <p:nvSpPr>
          <p:cNvPr id="4" name="投影片編號版面配置區 3"/>
          <p:cNvSpPr>
            <a:spLocks noGrp="1"/>
          </p:cNvSpPr>
          <p:nvPr>
            <p:ph type="sldNum" sz="quarter" idx="10"/>
          </p:nvPr>
        </p:nvSpPr>
        <p:spPr/>
        <p:txBody>
          <a:bodyPr/>
          <a:lstStyle/>
          <a:p>
            <a:pPr>
              <a:defRPr/>
            </a:pPr>
            <a:fld id="{BB8BD76A-2F67-42F1-9619-1A8D2E5EAE40}" type="slidenum">
              <a:rPr lang="zh-TW" altLang="en-US" smtClean="0">
                <a:solidFill>
                  <a:prstClr val="black"/>
                </a:solidFill>
              </a:rPr>
              <a:pPr>
                <a:defRPr/>
              </a:pPr>
              <a:t>51</a:t>
            </a:fld>
            <a:endParaRPr lang="zh-TW" altLang="en-US">
              <a:solidFill>
                <a:prstClr val="black"/>
              </a:solidFill>
            </a:endParaRPr>
          </a:p>
        </p:txBody>
      </p:sp>
    </p:spTree>
    <p:extLst>
      <p:ext uri="{BB962C8B-B14F-4D97-AF65-F5344CB8AC3E}">
        <p14:creationId xmlns:p14="http://schemas.microsoft.com/office/powerpoint/2010/main" val="26475832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FEFED83-6AD6-4F08-9C9D-670EC7E3736B}" type="slidenum">
              <a:rPr lang="zh-CN" altLang="en-US" smtClean="0"/>
              <a:pPr/>
              <a:t>52</a:t>
            </a:fld>
            <a:endParaRPr lang="zh-CN" altLang="en-US"/>
          </a:p>
        </p:txBody>
      </p:sp>
    </p:spTree>
    <p:extLst>
      <p:ext uri="{BB962C8B-B14F-4D97-AF65-F5344CB8AC3E}">
        <p14:creationId xmlns:p14="http://schemas.microsoft.com/office/powerpoint/2010/main" val="31679748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8B747AB-3FBA-4DEB-91D5-D9FE3B1B4AAF}" type="slidenum">
              <a:rPr lang="zh-TW" altLang="en-US" smtClean="0"/>
              <a:t>53</a:t>
            </a:fld>
            <a:endParaRPr lang="zh-TW" altLang="en-US"/>
          </a:p>
        </p:txBody>
      </p:sp>
    </p:spTree>
    <p:extLst>
      <p:ext uri="{BB962C8B-B14F-4D97-AF65-F5344CB8AC3E}">
        <p14:creationId xmlns:p14="http://schemas.microsoft.com/office/powerpoint/2010/main" val="17404939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8B747AB-3FBA-4DEB-91D5-D9FE3B1B4AAF}" type="slidenum">
              <a:rPr lang="zh-TW" altLang="en-US" smtClean="0"/>
              <a:t>54</a:t>
            </a:fld>
            <a:endParaRPr lang="zh-TW" altLang="en-US"/>
          </a:p>
        </p:txBody>
      </p:sp>
    </p:spTree>
    <p:extLst>
      <p:ext uri="{BB962C8B-B14F-4D97-AF65-F5344CB8AC3E}">
        <p14:creationId xmlns:p14="http://schemas.microsoft.com/office/powerpoint/2010/main" val="7412850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8B747AB-3FBA-4DEB-91D5-D9FE3B1B4AAF}" type="slidenum">
              <a:rPr lang="zh-TW" altLang="en-US" smtClean="0"/>
              <a:t>55</a:t>
            </a:fld>
            <a:endParaRPr lang="zh-TW" altLang="en-US"/>
          </a:p>
        </p:txBody>
      </p:sp>
    </p:spTree>
    <p:extLst>
      <p:ext uri="{BB962C8B-B14F-4D97-AF65-F5344CB8AC3E}">
        <p14:creationId xmlns:p14="http://schemas.microsoft.com/office/powerpoint/2010/main" val="13235344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用型別與非同步架構，讓 </a:t>
            </a:r>
            <a:r>
              <a:rPr lang="en-US" altLang="zh-TW" dirty="0" smtClean="0"/>
              <a:t>API </a:t>
            </a:r>
            <a:r>
              <a:rPr lang="zh-TW" altLang="en-US" dirty="0" smtClean="0"/>
              <a:t>同時兼顧效能、穩定性與可維護性。</a:t>
            </a:r>
            <a:endParaRPr lang="en-US" altLang="zh-TW" dirty="0" smtClean="0"/>
          </a:p>
          <a:p>
            <a:endParaRPr lang="zh-TW" altLang="en-US" dirty="0" smtClean="0"/>
          </a:p>
          <a:p>
            <a:r>
              <a:rPr lang="zh-TW" altLang="en-US" dirty="0" smtClean="0"/>
              <a:t>在 </a:t>
            </a:r>
            <a:r>
              <a:rPr lang="en-US" altLang="zh-TW" dirty="0" smtClean="0"/>
              <a:t>AOI </a:t>
            </a:r>
            <a:r>
              <a:rPr lang="zh-TW" altLang="en-US" dirty="0" smtClean="0"/>
              <a:t>系統中，用 </a:t>
            </a:r>
            <a:r>
              <a:rPr lang="en-US" altLang="zh-TW" dirty="0" smtClean="0"/>
              <a:t>FastAPI </a:t>
            </a:r>
            <a:r>
              <a:rPr lang="zh-TW" altLang="en-US" dirty="0" smtClean="0"/>
              <a:t>作為資料服務層，</a:t>
            </a:r>
          </a:p>
          <a:p>
            <a:r>
              <a:rPr lang="zh-TW" altLang="en-US" dirty="0" smtClean="0"/>
              <a:t>將 </a:t>
            </a:r>
            <a:r>
              <a:rPr lang="en-US" altLang="zh-TW" dirty="0" smtClean="0"/>
              <a:t>ETL </a:t>
            </a:r>
            <a:r>
              <a:rPr lang="zh-TW" altLang="en-US" dirty="0" smtClean="0"/>
              <a:t>後的統計結果與即時計算結果透過 </a:t>
            </a:r>
            <a:r>
              <a:rPr lang="en-US" altLang="zh-TW" dirty="0" smtClean="0"/>
              <a:t>API </a:t>
            </a:r>
            <a:r>
              <a:rPr lang="zh-TW" altLang="en-US" dirty="0" smtClean="0"/>
              <a:t>提供給前端，</a:t>
            </a:r>
          </a:p>
          <a:p>
            <a:r>
              <a:rPr lang="zh-TW" altLang="en-US" dirty="0" smtClean="0"/>
              <a:t>並利用型別驗證確保查詢參數與資料結構的穩定性。</a:t>
            </a:r>
            <a:endParaRPr lang="zh-TW" altLang="en-US" dirty="0"/>
          </a:p>
        </p:txBody>
      </p:sp>
      <p:sp>
        <p:nvSpPr>
          <p:cNvPr id="4" name="投影片編號版面配置區 3"/>
          <p:cNvSpPr>
            <a:spLocks noGrp="1"/>
          </p:cNvSpPr>
          <p:nvPr>
            <p:ph type="sldNum" sz="quarter" idx="5"/>
          </p:nvPr>
        </p:nvSpPr>
        <p:spPr/>
        <p:txBody>
          <a:bodyPr/>
          <a:lstStyle/>
          <a:p>
            <a:fld id="{5B49B736-9D47-4B7E-9D53-4FA46E3FC287}" type="slidenum">
              <a:rPr lang="en-US" smtClean="0"/>
              <a:pPr/>
              <a:t>56</a:t>
            </a:fld>
            <a:endParaRPr lang="en-US"/>
          </a:p>
        </p:txBody>
      </p:sp>
    </p:spTree>
    <p:extLst>
      <p:ext uri="{BB962C8B-B14F-4D97-AF65-F5344CB8AC3E}">
        <p14:creationId xmlns:p14="http://schemas.microsoft.com/office/powerpoint/2010/main" val="21201787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endParaRPr lang="en-US" altLang="zh-TW" sz="900" b="0" i="0" kern="1200" dirty="0">
              <a:solidFill>
                <a:schemeClr val="tx1"/>
              </a:solidFill>
              <a:effectLst/>
              <a:latin typeface="+mn-ea"/>
              <a:ea typeface="+mn-ea"/>
              <a:cs typeface="+mn-cs"/>
            </a:endParaRPr>
          </a:p>
        </p:txBody>
      </p:sp>
      <p:sp>
        <p:nvSpPr>
          <p:cNvPr id="4" name="投影片編號版面配置區 3"/>
          <p:cNvSpPr>
            <a:spLocks noGrp="1"/>
          </p:cNvSpPr>
          <p:nvPr>
            <p:ph type="sldNum" sz="quarter" idx="5"/>
          </p:nvPr>
        </p:nvSpPr>
        <p:spPr/>
        <p:txBody>
          <a:bodyPr/>
          <a:lstStyle/>
          <a:p>
            <a:fld id="{5B49B736-9D47-4B7E-9D53-4FA46E3FC287}" type="slidenum">
              <a:rPr lang="en-US" smtClean="0"/>
              <a:pPr/>
              <a:t>57</a:t>
            </a:fld>
            <a:endParaRPr lang="en-US"/>
          </a:p>
        </p:txBody>
      </p:sp>
    </p:spTree>
    <p:extLst>
      <p:ext uri="{BB962C8B-B14F-4D97-AF65-F5344CB8AC3E}">
        <p14:creationId xmlns:p14="http://schemas.microsoft.com/office/powerpoint/2010/main" val="2249685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Cover Page">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494472" y="644577"/>
            <a:ext cx="7117908" cy="1857461"/>
          </a:xfrm>
        </p:spPr>
        <p:txBody>
          <a:bodyPr anchor="b">
            <a:normAutofit/>
          </a:bodyPr>
          <a:lstStyle>
            <a:lvl1pPr algn="l">
              <a:defRPr sz="4000" b="0">
                <a:solidFill>
                  <a:schemeClr val="bg1"/>
                </a:solidFill>
                <a:latin typeface="+mj-lt"/>
              </a:defRPr>
            </a:lvl1pPr>
          </a:lstStyle>
          <a:p>
            <a:r>
              <a:rPr lang="en-US" altLang="zh-TW" dirty="0" smtClean="0"/>
              <a:t>PowerPoint Presentation</a:t>
            </a:r>
            <a:br>
              <a:rPr lang="en-US" altLang="zh-TW" dirty="0" smtClean="0"/>
            </a:br>
            <a:r>
              <a:rPr lang="en-US" altLang="zh-TW" dirty="0" smtClean="0"/>
              <a:t>Title Mabry Pro-Medium + </a:t>
            </a:r>
            <a:br>
              <a:rPr lang="en-US" altLang="zh-TW" dirty="0" smtClean="0"/>
            </a:br>
            <a:r>
              <a:rPr lang="en-US" altLang="zh-TW" dirty="0" err="1" smtClean="0"/>
              <a:t>Noto</a:t>
            </a:r>
            <a:r>
              <a:rPr lang="en-US" altLang="zh-TW" dirty="0" smtClean="0"/>
              <a:t> Sans TC Medium</a:t>
            </a:r>
            <a:endParaRPr lang="en-US" dirty="0"/>
          </a:p>
        </p:txBody>
      </p:sp>
      <p:sp>
        <p:nvSpPr>
          <p:cNvPr id="9" name="日期版面配置區 3">
            <a:extLst>
              <a:ext uri="{FF2B5EF4-FFF2-40B4-BE49-F238E27FC236}">
                <a16:creationId xmlns:a16="http://schemas.microsoft.com/office/drawing/2014/main" xmlns="" id="{A6B2842F-AB04-453E-B849-7FA26470D3C7}"/>
              </a:ext>
            </a:extLst>
          </p:cNvPr>
          <p:cNvSpPr>
            <a:spLocks noGrp="1"/>
          </p:cNvSpPr>
          <p:nvPr>
            <p:ph type="dt" sz="half" idx="10"/>
          </p:nvPr>
        </p:nvSpPr>
        <p:spPr>
          <a:xfrm>
            <a:off x="533711" y="4643572"/>
            <a:ext cx="2713548" cy="313440"/>
          </a:xfrm>
        </p:spPr>
        <p:txBody>
          <a:bodyPr anchor="b"/>
          <a:lstStyle>
            <a:lvl1pPr>
              <a:defRPr sz="1200">
                <a:solidFill>
                  <a:srgbClr val="005087"/>
                </a:solidFill>
              </a:defRPr>
            </a:lvl1pPr>
          </a:lstStyle>
          <a:p>
            <a:r>
              <a:rPr lang="en-US" dirty="0" smtClean="0"/>
              <a:t>YYYY/MM/DD</a:t>
            </a:r>
            <a:endParaRPr lang="en-US" dirty="0"/>
          </a:p>
        </p:txBody>
      </p:sp>
      <p:sp>
        <p:nvSpPr>
          <p:cNvPr id="10" name="文字版面配置區 10">
            <a:extLst>
              <a:ext uri="{FF2B5EF4-FFF2-40B4-BE49-F238E27FC236}">
                <a16:creationId xmlns:a16="http://schemas.microsoft.com/office/drawing/2014/main" xmlns="" id="{F651AF1A-06EC-4C3B-8B93-08038043E34A}"/>
              </a:ext>
            </a:extLst>
          </p:cNvPr>
          <p:cNvSpPr>
            <a:spLocks noGrp="1"/>
          </p:cNvSpPr>
          <p:nvPr>
            <p:ph type="body" sz="quarter" idx="12" hasCustomPrompt="1"/>
          </p:nvPr>
        </p:nvSpPr>
        <p:spPr>
          <a:xfrm>
            <a:off x="533348" y="4006765"/>
            <a:ext cx="2713911" cy="636807"/>
          </a:xfrm>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400">
                <a:solidFill>
                  <a:srgbClr val="005087"/>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smtClean="0"/>
              <a:t>Presenter’s Name</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smtClean="0"/>
              <a:t>Presenter’s Title / Department</a:t>
            </a:r>
            <a:endParaRPr lang="en-US" dirty="0"/>
          </a:p>
        </p:txBody>
      </p:sp>
      <p:sp>
        <p:nvSpPr>
          <p:cNvPr id="12"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p>
        </p:txBody>
      </p:sp>
    </p:spTree>
    <p:extLst>
      <p:ext uri="{BB962C8B-B14F-4D97-AF65-F5344CB8AC3E}">
        <p14:creationId xmlns:p14="http://schemas.microsoft.com/office/powerpoint/2010/main" val="2749659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age 1">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623911" y="331531"/>
            <a:ext cx="5390549" cy="1073757"/>
          </a:xfrm>
        </p:spPr>
        <p:txBody>
          <a:bodyPr anchor="t">
            <a:normAutofit/>
          </a:bodyPr>
          <a:lstStyle>
            <a:lvl1pPr algn="l">
              <a:defRPr sz="3600">
                <a:solidFill>
                  <a:srgbClr val="005087"/>
                </a:solidFill>
                <a:latin typeface="+mj-lt"/>
              </a:defRPr>
            </a:lvl1pPr>
          </a:lstStyle>
          <a:p>
            <a:r>
              <a:rPr lang="en-US" dirty="0"/>
              <a:t>Agenda</a:t>
            </a:r>
          </a:p>
        </p:txBody>
      </p:sp>
      <p:sp>
        <p:nvSpPr>
          <p:cNvPr id="7" name="文字版面配置區 11">
            <a:extLst>
              <a:ext uri="{FF2B5EF4-FFF2-40B4-BE49-F238E27FC236}">
                <a16:creationId xmlns:a16="http://schemas.microsoft.com/office/drawing/2014/main" xmlns="" id="{F405D2A6-487D-47BF-A577-784535711A23}"/>
              </a:ext>
            </a:extLst>
          </p:cNvPr>
          <p:cNvSpPr>
            <a:spLocks noGrp="1"/>
          </p:cNvSpPr>
          <p:nvPr>
            <p:ph type="body" sz="quarter" idx="10" hasCustomPrompt="1"/>
          </p:nvPr>
        </p:nvSpPr>
        <p:spPr>
          <a:xfrm>
            <a:off x="3623912" y="1405288"/>
            <a:ext cx="5390548" cy="2731570"/>
          </a:xfrm>
        </p:spPr>
        <p:txBody>
          <a:bodyPr/>
          <a:lstStyle>
            <a:lvl1pPr marL="0" marR="0" indent="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endParaRPr lang="it-IT" altLang="zh-TW" dirty="0" smtClean="0"/>
          </a:p>
        </p:txBody>
      </p:sp>
      <p:sp>
        <p:nvSpPr>
          <p:cNvPr id="8"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pic>
        <p:nvPicPr>
          <p:cNvPr id="3" name="圖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3025211" cy="5143500"/>
          </a:xfrm>
          <a:prstGeom prst="rect">
            <a:avLst/>
          </a:prstGeom>
        </p:spPr>
      </p:pic>
    </p:spTree>
    <p:extLst>
      <p:ext uri="{BB962C8B-B14F-4D97-AF65-F5344CB8AC3E}">
        <p14:creationId xmlns:p14="http://schemas.microsoft.com/office/powerpoint/2010/main" val="905482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age 2">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623911" y="331531"/>
            <a:ext cx="5390549" cy="1073757"/>
          </a:xfrm>
        </p:spPr>
        <p:txBody>
          <a:bodyPr anchor="t">
            <a:normAutofit/>
          </a:bodyPr>
          <a:lstStyle>
            <a:lvl1pPr algn="l">
              <a:defRPr sz="3600">
                <a:solidFill>
                  <a:srgbClr val="005087"/>
                </a:solidFill>
                <a:latin typeface="+mj-lt"/>
              </a:defRPr>
            </a:lvl1pPr>
          </a:lstStyle>
          <a:p>
            <a:r>
              <a:rPr lang="en-US" dirty="0" smtClean="0"/>
              <a:t>Agenda</a:t>
            </a:r>
            <a:endParaRPr lang="en-US" dirty="0"/>
          </a:p>
        </p:txBody>
      </p:sp>
      <p:sp>
        <p:nvSpPr>
          <p:cNvPr id="7" name="文字版面配置區 11">
            <a:extLst>
              <a:ext uri="{FF2B5EF4-FFF2-40B4-BE49-F238E27FC236}">
                <a16:creationId xmlns:a16="http://schemas.microsoft.com/office/drawing/2014/main" xmlns="" id="{F405D2A6-487D-47BF-A577-784535711A23}"/>
              </a:ext>
            </a:extLst>
          </p:cNvPr>
          <p:cNvSpPr>
            <a:spLocks noGrp="1"/>
          </p:cNvSpPr>
          <p:nvPr>
            <p:ph type="body" sz="quarter" idx="10" hasCustomPrompt="1"/>
          </p:nvPr>
        </p:nvSpPr>
        <p:spPr>
          <a:xfrm>
            <a:off x="3623912" y="1405288"/>
            <a:ext cx="5390548" cy="2731570"/>
          </a:xfrm>
        </p:spPr>
        <p:txBody>
          <a:bodyPr/>
          <a:lstStyle>
            <a:lvl1pPr marL="0" marR="0" indent="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endParaRPr lang="it-IT" altLang="zh-TW" dirty="0" smtClean="0"/>
          </a:p>
        </p:txBody>
      </p:sp>
      <p:sp>
        <p:nvSpPr>
          <p:cNvPr id="8"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pic>
        <p:nvPicPr>
          <p:cNvPr id="2" name="圖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3025211" cy="5143500"/>
          </a:xfrm>
          <a:prstGeom prst="rect">
            <a:avLst/>
          </a:prstGeom>
        </p:spPr>
      </p:pic>
    </p:spTree>
    <p:extLst>
      <p:ext uri="{BB962C8B-B14F-4D97-AF65-F5344CB8AC3E}">
        <p14:creationId xmlns:p14="http://schemas.microsoft.com/office/powerpoint/2010/main" val="1754555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age_1">
    <p:spTree>
      <p:nvGrpSpPr>
        <p:cNvPr id="1" name=""/>
        <p:cNvGrpSpPr/>
        <p:nvPr/>
      </p:nvGrpSpPr>
      <p:grpSpPr>
        <a:xfrm>
          <a:off x="0" y="0"/>
          <a:ext cx="0" cy="0"/>
          <a:chOff x="0" y="0"/>
          <a:chExt cx="0" cy="0"/>
        </a:xfrm>
      </p:grpSpPr>
      <p:sp>
        <p:nvSpPr>
          <p:cNvPr id="6" name="矩形 5"/>
          <p:cNvSpPr/>
          <p:nvPr userDrawn="1"/>
        </p:nvSpPr>
        <p:spPr>
          <a:xfrm>
            <a:off x="0" y="0"/>
            <a:ext cx="9144000" cy="514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Freeform 16"/>
          <p:cNvSpPr>
            <a:spLocks/>
          </p:cNvSpPr>
          <p:nvPr userDrawn="1"/>
        </p:nvSpPr>
        <p:spPr bwMode="auto">
          <a:xfrm>
            <a:off x="3847671" y="-484742"/>
            <a:ext cx="5979614" cy="4693353"/>
          </a:xfrm>
          <a:custGeom>
            <a:avLst/>
            <a:gdLst>
              <a:gd name="T0" fmla="*/ 1161 w 1390"/>
              <a:gd name="T1" fmla="*/ 293 h 1091"/>
              <a:gd name="T2" fmla="*/ 929 w 1390"/>
              <a:gd name="T3" fmla="*/ 293 h 1091"/>
              <a:gd name="T4" fmla="*/ 929 w 1390"/>
              <a:gd name="T5" fmla="*/ 0 h 1091"/>
              <a:gd name="T6" fmla="*/ 0 w 1390"/>
              <a:gd name="T7" fmla="*/ 0 h 1091"/>
              <a:gd name="T8" fmla="*/ 0 w 1390"/>
              <a:gd name="T9" fmla="*/ 696 h 1091"/>
              <a:gd name="T10" fmla="*/ 473 w 1390"/>
              <a:gd name="T11" fmla="*/ 696 h 1091"/>
              <a:gd name="T12" fmla="*/ 700 w 1390"/>
              <a:gd name="T13" fmla="*/ 1091 h 1091"/>
              <a:gd name="T14" fmla="*/ 1161 w 1390"/>
              <a:gd name="T15" fmla="*/ 1091 h 1091"/>
              <a:gd name="T16" fmla="*/ 1390 w 1390"/>
              <a:gd name="T17" fmla="*/ 693 h 1091"/>
              <a:gd name="T18" fmla="*/ 1161 w 1390"/>
              <a:gd name="T19" fmla="*/ 293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0" h="1091">
                <a:moveTo>
                  <a:pt x="1161" y="293"/>
                </a:moveTo>
                <a:lnTo>
                  <a:pt x="929" y="293"/>
                </a:lnTo>
                <a:lnTo>
                  <a:pt x="929" y="0"/>
                </a:lnTo>
                <a:lnTo>
                  <a:pt x="0" y="0"/>
                </a:lnTo>
                <a:lnTo>
                  <a:pt x="0" y="696"/>
                </a:lnTo>
                <a:lnTo>
                  <a:pt x="473" y="696"/>
                </a:lnTo>
                <a:lnTo>
                  <a:pt x="700" y="1091"/>
                </a:lnTo>
                <a:lnTo>
                  <a:pt x="1161" y="1091"/>
                </a:lnTo>
                <a:lnTo>
                  <a:pt x="1390" y="693"/>
                </a:lnTo>
                <a:lnTo>
                  <a:pt x="1161" y="293"/>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TW" altLang="en-US"/>
          </a:p>
        </p:txBody>
      </p:sp>
      <p:sp>
        <p:nvSpPr>
          <p:cNvPr id="9" name="標題 1">
            <a:extLst>
              <a:ext uri="{FF2B5EF4-FFF2-40B4-BE49-F238E27FC236}">
                <a16:creationId xmlns:a16="http://schemas.microsoft.com/office/drawing/2014/main" xmlns="" id="{676DD45B-D11F-4BEE-8C43-E841A2A77971}"/>
              </a:ext>
            </a:extLst>
          </p:cNvPr>
          <p:cNvSpPr>
            <a:spLocks noGrp="1"/>
          </p:cNvSpPr>
          <p:nvPr userDrawn="1">
            <p:ph type="title" hasCustomPrompt="1"/>
          </p:nvPr>
        </p:nvSpPr>
        <p:spPr>
          <a:xfrm>
            <a:off x="494472" y="940324"/>
            <a:ext cx="6035868" cy="1689755"/>
          </a:xfrm>
        </p:spPr>
        <p:txBody>
          <a:bodyPr anchor="b">
            <a:normAutofit/>
          </a:bodyPr>
          <a:lstStyle>
            <a:lvl1pPr>
              <a:defRPr sz="3600">
                <a:solidFill>
                  <a:schemeClr val="bg1"/>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a:t>
            </a:r>
            <a:r>
              <a:rPr lang="en-US" altLang="zh-TW" dirty="0" smtClean="0"/>
              <a:t>T</a:t>
            </a:r>
            <a:r>
              <a:rPr lang="en-US" dirty="0" smtClean="0"/>
              <a:t>C Medium</a:t>
            </a:r>
            <a:endParaRPr lang="en-US" dirty="0"/>
          </a:p>
        </p:txBody>
      </p:sp>
      <p:sp>
        <p:nvSpPr>
          <p:cNvPr id="10" name="Footer Placeholder 4"/>
          <p:cNvSpPr>
            <a:spLocks noGrp="1"/>
          </p:cNvSpPr>
          <p:nvPr userDrawn="1">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p>
        </p:txBody>
      </p:sp>
    </p:spTree>
    <p:extLst>
      <p:ext uri="{BB962C8B-B14F-4D97-AF65-F5344CB8AC3E}">
        <p14:creationId xmlns:p14="http://schemas.microsoft.com/office/powerpoint/2010/main" val="34456676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eak Page_2">
    <p:spTree>
      <p:nvGrpSpPr>
        <p:cNvPr id="1" name=""/>
        <p:cNvGrpSpPr/>
        <p:nvPr/>
      </p:nvGrpSpPr>
      <p:grpSpPr>
        <a:xfrm>
          <a:off x="0" y="0"/>
          <a:ext cx="0" cy="0"/>
          <a:chOff x="0" y="0"/>
          <a:chExt cx="0" cy="0"/>
        </a:xfrm>
      </p:grpSpPr>
      <p:sp>
        <p:nvSpPr>
          <p:cNvPr id="20" name="矩形 19"/>
          <p:cNvSpPr/>
          <p:nvPr userDrawn="1"/>
        </p:nvSpPr>
        <p:spPr>
          <a:xfrm>
            <a:off x="0" y="0"/>
            <a:ext cx="9144000" cy="5144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Freeform 14"/>
          <p:cNvSpPr>
            <a:spLocks/>
          </p:cNvSpPr>
          <p:nvPr userDrawn="1"/>
        </p:nvSpPr>
        <p:spPr bwMode="auto">
          <a:xfrm>
            <a:off x="4569988" y="-46028"/>
            <a:ext cx="4909647" cy="4909647"/>
          </a:xfrm>
          <a:custGeom>
            <a:avLst/>
            <a:gdLst>
              <a:gd name="T0" fmla="*/ 192 w 474"/>
              <a:gd name="T1" fmla="*/ 0 h 474"/>
              <a:gd name="T2" fmla="*/ 192 w 474"/>
              <a:gd name="T3" fmla="*/ 91 h 474"/>
              <a:gd name="T4" fmla="*/ 0 w 474"/>
              <a:gd name="T5" fmla="*/ 282 h 474"/>
              <a:gd name="T6" fmla="*/ 192 w 474"/>
              <a:gd name="T7" fmla="*/ 474 h 474"/>
              <a:gd name="T8" fmla="*/ 383 w 474"/>
              <a:gd name="T9" fmla="*/ 282 h 474"/>
              <a:gd name="T10" fmla="*/ 474 w 474"/>
              <a:gd name="T11" fmla="*/ 282 h 474"/>
              <a:gd name="T12" fmla="*/ 474 w 474"/>
              <a:gd name="T13" fmla="*/ 0 h 474"/>
              <a:gd name="T14" fmla="*/ 192 w 474"/>
              <a:gd name="T15" fmla="*/ 0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4" h="474">
                <a:moveTo>
                  <a:pt x="192" y="0"/>
                </a:moveTo>
                <a:cubicBezTo>
                  <a:pt x="192" y="91"/>
                  <a:pt x="192" y="91"/>
                  <a:pt x="192" y="91"/>
                </a:cubicBezTo>
                <a:cubicBezTo>
                  <a:pt x="86" y="91"/>
                  <a:pt x="0" y="176"/>
                  <a:pt x="0" y="282"/>
                </a:cubicBezTo>
                <a:cubicBezTo>
                  <a:pt x="0" y="388"/>
                  <a:pt x="86" y="474"/>
                  <a:pt x="192" y="474"/>
                </a:cubicBezTo>
                <a:cubicBezTo>
                  <a:pt x="297" y="474"/>
                  <a:pt x="383" y="388"/>
                  <a:pt x="383" y="282"/>
                </a:cubicBezTo>
                <a:cubicBezTo>
                  <a:pt x="474" y="282"/>
                  <a:pt x="474" y="282"/>
                  <a:pt x="474" y="282"/>
                </a:cubicBezTo>
                <a:cubicBezTo>
                  <a:pt x="474" y="0"/>
                  <a:pt x="474" y="0"/>
                  <a:pt x="474" y="0"/>
                </a:cubicBezTo>
                <a:lnTo>
                  <a:pt x="192"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TW" altLang="en-US"/>
          </a:p>
        </p:txBody>
      </p:sp>
      <p:sp>
        <p:nvSpPr>
          <p:cNvPr id="16" name="標題 1">
            <a:extLst>
              <a:ext uri="{FF2B5EF4-FFF2-40B4-BE49-F238E27FC236}">
                <a16:creationId xmlns:a16="http://schemas.microsoft.com/office/drawing/2014/main" xmlns="" id="{676DD45B-D11F-4BEE-8C43-E841A2A77971}"/>
              </a:ext>
            </a:extLst>
          </p:cNvPr>
          <p:cNvSpPr>
            <a:spLocks noGrp="1"/>
          </p:cNvSpPr>
          <p:nvPr userDrawn="1">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TC Medium</a:t>
            </a:r>
            <a:endParaRPr lang="en-US" dirty="0"/>
          </a:p>
        </p:txBody>
      </p:sp>
      <p:sp>
        <p:nvSpPr>
          <p:cNvPr id="17" name="Footer Placeholder 4"/>
          <p:cNvSpPr>
            <a:spLocks noGrp="1"/>
          </p:cNvSpPr>
          <p:nvPr userDrawn="1">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sp>
        <p:nvSpPr>
          <p:cNvPr id="8"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p>
        </p:txBody>
      </p:sp>
    </p:spTree>
    <p:extLst>
      <p:ext uri="{BB962C8B-B14F-4D97-AF65-F5344CB8AC3E}">
        <p14:creationId xmlns:p14="http://schemas.microsoft.com/office/powerpoint/2010/main" val="3888982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eak Page_3">
    <p:spTree>
      <p:nvGrpSpPr>
        <p:cNvPr id="1" name=""/>
        <p:cNvGrpSpPr/>
        <p:nvPr/>
      </p:nvGrpSpPr>
      <p:grpSpPr>
        <a:xfrm>
          <a:off x="0" y="0"/>
          <a:ext cx="0" cy="0"/>
          <a:chOff x="0" y="0"/>
          <a:chExt cx="0" cy="0"/>
        </a:xfrm>
      </p:grpSpPr>
      <p:sp>
        <p:nvSpPr>
          <p:cNvPr id="26" name="Freeform 12"/>
          <p:cNvSpPr>
            <a:spLocks/>
          </p:cNvSpPr>
          <p:nvPr userDrawn="1"/>
        </p:nvSpPr>
        <p:spPr bwMode="auto">
          <a:xfrm>
            <a:off x="4013199" y="-1577552"/>
            <a:ext cx="5372379" cy="5898053"/>
          </a:xfrm>
          <a:custGeom>
            <a:avLst/>
            <a:gdLst>
              <a:gd name="T0" fmla="*/ 359 w 432"/>
              <a:gd name="T1" fmla="*/ 220 h 474"/>
              <a:gd name="T2" fmla="*/ 389 w 432"/>
              <a:gd name="T3" fmla="*/ 168 h 474"/>
              <a:gd name="T4" fmla="*/ 292 w 432"/>
              <a:gd name="T5" fmla="*/ 0 h 474"/>
              <a:gd name="T6" fmla="*/ 97 w 432"/>
              <a:gd name="T7" fmla="*/ 0 h 474"/>
              <a:gd name="T8" fmla="*/ 0 w 432"/>
              <a:gd name="T9" fmla="*/ 168 h 474"/>
              <a:gd name="T10" fmla="*/ 97 w 432"/>
              <a:gd name="T11" fmla="*/ 337 h 474"/>
              <a:gd name="T12" fmla="*/ 163 w 432"/>
              <a:gd name="T13" fmla="*/ 337 h 474"/>
              <a:gd name="T14" fmla="*/ 163 w 432"/>
              <a:gd name="T15" fmla="*/ 340 h 474"/>
              <a:gd name="T16" fmla="*/ 297 w 432"/>
              <a:gd name="T17" fmla="*/ 474 h 474"/>
              <a:gd name="T18" fmla="*/ 432 w 432"/>
              <a:gd name="T19" fmla="*/ 340 h 474"/>
              <a:gd name="T20" fmla="*/ 359 w 432"/>
              <a:gd name="T21" fmla="*/ 22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2" h="474">
                <a:moveTo>
                  <a:pt x="359" y="220"/>
                </a:moveTo>
                <a:cubicBezTo>
                  <a:pt x="389" y="168"/>
                  <a:pt x="389" y="168"/>
                  <a:pt x="389" y="168"/>
                </a:cubicBezTo>
                <a:cubicBezTo>
                  <a:pt x="292" y="0"/>
                  <a:pt x="292" y="0"/>
                  <a:pt x="292" y="0"/>
                </a:cubicBezTo>
                <a:cubicBezTo>
                  <a:pt x="97" y="0"/>
                  <a:pt x="97" y="0"/>
                  <a:pt x="97" y="0"/>
                </a:cubicBezTo>
                <a:cubicBezTo>
                  <a:pt x="0" y="168"/>
                  <a:pt x="0" y="168"/>
                  <a:pt x="0" y="168"/>
                </a:cubicBezTo>
                <a:cubicBezTo>
                  <a:pt x="97" y="337"/>
                  <a:pt x="97" y="337"/>
                  <a:pt x="97" y="337"/>
                </a:cubicBezTo>
                <a:cubicBezTo>
                  <a:pt x="163" y="337"/>
                  <a:pt x="163" y="337"/>
                  <a:pt x="163" y="337"/>
                </a:cubicBezTo>
                <a:cubicBezTo>
                  <a:pt x="163" y="338"/>
                  <a:pt x="163" y="339"/>
                  <a:pt x="163" y="340"/>
                </a:cubicBezTo>
                <a:cubicBezTo>
                  <a:pt x="163" y="414"/>
                  <a:pt x="223" y="474"/>
                  <a:pt x="297" y="474"/>
                </a:cubicBezTo>
                <a:cubicBezTo>
                  <a:pt x="372" y="474"/>
                  <a:pt x="432" y="414"/>
                  <a:pt x="432" y="340"/>
                </a:cubicBezTo>
                <a:cubicBezTo>
                  <a:pt x="432" y="288"/>
                  <a:pt x="402" y="243"/>
                  <a:pt x="359" y="220"/>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zh-TW" altLang="en-US" dirty="0"/>
          </a:p>
        </p:txBody>
      </p:sp>
      <p:sp>
        <p:nvSpPr>
          <p:cNvPr id="19" name="Footer Placeholder 4"/>
          <p:cNvSpPr>
            <a:spLocks noGrp="1"/>
          </p:cNvSpPr>
          <p:nvPr userDrawn="1">
            <p:ph type="ftr" sz="quarter" idx="3"/>
          </p:nvPr>
        </p:nvSpPr>
        <p:spPr>
          <a:xfrm>
            <a:off x="320593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sp>
        <p:nvSpPr>
          <p:cNvPr id="27" name="標題 1">
            <a:extLst>
              <a:ext uri="{FF2B5EF4-FFF2-40B4-BE49-F238E27FC236}">
                <a16:creationId xmlns:a16="http://schemas.microsoft.com/office/drawing/2014/main" xmlns="" id="{676DD45B-D11F-4BEE-8C43-E841A2A77971}"/>
              </a:ext>
            </a:extLst>
          </p:cNvPr>
          <p:cNvSpPr>
            <a:spLocks noGrp="1"/>
          </p:cNvSpPr>
          <p:nvPr>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altLang="zh-TW" dirty="0" smtClean="0"/>
              <a:t>Break Page Title</a:t>
            </a:r>
            <a:br>
              <a:rPr lang="en-US" altLang="zh-TW" dirty="0" smtClean="0"/>
            </a:br>
            <a:r>
              <a:rPr lang="en-US" altLang="zh-TW" dirty="0" smtClean="0"/>
              <a:t>Mabry Pro-Medium + </a:t>
            </a:r>
            <a:br>
              <a:rPr lang="en-US" altLang="zh-TW" dirty="0" smtClean="0"/>
            </a:br>
            <a:r>
              <a:rPr lang="en-US" altLang="zh-TW" dirty="0" err="1" smtClean="0"/>
              <a:t>Noto</a:t>
            </a:r>
            <a:r>
              <a:rPr lang="en-US" altLang="zh-TW" dirty="0" smtClean="0"/>
              <a:t> Sans TC Medium</a:t>
            </a:r>
            <a:endParaRPr lang="en-US" dirty="0"/>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p>
        </p:txBody>
      </p:sp>
    </p:spTree>
    <p:extLst>
      <p:ext uri="{BB962C8B-B14F-4D97-AF65-F5344CB8AC3E}">
        <p14:creationId xmlns:p14="http://schemas.microsoft.com/office/powerpoint/2010/main" val="2445639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 Page_4">
    <p:spTree>
      <p:nvGrpSpPr>
        <p:cNvPr id="1" name=""/>
        <p:cNvGrpSpPr/>
        <p:nvPr/>
      </p:nvGrpSpPr>
      <p:grpSpPr>
        <a:xfrm>
          <a:off x="0" y="0"/>
          <a:ext cx="0" cy="0"/>
          <a:chOff x="0" y="0"/>
          <a:chExt cx="0" cy="0"/>
        </a:xfrm>
      </p:grpSpPr>
      <p:sp>
        <p:nvSpPr>
          <p:cNvPr id="26" name="矩形 25"/>
          <p:cNvSpPr/>
          <p:nvPr userDrawn="1"/>
        </p:nvSpPr>
        <p:spPr>
          <a:xfrm>
            <a:off x="0" y="0"/>
            <a:ext cx="9144000" cy="5144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Footer Placeholder 4"/>
          <p:cNvSpPr>
            <a:spLocks noGrp="1"/>
          </p:cNvSpPr>
          <p:nvPr>
            <p:ph type="ftr" sz="quarter" idx="3"/>
          </p:nvPr>
        </p:nvSpPr>
        <p:spPr>
          <a:xfrm>
            <a:off x="320593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sp>
        <p:nvSpPr>
          <p:cNvPr id="14" name="Freeform 13"/>
          <p:cNvSpPr>
            <a:spLocks/>
          </p:cNvSpPr>
          <p:nvPr userDrawn="1"/>
        </p:nvSpPr>
        <p:spPr bwMode="auto">
          <a:xfrm rot="10800000" flipV="1">
            <a:off x="3834892" y="-1248032"/>
            <a:ext cx="5901384" cy="6141804"/>
          </a:xfrm>
          <a:custGeom>
            <a:avLst/>
            <a:gdLst>
              <a:gd name="T0" fmla="*/ 492 w 525"/>
              <a:gd name="T1" fmla="*/ 236 h 546"/>
              <a:gd name="T2" fmla="*/ 492 w 525"/>
              <a:gd name="T3" fmla="*/ 236 h 546"/>
              <a:gd name="T4" fmla="*/ 393 w 525"/>
              <a:gd name="T5" fmla="*/ 176 h 546"/>
              <a:gd name="T6" fmla="*/ 393 w 525"/>
              <a:gd name="T7" fmla="*/ 0 h 546"/>
              <a:gd name="T8" fmla="*/ 0 w 525"/>
              <a:gd name="T9" fmla="*/ 0 h 546"/>
              <a:gd name="T10" fmla="*/ 0 w 525"/>
              <a:gd name="T11" fmla="*/ 294 h 546"/>
              <a:gd name="T12" fmla="*/ 148 w 525"/>
              <a:gd name="T13" fmla="*/ 294 h 546"/>
              <a:gd name="T14" fmla="*/ 77 w 525"/>
              <a:gd name="T15" fmla="*/ 335 h 546"/>
              <a:gd name="T16" fmla="*/ 198 w 525"/>
              <a:gd name="T17" fmla="*/ 546 h 546"/>
              <a:gd name="T18" fmla="*/ 447 w 525"/>
              <a:gd name="T19" fmla="*/ 402 h 546"/>
              <a:gd name="T20" fmla="*/ 492 w 525"/>
              <a:gd name="T21" fmla="*/ 23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5" h="546">
                <a:moveTo>
                  <a:pt x="492" y="236"/>
                </a:moveTo>
                <a:cubicBezTo>
                  <a:pt x="492" y="236"/>
                  <a:pt x="492" y="236"/>
                  <a:pt x="492" y="236"/>
                </a:cubicBezTo>
                <a:cubicBezTo>
                  <a:pt x="470" y="199"/>
                  <a:pt x="433" y="178"/>
                  <a:pt x="393" y="176"/>
                </a:cubicBezTo>
                <a:cubicBezTo>
                  <a:pt x="393" y="0"/>
                  <a:pt x="393" y="0"/>
                  <a:pt x="393" y="0"/>
                </a:cubicBezTo>
                <a:cubicBezTo>
                  <a:pt x="0" y="0"/>
                  <a:pt x="0" y="0"/>
                  <a:pt x="0" y="0"/>
                </a:cubicBezTo>
                <a:cubicBezTo>
                  <a:pt x="0" y="294"/>
                  <a:pt x="0" y="294"/>
                  <a:pt x="0" y="294"/>
                </a:cubicBezTo>
                <a:cubicBezTo>
                  <a:pt x="148" y="294"/>
                  <a:pt x="148" y="294"/>
                  <a:pt x="148" y="294"/>
                </a:cubicBezTo>
                <a:cubicBezTo>
                  <a:pt x="77" y="335"/>
                  <a:pt x="77" y="335"/>
                  <a:pt x="77" y="335"/>
                </a:cubicBezTo>
                <a:cubicBezTo>
                  <a:pt x="198" y="546"/>
                  <a:pt x="198" y="546"/>
                  <a:pt x="198" y="546"/>
                </a:cubicBezTo>
                <a:cubicBezTo>
                  <a:pt x="447" y="402"/>
                  <a:pt x="447" y="402"/>
                  <a:pt x="447" y="402"/>
                </a:cubicBezTo>
                <a:cubicBezTo>
                  <a:pt x="505" y="369"/>
                  <a:pt x="525" y="294"/>
                  <a:pt x="492" y="23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TW" altLang="en-US"/>
          </a:p>
        </p:txBody>
      </p:sp>
      <p:sp>
        <p:nvSpPr>
          <p:cNvPr id="17" name="標題 1">
            <a:extLst>
              <a:ext uri="{FF2B5EF4-FFF2-40B4-BE49-F238E27FC236}">
                <a16:creationId xmlns:a16="http://schemas.microsoft.com/office/drawing/2014/main" xmlns="" id="{676DD45B-D11F-4BEE-8C43-E841A2A77971}"/>
              </a:ext>
            </a:extLst>
          </p:cNvPr>
          <p:cNvSpPr>
            <a:spLocks noGrp="1"/>
          </p:cNvSpPr>
          <p:nvPr>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TC Medium</a:t>
            </a:r>
            <a:endParaRPr lang="en-US" dirty="0"/>
          </a:p>
        </p:txBody>
      </p:sp>
      <p:sp>
        <p:nvSpPr>
          <p:cNvPr id="8"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p>
        </p:txBody>
      </p:sp>
    </p:spTree>
    <p:extLst>
      <p:ext uri="{BB962C8B-B14F-4D97-AF65-F5344CB8AC3E}">
        <p14:creationId xmlns:p14="http://schemas.microsoft.com/office/powerpoint/2010/main" val="205102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ith Ttile">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xmlns="" id="{496B6DBE-9812-4B02-815E-036A6491504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7461421" y="-55084"/>
            <a:ext cx="1759697" cy="1768293"/>
          </a:xfrm>
          <a:prstGeom prst="rect">
            <a:avLst/>
          </a:prstGeom>
        </p:spPr>
      </p:pic>
      <p:sp>
        <p:nvSpPr>
          <p:cNvPr id="7"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86220" y="0"/>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
        <p:nvSpPr>
          <p:cNvPr id="8" name="Text Placeholder 4"/>
          <p:cNvSpPr>
            <a:spLocks noGrp="1"/>
          </p:cNvSpPr>
          <p:nvPr>
            <p:ph type="body" sz="quarter" idx="10" hasCustomPrompt="1"/>
          </p:nvPr>
        </p:nvSpPr>
        <p:spPr>
          <a:xfrm>
            <a:off x="520230" y="1247099"/>
            <a:ext cx="8234362" cy="2857500"/>
          </a:xfrm>
        </p:spPr>
        <p:txBody>
          <a:bodyPr/>
          <a:lstStyle>
            <a:lvl1pPr marL="0" indent="0">
              <a:buNone/>
              <a:defRPr sz="1600"/>
            </a:lvl1pPr>
          </a:lstStyle>
          <a:p>
            <a:pPr lvl="0"/>
            <a:r>
              <a:rPr lang="en-US" altLang="zh-TW" dirty="0" smtClean="0"/>
              <a:t>Mabry Pro + Noto Sans TC</a:t>
            </a:r>
          </a:p>
          <a:p>
            <a:pPr lvl="0"/>
            <a:endParaRPr lang="en-US" altLang="zh-TW" dirty="0" smtClean="0"/>
          </a:p>
        </p:txBody>
      </p:sp>
      <p:sp>
        <p:nvSpPr>
          <p:cNvPr id="9"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pPr algn="l"/>
            <a:r>
              <a:rPr lang="en-US" sz="525" b="0" i="0" dirty="0" smtClean="0">
                <a:solidFill>
                  <a:schemeClr val="bg1">
                    <a:lumMod val="50000"/>
                  </a:schemeClr>
                </a:solidFill>
                <a:effectLst/>
                <a:latin typeface="+mn-lt"/>
              </a:rPr>
              <a:t>  </a:t>
            </a:r>
            <a:r>
              <a:rPr lang="en-US" sz="525" b="0" i="0" kern="1200" dirty="0" smtClean="0">
                <a:solidFill>
                  <a:schemeClr val="tx1">
                    <a:lumMod val="75000"/>
                    <a:lumOff val="25000"/>
                    <a:alpha val="65000"/>
                  </a:schemeClr>
                </a:solidFill>
                <a:effectLst/>
                <a:latin typeface="+mn-lt"/>
                <a:ea typeface="+mn-ea"/>
                <a:cs typeface="+mn-cs"/>
              </a:rPr>
              <a:t>AUO Corporation Proprietary</a:t>
            </a:r>
            <a:endParaRPr lang="en-US" sz="525" b="0" i="0" kern="1200" dirty="0">
              <a:solidFill>
                <a:schemeClr val="tx1">
                  <a:lumMod val="75000"/>
                  <a:lumOff val="25000"/>
                  <a:alpha val="65000"/>
                </a:schemeClr>
              </a:solidFill>
              <a:effectLst/>
              <a:latin typeface="+mn-lt"/>
              <a:ea typeface="+mn-ea"/>
              <a:cs typeface="+mn-cs"/>
            </a:endParaRPr>
          </a:p>
        </p:txBody>
      </p:sp>
      <p:sp>
        <p:nvSpPr>
          <p:cNvPr id="10" name="矩形 9"/>
          <p:cNvSpPr/>
          <p:nvPr userDrawn="1"/>
        </p:nvSpPr>
        <p:spPr>
          <a:xfrm>
            <a:off x="520230" y="4961069"/>
            <a:ext cx="62518" cy="138499"/>
          </a:xfrm>
          <a:prstGeom prst="rect">
            <a:avLst/>
          </a:prstGeom>
        </p:spPr>
        <p:txBody>
          <a:bodyPr wrap="none" lIns="0" tIns="0" rIns="0" bIns="0">
            <a:spAutoFit/>
          </a:bodyPr>
          <a:lstStyle/>
          <a:p>
            <a:r>
              <a:rPr lang="en-US" altLang="zh-TW" sz="900" b="0" i="0" dirty="0" smtClean="0">
                <a:solidFill>
                  <a:schemeClr val="bg1">
                    <a:lumMod val="50000"/>
                  </a:schemeClr>
                </a:solidFill>
                <a:effectLst/>
                <a:latin typeface="+mn-lt"/>
              </a:rPr>
              <a:t>©</a:t>
            </a:r>
            <a:endParaRPr lang="zh-TW" altLang="en-US" sz="1400" dirty="0">
              <a:solidFill>
                <a:schemeClr val="bg1">
                  <a:lumMod val="50000"/>
                </a:schemeClr>
              </a:solidFill>
            </a:endParaRPr>
          </a:p>
        </p:txBody>
      </p:sp>
      <p:sp>
        <p:nvSpPr>
          <p:cNvPr id="11"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sp>
        <p:nvSpPr>
          <p:cNvPr id="14" name="Freeform 5"/>
          <p:cNvSpPr>
            <a:spLocks noChangeAspect="1" noEditPoints="1"/>
          </p:cNvSpPr>
          <p:nvPr userDrawn="1"/>
        </p:nvSpPr>
        <p:spPr bwMode="auto">
          <a:xfrm>
            <a:off x="8361592" y="4753677"/>
            <a:ext cx="507600" cy="179416"/>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p>
        </p:txBody>
      </p:sp>
    </p:spTree>
    <p:extLst>
      <p:ext uri="{BB962C8B-B14F-4D97-AF65-F5344CB8AC3E}">
        <p14:creationId xmlns:p14="http://schemas.microsoft.com/office/powerpoint/2010/main" val="3787221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age with Ttile 2">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xmlns="" id="{496B6DBE-9812-4B02-815E-036A6491504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7461421" y="-55084"/>
            <a:ext cx="1759697" cy="1768293"/>
          </a:xfrm>
          <a:prstGeom prst="rect">
            <a:avLst/>
          </a:prstGeom>
        </p:spPr>
      </p:pic>
      <p:sp>
        <p:nvSpPr>
          <p:cNvPr id="9"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pPr algn="l"/>
            <a:r>
              <a:rPr lang="en-US" sz="525" b="0" i="0" dirty="0" smtClean="0">
                <a:solidFill>
                  <a:schemeClr val="bg1">
                    <a:lumMod val="50000"/>
                  </a:schemeClr>
                </a:solidFill>
                <a:effectLst/>
                <a:latin typeface="+mn-lt"/>
              </a:rPr>
              <a:t>  </a:t>
            </a:r>
            <a:r>
              <a:rPr lang="en-US" sz="525" b="0" i="0" kern="1200" dirty="0" smtClean="0">
                <a:solidFill>
                  <a:schemeClr val="tx1">
                    <a:lumMod val="75000"/>
                    <a:lumOff val="25000"/>
                    <a:alpha val="65000"/>
                  </a:schemeClr>
                </a:solidFill>
                <a:effectLst/>
                <a:latin typeface="+mn-lt"/>
                <a:ea typeface="+mn-ea"/>
                <a:cs typeface="+mn-cs"/>
              </a:rPr>
              <a:t>AUO Corporation Proprietary</a:t>
            </a:r>
            <a:endParaRPr lang="en-US" sz="525" b="0" i="0" kern="1200" dirty="0">
              <a:solidFill>
                <a:schemeClr val="tx1">
                  <a:lumMod val="75000"/>
                  <a:lumOff val="25000"/>
                  <a:alpha val="65000"/>
                </a:schemeClr>
              </a:solidFill>
              <a:effectLst/>
              <a:latin typeface="+mn-lt"/>
              <a:ea typeface="+mn-ea"/>
              <a:cs typeface="+mn-cs"/>
            </a:endParaRPr>
          </a:p>
        </p:txBody>
      </p:sp>
      <p:sp>
        <p:nvSpPr>
          <p:cNvPr id="10" name="矩形 9"/>
          <p:cNvSpPr/>
          <p:nvPr userDrawn="1"/>
        </p:nvSpPr>
        <p:spPr>
          <a:xfrm>
            <a:off x="520230" y="4961069"/>
            <a:ext cx="62518" cy="138499"/>
          </a:xfrm>
          <a:prstGeom prst="rect">
            <a:avLst/>
          </a:prstGeom>
        </p:spPr>
        <p:txBody>
          <a:bodyPr wrap="none" lIns="0" tIns="0" rIns="0" bIns="0">
            <a:spAutoFit/>
          </a:bodyPr>
          <a:lstStyle/>
          <a:p>
            <a:r>
              <a:rPr lang="en-US" altLang="zh-TW" sz="900" b="0" i="0" dirty="0" smtClean="0">
                <a:solidFill>
                  <a:schemeClr val="bg1">
                    <a:lumMod val="50000"/>
                  </a:schemeClr>
                </a:solidFill>
                <a:effectLst/>
                <a:latin typeface="+mn-lt"/>
              </a:rPr>
              <a:t>©</a:t>
            </a:r>
            <a:endParaRPr lang="zh-TW" altLang="en-US" sz="1400" dirty="0">
              <a:solidFill>
                <a:schemeClr val="bg1">
                  <a:lumMod val="50000"/>
                </a:schemeClr>
              </a:solidFill>
            </a:endParaRPr>
          </a:p>
        </p:txBody>
      </p:sp>
      <p:sp>
        <p:nvSpPr>
          <p:cNvPr id="11"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p>
        </p:txBody>
      </p:sp>
      <p:sp>
        <p:nvSpPr>
          <p:cNvPr id="8" name="Freeform 5"/>
          <p:cNvSpPr>
            <a:spLocks noChangeAspect="1" noEditPoints="1"/>
          </p:cNvSpPr>
          <p:nvPr userDrawn="1"/>
        </p:nvSpPr>
        <p:spPr bwMode="auto">
          <a:xfrm>
            <a:off x="8361592" y="4753677"/>
            <a:ext cx="507600" cy="179416"/>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p>
        </p:txBody>
      </p:sp>
      <p:sp>
        <p:nvSpPr>
          <p:cNvPr id="12"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86220" y="0"/>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Tree>
    <p:extLst>
      <p:ext uri="{BB962C8B-B14F-4D97-AF65-F5344CB8AC3E}">
        <p14:creationId xmlns:p14="http://schemas.microsoft.com/office/powerpoint/2010/main" val="3993359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ing Page">
    <p:spTree>
      <p:nvGrpSpPr>
        <p:cNvPr id="1" name=""/>
        <p:cNvGrpSpPr/>
        <p:nvPr/>
      </p:nvGrpSpPr>
      <p:grpSpPr>
        <a:xfrm>
          <a:off x="0" y="0"/>
          <a:ext cx="0" cy="0"/>
          <a:chOff x="0" y="0"/>
          <a:chExt cx="0" cy="0"/>
        </a:xfrm>
      </p:grpSpPr>
      <p:sp>
        <p:nvSpPr>
          <p:cNvPr id="12"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p>
        </p:txBody>
      </p:sp>
      <p:sp>
        <p:nvSpPr>
          <p:cNvPr id="4" name="Text Placeholder 4"/>
          <p:cNvSpPr>
            <a:spLocks noGrp="1"/>
          </p:cNvSpPr>
          <p:nvPr>
            <p:ph type="body" sz="quarter" idx="10" hasCustomPrompt="1"/>
          </p:nvPr>
        </p:nvSpPr>
        <p:spPr>
          <a:xfrm>
            <a:off x="520230" y="1247099"/>
            <a:ext cx="8234362" cy="2857500"/>
          </a:xfrm>
        </p:spPr>
        <p:txBody>
          <a:bodyPr/>
          <a:lstStyle>
            <a:lvl1pPr marL="0" indent="0">
              <a:buNone/>
              <a:defRPr sz="1600"/>
            </a:lvl1pPr>
          </a:lstStyle>
          <a:p>
            <a:pPr lvl="0"/>
            <a:r>
              <a:rPr lang="en-US" altLang="zh-TW" dirty="0" smtClean="0"/>
              <a:t>Mabry Pro + Noto Sans TC</a:t>
            </a:r>
          </a:p>
          <a:p>
            <a:pPr lvl="0"/>
            <a:endParaRPr lang="en-US" altLang="zh-TW" dirty="0" smtClean="0"/>
          </a:p>
        </p:txBody>
      </p:sp>
    </p:spTree>
    <p:extLst>
      <p:ext uri="{BB962C8B-B14F-4D97-AF65-F5344CB8AC3E}">
        <p14:creationId xmlns:p14="http://schemas.microsoft.com/office/powerpoint/2010/main" val="2032936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Blank Page">
    <p:bg>
      <p:bgPr>
        <a:solidFill>
          <a:schemeClr val="bg1"/>
        </a:solidFill>
        <a:effectLst/>
      </p:bgPr>
    </p:bg>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xmlns="" id="{496B6DBE-9812-4B02-815E-036A649150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61421" y="-586026"/>
            <a:ext cx="2299235" cy="2299235"/>
          </a:xfrm>
          <a:prstGeom prst="rect">
            <a:avLst/>
          </a:prstGeom>
        </p:spPr>
      </p:pic>
      <p:sp>
        <p:nvSpPr>
          <p:cNvPr id="8"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pPr algn="l"/>
            <a:r>
              <a:rPr lang="en-US" sz="525" b="0" i="0" dirty="0" smtClean="0">
                <a:solidFill>
                  <a:schemeClr val="bg1">
                    <a:lumMod val="50000"/>
                  </a:schemeClr>
                </a:solidFill>
                <a:effectLst/>
                <a:latin typeface="+mn-lt"/>
              </a:rPr>
              <a:t>  </a:t>
            </a:r>
            <a:r>
              <a:rPr lang="en-US" sz="525" b="0" i="0" kern="1200" dirty="0" smtClean="0">
                <a:solidFill>
                  <a:schemeClr val="tx1">
                    <a:lumMod val="75000"/>
                    <a:lumOff val="25000"/>
                    <a:alpha val="65000"/>
                  </a:schemeClr>
                </a:solidFill>
                <a:effectLst/>
                <a:latin typeface="+mn-lt"/>
                <a:ea typeface="+mn-ea"/>
                <a:cs typeface="+mn-cs"/>
              </a:rPr>
              <a:t>AUO Corporation Proprietary</a:t>
            </a:r>
            <a:endParaRPr lang="en-US" sz="525" b="0" i="0" kern="1200" dirty="0">
              <a:solidFill>
                <a:schemeClr val="tx1">
                  <a:lumMod val="75000"/>
                  <a:lumOff val="25000"/>
                  <a:alpha val="65000"/>
                </a:schemeClr>
              </a:solidFill>
              <a:effectLst/>
              <a:latin typeface="+mn-lt"/>
              <a:ea typeface="+mn-ea"/>
              <a:cs typeface="+mn-cs"/>
            </a:endParaRPr>
          </a:p>
        </p:txBody>
      </p:sp>
      <p:sp>
        <p:nvSpPr>
          <p:cNvPr id="9" name="矩形 8"/>
          <p:cNvSpPr/>
          <p:nvPr userDrawn="1"/>
        </p:nvSpPr>
        <p:spPr>
          <a:xfrm>
            <a:off x="520230" y="4961069"/>
            <a:ext cx="62518" cy="138499"/>
          </a:xfrm>
          <a:prstGeom prst="rect">
            <a:avLst/>
          </a:prstGeom>
        </p:spPr>
        <p:txBody>
          <a:bodyPr wrap="none" lIns="0" tIns="0" rIns="0" bIns="0">
            <a:spAutoFit/>
          </a:bodyPr>
          <a:lstStyle/>
          <a:p>
            <a:r>
              <a:rPr lang="en-US" altLang="zh-TW" sz="900" b="0" i="0" dirty="0" smtClean="0">
                <a:solidFill>
                  <a:schemeClr val="bg1">
                    <a:lumMod val="50000"/>
                  </a:schemeClr>
                </a:solidFill>
                <a:effectLst/>
                <a:latin typeface="+mn-lt"/>
              </a:rPr>
              <a:t>©</a:t>
            </a:r>
            <a:endParaRPr lang="zh-TW" altLang="en-US" sz="1400" dirty="0">
              <a:solidFill>
                <a:schemeClr val="bg1">
                  <a:lumMod val="50000"/>
                </a:schemeClr>
              </a:solidFill>
            </a:endParaRPr>
          </a:p>
        </p:txBody>
      </p:sp>
      <p:sp>
        <p:nvSpPr>
          <p:cNvPr id="10"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86220" y="0"/>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Tree>
    <p:extLst>
      <p:ext uri="{BB962C8B-B14F-4D97-AF65-F5344CB8AC3E}">
        <p14:creationId xmlns:p14="http://schemas.microsoft.com/office/powerpoint/2010/main" val="104208627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Blank Page">
    <p:bg>
      <p:bgPr>
        <a:solidFill>
          <a:schemeClr val="bg1"/>
        </a:solidFill>
        <a:effectLst/>
      </p:bgPr>
    </p:bg>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496B6DBE-9812-4B02-815E-036A649150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61421" y="-586026"/>
            <a:ext cx="2299235" cy="2299235"/>
          </a:xfrm>
          <a:prstGeom prst="rect">
            <a:avLst/>
          </a:prstGeom>
        </p:spPr>
      </p:pic>
      <p:pic>
        <p:nvPicPr>
          <p:cNvPr id="9"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91393" y="4692853"/>
            <a:ext cx="655383" cy="280878"/>
          </a:xfrm>
          <a:prstGeom prst="rect">
            <a:avLst/>
          </a:prstGeom>
        </p:spPr>
      </p:pic>
      <p:sp>
        <p:nvSpPr>
          <p:cNvPr id="8" name="文字方塊 13">
            <a:extLst>
              <a:ext uri="{FF2B5EF4-FFF2-40B4-BE49-F238E27FC236}">
                <a16:creationId xmlns="" xmlns:a16="http://schemas.microsoft.com/office/drawing/2014/main" id="{100C045E-458C-43C8-A14C-FB9C878D4F9B}"/>
              </a:ext>
            </a:extLst>
          </p:cNvPr>
          <p:cNvSpPr txBox="1"/>
          <p:nvPr userDrawn="1"/>
        </p:nvSpPr>
        <p:spPr>
          <a:xfrm>
            <a:off x="478148" y="4919547"/>
            <a:ext cx="3378473" cy="173124"/>
          </a:xfrm>
          <a:prstGeom prst="rect">
            <a:avLst/>
          </a:prstGeom>
          <a:noFill/>
        </p:spPr>
        <p:txBody>
          <a:bodyPr wrap="square" rtlCol="0">
            <a:spAutoFit/>
          </a:bodyPr>
          <a:lstStyle/>
          <a:p>
            <a:pPr algn="l"/>
            <a:r>
              <a:rPr lang="en-US" sz="525" b="0" i="0" dirty="0">
                <a:solidFill>
                  <a:srgbClr val="000000">
                    <a:alpha val="65000"/>
                  </a:srgbClr>
                </a:solidFill>
                <a:effectLst/>
                <a:latin typeface="arial" panose="020B0604020202020204" pitchFamily="34" charset="0"/>
              </a:rPr>
              <a:t>©</a:t>
            </a:r>
            <a:r>
              <a:rPr lang="en-US" sz="525" dirty="0">
                <a:solidFill>
                  <a:srgbClr val="000000">
                    <a:alpha val="65000"/>
                  </a:srgbClr>
                </a:solidFill>
              </a:rPr>
              <a:t>2022 AUO Corporation Proprietary and Confidential</a:t>
            </a:r>
          </a:p>
        </p:txBody>
      </p:sp>
      <p:sp>
        <p:nvSpPr>
          <p:cNvPr id="10" name="Content Placeholder 2"/>
          <p:cNvSpPr>
            <a:spLocks noGrp="1"/>
          </p:cNvSpPr>
          <p:nvPr>
            <p:ph sz="quarter" idx="10"/>
          </p:nvPr>
        </p:nvSpPr>
        <p:spPr>
          <a:xfrm>
            <a:off x="491498" y="1252435"/>
            <a:ext cx="8469312" cy="2971800"/>
          </a:xfrm>
        </p:spPr>
        <p:txBody>
          <a:bodyPr/>
          <a:lstStyle/>
          <a:p>
            <a:pPr lvl="0"/>
            <a:r>
              <a:rPr lang="en-US" altLang="zh-TW" dirty="0" smtClean="0"/>
              <a:t>Edit Master text styles</a:t>
            </a:r>
          </a:p>
          <a:p>
            <a:pPr lvl="1"/>
            <a:r>
              <a:rPr lang="en-US" altLang="zh-TW" dirty="0" smtClean="0"/>
              <a:t>Second level</a:t>
            </a:r>
          </a:p>
          <a:p>
            <a:pPr lvl="2"/>
            <a:r>
              <a:rPr lang="en-US" altLang="zh-TW" dirty="0" smtClean="0"/>
              <a:t>Third level</a:t>
            </a:r>
          </a:p>
          <a:p>
            <a:pPr lvl="3"/>
            <a:r>
              <a:rPr lang="en-US" altLang="zh-TW" dirty="0" smtClean="0"/>
              <a:t>Fourth level</a:t>
            </a:r>
          </a:p>
          <a:p>
            <a:pPr lvl="4"/>
            <a:r>
              <a:rPr lang="en-US" altLang="zh-TW" dirty="0" smtClean="0"/>
              <a:t>Fifth level</a:t>
            </a:r>
            <a:endParaRPr lang="zh-TW" altLang="en-US" dirty="0"/>
          </a:p>
        </p:txBody>
      </p:sp>
      <p:sp>
        <p:nvSpPr>
          <p:cNvPr id="11"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86220" y="0"/>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Tree>
    <p:extLst>
      <p:ext uri="{BB962C8B-B14F-4D97-AF65-F5344CB8AC3E}">
        <p14:creationId xmlns:p14="http://schemas.microsoft.com/office/powerpoint/2010/main" val="2668734216"/>
      </p:ext>
    </p:extLst>
  </p:cSld>
  <p:clrMapOvr>
    <a:masterClrMapping/>
  </p:clrMapOvr>
  <p:timing>
    <p:tnLst>
      <p:par>
        <p:cT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Blank Page with Ttile 2">
    <p:spTree>
      <p:nvGrpSpPr>
        <p:cNvPr id="1" name=""/>
        <p:cNvGrpSpPr/>
        <p:nvPr/>
      </p:nvGrpSpPr>
      <p:grpSpPr>
        <a:xfrm>
          <a:off x="0" y="0"/>
          <a:ext cx="0" cy="0"/>
          <a:chOff x="0" y="0"/>
          <a:chExt cx="0" cy="0"/>
        </a:xfrm>
      </p:grpSpPr>
      <p:pic>
        <p:nvPicPr>
          <p:cNvPr id="6" name="圖片 5">
            <a:extLst>
              <a:ext uri="{FF2B5EF4-FFF2-40B4-BE49-F238E27FC236}">
                <a16:creationId xmlns="" xmlns:a16="http://schemas.microsoft.com/office/drawing/2014/main" id="{496B6DBE-9812-4B02-815E-036A6491504A}"/>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a:off x="7461422" y="-55084"/>
            <a:ext cx="1759697" cy="1768293"/>
          </a:xfrm>
          <a:prstGeom prst="rect">
            <a:avLst/>
          </a:prstGeom>
        </p:spPr>
      </p:pic>
      <p:sp>
        <p:nvSpPr>
          <p:cNvPr id="7" name="標題 1">
            <a:extLst>
              <a:ext uri="{FF2B5EF4-FFF2-40B4-BE49-F238E27FC236}">
                <a16:creationId xmlns="" xmlns:a16="http://schemas.microsoft.com/office/drawing/2014/main" id="{5F735089-F81E-4CF4-ADF9-44812E60E2E0}"/>
              </a:ext>
            </a:extLst>
          </p:cNvPr>
          <p:cNvSpPr>
            <a:spLocks noGrp="1"/>
          </p:cNvSpPr>
          <p:nvPr>
            <p:ph type="ctrTitle" hasCustomPrompt="1"/>
          </p:nvPr>
        </p:nvSpPr>
        <p:spPr>
          <a:xfrm>
            <a:off x="478149" y="331532"/>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
        <p:nvSpPr>
          <p:cNvPr id="9" name="文字方塊 13">
            <a:extLst>
              <a:ext uri="{FF2B5EF4-FFF2-40B4-BE49-F238E27FC236}">
                <a16:creationId xmlns:a16="http://schemas.microsoft.com/office/drawing/2014/main" xmlns="" id="{100C045E-458C-43C8-A14C-FB9C878D4F9B}"/>
              </a:ext>
            </a:extLst>
          </p:cNvPr>
          <p:cNvSpPr txBox="1"/>
          <p:nvPr/>
        </p:nvSpPr>
        <p:spPr>
          <a:xfrm>
            <a:off x="478150" y="4933094"/>
            <a:ext cx="1153376" cy="173124"/>
          </a:xfrm>
          <a:prstGeom prst="rect">
            <a:avLst/>
          </a:prstGeom>
          <a:noFill/>
        </p:spPr>
        <p:txBody>
          <a:bodyPr wrap="square" rtlCol="0">
            <a:spAutoFit/>
          </a:bodyPr>
          <a:lstStyle/>
          <a:p>
            <a:pPr algn="l"/>
            <a:r>
              <a:rPr lang="en-US" sz="525" b="0" i="0" dirty="0" smtClean="0">
                <a:solidFill>
                  <a:schemeClr val="bg1">
                    <a:lumMod val="50000"/>
                  </a:schemeClr>
                </a:solidFill>
                <a:effectLst/>
                <a:latin typeface="+mn-lt"/>
              </a:rPr>
              <a:t>  </a:t>
            </a:r>
            <a:r>
              <a:rPr lang="en-US" sz="525" b="0" i="0" kern="1200" dirty="0" smtClean="0">
                <a:solidFill>
                  <a:schemeClr val="tx1">
                    <a:lumMod val="75000"/>
                    <a:lumOff val="25000"/>
                    <a:alpha val="65000"/>
                  </a:schemeClr>
                </a:solidFill>
                <a:effectLst/>
                <a:latin typeface="+mn-lt"/>
                <a:ea typeface="+mn-ea"/>
                <a:cs typeface="+mn-cs"/>
              </a:rPr>
              <a:t>AUO Corporation Proprietary</a:t>
            </a:r>
            <a:endParaRPr lang="en-US" sz="525" b="0" i="0" kern="1200" dirty="0">
              <a:solidFill>
                <a:schemeClr val="tx1">
                  <a:lumMod val="75000"/>
                  <a:lumOff val="25000"/>
                  <a:alpha val="65000"/>
                </a:schemeClr>
              </a:solidFill>
              <a:effectLst/>
              <a:latin typeface="+mn-lt"/>
              <a:ea typeface="+mn-ea"/>
              <a:cs typeface="+mn-cs"/>
            </a:endParaRPr>
          </a:p>
        </p:txBody>
      </p:sp>
      <p:sp>
        <p:nvSpPr>
          <p:cNvPr id="10" name="矩形 9"/>
          <p:cNvSpPr/>
          <p:nvPr/>
        </p:nvSpPr>
        <p:spPr>
          <a:xfrm>
            <a:off x="520230" y="4961070"/>
            <a:ext cx="62518" cy="138499"/>
          </a:xfrm>
          <a:prstGeom prst="rect">
            <a:avLst/>
          </a:prstGeom>
        </p:spPr>
        <p:txBody>
          <a:bodyPr wrap="none" lIns="0" tIns="0" rIns="0" bIns="0">
            <a:spAutoFit/>
          </a:bodyPr>
          <a:lstStyle/>
          <a:p>
            <a:r>
              <a:rPr lang="en-US" altLang="zh-TW" sz="900" b="0" i="0" dirty="0" smtClean="0">
                <a:solidFill>
                  <a:schemeClr val="bg1">
                    <a:lumMod val="50000"/>
                  </a:schemeClr>
                </a:solidFill>
                <a:effectLst/>
                <a:latin typeface="+mn-lt"/>
              </a:rPr>
              <a:t>©</a:t>
            </a:r>
            <a:endParaRPr lang="zh-TW" altLang="en-US" sz="1400" dirty="0">
              <a:solidFill>
                <a:schemeClr val="bg1">
                  <a:lumMod val="50000"/>
                </a:schemeClr>
              </a:solidFill>
            </a:endParaRPr>
          </a:p>
        </p:txBody>
      </p:sp>
      <p:sp>
        <p:nvSpPr>
          <p:cNvPr id="11"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a:p>
        </p:txBody>
      </p:sp>
      <p:sp>
        <p:nvSpPr>
          <p:cNvPr id="8" name="Freeform 5"/>
          <p:cNvSpPr>
            <a:spLocks noChangeAspect="1" noEditPoints="1"/>
          </p:cNvSpPr>
          <p:nvPr/>
        </p:nvSpPr>
        <p:spPr bwMode="auto">
          <a:xfrm>
            <a:off x="8361592" y="4753677"/>
            <a:ext cx="507600" cy="179416"/>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sz="1800"/>
          </a:p>
        </p:txBody>
      </p:sp>
    </p:spTree>
    <p:extLst>
      <p:ext uri="{BB962C8B-B14F-4D97-AF65-F5344CB8AC3E}">
        <p14:creationId xmlns:p14="http://schemas.microsoft.com/office/powerpoint/2010/main" val="4225461955"/>
      </p:ext>
    </p:extLst>
  </p:cSld>
  <p:clrMapOvr>
    <a:masterClrMapping/>
  </p:clrMapOvr>
  <p:timing>
    <p:tnLst>
      <p:par>
        <p:cTn id="1" dur="indefinite" restart="never" nodeType="tmRoot"/>
      </p:par>
    </p:tnLst>
  </p:timing>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9" y="254636"/>
            <a:ext cx="8679898" cy="543185"/>
          </a:xfrm>
          <a:prstGeom prst="rect">
            <a:avLst/>
          </a:prstGeom>
        </p:spPr>
        <p:txBody>
          <a:bodyPr lIns="68579" tIns="34289" rIns="68579" bIns="34289" anchor="ctr"/>
          <a:lstStyle>
            <a:lvl1pPr marL="0" indent="0" algn="ctr">
              <a:buNone/>
              <a:defRPr sz="41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721521943"/>
      </p:ext>
    </p:extLst>
  </p:cSld>
  <p:clrMapOvr>
    <a:masterClrMapping/>
  </p:clrMapOvr>
  <p:timing>
    <p:tnLst>
      <p:par>
        <p:cTn id="1" dur="indefinite" restart="never" nodeType="tmRoot"/>
      </p:par>
    </p:tn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3EE57EA3-773B-4035-8704-9677F33070C0}"/>
              </a:ext>
            </a:extLst>
          </p:cNvPr>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a:extLst>
              <a:ext uri="{FF2B5EF4-FFF2-40B4-BE49-F238E27FC236}">
                <a16:creationId xmlns="" xmlns:a16="http://schemas.microsoft.com/office/drawing/2014/main" id="{4FE883FA-14E7-4CA1-A63D-DA6BFFFC62F0}"/>
              </a:ext>
            </a:extLst>
          </p:cNvPr>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a:extLst>
              <a:ext uri="{FF2B5EF4-FFF2-40B4-BE49-F238E27FC236}">
                <a16:creationId xmlns="" xmlns:a16="http://schemas.microsoft.com/office/drawing/2014/main" id="{91DD7C31-58E9-4D51-A4EB-E9E35476577A}"/>
              </a:ext>
            </a:extLst>
          </p:cNvPr>
          <p:cNvSpPr>
            <a:spLocks noGrp="1"/>
          </p:cNvSpPr>
          <p:nvPr>
            <p:ph type="dt" sz="half" idx="10"/>
          </p:nvPr>
        </p:nvSpPr>
        <p:spPr>
          <a:xfrm>
            <a:off x="628650" y="4767263"/>
            <a:ext cx="2057400" cy="273844"/>
          </a:xfrm>
          <a:prstGeom prst="rect">
            <a:avLst/>
          </a:prstGeom>
        </p:spPr>
        <p:txBody>
          <a:bodyPr/>
          <a:lstStyle/>
          <a:p>
            <a:fld id="{4C50168C-6CE1-4617-A8FE-C5CBB1DCD0FC}" type="datetime1">
              <a:rPr lang="zh-TW" altLang="en-US" smtClean="0"/>
              <a:t>2025/12/24</a:t>
            </a:fld>
            <a:endParaRPr lang="zh-TW" altLang="en-US"/>
          </a:p>
        </p:txBody>
      </p:sp>
      <p:sp>
        <p:nvSpPr>
          <p:cNvPr id="5" name="頁尾版面配置區 4">
            <a:extLst>
              <a:ext uri="{FF2B5EF4-FFF2-40B4-BE49-F238E27FC236}">
                <a16:creationId xmlns="" xmlns:a16="http://schemas.microsoft.com/office/drawing/2014/main" id="{0CE76A66-0A3E-4217-B54E-9D71D1BBA7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 xmlns:a16="http://schemas.microsoft.com/office/drawing/2014/main" id="{D6A1ED0C-C0B0-40B6-A801-DD0FBD46ACB7}"/>
              </a:ext>
            </a:extLst>
          </p:cNvPr>
          <p:cNvSpPr>
            <a:spLocks noGrp="1"/>
          </p:cNvSpPr>
          <p:nvPr>
            <p:ph type="sldNum" sz="quarter" idx="12"/>
          </p:nvPr>
        </p:nvSpPr>
        <p:spPr/>
        <p:txBody>
          <a:bodyPr/>
          <a:lstStyle/>
          <a:p>
            <a:fld id="{BED2CF33-2E52-41D8-BD76-78716E693FDB}" type="slidenum">
              <a:rPr lang="zh-TW" altLang="en-US" smtClean="0"/>
              <a:t>‹#›</a:t>
            </a:fld>
            <a:endParaRPr lang="zh-TW" altLang="en-US"/>
          </a:p>
        </p:txBody>
      </p:sp>
    </p:spTree>
    <p:extLst>
      <p:ext uri="{BB962C8B-B14F-4D97-AF65-F5344CB8AC3E}">
        <p14:creationId xmlns:p14="http://schemas.microsoft.com/office/powerpoint/2010/main" val="97412048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Blank Page">
    <p:bg>
      <p:bgPr>
        <a:solidFill>
          <a:schemeClr val="bg1"/>
        </a:solidFill>
        <a:effectLst/>
      </p:bgPr>
    </p:bg>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496B6DBE-9812-4B02-815E-036A649150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61421" y="-586026"/>
            <a:ext cx="2299235" cy="2299235"/>
          </a:xfrm>
          <a:prstGeom prst="rect">
            <a:avLst/>
          </a:prstGeom>
        </p:spPr>
      </p:pic>
      <p:sp>
        <p:nvSpPr>
          <p:cNvPr id="6" name="標題 1">
            <a:extLst>
              <a:ext uri="{FF2B5EF4-FFF2-40B4-BE49-F238E27FC236}">
                <a16:creationId xmlns="" xmlns:a16="http://schemas.microsoft.com/office/drawing/2014/main" id="{5F735089-F81E-4CF4-ADF9-44812E60E2E0}"/>
              </a:ext>
            </a:extLst>
          </p:cNvPr>
          <p:cNvSpPr>
            <a:spLocks noGrp="1"/>
          </p:cNvSpPr>
          <p:nvPr>
            <p:ph type="ctrTitle" hasCustomPrompt="1"/>
          </p:nvPr>
        </p:nvSpPr>
        <p:spPr>
          <a:xfrm>
            <a:off x="478148" y="331531"/>
            <a:ext cx="8482972" cy="1064131"/>
          </a:xfrm>
        </p:spPr>
        <p:txBody>
          <a:bodyPr anchor="t">
            <a:normAutofit/>
          </a:bodyPr>
          <a:lstStyle>
            <a:lvl1pPr algn="l">
              <a:defRPr sz="3200">
                <a:solidFill>
                  <a:srgbClr val="005087"/>
                </a:solidFill>
                <a:latin typeface="+mj-lt"/>
              </a:defRPr>
            </a:lvl1pPr>
          </a:lstStyle>
          <a:p>
            <a:r>
              <a:rPr lang="en-US" altLang="zh-TW" dirty="0" smtClean="0"/>
              <a:t>Page Title Goes Here</a:t>
            </a:r>
            <a:br>
              <a:rPr lang="en-US" altLang="zh-TW" dirty="0" smtClean="0"/>
            </a:br>
            <a:endParaRPr lang="en-US" dirty="0"/>
          </a:p>
        </p:txBody>
      </p:sp>
      <p:sp>
        <p:nvSpPr>
          <p:cNvPr id="8" name="文字方塊 13">
            <a:extLst>
              <a:ext uri="{FF2B5EF4-FFF2-40B4-BE49-F238E27FC236}">
                <a16:creationId xmlns:a16="http://schemas.microsoft.com/office/drawing/2014/main" xmlns="" id="{100C045E-458C-43C8-A14C-FB9C878D4F9B}"/>
              </a:ext>
            </a:extLst>
          </p:cNvPr>
          <p:cNvSpPr txBox="1"/>
          <p:nvPr userDrawn="1"/>
        </p:nvSpPr>
        <p:spPr>
          <a:xfrm>
            <a:off x="478149" y="4933093"/>
            <a:ext cx="1153376" cy="173124"/>
          </a:xfrm>
          <a:prstGeom prst="rect">
            <a:avLst/>
          </a:prstGeom>
          <a:noFill/>
        </p:spPr>
        <p:txBody>
          <a:bodyPr wrap="square" rtlCol="0">
            <a:spAutoFit/>
          </a:bodyPr>
          <a:lstStyle/>
          <a:p>
            <a:pPr algn="l"/>
            <a:r>
              <a:rPr lang="en-US" sz="525" b="0" i="0" dirty="0" smtClean="0">
                <a:solidFill>
                  <a:schemeClr val="bg1">
                    <a:lumMod val="50000"/>
                  </a:schemeClr>
                </a:solidFill>
                <a:effectLst/>
                <a:latin typeface="+mn-lt"/>
              </a:rPr>
              <a:t>  </a:t>
            </a:r>
            <a:r>
              <a:rPr lang="en-US" sz="525" b="0" i="0" kern="1200" dirty="0" smtClean="0">
                <a:solidFill>
                  <a:schemeClr val="tx1">
                    <a:lumMod val="75000"/>
                    <a:lumOff val="25000"/>
                    <a:alpha val="65000"/>
                  </a:schemeClr>
                </a:solidFill>
                <a:effectLst/>
                <a:latin typeface="+mn-lt"/>
                <a:ea typeface="+mn-ea"/>
                <a:cs typeface="+mn-cs"/>
              </a:rPr>
              <a:t>AUO Corporation Proprietary</a:t>
            </a:r>
            <a:endParaRPr lang="en-US" sz="525" b="0" i="0" kern="1200" dirty="0">
              <a:solidFill>
                <a:schemeClr val="tx1">
                  <a:lumMod val="75000"/>
                  <a:lumOff val="25000"/>
                  <a:alpha val="65000"/>
                </a:schemeClr>
              </a:solidFill>
              <a:effectLst/>
              <a:latin typeface="+mn-lt"/>
              <a:ea typeface="+mn-ea"/>
              <a:cs typeface="+mn-cs"/>
            </a:endParaRPr>
          </a:p>
        </p:txBody>
      </p:sp>
      <p:sp>
        <p:nvSpPr>
          <p:cNvPr id="9" name="矩形 8"/>
          <p:cNvSpPr/>
          <p:nvPr userDrawn="1"/>
        </p:nvSpPr>
        <p:spPr>
          <a:xfrm>
            <a:off x="520230" y="4961069"/>
            <a:ext cx="62518" cy="138499"/>
          </a:xfrm>
          <a:prstGeom prst="rect">
            <a:avLst/>
          </a:prstGeom>
        </p:spPr>
        <p:txBody>
          <a:bodyPr wrap="none" lIns="0" tIns="0" rIns="0" bIns="0">
            <a:spAutoFit/>
          </a:bodyPr>
          <a:lstStyle/>
          <a:p>
            <a:r>
              <a:rPr lang="en-US" altLang="zh-TW" sz="900" b="0" i="0" dirty="0" smtClean="0">
                <a:solidFill>
                  <a:schemeClr val="bg1">
                    <a:lumMod val="50000"/>
                  </a:schemeClr>
                </a:solidFill>
                <a:effectLst/>
                <a:latin typeface="+mn-lt"/>
              </a:rPr>
              <a:t>©</a:t>
            </a:r>
            <a:endParaRPr lang="zh-TW" altLang="en-US" sz="1400" dirty="0">
              <a:solidFill>
                <a:schemeClr val="bg1">
                  <a:lumMod val="50000"/>
                </a:schemeClr>
              </a:solidFill>
            </a:endParaRPr>
          </a:p>
        </p:txBody>
      </p:sp>
    </p:spTree>
    <p:extLst>
      <p:ext uri="{BB962C8B-B14F-4D97-AF65-F5344CB8AC3E}">
        <p14:creationId xmlns:p14="http://schemas.microsoft.com/office/powerpoint/2010/main" val="248905806"/>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Blank Page with Ttile">
    <p:bg>
      <p:bgPr>
        <a:solidFill>
          <a:schemeClr val="bg1"/>
        </a:solidFill>
        <a:effectLst/>
      </p:bgPr>
    </p:bg>
    <p:spTree>
      <p:nvGrpSpPr>
        <p:cNvPr id="1" name=""/>
        <p:cNvGrpSpPr/>
        <p:nvPr/>
      </p:nvGrpSpPr>
      <p:grpSpPr>
        <a:xfrm>
          <a:off x="0" y="0"/>
          <a:ext cx="0" cy="0"/>
          <a:chOff x="0" y="0"/>
          <a:chExt cx="0" cy="0"/>
        </a:xfrm>
      </p:grpSpPr>
      <p:pic>
        <p:nvPicPr>
          <p:cNvPr id="8" name="圖片 7">
            <a:extLst>
              <a:ext uri="{FF2B5EF4-FFF2-40B4-BE49-F238E27FC236}">
                <a16:creationId xmlns="" xmlns:a16="http://schemas.microsoft.com/office/drawing/2014/main" id="{8716136D-A099-46A3-A097-F57CDBAEF9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61421" y="-586026"/>
            <a:ext cx="2299235" cy="2299235"/>
          </a:xfrm>
          <a:prstGeom prst="rect">
            <a:avLst/>
          </a:prstGeom>
        </p:spPr>
      </p:pic>
      <p:sp>
        <p:nvSpPr>
          <p:cNvPr id="2" name="標題 1">
            <a:extLst>
              <a:ext uri="{FF2B5EF4-FFF2-40B4-BE49-F238E27FC236}">
                <a16:creationId xmlns="" xmlns:a16="http://schemas.microsoft.com/office/drawing/2014/main" id="{5F735089-F81E-4CF4-ADF9-44812E60E2E0}"/>
              </a:ext>
            </a:extLst>
          </p:cNvPr>
          <p:cNvSpPr>
            <a:spLocks noGrp="1"/>
          </p:cNvSpPr>
          <p:nvPr>
            <p:ph type="ctrTitle" hasCustomPrompt="1"/>
          </p:nvPr>
        </p:nvSpPr>
        <p:spPr>
          <a:xfrm>
            <a:off x="478148" y="331531"/>
            <a:ext cx="8482972" cy="1064131"/>
          </a:xfrm>
        </p:spPr>
        <p:txBody>
          <a:bodyPr anchor="t">
            <a:normAutofit/>
          </a:bodyPr>
          <a:lstStyle>
            <a:lvl1pPr algn="l">
              <a:defRPr sz="3200">
                <a:solidFill>
                  <a:srgbClr val="005087"/>
                </a:solidFill>
                <a:latin typeface="+mj-lt"/>
              </a:defRPr>
            </a:lvl1pPr>
          </a:lstStyle>
          <a:p>
            <a:r>
              <a:rPr lang="en-US" altLang="zh-TW" dirty="0"/>
              <a:t>Page Title Goes Here</a:t>
            </a:r>
            <a:br>
              <a:rPr lang="en-US" altLang="zh-TW" dirty="0"/>
            </a:br>
            <a:endParaRPr lang="en-US"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91393" y="4692853"/>
            <a:ext cx="655383" cy="280878"/>
          </a:xfrm>
          <a:prstGeom prst="rect">
            <a:avLst/>
          </a:prstGeom>
        </p:spPr>
      </p:pic>
      <p:sp>
        <p:nvSpPr>
          <p:cNvPr id="7"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pPr algn="l"/>
            <a:r>
              <a:rPr lang="en-US" sz="525" b="0" i="0" dirty="0">
                <a:solidFill>
                  <a:schemeClr val="bg1">
                    <a:lumMod val="50000"/>
                  </a:schemeClr>
                </a:solidFill>
                <a:effectLst/>
                <a:latin typeface="+mn-lt"/>
              </a:rPr>
              <a:t>  </a:t>
            </a:r>
            <a:r>
              <a:rPr lang="en-US" sz="525" b="0" i="0" kern="1200" dirty="0">
                <a:solidFill>
                  <a:schemeClr val="tx1">
                    <a:lumMod val="75000"/>
                    <a:lumOff val="25000"/>
                    <a:alpha val="65000"/>
                  </a:schemeClr>
                </a:solidFill>
                <a:effectLst/>
                <a:latin typeface="+mn-lt"/>
                <a:ea typeface="+mn-ea"/>
                <a:cs typeface="+mn-cs"/>
              </a:rPr>
              <a:t>AUO Corporation Proprietary</a:t>
            </a:r>
          </a:p>
        </p:txBody>
      </p:sp>
      <p:sp>
        <p:nvSpPr>
          <p:cNvPr id="10" name="矩形 9"/>
          <p:cNvSpPr/>
          <p:nvPr userDrawn="1"/>
        </p:nvSpPr>
        <p:spPr>
          <a:xfrm>
            <a:off x="520230" y="4961069"/>
            <a:ext cx="62518" cy="138499"/>
          </a:xfrm>
          <a:prstGeom prst="rect">
            <a:avLst/>
          </a:prstGeom>
        </p:spPr>
        <p:txBody>
          <a:bodyPr wrap="none" lIns="0" tIns="0" rIns="0" bIns="0">
            <a:spAutoFit/>
          </a:bodyPr>
          <a:lstStyle/>
          <a:p>
            <a:r>
              <a:rPr lang="en-US" altLang="zh-TW" sz="900" b="0" i="0" dirty="0">
                <a:solidFill>
                  <a:schemeClr val="bg1">
                    <a:lumMod val="50000"/>
                  </a:schemeClr>
                </a:solidFill>
                <a:effectLst/>
                <a:latin typeface="+mn-lt"/>
              </a:rPr>
              <a:t>©</a:t>
            </a:r>
            <a:endParaRPr lang="zh-TW" altLang="en-US" sz="1400" dirty="0">
              <a:solidFill>
                <a:schemeClr val="bg1">
                  <a:lumMod val="50000"/>
                </a:schemeClr>
              </a:solidFill>
            </a:endParaRPr>
          </a:p>
        </p:txBody>
      </p:sp>
    </p:spTree>
    <p:extLst>
      <p:ext uri="{BB962C8B-B14F-4D97-AF65-F5344CB8AC3E}">
        <p14:creationId xmlns:p14="http://schemas.microsoft.com/office/powerpoint/2010/main" val="253892827"/>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esentation Cover Page">
    <p:bg>
      <p:bgPr>
        <a:blipFill dpi="0" rotWithShape="1">
          <a:blip r:embed="rId2" cstate="print">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494472" y="644577"/>
            <a:ext cx="7117908" cy="1857461"/>
          </a:xfrm>
        </p:spPr>
        <p:txBody>
          <a:bodyPr anchor="b">
            <a:normAutofit/>
          </a:bodyPr>
          <a:lstStyle>
            <a:lvl1pPr algn="l">
              <a:defRPr sz="4000" b="0">
                <a:solidFill>
                  <a:schemeClr val="bg1"/>
                </a:solidFill>
                <a:latin typeface="+mj-lt"/>
              </a:defRPr>
            </a:lvl1pPr>
          </a:lstStyle>
          <a:p>
            <a:r>
              <a:rPr lang="en-US" altLang="zh-TW" dirty="0" smtClean="0"/>
              <a:t>PowerPoint Presentation</a:t>
            </a:r>
            <a:br>
              <a:rPr lang="en-US" altLang="zh-TW" dirty="0" smtClean="0"/>
            </a:br>
            <a:r>
              <a:rPr lang="en-US" altLang="zh-TW" dirty="0" smtClean="0"/>
              <a:t>Title Mabry Pro-Medium + </a:t>
            </a:r>
            <a:br>
              <a:rPr lang="en-US" altLang="zh-TW" dirty="0" smtClean="0"/>
            </a:br>
            <a:r>
              <a:rPr lang="en-US" altLang="zh-TW" dirty="0" err="1" smtClean="0"/>
              <a:t>Noto</a:t>
            </a:r>
            <a:r>
              <a:rPr lang="en-US" altLang="zh-TW" dirty="0" smtClean="0"/>
              <a:t> Sans TC Medium</a:t>
            </a:r>
            <a:endParaRPr lang="en-US" dirty="0"/>
          </a:p>
        </p:txBody>
      </p:sp>
      <p:sp>
        <p:nvSpPr>
          <p:cNvPr id="9" name="日期版面配置區 3">
            <a:extLst>
              <a:ext uri="{FF2B5EF4-FFF2-40B4-BE49-F238E27FC236}">
                <a16:creationId xmlns:a16="http://schemas.microsoft.com/office/drawing/2014/main" xmlns="" id="{A6B2842F-AB04-453E-B849-7FA26470D3C7}"/>
              </a:ext>
            </a:extLst>
          </p:cNvPr>
          <p:cNvSpPr>
            <a:spLocks noGrp="1"/>
          </p:cNvSpPr>
          <p:nvPr>
            <p:ph type="dt" sz="half" idx="10"/>
          </p:nvPr>
        </p:nvSpPr>
        <p:spPr>
          <a:xfrm>
            <a:off x="533711" y="4643572"/>
            <a:ext cx="2713548" cy="313440"/>
          </a:xfrm>
        </p:spPr>
        <p:txBody>
          <a:bodyPr anchor="b"/>
          <a:lstStyle>
            <a:lvl1pPr>
              <a:defRPr sz="1200">
                <a:solidFill>
                  <a:srgbClr val="005087"/>
                </a:solidFill>
              </a:defRPr>
            </a:lvl1pPr>
          </a:lstStyle>
          <a:p>
            <a:r>
              <a:rPr lang="en-US" dirty="0" smtClean="0"/>
              <a:t>YYYY/MM/DD</a:t>
            </a:r>
            <a:endParaRPr lang="en-US" dirty="0"/>
          </a:p>
        </p:txBody>
      </p:sp>
      <p:sp>
        <p:nvSpPr>
          <p:cNvPr id="10" name="文字版面配置區 10">
            <a:extLst>
              <a:ext uri="{FF2B5EF4-FFF2-40B4-BE49-F238E27FC236}">
                <a16:creationId xmlns:a16="http://schemas.microsoft.com/office/drawing/2014/main" xmlns="" id="{F651AF1A-06EC-4C3B-8B93-08038043E34A}"/>
              </a:ext>
            </a:extLst>
          </p:cNvPr>
          <p:cNvSpPr>
            <a:spLocks noGrp="1"/>
          </p:cNvSpPr>
          <p:nvPr>
            <p:ph type="body" sz="quarter" idx="12" hasCustomPrompt="1"/>
          </p:nvPr>
        </p:nvSpPr>
        <p:spPr>
          <a:xfrm>
            <a:off x="533348" y="4006765"/>
            <a:ext cx="2713911" cy="636807"/>
          </a:xfrm>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400">
                <a:solidFill>
                  <a:srgbClr val="005087"/>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smtClean="0"/>
              <a:t>Presenter’s Name</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smtClean="0"/>
              <a:t>Presenter’s Title / Department</a:t>
            </a:r>
            <a:endParaRPr lang="en-US" dirty="0"/>
          </a:p>
        </p:txBody>
      </p:sp>
      <p:sp>
        <p:nvSpPr>
          <p:cNvPr id="12"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1573442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Page 1">
    <p:bg>
      <p:bgPr>
        <a:solidFill>
          <a:schemeClr val="bg1"/>
        </a:solidFill>
        <a:effectLst/>
      </p:bgPr>
    </p:bg>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623911" y="331531"/>
            <a:ext cx="5390549" cy="1073757"/>
          </a:xfrm>
        </p:spPr>
        <p:txBody>
          <a:bodyPr anchor="t">
            <a:normAutofit/>
          </a:bodyPr>
          <a:lstStyle>
            <a:lvl1pPr algn="l">
              <a:defRPr sz="3600">
                <a:solidFill>
                  <a:srgbClr val="005087"/>
                </a:solidFill>
                <a:latin typeface="+mj-lt"/>
              </a:defRPr>
            </a:lvl1pPr>
          </a:lstStyle>
          <a:p>
            <a:r>
              <a:rPr lang="en-US" dirty="0"/>
              <a:t>Agenda</a:t>
            </a:r>
          </a:p>
        </p:txBody>
      </p:sp>
      <p:sp>
        <p:nvSpPr>
          <p:cNvPr id="7" name="文字版面配置區 11">
            <a:extLst>
              <a:ext uri="{FF2B5EF4-FFF2-40B4-BE49-F238E27FC236}">
                <a16:creationId xmlns:a16="http://schemas.microsoft.com/office/drawing/2014/main" xmlns="" id="{F405D2A6-487D-47BF-A577-784535711A23}"/>
              </a:ext>
            </a:extLst>
          </p:cNvPr>
          <p:cNvSpPr>
            <a:spLocks noGrp="1"/>
          </p:cNvSpPr>
          <p:nvPr>
            <p:ph type="body" sz="quarter" idx="10" hasCustomPrompt="1"/>
          </p:nvPr>
        </p:nvSpPr>
        <p:spPr>
          <a:xfrm>
            <a:off x="3623912" y="1405288"/>
            <a:ext cx="5390548" cy="2731570"/>
          </a:xfrm>
        </p:spPr>
        <p:txBody>
          <a:bodyPr/>
          <a:lstStyle>
            <a:lvl1pPr marL="0" marR="0" indent="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endParaRPr lang="it-IT" altLang="zh-TW" dirty="0" smtClean="0"/>
          </a:p>
        </p:txBody>
      </p:sp>
      <p:sp>
        <p:nvSpPr>
          <p:cNvPr id="8"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pic>
        <p:nvPicPr>
          <p:cNvPr id="3" name="圖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3025211" cy="5143500"/>
          </a:xfrm>
          <a:prstGeom prst="rect">
            <a:avLst/>
          </a:prstGeom>
        </p:spPr>
      </p:pic>
    </p:spTree>
    <p:extLst>
      <p:ext uri="{BB962C8B-B14F-4D97-AF65-F5344CB8AC3E}">
        <p14:creationId xmlns:p14="http://schemas.microsoft.com/office/powerpoint/2010/main" val="9847928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Page 2">
    <p:bg>
      <p:bgPr>
        <a:solidFill>
          <a:schemeClr val="bg1"/>
        </a:solidFill>
        <a:effectLst/>
      </p:bgPr>
    </p:bg>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623911" y="331531"/>
            <a:ext cx="5390549" cy="1073757"/>
          </a:xfrm>
        </p:spPr>
        <p:txBody>
          <a:bodyPr anchor="t">
            <a:normAutofit/>
          </a:bodyPr>
          <a:lstStyle>
            <a:lvl1pPr algn="l">
              <a:defRPr sz="3600">
                <a:solidFill>
                  <a:srgbClr val="005087"/>
                </a:solidFill>
                <a:latin typeface="+mj-lt"/>
              </a:defRPr>
            </a:lvl1pPr>
          </a:lstStyle>
          <a:p>
            <a:r>
              <a:rPr lang="en-US" dirty="0" smtClean="0"/>
              <a:t>Agenda</a:t>
            </a:r>
            <a:endParaRPr lang="en-US" dirty="0"/>
          </a:p>
        </p:txBody>
      </p:sp>
      <p:sp>
        <p:nvSpPr>
          <p:cNvPr id="7" name="文字版面配置區 11">
            <a:extLst>
              <a:ext uri="{FF2B5EF4-FFF2-40B4-BE49-F238E27FC236}">
                <a16:creationId xmlns:a16="http://schemas.microsoft.com/office/drawing/2014/main" xmlns="" id="{F405D2A6-487D-47BF-A577-784535711A23}"/>
              </a:ext>
            </a:extLst>
          </p:cNvPr>
          <p:cNvSpPr>
            <a:spLocks noGrp="1"/>
          </p:cNvSpPr>
          <p:nvPr>
            <p:ph type="body" sz="quarter" idx="10" hasCustomPrompt="1"/>
          </p:nvPr>
        </p:nvSpPr>
        <p:spPr>
          <a:xfrm>
            <a:off x="3623912" y="1405288"/>
            <a:ext cx="5390548" cy="2731570"/>
          </a:xfrm>
        </p:spPr>
        <p:txBody>
          <a:bodyPr/>
          <a:lstStyle>
            <a:lvl1pPr marL="0" marR="0" indent="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endParaRPr lang="it-IT" altLang="zh-TW" dirty="0" smtClean="0"/>
          </a:p>
        </p:txBody>
      </p:sp>
      <p:sp>
        <p:nvSpPr>
          <p:cNvPr id="8"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pic>
        <p:nvPicPr>
          <p:cNvPr id="2" name="圖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3025211" cy="5143500"/>
          </a:xfrm>
          <a:prstGeom prst="rect">
            <a:avLst/>
          </a:prstGeom>
        </p:spPr>
      </p:pic>
    </p:spTree>
    <p:extLst>
      <p:ext uri="{BB962C8B-B14F-4D97-AF65-F5344CB8AC3E}">
        <p14:creationId xmlns:p14="http://schemas.microsoft.com/office/powerpoint/2010/main" val="28672048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reak Page_1">
    <p:bg>
      <p:bgPr>
        <a:solidFill>
          <a:schemeClr val="accent1"/>
        </a:solidFill>
        <a:effectLst/>
      </p:bgPr>
    </p:bg>
    <p:spTree>
      <p:nvGrpSpPr>
        <p:cNvPr id="1" name=""/>
        <p:cNvGrpSpPr/>
        <p:nvPr/>
      </p:nvGrpSpPr>
      <p:grpSpPr>
        <a:xfrm>
          <a:off x="0" y="0"/>
          <a:ext cx="0" cy="0"/>
          <a:chOff x="0" y="0"/>
          <a:chExt cx="0" cy="0"/>
        </a:xfrm>
      </p:grpSpPr>
      <p:sp>
        <p:nvSpPr>
          <p:cNvPr id="6" name="矩形 5"/>
          <p:cNvSpPr/>
          <p:nvPr userDrawn="1"/>
        </p:nvSpPr>
        <p:spPr>
          <a:xfrm>
            <a:off x="0" y="0"/>
            <a:ext cx="9144000" cy="514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FFFF"/>
              </a:solidFill>
            </a:endParaRPr>
          </a:p>
        </p:txBody>
      </p:sp>
      <p:sp>
        <p:nvSpPr>
          <p:cNvPr id="8" name="Freeform 16"/>
          <p:cNvSpPr>
            <a:spLocks/>
          </p:cNvSpPr>
          <p:nvPr userDrawn="1"/>
        </p:nvSpPr>
        <p:spPr bwMode="auto">
          <a:xfrm>
            <a:off x="3847671" y="-484742"/>
            <a:ext cx="5979614" cy="4693353"/>
          </a:xfrm>
          <a:custGeom>
            <a:avLst/>
            <a:gdLst>
              <a:gd name="T0" fmla="*/ 1161 w 1390"/>
              <a:gd name="T1" fmla="*/ 293 h 1091"/>
              <a:gd name="T2" fmla="*/ 929 w 1390"/>
              <a:gd name="T3" fmla="*/ 293 h 1091"/>
              <a:gd name="T4" fmla="*/ 929 w 1390"/>
              <a:gd name="T5" fmla="*/ 0 h 1091"/>
              <a:gd name="T6" fmla="*/ 0 w 1390"/>
              <a:gd name="T7" fmla="*/ 0 h 1091"/>
              <a:gd name="T8" fmla="*/ 0 w 1390"/>
              <a:gd name="T9" fmla="*/ 696 h 1091"/>
              <a:gd name="T10" fmla="*/ 473 w 1390"/>
              <a:gd name="T11" fmla="*/ 696 h 1091"/>
              <a:gd name="T12" fmla="*/ 700 w 1390"/>
              <a:gd name="T13" fmla="*/ 1091 h 1091"/>
              <a:gd name="T14" fmla="*/ 1161 w 1390"/>
              <a:gd name="T15" fmla="*/ 1091 h 1091"/>
              <a:gd name="T16" fmla="*/ 1390 w 1390"/>
              <a:gd name="T17" fmla="*/ 693 h 1091"/>
              <a:gd name="T18" fmla="*/ 1161 w 1390"/>
              <a:gd name="T19" fmla="*/ 293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0" h="1091">
                <a:moveTo>
                  <a:pt x="1161" y="293"/>
                </a:moveTo>
                <a:lnTo>
                  <a:pt x="929" y="293"/>
                </a:lnTo>
                <a:lnTo>
                  <a:pt x="929" y="0"/>
                </a:lnTo>
                <a:lnTo>
                  <a:pt x="0" y="0"/>
                </a:lnTo>
                <a:lnTo>
                  <a:pt x="0" y="696"/>
                </a:lnTo>
                <a:lnTo>
                  <a:pt x="473" y="696"/>
                </a:lnTo>
                <a:lnTo>
                  <a:pt x="700" y="1091"/>
                </a:lnTo>
                <a:lnTo>
                  <a:pt x="1161" y="1091"/>
                </a:lnTo>
                <a:lnTo>
                  <a:pt x="1390" y="693"/>
                </a:lnTo>
                <a:lnTo>
                  <a:pt x="1161" y="293"/>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
        <p:nvSpPr>
          <p:cNvPr id="9" name="標題 1">
            <a:extLst>
              <a:ext uri="{FF2B5EF4-FFF2-40B4-BE49-F238E27FC236}">
                <a16:creationId xmlns:a16="http://schemas.microsoft.com/office/drawing/2014/main" xmlns="" id="{676DD45B-D11F-4BEE-8C43-E841A2A77971}"/>
              </a:ext>
            </a:extLst>
          </p:cNvPr>
          <p:cNvSpPr>
            <a:spLocks noGrp="1"/>
          </p:cNvSpPr>
          <p:nvPr userDrawn="1">
            <p:ph type="title" hasCustomPrompt="1"/>
          </p:nvPr>
        </p:nvSpPr>
        <p:spPr>
          <a:xfrm>
            <a:off x="494472" y="940324"/>
            <a:ext cx="6035868" cy="1689755"/>
          </a:xfrm>
        </p:spPr>
        <p:txBody>
          <a:bodyPr anchor="b">
            <a:normAutofit/>
          </a:bodyPr>
          <a:lstStyle>
            <a:lvl1pPr>
              <a:defRPr sz="3600">
                <a:solidFill>
                  <a:schemeClr val="bg1"/>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a:t>
            </a:r>
            <a:r>
              <a:rPr lang="en-US" altLang="zh-TW" dirty="0" smtClean="0"/>
              <a:t>T</a:t>
            </a:r>
            <a:r>
              <a:rPr lang="en-US" dirty="0" smtClean="0"/>
              <a:t>C Medium</a:t>
            </a:r>
            <a:endParaRPr lang="en-US" dirty="0"/>
          </a:p>
        </p:txBody>
      </p:sp>
      <p:sp>
        <p:nvSpPr>
          <p:cNvPr id="10" name="Footer Placeholder 4"/>
          <p:cNvSpPr>
            <a:spLocks noGrp="1"/>
          </p:cNvSpPr>
          <p:nvPr userDrawn="1">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164197352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reak Page_2">
    <p:bg>
      <p:bgPr>
        <a:solidFill>
          <a:schemeClr val="accent3"/>
        </a:solidFill>
        <a:effectLst/>
      </p:bgPr>
    </p:bg>
    <p:spTree>
      <p:nvGrpSpPr>
        <p:cNvPr id="1" name=""/>
        <p:cNvGrpSpPr/>
        <p:nvPr/>
      </p:nvGrpSpPr>
      <p:grpSpPr>
        <a:xfrm>
          <a:off x="0" y="0"/>
          <a:ext cx="0" cy="0"/>
          <a:chOff x="0" y="0"/>
          <a:chExt cx="0" cy="0"/>
        </a:xfrm>
      </p:grpSpPr>
      <p:sp>
        <p:nvSpPr>
          <p:cNvPr id="20" name="矩形 19"/>
          <p:cNvSpPr/>
          <p:nvPr userDrawn="1"/>
        </p:nvSpPr>
        <p:spPr>
          <a:xfrm>
            <a:off x="0" y="0"/>
            <a:ext cx="9144000" cy="5144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FFFF"/>
              </a:solidFill>
            </a:endParaRPr>
          </a:p>
        </p:txBody>
      </p:sp>
      <p:sp>
        <p:nvSpPr>
          <p:cNvPr id="14" name="Freeform 14"/>
          <p:cNvSpPr>
            <a:spLocks/>
          </p:cNvSpPr>
          <p:nvPr userDrawn="1"/>
        </p:nvSpPr>
        <p:spPr bwMode="auto">
          <a:xfrm>
            <a:off x="4569988" y="-46028"/>
            <a:ext cx="4909647" cy="4909647"/>
          </a:xfrm>
          <a:custGeom>
            <a:avLst/>
            <a:gdLst>
              <a:gd name="T0" fmla="*/ 192 w 474"/>
              <a:gd name="T1" fmla="*/ 0 h 474"/>
              <a:gd name="T2" fmla="*/ 192 w 474"/>
              <a:gd name="T3" fmla="*/ 91 h 474"/>
              <a:gd name="T4" fmla="*/ 0 w 474"/>
              <a:gd name="T5" fmla="*/ 282 h 474"/>
              <a:gd name="T6" fmla="*/ 192 w 474"/>
              <a:gd name="T7" fmla="*/ 474 h 474"/>
              <a:gd name="T8" fmla="*/ 383 w 474"/>
              <a:gd name="T9" fmla="*/ 282 h 474"/>
              <a:gd name="T10" fmla="*/ 474 w 474"/>
              <a:gd name="T11" fmla="*/ 282 h 474"/>
              <a:gd name="T12" fmla="*/ 474 w 474"/>
              <a:gd name="T13" fmla="*/ 0 h 474"/>
              <a:gd name="T14" fmla="*/ 192 w 474"/>
              <a:gd name="T15" fmla="*/ 0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4" h="474">
                <a:moveTo>
                  <a:pt x="192" y="0"/>
                </a:moveTo>
                <a:cubicBezTo>
                  <a:pt x="192" y="91"/>
                  <a:pt x="192" y="91"/>
                  <a:pt x="192" y="91"/>
                </a:cubicBezTo>
                <a:cubicBezTo>
                  <a:pt x="86" y="91"/>
                  <a:pt x="0" y="176"/>
                  <a:pt x="0" y="282"/>
                </a:cubicBezTo>
                <a:cubicBezTo>
                  <a:pt x="0" y="388"/>
                  <a:pt x="86" y="474"/>
                  <a:pt x="192" y="474"/>
                </a:cubicBezTo>
                <a:cubicBezTo>
                  <a:pt x="297" y="474"/>
                  <a:pt x="383" y="388"/>
                  <a:pt x="383" y="282"/>
                </a:cubicBezTo>
                <a:cubicBezTo>
                  <a:pt x="474" y="282"/>
                  <a:pt x="474" y="282"/>
                  <a:pt x="474" y="282"/>
                </a:cubicBezTo>
                <a:cubicBezTo>
                  <a:pt x="474" y="0"/>
                  <a:pt x="474" y="0"/>
                  <a:pt x="474" y="0"/>
                </a:cubicBezTo>
                <a:lnTo>
                  <a:pt x="192"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
        <p:nvSpPr>
          <p:cNvPr id="16" name="標題 1">
            <a:extLst>
              <a:ext uri="{FF2B5EF4-FFF2-40B4-BE49-F238E27FC236}">
                <a16:creationId xmlns:a16="http://schemas.microsoft.com/office/drawing/2014/main" xmlns="" id="{676DD45B-D11F-4BEE-8C43-E841A2A77971}"/>
              </a:ext>
            </a:extLst>
          </p:cNvPr>
          <p:cNvSpPr>
            <a:spLocks noGrp="1"/>
          </p:cNvSpPr>
          <p:nvPr userDrawn="1">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TC Medium</a:t>
            </a:r>
            <a:endParaRPr lang="en-US" dirty="0"/>
          </a:p>
        </p:txBody>
      </p:sp>
      <p:sp>
        <p:nvSpPr>
          <p:cNvPr id="17" name="Footer Placeholder 4"/>
          <p:cNvSpPr>
            <a:spLocks noGrp="1"/>
          </p:cNvSpPr>
          <p:nvPr userDrawn="1">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8"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4976459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 Page_3">
    <p:bg>
      <p:bgPr>
        <a:solidFill>
          <a:schemeClr val="accent5"/>
        </a:solidFill>
        <a:effectLst/>
      </p:bgPr>
    </p:bg>
    <p:spTree>
      <p:nvGrpSpPr>
        <p:cNvPr id="1" name=""/>
        <p:cNvGrpSpPr/>
        <p:nvPr/>
      </p:nvGrpSpPr>
      <p:grpSpPr>
        <a:xfrm>
          <a:off x="0" y="0"/>
          <a:ext cx="0" cy="0"/>
          <a:chOff x="0" y="0"/>
          <a:chExt cx="0" cy="0"/>
        </a:xfrm>
      </p:grpSpPr>
      <p:sp>
        <p:nvSpPr>
          <p:cNvPr id="26" name="Freeform 12"/>
          <p:cNvSpPr>
            <a:spLocks/>
          </p:cNvSpPr>
          <p:nvPr userDrawn="1"/>
        </p:nvSpPr>
        <p:spPr bwMode="auto">
          <a:xfrm>
            <a:off x="4013199" y="-1577552"/>
            <a:ext cx="5372379" cy="5898053"/>
          </a:xfrm>
          <a:custGeom>
            <a:avLst/>
            <a:gdLst>
              <a:gd name="T0" fmla="*/ 359 w 432"/>
              <a:gd name="T1" fmla="*/ 220 h 474"/>
              <a:gd name="T2" fmla="*/ 389 w 432"/>
              <a:gd name="T3" fmla="*/ 168 h 474"/>
              <a:gd name="T4" fmla="*/ 292 w 432"/>
              <a:gd name="T5" fmla="*/ 0 h 474"/>
              <a:gd name="T6" fmla="*/ 97 w 432"/>
              <a:gd name="T7" fmla="*/ 0 h 474"/>
              <a:gd name="T8" fmla="*/ 0 w 432"/>
              <a:gd name="T9" fmla="*/ 168 h 474"/>
              <a:gd name="T10" fmla="*/ 97 w 432"/>
              <a:gd name="T11" fmla="*/ 337 h 474"/>
              <a:gd name="T12" fmla="*/ 163 w 432"/>
              <a:gd name="T13" fmla="*/ 337 h 474"/>
              <a:gd name="T14" fmla="*/ 163 w 432"/>
              <a:gd name="T15" fmla="*/ 340 h 474"/>
              <a:gd name="T16" fmla="*/ 297 w 432"/>
              <a:gd name="T17" fmla="*/ 474 h 474"/>
              <a:gd name="T18" fmla="*/ 432 w 432"/>
              <a:gd name="T19" fmla="*/ 340 h 474"/>
              <a:gd name="T20" fmla="*/ 359 w 432"/>
              <a:gd name="T21" fmla="*/ 22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2" h="474">
                <a:moveTo>
                  <a:pt x="359" y="220"/>
                </a:moveTo>
                <a:cubicBezTo>
                  <a:pt x="389" y="168"/>
                  <a:pt x="389" y="168"/>
                  <a:pt x="389" y="168"/>
                </a:cubicBezTo>
                <a:cubicBezTo>
                  <a:pt x="292" y="0"/>
                  <a:pt x="292" y="0"/>
                  <a:pt x="292" y="0"/>
                </a:cubicBezTo>
                <a:cubicBezTo>
                  <a:pt x="97" y="0"/>
                  <a:pt x="97" y="0"/>
                  <a:pt x="97" y="0"/>
                </a:cubicBezTo>
                <a:cubicBezTo>
                  <a:pt x="0" y="168"/>
                  <a:pt x="0" y="168"/>
                  <a:pt x="0" y="168"/>
                </a:cubicBezTo>
                <a:cubicBezTo>
                  <a:pt x="97" y="337"/>
                  <a:pt x="97" y="337"/>
                  <a:pt x="97" y="337"/>
                </a:cubicBezTo>
                <a:cubicBezTo>
                  <a:pt x="163" y="337"/>
                  <a:pt x="163" y="337"/>
                  <a:pt x="163" y="337"/>
                </a:cubicBezTo>
                <a:cubicBezTo>
                  <a:pt x="163" y="338"/>
                  <a:pt x="163" y="339"/>
                  <a:pt x="163" y="340"/>
                </a:cubicBezTo>
                <a:cubicBezTo>
                  <a:pt x="163" y="414"/>
                  <a:pt x="223" y="474"/>
                  <a:pt x="297" y="474"/>
                </a:cubicBezTo>
                <a:cubicBezTo>
                  <a:pt x="372" y="474"/>
                  <a:pt x="432" y="414"/>
                  <a:pt x="432" y="340"/>
                </a:cubicBezTo>
                <a:cubicBezTo>
                  <a:pt x="432" y="288"/>
                  <a:pt x="402" y="243"/>
                  <a:pt x="359" y="220"/>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zh-TW" altLang="en-US" dirty="0">
              <a:solidFill>
                <a:srgbClr val="000000"/>
              </a:solidFill>
            </a:endParaRPr>
          </a:p>
        </p:txBody>
      </p:sp>
      <p:sp>
        <p:nvSpPr>
          <p:cNvPr id="19" name="Footer Placeholder 4"/>
          <p:cNvSpPr>
            <a:spLocks noGrp="1"/>
          </p:cNvSpPr>
          <p:nvPr userDrawn="1">
            <p:ph type="ftr" sz="quarter" idx="3"/>
          </p:nvPr>
        </p:nvSpPr>
        <p:spPr>
          <a:xfrm>
            <a:off x="320593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27" name="標題 1">
            <a:extLst>
              <a:ext uri="{FF2B5EF4-FFF2-40B4-BE49-F238E27FC236}">
                <a16:creationId xmlns:a16="http://schemas.microsoft.com/office/drawing/2014/main" xmlns="" id="{676DD45B-D11F-4BEE-8C43-E841A2A77971}"/>
              </a:ext>
            </a:extLst>
          </p:cNvPr>
          <p:cNvSpPr>
            <a:spLocks noGrp="1"/>
          </p:cNvSpPr>
          <p:nvPr>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altLang="zh-TW" dirty="0" smtClean="0"/>
              <a:t>Break Page Title</a:t>
            </a:r>
            <a:br>
              <a:rPr lang="en-US" altLang="zh-TW" dirty="0" smtClean="0"/>
            </a:br>
            <a:r>
              <a:rPr lang="en-US" altLang="zh-TW" dirty="0" smtClean="0"/>
              <a:t>Mabry Pro-Medium + </a:t>
            </a:r>
            <a:br>
              <a:rPr lang="en-US" altLang="zh-TW" dirty="0" smtClean="0"/>
            </a:br>
            <a:r>
              <a:rPr lang="en-US" altLang="zh-TW" dirty="0" err="1" smtClean="0"/>
              <a:t>Noto</a:t>
            </a:r>
            <a:r>
              <a:rPr lang="en-US" altLang="zh-TW" dirty="0" smtClean="0"/>
              <a:t> Sans TC Medium</a:t>
            </a:r>
            <a:endParaRPr lang="en-US" dirty="0"/>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7418519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 Page_4">
    <p:bg>
      <p:bgPr>
        <a:solidFill>
          <a:schemeClr val="accent2"/>
        </a:solidFill>
        <a:effectLst/>
      </p:bgPr>
    </p:bg>
    <p:spTree>
      <p:nvGrpSpPr>
        <p:cNvPr id="1" name=""/>
        <p:cNvGrpSpPr/>
        <p:nvPr/>
      </p:nvGrpSpPr>
      <p:grpSpPr>
        <a:xfrm>
          <a:off x="0" y="0"/>
          <a:ext cx="0" cy="0"/>
          <a:chOff x="0" y="0"/>
          <a:chExt cx="0" cy="0"/>
        </a:xfrm>
      </p:grpSpPr>
      <p:sp>
        <p:nvSpPr>
          <p:cNvPr id="26" name="矩形 25"/>
          <p:cNvSpPr/>
          <p:nvPr userDrawn="1"/>
        </p:nvSpPr>
        <p:spPr>
          <a:xfrm>
            <a:off x="0" y="0"/>
            <a:ext cx="9144000" cy="5144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FFFF"/>
              </a:solidFill>
            </a:endParaRPr>
          </a:p>
        </p:txBody>
      </p:sp>
      <p:sp>
        <p:nvSpPr>
          <p:cNvPr id="19" name="Footer Placeholder 4"/>
          <p:cNvSpPr>
            <a:spLocks noGrp="1"/>
          </p:cNvSpPr>
          <p:nvPr>
            <p:ph type="ftr" sz="quarter" idx="3"/>
          </p:nvPr>
        </p:nvSpPr>
        <p:spPr>
          <a:xfrm>
            <a:off x="320593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14" name="Freeform 13"/>
          <p:cNvSpPr>
            <a:spLocks/>
          </p:cNvSpPr>
          <p:nvPr userDrawn="1"/>
        </p:nvSpPr>
        <p:spPr bwMode="auto">
          <a:xfrm rot="10800000" flipV="1">
            <a:off x="3834892" y="-1248032"/>
            <a:ext cx="5901384" cy="6141804"/>
          </a:xfrm>
          <a:custGeom>
            <a:avLst/>
            <a:gdLst>
              <a:gd name="T0" fmla="*/ 492 w 525"/>
              <a:gd name="T1" fmla="*/ 236 h 546"/>
              <a:gd name="T2" fmla="*/ 492 w 525"/>
              <a:gd name="T3" fmla="*/ 236 h 546"/>
              <a:gd name="T4" fmla="*/ 393 w 525"/>
              <a:gd name="T5" fmla="*/ 176 h 546"/>
              <a:gd name="T6" fmla="*/ 393 w 525"/>
              <a:gd name="T7" fmla="*/ 0 h 546"/>
              <a:gd name="T8" fmla="*/ 0 w 525"/>
              <a:gd name="T9" fmla="*/ 0 h 546"/>
              <a:gd name="T10" fmla="*/ 0 w 525"/>
              <a:gd name="T11" fmla="*/ 294 h 546"/>
              <a:gd name="T12" fmla="*/ 148 w 525"/>
              <a:gd name="T13" fmla="*/ 294 h 546"/>
              <a:gd name="T14" fmla="*/ 77 w 525"/>
              <a:gd name="T15" fmla="*/ 335 h 546"/>
              <a:gd name="T16" fmla="*/ 198 w 525"/>
              <a:gd name="T17" fmla="*/ 546 h 546"/>
              <a:gd name="T18" fmla="*/ 447 w 525"/>
              <a:gd name="T19" fmla="*/ 402 h 546"/>
              <a:gd name="T20" fmla="*/ 492 w 525"/>
              <a:gd name="T21" fmla="*/ 23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5" h="546">
                <a:moveTo>
                  <a:pt x="492" y="236"/>
                </a:moveTo>
                <a:cubicBezTo>
                  <a:pt x="492" y="236"/>
                  <a:pt x="492" y="236"/>
                  <a:pt x="492" y="236"/>
                </a:cubicBezTo>
                <a:cubicBezTo>
                  <a:pt x="470" y="199"/>
                  <a:pt x="433" y="178"/>
                  <a:pt x="393" y="176"/>
                </a:cubicBezTo>
                <a:cubicBezTo>
                  <a:pt x="393" y="0"/>
                  <a:pt x="393" y="0"/>
                  <a:pt x="393" y="0"/>
                </a:cubicBezTo>
                <a:cubicBezTo>
                  <a:pt x="0" y="0"/>
                  <a:pt x="0" y="0"/>
                  <a:pt x="0" y="0"/>
                </a:cubicBezTo>
                <a:cubicBezTo>
                  <a:pt x="0" y="294"/>
                  <a:pt x="0" y="294"/>
                  <a:pt x="0" y="294"/>
                </a:cubicBezTo>
                <a:cubicBezTo>
                  <a:pt x="148" y="294"/>
                  <a:pt x="148" y="294"/>
                  <a:pt x="148" y="294"/>
                </a:cubicBezTo>
                <a:cubicBezTo>
                  <a:pt x="77" y="335"/>
                  <a:pt x="77" y="335"/>
                  <a:pt x="77" y="335"/>
                </a:cubicBezTo>
                <a:cubicBezTo>
                  <a:pt x="198" y="546"/>
                  <a:pt x="198" y="546"/>
                  <a:pt x="198" y="546"/>
                </a:cubicBezTo>
                <a:cubicBezTo>
                  <a:pt x="447" y="402"/>
                  <a:pt x="447" y="402"/>
                  <a:pt x="447" y="402"/>
                </a:cubicBezTo>
                <a:cubicBezTo>
                  <a:pt x="505" y="369"/>
                  <a:pt x="525" y="294"/>
                  <a:pt x="492" y="23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
        <p:nvSpPr>
          <p:cNvPr id="17" name="標題 1">
            <a:extLst>
              <a:ext uri="{FF2B5EF4-FFF2-40B4-BE49-F238E27FC236}">
                <a16:creationId xmlns:a16="http://schemas.microsoft.com/office/drawing/2014/main" xmlns="" id="{676DD45B-D11F-4BEE-8C43-E841A2A77971}"/>
              </a:ext>
            </a:extLst>
          </p:cNvPr>
          <p:cNvSpPr>
            <a:spLocks noGrp="1"/>
          </p:cNvSpPr>
          <p:nvPr>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TC Medium</a:t>
            </a:r>
            <a:endParaRPr lang="en-US" dirty="0"/>
          </a:p>
        </p:txBody>
      </p:sp>
      <p:sp>
        <p:nvSpPr>
          <p:cNvPr id="8"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30083717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age with Ttile">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xmlns="" id="{496B6DBE-9812-4B02-815E-036A6491504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7461421" y="-55084"/>
            <a:ext cx="1759697" cy="1768293"/>
          </a:xfrm>
          <a:prstGeom prst="rect">
            <a:avLst/>
          </a:prstGeom>
        </p:spPr>
      </p:pic>
      <p:sp>
        <p:nvSpPr>
          <p:cNvPr id="7"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477838" y="0"/>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
        <p:nvSpPr>
          <p:cNvPr id="8" name="Text Placeholder 4"/>
          <p:cNvSpPr>
            <a:spLocks noGrp="1"/>
          </p:cNvSpPr>
          <p:nvPr>
            <p:ph type="body" sz="quarter" idx="10" hasCustomPrompt="1"/>
          </p:nvPr>
        </p:nvSpPr>
        <p:spPr>
          <a:xfrm>
            <a:off x="477838" y="1314225"/>
            <a:ext cx="8234362" cy="2857500"/>
          </a:xfrm>
        </p:spPr>
        <p:txBody>
          <a:bodyPr/>
          <a:lstStyle>
            <a:lvl1pPr marL="0" indent="0">
              <a:buNone/>
              <a:defRPr sz="1600"/>
            </a:lvl1pPr>
          </a:lstStyle>
          <a:p>
            <a:pPr lvl="0"/>
            <a:r>
              <a:rPr lang="en-US" altLang="zh-TW" dirty="0" smtClean="0"/>
              <a:t>Mabry Pro + Noto Sans TC</a:t>
            </a:r>
          </a:p>
          <a:p>
            <a:pPr lvl="0"/>
            <a:endParaRPr lang="en-US" altLang="zh-TW" dirty="0" smtClean="0"/>
          </a:p>
        </p:txBody>
      </p:sp>
      <p:sp>
        <p:nvSpPr>
          <p:cNvPr id="9"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r>
              <a:rPr lang="en-US" sz="525" dirty="0" smtClean="0">
                <a:solidFill>
                  <a:srgbClr val="FFFFFF">
                    <a:lumMod val="50000"/>
                  </a:srgbClr>
                </a:solidFill>
              </a:rPr>
              <a:t>  </a:t>
            </a:r>
            <a:r>
              <a:rPr lang="en-US" sz="525" dirty="0" smtClean="0">
                <a:solidFill>
                  <a:srgbClr val="000000">
                    <a:lumMod val="75000"/>
                    <a:lumOff val="25000"/>
                    <a:alpha val="65000"/>
                  </a:srgbClr>
                </a:solidFill>
              </a:rPr>
              <a:t>AUO Corporation Proprietary</a:t>
            </a:r>
            <a:endParaRPr lang="en-US" sz="525" dirty="0">
              <a:solidFill>
                <a:srgbClr val="000000">
                  <a:lumMod val="75000"/>
                  <a:lumOff val="25000"/>
                  <a:alpha val="65000"/>
                </a:srgbClr>
              </a:solidFill>
            </a:endParaRPr>
          </a:p>
        </p:txBody>
      </p:sp>
      <p:sp>
        <p:nvSpPr>
          <p:cNvPr id="10" name="矩形 9"/>
          <p:cNvSpPr/>
          <p:nvPr userDrawn="1"/>
        </p:nvSpPr>
        <p:spPr>
          <a:xfrm>
            <a:off x="520230" y="4961069"/>
            <a:ext cx="62518" cy="138499"/>
          </a:xfrm>
          <a:prstGeom prst="rect">
            <a:avLst/>
          </a:prstGeom>
        </p:spPr>
        <p:txBody>
          <a:bodyPr wrap="none" lIns="0" tIns="0" rIns="0" bIns="0">
            <a:spAutoFit/>
          </a:bodyPr>
          <a:lstStyle/>
          <a:p>
            <a:r>
              <a:rPr lang="en-US" altLang="zh-TW" sz="900" dirty="0" smtClean="0">
                <a:solidFill>
                  <a:srgbClr val="FFFFFF">
                    <a:lumMod val="50000"/>
                  </a:srgbClr>
                </a:solidFill>
              </a:rPr>
              <a:t>©</a:t>
            </a:r>
            <a:endParaRPr lang="zh-TW" altLang="en-US" sz="1400" dirty="0">
              <a:solidFill>
                <a:srgbClr val="FFFFFF">
                  <a:lumMod val="50000"/>
                </a:srgbClr>
              </a:solidFill>
            </a:endParaRPr>
          </a:p>
        </p:txBody>
      </p:sp>
      <p:sp>
        <p:nvSpPr>
          <p:cNvPr id="11"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14" name="Freeform 5"/>
          <p:cNvSpPr>
            <a:spLocks noChangeAspect="1" noEditPoints="1"/>
          </p:cNvSpPr>
          <p:nvPr userDrawn="1"/>
        </p:nvSpPr>
        <p:spPr bwMode="auto">
          <a:xfrm>
            <a:off x="8361592" y="4753677"/>
            <a:ext cx="507600" cy="179416"/>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1933885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age with Ttile 2">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xmlns="" id="{496B6DBE-9812-4B02-815E-036A6491504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7461421" y="-55084"/>
            <a:ext cx="1759697" cy="1768293"/>
          </a:xfrm>
          <a:prstGeom prst="rect">
            <a:avLst/>
          </a:prstGeom>
        </p:spPr>
      </p:pic>
      <p:sp>
        <p:nvSpPr>
          <p:cNvPr id="9"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r>
              <a:rPr lang="en-US" sz="525" dirty="0" smtClean="0">
                <a:solidFill>
                  <a:srgbClr val="FFFFFF">
                    <a:lumMod val="50000"/>
                  </a:srgbClr>
                </a:solidFill>
              </a:rPr>
              <a:t>  </a:t>
            </a:r>
            <a:r>
              <a:rPr lang="en-US" sz="525" dirty="0" smtClean="0">
                <a:solidFill>
                  <a:srgbClr val="000000">
                    <a:lumMod val="75000"/>
                    <a:lumOff val="25000"/>
                    <a:alpha val="65000"/>
                  </a:srgbClr>
                </a:solidFill>
              </a:rPr>
              <a:t>AUO Corporation Proprietary</a:t>
            </a:r>
            <a:endParaRPr lang="en-US" sz="525" dirty="0">
              <a:solidFill>
                <a:srgbClr val="000000">
                  <a:lumMod val="75000"/>
                  <a:lumOff val="25000"/>
                  <a:alpha val="65000"/>
                </a:srgbClr>
              </a:solidFill>
            </a:endParaRPr>
          </a:p>
        </p:txBody>
      </p:sp>
      <p:sp>
        <p:nvSpPr>
          <p:cNvPr id="10" name="矩形 9"/>
          <p:cNvSpPr/>
          <p:nvPr userDrawn="1"/>
        </p:nvSpPr>
        <p:spPr>
          <a:xfrm>
            <a:off x="520230" y="4961069"/>
            <a:ext cx="62518" cy="138499"/>
          </a:xfrm>
          <a:prstGeom prst="rect">
            <a:avLst/>
          </a:prstGeom>
        </p:spPr>
        <p:txBody>
          <a:bodyPr wrap="none" lIns="0" tIns="0" rIns="0" bIns="0">
            <a:spAutoFit/>
          </a:bodyPr>
          <a:lstStyle/>
          <a:p>
            <a:r>
              <a:rPr lang="en-US" altLang="zh-TW" sz="900" dirty="0" smtClean="0">
                <a:solidFill>
                  <a:srgbClr val="FFFFFF">
                    <a:lumMod val="50000"/>
                  </a:srgbClr>
                </a:solidFill>
              </a:rPr>
              <a:t>©</a:t>
            </a:r>
            <a:endParaRPr lang="zh-TW" altLang="en-US" sz="1400" dirty="0">
              <a:solidFill>
                <a:srgbClr val="FFFFFF">
                  <a:lumMod val="50000"/>
                </a:srgbClr>
              </a:solidFill>
            </a:endParaRPr>
          </a:p>
        </p:txBody>
      </p:sp>
      <p:sp>
        <p:nvSpPr>
          <p:cNvPr id="11"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8" name="Freeform 5"/>
          <p:cNvSpPr>
            <a:spLocks noChangeAspect="1" noEditPoints="1"/>
          </p:cNvSpPr>
          <p:nvPr userDrawn="1"/>
        </p:nvSpPr>
        <p:spPr bwMode="auto">
          <a:xfrm>
            <a:off x="8361592" y="4753677"/>
            <a:ext cx="507600" cy="179416"/>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
        <p:nvSpPr>
          <p:cNvPr id="12"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477838" y="0"/>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Tree>
    <p:extLst>
      <p:ext uri="{BB962C8B-B14F-4D97-AF65-F5344CB8AC3E}">
        <p14:creationId xmlns:p14="http://schemas.microsoft.com/office/powerpoint/2010/main" val="12839930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ing Pag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xmlns="" id="{054A8AFF-F688-43D7-8F8E-CD8E790824BD}"/>
              </a:ext>
            </a:extLst>
          </p:cNvPr>
          <p:cNvSpPr>
            <a:spLocks noGrp="1"/>
          </p:cNvSpPr>
          <p:nvPr>
            <p:ph type="title" hasCustomPrompt="1"/>
          </p:nvPr>
        </p:nvSpPr>
        <p:spPr>
          <a:xfrm>
            <a:off x="623888" y="1725105"/>
            <a:ext cx="7886700" cy="1696751"/>
          </a:xfrm>
        </p:spPr>
        <p:txBody>
          <a:bodyPr anchor="ctr">
            <a:normAutofit/>
          </a:bodyPr>
          <a:lstStyle>
            <a:lvl1pPr algn="ctr">
              <a:defRPr sz="3000">
                <a:solidFill>
                  <a:schemeClr val="bg1"/>
                </a:solidFill>
                <a:latin typeface="+mj-lt"/>
              </a:defRPr>
            </a:lvl1pPr>
          </a:lstStyle>
          <a:p>
            <a:r>
              <a:rPr lang="en-US" altLang="zh-TW" dirty="0"/>
              <a:t>Tap Into The Possibilities</a:t>
            </a:r>
            <a:endParaRPr lang="en-US" dirty="0"/>
          </a:p>
        </p:txBody>
      </p:sp>
      <p:sp>
        <p:nvSpPr>
          <p:cNvPr id="12"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11804500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esentation Cover Page">
    <p:bg>
      <p:bgPr>
        <a:blipFill dpi="0" rotWithShape="1">
          <a:blip r:embed="rId2" cstate="print">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494472" y="644577"/>
            <a:ext cx="7117908" cy="1857461"/>
          </a:xfrm>
        </p:spPr>
        <p:txBody>
          <a:bodyPr anchor="b">
            <a:normAutofit/>
          </a:bodyPr>
          <a:lstStyle>
            <a:lvl1pPr algn="l">
              <a:defRPr sz="4000" b="0">
                <a:solidFill>
                  <a:schemeClr val="bg1"/>
                </a:solidFill>
                <a:latin typeface="+mj-lt"/>
              </a:defRPr>
            </a:lvl1pPr>
          </a:lstStyle>
          <a:p>
            <a:r>
              <a:rPr lang="en-US" altLang="zh-TW" dirty="0" smtClean="0"/>
              <a:t>PowerPoint Presentation</a:t>
            </a:r>
            <a:br>
              <a:rPr lang="en-US" altLang="zh-TW" dirty="0" smtClean="0"/>
            </a:br>
            <a:r>
              <a:rPr lang="en-US" altLang="zh-TW" dirty="0" smtClean="0"/>
              <a:t>Title Mabry Pro-Medium + </a:t>
            </a:r>
            <a:br>
              <a:rPr lang="en-US" altLang="zh-TW" dirty="0" smtClean="0"/>
            </a:br>
            <a:r>
              <a:rPr lang="en-US" altLang="zh-TW" dirty="0" err="1" smtClean="0"/>
              <a:t>Noto</a:t>
            </a:r>
            <a:r>
              <a:rPr lang="en-US" altLang="zh-TW" dirty="0" smtClean="0"/>
              <a:t> Sans TC Medium</a:t>
            </a:r>
            <a:endParaRPr lang="en-US" dirty="0"/>
          </a:p>
        </p:txBody>
      </p:sp>
      <p:sp>
        <p:nvSpPr>
          <p:cNvPr id="9" name="日期版面配置區 3">
            <a:extLst>
              <a:ext uri="{FF2B5EF4-FFF2-40B4-BE49-F238E27FC236}">
                <a16:creationId xmlns:a16="http://schemas.microsoft.com/office/drawing/2014/main" xmlns="" id="{A6B2842F-AB04-453E-B849-7FA26470D3C7}"/>
              </a:ext>
            </a:extLst>
          </p:cNvPr>
          <p:cNvSpPr>
            <a:spLocks noGrp="1"/>
          </p:cNvSpPr>
          <p:nvPr>
            <p:ph type="dt" sz="half" idx="10"/>
          </p:nvPr>
        </p:nvSpPr>
        <p:spPr>
          <a:xfrm>
            <a:off x="533711" y="4643572"/>
            <a:ext cx="2713548" cy="313440"/>
          </a:xfrm>
        </p:spPr>
        <p:txBody>
          <a:bodyPr anchor="b"/>
          <a:lstStyle>
            <a:lvl1pPr>
              <a:defRPr sz="1200">
                <a:solidFill>
                  <a:srgbClr val="005087"/>
                </a:solidFill>
              </a:defRPr>
            </a:lvl1pPr>
          </a:lstStyle>
          <a:p>
            <a:r>
              <a:rPr lang="en-US" dirty="0" smtClean="0"/>
              <a:t>YYYY/MM/DD</a:t>
            </a:r>
            <a:endParaRPr lang="en-US" dirty="0"/>
          </a:p>
        </p:txBody>
      </p:sp>
      <p:sp>
        <p:nvSpPr>
          <p:cNvPr id="10" name="文字版面配置區 10">
            <a:extLst>
              <a:ext uri="{FF2B5EF4-FFF2-40B4-BE49-F238E27FC236}">
                <a16:creationId xmlns:a16="http://schemas.microsoft.com/office/drawing/2014/main" xmlns="" id="{F651AF1A-06EC-4C3B-8B93-08038043E34A}"/>
              </a:ext>
            </a:extLst>
          </p:cNvPr>
          <p:cNvSpPr>
            <a:spLocks noGrp="1"/>
          </p:cNvSpPr>
          <p:nvPr>
            <p:ph type="body" sz="quarter" idx="12" hasCustomPrompt="1"/>
          </p:nvPr>
        </p:nvSpPr>
        <p:spPr>
          <a:xfrm>
            <a:off x="533348" y="4006765"/>
            <a:ext cx="2713911" cy="636807"/>
          </a:xfrm>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400">
                <a:solidFill>
                  <a:srgbClr val="005087"/>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smtClean="0"/>
              <a:t>Presenter’s Name</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smtClean="0"/>
              <a:t>Presenter’s Title / Department</a:t>
            </a:r>
            <a:endParaRPr lang="en-US" dirty="0"/>
          </a:p>
        </p:txBody>
      </p:sp>
      <p:sp>
        <p:nvSpPr>
          <p:cNvPr id="12"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13149089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Page 1">
    <p:bg>
      <p:bgPr>
        <a:solidFill>
          <a:schemeClr val="bg1"/>
        </a:solidFill>
        <a:effectLst/>
      </p:bgPr>
    </p:bg>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623911" y="331531"/>
            <a:ext cx="5390549" cy="1073757"/>
          </a:xfrm>
        </p:spPr>
        <p:txBody>
          <a:bodyPr anchor="t">
            <a:normAutofit/>
          </a:bodyPr>
          <a:lstStyle>
            <a:lvl1pPr algn="l">
              <a:defRPr sz="3600">
                <a:solidFill>
                  <a:srgbClr val="005087"/>
                </a:solidFill>
                <a:latin typeface="+mj-lt"/>
              </a:defRPr>
            </a:lvl1pPr>
          </a:lstStyle>
          <a:p>
            <a:r>
              <a:rPr lang="en-US" dirty="0"/>
              <a:t>Agenda</a:t>
            </a:r>
          </a:p>
        </p:txBody>
      </p:sp>
      <p:sp>
        <p:nvSpPr>
          <p:cNvPr id="7" name="文字版面配置區 11">
            <a:extLst>
              <a:ext uri="{FF2B5EF4-FFF2-40B4-BE49-F238E27FC236}">
                <a16:creationId xmlns:a16="http://schemas.microsoft.com/office/drawing/2014/main" xmlns="" id="{F405D2A6-487D-47BF-A577-784535711A23}"/>
              </a:ext>
            </a:extLst>
          </p:cNvPr>
          <p:cNvSpPr>
            <a:spLocks noGrp="1"/>
          </p:cNvSpPr>
          <p:nvPr>
            <p:ph type="body" sz="quarter" idx="10" hasCustomPrompt="1"/>
          </p:nvPr>
        </p:nvSpPr>
        <p:spPr>
          <a:xfrm>
            <a:off x="3623912" y="1405288"/>
            <a:ext cx="5390548" cy="2731570"/>
          </a:xfrm>
        </p:spPr>
        <p:txBody>
          <a:bodyPr/>
          <a:lstStyle>
            <a:lvl1pPr marL="0" marR="0" indent="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endParaRPr lang="it-IT" altLang="zh-TW" dirty="0" smtClean="0"/>
          </a:p>
        </p:txBody>
      </p:sp>
      <p:sp>
        <p:nvSpPr>
          <p:cNvPr id="8"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pic>
        <p:nvPicPr>
          <p:cNvPr id="3" name="圖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3025211" cy="5143500"/>
          </a:xfrm>
          <a:prstGeom prst="rect">
            <a:avLst/>
          </a:prstGeom>
        </p:spPr>
      </p:pic>
    </p:spTree>
    <p:extLst>
      <p:ext uri="{BB962C8B-B14F-4D97-AF65-F5344CB8AC3E}">
        <p14:creationId xmlns:p14="http://schemas.microsoft.com/office/powerpoint/2010/main" val="21685357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age 2">
    <p:bg>
      <p:bgPr>
        <a:solidFill>
          <a:schemeClr val="bg1"/>
        </a:solidFill>
        <a:effectLst/>
      </p:bgPr>
    </p:bg>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3623911" y="331531"/>
            <a:ext cx="5390549" cy="1073757"/>
          </a:xfrm>
        </p:spPr>
        <p:txBody>
          <a:bodyPr anchor="t">
            <a:normAutofit/>
          </a:bodyPr>
          <a:lstStyle>
            <a:lvl1pPr algn="l">
              <a:defRPr sz="3600">
                <a:solidFill>
                  <a:srgbClr val="005087"/>
                </a:solidFill>
                <a:latin typeface="+mj-lt"/>
              </a:defRPr>
            </a:lvl1pPr>
          </a:lstStyle>
          <a:p>
            <a:r>
              <a:rPr lang="en-US" dirty="0" smtClean="0"/>
              <a:t>Agenda</a:t>
            </a:r>
            <a:endParaRPr lang="en-US" dirty="0"/>
          </a:p>
        </p:txBody>
      </p:sp>
      <p:sp>
        <p:nvSpPr>
          <p:cNvPr id="7" name="文字版面配置區 11">
            <a:extLst>
              <a:ext uri="{FF2B5EF4-FFF2-40B4-BE49-F238E27FC236}">
                <a16:creationId xmlns:a16="http://schemas.microsoft.com/office/drawing/2014/main" xmlns="" id="{F405D2A6-487D-47BF-A577-784535711A23}"/>
              </a:ext>
            </a:extLst>
          </p:cNvPr>
          <p:cNvSpPr>
            <a:spLocks noGrp="1"/>
          </p:cNvSpPr>
          <p:nvPr>
            <p:ph type="body" sz="quarter" idx="10" hasCustomPrompt="1"/>
          </p:nvPr>
        </p:nvSpPr>
        <p:spPr>
          <a:xfrm>
            <a:off x="3623912" y="1405288"/>
            <a:ext cx="5390548" cy="2731570"/>
          </a:xfrm>
        </p:spPr>
        <p:txBody>
          <a:bodyPr/>
          <a:lstStyle>
            <a:lvl1pPr marL="0" marR="0" indent="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r>
              <a:rPr lang="it-IT" altLang="zh-TW" dirty="0" smtClean="0"/>
              <a:t>Mabry Pro + Noto Sans TC</a:t>
            </a:r>
          </a:p>
          <a:p>
            <a:pPr marL="171450" marR="0" lvl="0" indent="-171450" algn="l" defTabSz="685800" rtl="0" eaLnBrk="1" fontAlgn="auto" latinLnBrk="0" hangingPunct="1">
              <a:lnSpc>
                <a:spcPct val="90000"/>
              </a:lnSpc>
              <a:spcBef>
                <a:spcPts val="750"/>
              </a:spcBef>
              <a:spcAft>
                <a:spcPts val="0"/>
              </a:spcAft>
              <a:buClr>
                <a:srgbClr val="005087"/>
              </a:buClr>
              <a:buSzPct val="70000"/>
              <a:buFont typeface="Arial" panose="020B0604020202020204" pitchFamily="34" charset="0"/>
              <a:buChar char="•"/>
              <a:tabLst/>
              <a:defRPr/>
            </a:pPr>
            <a:endParaRPr lang="it-IT" altLang="zh-TW" dirty="0" smtClean="0"/>
          </a:p>
        </p:txBody>
      </p:sp>
      <p:sp>
        <p:nvSpPr>
          <p:cNvPr id="8"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pic>
        <p:nvPicPr>
          <p:cNvPr id="2" name="圖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3025211" cy="5143500"/>
          </a:xfrm>
          <a:prstGeom prst="rect">
            <a:avLst/>
          </a:prstGeom>
        </p:spPr>
      </p:pic>
    </p:spTree>
    <p:extLst>
      <p:ext uri="{BB962C8B-B14F-4D97-AF65-F5344CB8AC3E}">
        <p14:creationId xmlns:p14="http://schemas.microsoft.com/office/powerpoint/2010/main" val="31712676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reak Page_1">
    <p:bg>
      <p:bgPr>
        <a:solidFill>
          <a:schemeClr val="accent1"/>
        </a:solidFill>
        <a:effectLst/>
      </p:bgPr>
    </p:bg>
    <p:spTree>
      <p:nvGrpSpPr>
        <p:cNvPr id="1" name=""/>
        <p:cNvGrpSpPr/>
        <p:nvPr/>
      </p:nvGrpSpPr>
      <p:grpSpPr>
        <a:xfrm>
          <a:off x="0" y="0"/>
          <a:ext cx="0" cy="0"/>
          <a:chOff x="0" y="0"/>
          <a:chExt cx="0" cy="0"/>
        </a:xfrm>
      </p:grpSpPr>
      <p:sp>
        <p:nvSpPr>
          <p:cNvPr id="6" name="矩形 5"/>
          <p:cNvSpPr/>
          <p:nvPr userDrawn="1"/>
        </p:nvSpPr>
        <p:spPr>
          <a:xfrm>
            <a:off x="0" y="0"/>
            <a:ext cx="9144000" cy="514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FFFF"/>
              </a:solidFill>
            </a:endParaRPr>
          </a:p>
        </p:txBody>
      </p:sp>
      <p:sp>
        <p:nvSpPr>
          <p:cNvPr id="8" name="Freeform 16"/>
          <p:cNvSpPr>
            <a:spLocks/>
          </p:cNvSpPr>
          <p:nvPr userDrawn="1"/>
        </p:nvSpPr>
        <p:spPr bwMode="auto">
          <a:xfrm>
            <a:off x="3847671" y="-484742"/>
            <a:ext cx="5979614" cy="4693353"/>
          </a:xfrm>
          <a:custGeom>
            <a:avLst/>
            <a:gdLst>
              <a:gd name="T0" fmla="*/ 1161 w 1390"/>
              <a:gd name="T1" fmla="*/ 293 h 1091"/>
              <a:gd name="T2" fmla="*/ 929 w 1390"/>
              <a:gd name="T3" fmla="*/ 293 h 1091"/>
              <a:gd name="T4" fmla="*/ 929 w 1390"/>
              <a:gd name="T5" fmla="*/ 0 h 1091"/>
              <a:gd name="T6" fmla="*/ 0 w 1390"/>
              <a:gd name="T7" fmla="*/ 0 h 1091"/>
              <a:gd name="T8" fmla="*/ 0 w 1390"/>
              <a:gd name="T9" fmla="*/ 696 h 1091"/>
              <a:gd name="T10" fmla="*/ 473 w 1390"/>
              <a:gd name="T11" fmla="*/ 696 h 1091"/>
              <a:gd name="T12" fmla="*/ 700 w 1390"/>
              <a:gd name="T13" fmla="*/ 1091 h 1091"/>
              <a:gd name="T14" fmla="*/ 1161 w 1390"/>
              <a:gd name="T15" fmla="*/ 1091 h 1091"/>
              <a:gd name="T16" fmla="*/ 1390 w 1390"/>
              <a:gd name="T17" fmla="*/ 693 h 1091"/>
              <a:gd name="T18" fmla="*/ 1161 w 1390"/>
              <a:gd name="T19" fmla="*/ 293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0" h="1091">
                <a:moveTo>
                  <a:pt x="1161" y="293"/>
                </a:moveTo>
                <a:lnTo>
                  <a:pt x="929" y="293"/>
                </a:lnTo>
                <a:lnTo>
                  <a:pt x="929" y="0"/>
                </a:lnTo>
                <a:lnTo>
                  <a:pt x="0" y="0"/>
                </a:lnTo>
                <a:lnTo>
                  <a:pt x="0" y="696"/>
                </a:lnTo>
                <a:lnTo>
                  <a:pt x="473" y="696"/>
                </a:lnTo>
                <a:lnTo>
                  <a:pt x="700" y="1091"/>
                </a:lnTo>
                <a:lnTo>
                  <a:pt x="1161" y="1091"/>
                </a:lnTo>
                <a:lnTo>
                  <a:pt x="1390" y="693"/>
                </a:lnTo>
                <a:lnTo>
                  <a:pt x="1161" y="293"/>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
        <p:nvSpPr>
          <p:cNvPr id="9" name="標題 1">
            <a:extLst>
              <a:ext uri="{FF2B5EF4-FFF2-40B4-BE49-F238E27FC236}">
                <a16:creationId xmlns:a16="http://schemas.microsoft.com/office/drawing/2014/main" xmlns="" id="{676DD45B-D11F-4BEE-8C43-E841A2A77971}"/>
              </a:ext>
            </a:extLst>
          </p:cNvPr>
          <p:cNvSpPr>
            <a:spLocks noGrp="1"/>
          </p:cNvSpPr>
          <p:nvPr userDrawn="1">
            <p:ph type="title" hasCustomPrompt="1"/>
          </p:nvPr>
        </p:nvSpPr>
        <p:spPr>
          <a:xfrm>
            <a:off x="494472" y="940324"/>
            <a:ext cx="6035868" cy="1689755"/>
          </a:xfrm>
        </p:spPr>
        <p:txBody>
          <a:bodyPr anchor="b">
            <a:normAutofit/>
          </a:bodyPr>
          <a:lstStyle>
            <a:lvl1pPr>
              <a:defRPr sz="3600">
                <a:solidFill>
                  <a:schemeClr val="bg1"/>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a:t>
            </a:r>
            <a:r>
              <a:rPr lang="en-US" altLang="zh-TW" dirty="0" smtClean="0"/>
              <a:t>T</a:t>
            </a:r>
            <a:r>
              <a:rPr lang="en-US" dirty="0" smtClean="0"/>
              <a:t>C Medium</a:t>
            </a:r>
            <a:endParaRPr lang="en-US" dirty="0"/>
          </a:p>
        </p:txBody>
      </p:sp>
      <p:sp>
        <p:nvSpPr>
          <p:cNvPr id="10" name="Footer Placeholder 4"/>
          <p:cNvSpPr>
            <a:spLocks noGrp="1"/>
          </p:cNvSpPr>
          <p:nvPr userDrawn="1">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2737343052"/>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reak Page_2">
    <p:bg>
      <p:bgPr>
        <a:solidFill>
          <a:schemeClr val="accent3"/>
        </a:solidFill>
        <a:effectLst/>
      </p:bgPr>
    </p:bg>
    <p:spTree>
      <p:nvGrpSpPr>
        <p:cNvPr id="1" name=""/>
        <p:cNvGrpSpPr/>
        <p:nvPr/>
      </p:nvGrpSpPr>
      <p:grpSpPr>
        <a:xfrm>
          <a:off x="0" y="0"/>
          <a:ext cx="0" cy="0"/>
          <a:chOff x="0" y="0"/>
          <a:chExt cx="0" cy="0"/>
        </a:xfrm>
      </p:grpSpPr>
      <p:sp>
        <p:nvSpPr>
          <p:cNvPr id="20" name="矩形 19"/>
          <p:cNvSpPr/>
          <p:nvPr userDrawn="1"/>
        </p:nvSpPr>
        <p:spPr>
          <a:xfrm>
            <a:off x="0" y="0"/>
            <a:ext cx="9144000" cy="5144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FFFF"/>
              </a:solidFill>
            </a:endParaRPr>
          </a:p>
        </p:txBody>
      </p:sp>
      <p:sp>
        <p:nvSpPr>
          <p:cNvPr id="14" name="Freeform 14"/>
          <p:cNvSpPr>
            <a:spLocks/>
          </p:cNvSpPr>
          <p:nvPr userDrawn="1"/>
        </p:nvSpPr>
        <p:spPr bwMode="auto">
          <a:xfrm>
            <a:off x="4569988" y="-46028"/>
            <a:ext cx="4909647" cy="4909647"/>
          </a:xfrm>
          <a:custGeom>
            <a:avLst/>
            <a:gdLst>
              <a:gd name="T0" fmla="*/ 192 w 474"/>
              <a:gd name="T1" fmla="*/ 0 h 474"/>
              <a:gd name="T2" fmla="*/ 192 w 474"/>
              <a:gd name="T3" fmla="*/ 91 h 474"/>
              <a:gd name="T4" fmla="*/ 0 w 474"/>
              <a:gd name="T5" fmla="*/ 282 h 474"/>
              <a:gd name="T6" fmla="*/ 192 w 474"/>
              <a:gd name="T7" fmla="*/ 474 h 474"/>
              <a:gd name="T8" fmla="*/ 383 w 474"/>
              <a:gd name="T9" fmla="*/ 282 h 474"/>
              <a:gd name="T10" fmla="*/ 474 w 474"/>
              <a:gd name="T11" fmla="*/ 282 h 474"/>
              <a:gd name="T12" fmla="*/ 474 w 474"/>
              <a:gd name="T13" fmla="*/ 0 h 474"/>
              <a:gd name="T14" fmla="*/ 192 w 474"/>
              <a:gd name="T15" fmla="*/ 0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4" h="474">
                <a:moveTo>
                  <a:pt x="192" y="0"/>
                </a:moveTo>
                <a:cubicBezTo>
                  <a:pt x="192" y="91"/>
                  <a:pt x="192" y="91"/>
                  <a:pt x="192" y="91"/>
                </a:cubicBezTo>
                <a:cubicBezTo>
                  <a:pt x="86" y="91"/>
                  <a:pt x="0" y="176"/>
                  <a:pt x="0" y="282"/>
                </a:cubicBezTo>
                <a:cubicBezTo>
                  <a:pt x="0" y="388"/>
                  <a:pt x="86" y="474"/>
                  <a:pt x="192" y="474"/>
                </a:cubicBezTo>
                <a:cubicBezTo>
                  <a:pt x="297" y="474"/>
                  <a:pt x="383" y="388"/>
                  <a:pt x="383" y="282"/>
                </a:cubicBezTo>
                <a:cubicBezTo>
                  <a:pt x="474" y="282"/>
                  <a:pt x="474" y="282"/>
                  <a:pt x="474" y="282"/>
                </a:cubicBezTo>
                <a:cubicBezTo>
                  <a:pt x="474" y="0"/>
                  <a:pt x="474" y="0"/>
                  <a:pt x="474" y="0"/>
                </a:cubicBezTo>
                <a:lnTo>
                  <a:pt x="192"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
        <p:nvSpPr>
          <p:cNvPr id="16" name="標題 1">
            <a:extLst>
              <a:ext uri="{FF2B5EF4-FFF2-40B4-BE49-F238E27FC236}">
                <a16:creationId xmlns:a16="http://schemas.microsoft.com/office/drawing/2014/main" xmlns="" id="{676DD45B-D11F-4BEE-8C43-E841A2A77971}"/>
              </a:ext>
            </a:extLst>
          </p:cNvPr>
          <p:cNvSpPr>
            <a:spLocks noGrp="1"/>
          </p:cNvSpPr>
          <p:nvPr userDrawn="1">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TC Medium</a:t>
            </a:r>
            <a:endParaRPr lang="en-US" dirty="0"/>
          </a:p>
        </p:txBody>
      </p:sp>
      <p:sp>
        <p:nvSpPr>
          <p:cNvPr id="17" name="Footer Placeholder 4"/>
          <p:cNvSpPr>
            <a:spLocks noGrp="1"/>
          </p:cNvSpPr>
          <p:nvPr userDrawn="1">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8"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36248375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reak Page_3">
    <p:bg>
      <p:bgPr>
        <a:solidFill>
          <a:schemeClr val="accent5"/>
        </a:solidFill>
        <a:effectLst/>
      </p:bgPr>
    </p:bg>
    <p:spTree>
      <p:nvGrpSpPr>
        <p:cNvPr id="1" name=""/>
        <p:cNvGrpSpPr/>
        <p:nvPr/>
      </p:nvGrpSpPr>
      <p:grpSpPr>
        <a:xfrm>
          <a:off x="0" y="0"/>
          <a:ext cx="0" cy="0"/>
          <a:chOff x="0" y="0"/>
          <a:chExt cx="0" cy="0"/>
        </a:xfrm>
      </p:grpSpPr>
      <p:sp>
        <p:nvSpPr>
          <p:cNvPr id="26" name="Freeform 12"/>
          <p:cNvSpPr>
            <a:spLocks/>
          </p:cNvSpPr>
          <p:nvPr userDrawn="1"/>
        </p:nvSpPr>
        <p:spPr bwMode="auto">
          <a:xfrm>
            <a:off x="4013199" y="-1577552"/>
            <a:ext cx="5372379" cy="5898053"/>
          </a:xfrm>
          <a:custGeom>
            <a:avLst/>
            <a:gdLst>
              <a:gd name="T0" fmla="*/ 359 w 432"/>
              <a:gd name="T1" fmla="*/ 220 h 474"/>
              <a:gd name="T2" fmla="*/ 389 w 432"/>
              <a:gd name="T3" fmla="*/ 168 h 474"/>
              <a:gd name="T4" fmla="*/ 292 w 432"/>
              <a:gd name="T5" fmla="*/ 0 h 474"/>
              <a:gd name="T6" fmla="*/ 97 w 432"/>
              <a:gd name="T7" fmla="*/ 0 h 474"/>
              <a:gd name="T8" fmla="*/ 0 w 432"/>
              <a:gd name="T9" fmla="*/ 168 h 474"/>
              <a:gd name="T10" fmla="*/ 97 w 432"/>
              <a:gd name="T11" fmla="*/ 337 h 474"/>
              <a:gd name="T12" fmla="*/ 163 w 432"/>
              <a:gd name="T13" fmla="*/ 337 h 474"/>
              <a:gd name="T14" fmla="*/ 163 w 432"/>
              <a:gd name="T15" fmla="*/ 340 h 474"/>
              <a:gd name="T16" fmla="*/ 297 w 432"/>
              <a:gd name="T17" fmla="*/ 474 h 474"/>
              <a:gd name="T18" fmla="*/ 432 w 432"/>
              <a:gd name="T19" fmla="*/ 340 h 474"/>
              <a:gd name="T20" fmla="*/ 359 w 432"/>
              <a:gd name="T21" fmla="*/ 220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2" h="474">
                <a:moveTo>
                  <a:pt x="359" y="220"/>
                </a:moveTo>
                <a:cubicBezTo>
                  <a:pt x="389" y="168"/>
                  <a:pt x="389" y="168"/>
                  <a:pt x="389" y="168"/>
                </a:cubicBezTo>
                <a:cubicBezTo>
                  <a:pt x="292" y="0"/>
                  <a:pt x="292" y="0"/>
                  <a:pt x="292" y="0"/>
                </a:cubicBezTo>
                <a:cubicBezTo>
                  <a:pt x="97" y="0"/>
                  <a:pt x="97" y="0"/>
                  <a:pt x="97" y="0"/>
                </a:cubicBezTo>
                <a:cubicBezTo>
                  <a:pt x="0" y="168"/>
                  <a:pt x="0" y="168"/>
                  <a:pt x="0" y="168"/>
                </a:cubicBezTo>
                <a:cubicBezTo>
                  <a:pt x="97" y="337"/>
                  <a:pt x="97" y="337"/>
                  <a:pt x="97" y="337"/>
                </a:cubicBezTo>
                <a:cubicBezTo>
                  <a:pt x="163" y="337"/>
                  <a:pt x="163" y="337"/>
                  <a:pt x="163" y="337"/>
                </a:cubicBezTo>
                <a:cubicBezTo>
                  <a:pt x="163" y="338"/>
                  <a:pt x="163" y="339"/>
                  <a:pt x="163" y="340"/>
                </a:cubicBezTo>
                <a:cubicBezTo>
                  <a:pt x="163" y="414"/>
                  <a:pt x="223" y="474"/>
                  <a:pt x="297" y="474"/>
                </a:cubicBezTo>
                <a:cubicBezTo>
                  <a:pt x="372" y="474"/>
                  <a:pt x="432" y="414"/>
                  <a:pt x="432" y="340"/>
                </a:cubicBezTo>
                <a:cubicBezTo>
                  <a:pt x="432" y="288"/>
                  <a:pt x="402" y="243"/>
                  <a:pt x="359" y="220"/>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zh-TW" altLang="en-US" dirty="0">
              <a:solidFill>
                <a:srgbClr val="000000"/>
              </a:solidFill>
            </a:endParaRPr>
          </a:p>
        </p:txBody>
      </p:sp>
      <p:sp>
        <p:nvSpPr>
          <p:cNvPr id="19" name="Footer Placeholder 4"/>
          <p:cNvSpPr>
            <a:spLocks noGrp="1"/>
          </p:cNvSpPr>
          <p:nvPr userDrawn="1">
            <p:ph type="ftr" sz="quarter" idx="3"/>
          </p:nvPr>
        </p:nvSpPr>
        <p:spPr>
          <a:xfrm>
            <a:off x="320593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27" name="標題 1">
            <a:extLst>
              <a:ext uri="{FF2B5EF4-FFF2-40B4-BE49-F238E27FC236}">
                <a16:creationId xmlns:a16="http://schemas.microsoft.com/office/drawing/2014/main" xmlns="" id="{676DD45B-D11F-4BEE-8C43-E841A2A77971}"/>
              </a:ext>
            </a:extLst>
          </p:cNvPr>
          <p:cNvSpPr>
            <a:spLocks noGrp="1"/>
          </p:cNvSpPr>
          <p:nvPr>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altLang="zh-TW" dirty="0" smtClean="0"/>
              <a:t>Break Page Title</a:t>
            </a:r>
            <a:br>
              <a:rPr lang="en-US" altLang="zh-TW" dirty="0" smtClean="0"/>
            </a:br>
            <a:r>
              <a:rPr lang="en-US" altLang="zh-TW" dirty="0" smtClean="0"/>
              <a:t>Mabry Pro-Medium + </a:t>
            </a:r>
            <a:br>
              <a:rPr lang="en-US" altLang="zh-TW" dirty="0" smtClean="0"/>
            </a:br>
            <a:r>
              <a:rPr lang="en-US" altLang="zh-TW" dirty="0" err="1" smtClean="0"/>
              <a:t>Noto</a:t>
            </a:r>
            <a:r>
              <a:rPr lang="en-US" altLang="zh-TW" dirty="0" smtClean="0"/>
              <a:t> Sans TC Medium</a:t>
            </a:r>
            <a:endParaRPr lang="en-US" dirty="0"/>
          </a:p>
        </p:txBody>
      </p:sp>
      <p:sp>
        <p:nvSpPr>
          <p:cNvPr id="7"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34821889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reak Page_4">
    <p:bg>
      <p:bgPr>
        <a:solidFill>
          <a:schemeClr val="accent2"/>
        </a:solidFill>
        <a:effectLst/>
      </p:bgPr>
    </p:bg>
    <p:spTree>
      <p:nvGrpSpPr>
        <p:cNvPr id="1" name=""/>
        <p:cNvGrpSpPr/>
        <p:nvPr/>
      </p:nvGrpSpPr>
      <p:grpSpPr>
        <a:xfrm>
          <a:off x="0" y="0"/>
          <a:ext cx="0" cy="0"/>
          <a:chOff x="0" y="0"/>
          <a:chExt cx="0" cy="0"/>
        </a:xfrm>
      </p:grpSpPr>
      <p:sp>
        <p:nvSpPr>
          <p:cNvPr id="26" name="矩形 25"/>
          <p:cNvSpPr/>
          <p:nvPr userDrawn="1"/>
        </p:nvSpPr>
        <p:spPr>
          <a:xfrm>
            <a:off x="0" y="0"/>
            <a:ext cx="9144000" cy="5144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FFFF"/>
              </a:solidFill>
            </a:endParaRPr>
          </a:p>
        </p:txBody>
      </p:sp>
      <p:sp>
        <p:nvSpPr>
          <p:cNvPr id="19" name="Footer Placeholder 4"/>
          <p:cNvSpPr>
            <a:spLocks noGrp="1"/>
          </p:cNvSpPr>
          <p:nvPr>
            <p:ph type="ftr" sz="quarter" idx="3"/>
          </p:nvPr>
        </p:nvSpPr>
        <p:spPr>
          <a:xfrm>
            <a:off x="320593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14" name="Freeform 13"/>
          <p:cNvSpPr>
            <a:spLocks/>
          </p:cNvSpPr>
          <p:nvPr userDrawn="1"/>
        </p:nvSpPr>
        <p:spPr bwMode="auto">
          <a:xfrm rot="10800000" flipV="1">
            <a:off x="3834892" y="-1248032"/>
            <a:ext cx="5901384" cy="6141804"/>
          </a:xfrm>
          <a:custGeom>
            <a:avLst/>
            <a:gdLst>
              <a:gd name="T0" fmla="*/ 492 w 525"/>
              <a:gd name="T1" fmla="*/ 236 h 546"/>
              <a:gd name="T2" fmla="*/ 492 w 525"/>
              <a:gd name="T3" fmla="*/ 236 h 546"/>
              <a:gd name="T4" fmla="*/ 393 w 525"/>
              <a:gd name="T5" fmla="*/ 176 h 546"/>
              <a:gd name="T6" fmla="*/ 393 w 525"/>
              <a:gd name="T7" fmla="*/ 0 h 546"/>
              <a:gd name="T8" fmla="*/ 0 w 525"/>
              <a:gd name="T9" fmla="*/ 0 h 546"/>
              <a:gd name="T10" fmla="*/ 0 w 525"/>
              <a:gd name="T11" fmla="*/ 294 h 546"/>
              <a:gd name="T12" fmla="*/ 148 w 525"/>
              <a:gd name="T13" fmla="*/ 294 h 546"/>
              <a:gd name="T14" fmla="*/ 77 w 525"/>
              <a:gd name="T15" fmla="*/ 335 h 546"/>
              <a:gd name="T16" fmla="*/ 198 w 525"/>
              <a:gd name="T17" fmla="*/ 546 h 546"/>
              <a:gd name="T18" fmla="*/ 447 w 525"/>
              <a:gd name="T19" fmla="*/ 402 h 546"/>
              <a:gd name="T20" fmla="*/ 492 w 525"/>
              <a:gd name="T21" fmla="*/ 23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5" h="546">
                <a:moveTo>
                  <a:pt x="492" y="236"/>
                </a:moveTo>
                <a:cubicBezTo>
                  <a:pt x="492" y="236"/>
                  <a:pt x="492" y="236"/>
                  <a:pt x="492" y="236"/>
                </a:cubicBezTo>
                <a:cubicBezTo>
                  <a:pt x="470" y="199"/>
                  <a:pt x="433" y="178"/>
                  <a:pt x="393" y="176"/>
                </a:cubicBezTo>
                <a:cubicBezTo>
                  <a:pt x="393" y="0"/>
                  <a:pt x="393" y="0"/>
                  <a:pt x="393" y="0"/>
                </a:cubicBezTo>
                <a:cubicBezTo>
                  <a:pt x="0" y="0"/>
                  <a:pt x="0" y="0"/>
                  <a:pt x="0" y="0"/>
                </a:cubicBezTo>
                <a:cubicBezTo>
                  <a:pt x="0" y="294"/>
                  <a:pt x="0" y="294"/>
                  <a:pt x="0" y="294"/>
                </a:cubicBezTo>
                <a:cubicBezTo>
                  <a:pt x="148" y="294"/>
                  <a:pt x="148" y="294"/>
                  <a:pt x="148" y="294"/>
                </a:cubicBezTo>
                <a:cubicBezTo>
                  <a:pt x="77" y="335"/>
                  <a:pt x="77" y="335"/>
                  <a:pt x="77" y="335"/>
                </a:cubicBezTo>
                <a:cubicBezTo>
                  <a:pt x="198" y="546"/>
                  <a:pt x="198" y="546"/>
                  <a:pt x="198" y="546"/>
                </a:cubicBezTo>
                <a:cubicBezTo>
                  <a:pt x="447" y="402"/>
                  <a:pt x="447" y="402"/>
                  <a:pt x="447" y="402"/>
                </a:cubicBezTo>
                <a:cubicBezTo>
                  <a:pt x="505" y="369"/>
                  <a:pt x="525" y="294"/>
                  <a:pt x="492" y="23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
        <p:nvSpPr>
          <p:cNvPr id="17" name="標題 1">
            <a:extLst>
              <a:ext uri="{FF2B5EF4-FFF2-40B4-BE49-F238E27FC236}">
                <a16:creationId xmlns:a16="http://schemas.microsoft.com/office/drawing/2014/main" xmlns="" id="{676DD45B-D11F-4BEE-8C43-E841A2A77971}"/>
              </a:ext>
            </a:extLst>
          </p:cNvPr>
          <p:cNvSpPr>
            <a:spLocks noGrp="1"/>
          </p:cNvSpPr>
          <p:nvPr>
            <p:ph type="title" hasCustomPrompt="1"/>
          </p:nvPr>
        </p:nvSpPr>
        <p:spPr>
          <a:xfrm>
            <a:off x="494472" y="940324"/>
            <a:ext cx="6035868" cy="1689755"/>
          </a:xfrm>
        </p:spPr>
        <p:txBody>
          <a:bodyPr anchor="b">
            <a:normAutofit/>
          </a:bodyPr>
          <a:lstStyle>
            <a:lvl1pPr>
              <a:defRPr sz="3600">
                <a:solidFill>
                  <a:srgbClr val="005087"/>
                </a:solidFill>
                <a:latin typeface="+mj-lt"/>
              </a:defRPr>
            </a:lvl1pPr>
          </a:lstStyle>
          <a:p>
            <a:r>
              <a:rPr lang="en-US" dirty="0" smtClean="0"/>
              <a:t>Break Page Title</a:t>
            </a:r>
            <a:br>
              <a:rPr lang="en-US" dirty="0" smtClean="0"/>
            </a:br>
            <a:r>
              <a:rPr lang="en-US" dirty="0" smtClean="0"/>
              <a:t>Mabry Pro-Medium + </a:t>
            </a:r>
            <a:br>
              <a:rPr lang="en-US" dirty="0" smtClean="0"/>
            </a:br>
            <a:r>
              <a:rPr lang="en-US" dirty="0" err="1" smtClean="0"/>
              <a:t>Noto</a:t>
            </a:r>
            <a:r>
              <a:rPr lang="en-US" dirty="0" smtClean="0"/>
              <a:t> Sans TC Medium</a:t>
            </a:r>
            <a:endParaRPr lang="en-US" dirty="0"/>
          </a:p>
        </p:txBody>
      </p:sp>
      <p:sp>
        <p:nvSpPr>
          <p:cNvPr id="8"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8127514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Page with Ttile">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xmlns="" id="{496B6DBE-9812-4B02-815E-036A6491504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7461421" y="-55084"/>
            <a:ext cx="1759697" cy="1768293"/>
          </a:xfrm>
          <a:prstGeom prst="rect">
            <a:avLst/>
          </a:prstGeom>
        </p:spPr>
      </p:pic>
      <p:sp>
        <p:nvSpPr>
          <p:cNvPr id="7"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477838" y="16461"/>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
        <p:nvSpPr>
          <p:cNvPr id="8" name="Text Placeholder 4"/>
          <p:cNvSpPr>
            <a:spLocks noGrp="1"/>
          </p:cNvSpPr>
          <p:nvPr>
            <p:ph type="body" sz="quarter" idx="10" hasCustomPrompt="1"/>
          </p:nvPr>
        </p:nvSpPr>
        <p:spPr>
          <a:xfrm>
            <a:off x="477838" y="1263560"/>
            <a:ext cx="8234362" cy="2857500"/>
          </a:xfrm>
        </p:spPr>
        <p:txBody>
          <a:bodyPr/>
          <a:lstStyle>
            <a:lvl1pPr marL="0" indent="0">
              <a:buNone/>
              <a:defRPr sz="1600"/>
            </a:lvl1pPr>
          </a:lstStyle>
          <a:p>
            <a:pPr lvl="0"/>
            <a:r>
              <a:rPr lang="en-US" altLang="zh-TW" dirty="0" smtClean="0"/>
              <a:t>Mabry Pro + Noto Sans TC</a:t>
            </a:r>
          </a:p>
          <a:p>
            <a:pPr lvl="0"/>
            <a:endParaRPr lang="en-US" altLang="zh-TW" dirty="0" smtClean="0"/>
          </a:p>
        </p:txBody>
      </p:sp>
      <p:sp>
        <p:nvSpPr>
          <p:cNvPr id="9"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r>
              <a:rPr lang="en-US" sz="525" dirty="0" smtClean="0">
                <a:solidFill>
                  <a:srgbClr val="FFFFFF">
                    <a:lumMod val="50000"/>
                  </a:srgbClr>
                </a:solidFill>
              </a:rPr>
              <a:t>  </a:t>
            </a:r>
            <a:r>
              <a:rPr lang="en-US" sz="525" dirty="0" smtClean="0">
                <a:solidFill>
                  <a:srgbClr val="000000">
                    <a:lumMod val="75000"/>
                    <a:lumOff val="25000"/>
                    <a:alpha val="65000"/>
                  </a:srgbClr>
                </a:solidFill>
              </a:rPr>
              <a:t>AUO Corporation Proprietary</a:t>
            </a:r>
            <a:endParaRPr lang="en-US" sz="525" dirty="0">
              <a:solidFill>
                <a:srgbClr val="000000">
                  <a:lumMod val="75000"/>
                  <a:lumOff val="25000"/>
                  <a:alpha val="65000"/>
                </a:srgbClr>
              </a:solidFill>
            </a:endParaRPr>
          </a:p>
        </p:txBody>
      </p:sp>
      <p:sp>
        <p:nvSpPr>
          <p:cNvPr id="10" name="矩形 9"/>
          <p:cNvSpPr/>
          <p:nvPr userDrawn="1"/>
        </p:nvSpPr>
        <p:spPr>
          <a:xfrm>
            <a:off x="520230" y="4961069"/>
            <a:ext cx="62518" cy="138499"/>
          </a:xfrm>
          <a:prstGeom prst="rect">
            <a:avLst/>
          </a:prstGeom>
        </p:spPr>
        <p:txBody>
          <a:bodyPr wrap="none" lIns="0" tIns="0" rIns="0" bIns="0">
            <a:spAutoFit/>
          </a:bodyPr>
          <a:lstStyle/>
          <a:p>
            <a:r>
              <a:rPr lang="en-US" altLang="zh-TW" sz="900" dirty="0" smtClean="0">
                <a:solidFill>
                  <a:srgbClr val="FFFFFF">
                    <a:lumMod val="50000"/>
                  </a:srgbClr>
                </a:solidFill>
              </a:rPr>
              <a:t>©</a:t>
            </a:r>
            <a:endParaRPr lang="zh-TW" altLang="en-US" sz="1400" dirty="0">
              <a:solidFill>
                <a:srgbClr val="FFFFFF">
                  <a:lumMod val="50000"/>
                </a:srgbClr>
              </a:solidFill>
            </a:endParaRPr>
          </a:p>
        </p:txBody>
      </p:sp>
      <p:sp>
        <p:nvSpPr>
          <p:cNvPr id="11"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14" name="Freeform 5"/>
          <p:cNvSpPr>
            <a:spLocks noChangeAspect="1" noEditPoints="1"/>
          </p:cNvSpPr>
          <p:nvPr userDrawn="1"/>
        </p:nvSpPr>
        <p:spPr bwMode="auto">
          <a:xfrm>
            <a:off x="8361592" y="4753677"/>
            <a:ext cx="507600" cy="179416"/>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32305745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age with Ttile 2">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xmlns="" id="{496B6DBE-9812-4B02-815E-036A6491504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7461421" y="-55084"/>
            <a:ext cx="1759697" cy="1768293"/>
          </a:xfrm>
          <a:prstGeom prst="rect">
            <a:avLst/>
          </a:prstGeom>
        </p:spPr>
      </p:pic>
      <p:sp>
        <p:nvSpPr>
          <p:cNvPr id="7" name="標題 1">
            <a:extLst>
              <a:ext uri="{FF2B5EF4-FFF2-40B4-BE49-F238E27FC236}">
                <a16:creationId xmlns:a16="http://schemas.microsoft.com/office/drawing/2014/main" xmlns="" id="{5F735089-F81E-4CF4-ADF9-44812E60E2E0}"/>
              </a:ext>
            </a:extLst>
          </p:cNvPr>
          <p:cNvSpPr>
            <a:spLocks noGrp="1"/>
          </p:cNvSpPr>
          <p:nvPr>
            <p:ph type="ctrTitle" hasCustomPrompt="1"/>
          </p:nvPr>
        </p:nvSpPr>
        <p:spPr>
          <a:xfrm>
            <a:off x="478149" y="0"/>
            <a:ext cx="8482972" cy="1064131"/>
          </a:xfrm>
        </p:spPr>
        <p:txBody>
          <a:bodyPr anchor="t">
            <a:normAutofit/>
          </a:bodyPr>
          <a:lstStyle>
            <a:lvl1pPr algn="l">
              <a:defRPr sz="3200">
                <a:solidFill>
                  <a:srgbClr val="005087"/>
                </a:solidFill>
                <a:latin typeface="+mj-lt"/>
              </a:defRPr>
            </a:lvl1pPr>
          </a:lstStyle>
          <a:p>
            <a:r>
              <a:rPr lang="en-US" altLang="zh-TW" dirty="0" smtClean="0"/>
              <a:t>Page Title </a:t>
            </a:r>
            <a:br>
              <a:rPr lang="en-US" altLang="zh-TW" dirty="0" smtClean="0"/>
            </a:br>
            <a:r>
              <a:rPr lang="en-US" altLang="zh-TW" dirty="0" smtClean="0"/>
              <a:t>Mabry Pro-Medium + </a:t>
            </a:r>
            <a:r>
              <a:rPr lang="en-US" altLang="zh-TW" dirty="0" err="1" smtClean="0"/>
              <a:t>Noto</a:t>
            </a:r>
            <a:r>
              <a:rPr lang="en-US" altLang="zh-TW" dirty="0" smtClean="0"/>
              <a:t> Sans TC Medium </a:t>
            </a:r>
            <a:endParaRPr lang="en-US" dirty="0"/>
          </a:p>
        </p:txBody>
      </p:sp>
      <p:sp>
        <p:nvSpPr>
          <p:cNvPr id="9" name="文字方塊 13">
            <a:extLst>
              <a:ext uri="{FF2B5EF4-FFF2-40B4-BE49-F238E27FC236}">
                <a16:creationId xmlns="" xmlns:a16="http://schemas.microsoft.com/office/drawing/2014/main" id="{100C045E-458C-43C8-A14C-FB9C878D4F9B}"/>
              </a:ext>
            </a:extLst>
          </p:cNvPr>
          <p:cNvSpPr txBox="1"/>
          <p:nvPr userDrawn="1"/>
        </p:nvSpPr>
        <p:spPr>
          <a:xfrm>
            <a:off x="478149" y="4933093"/>
            <a:ext cx="1153376" cy="173124"/>
          </a:xfrm>
          <a:prstGeom prst="rect">
            <a:avLst/>
          </a:prstGeom>
          <a:noFill/>
        </p:spPr>
        <p:txBody>
          <a:bodyPr wrap="square" rtlCol="0">
            <a:spAutoFit/>
          </a:bodyPr>
          <a:lstStyle/>
          <a:p>
            <a:r>
              <a:rPr lang="en-US" sz="525" dirty="0" smtClean="0">
                <a:solidFill>
                  <a:srgbClr val="FFFFFF">
                    <a:lumMod val="50000"/>
                  </a:srgbClr>
                </a:solidFill>
              </a:rPr>
              <a:t>  </a:t>
            </a:r>
            <a:r>
              <a:rPr lang="en-US" sz="525" dirty="0" smtClean="0">
                <a:solidFill>
                  <a:srgbClr val="000000">
                    <a:lumMod val="75000"/>
                    <a:lumOff val="25000"/>
                    <a:alpha val="65000"/>
                  </a:srgbClr>
                </a:solidFill>
              </a:rPr>
              <a:t>AUO Corporation Proprietary</a:t>
            </a:r>
            <a:endParaRPr lang="en-US" sz="525" dirty="0">
              <a:solidFill>
                <a:srgbClr val="000000">
                  <a:lumMod val="75000"/>
                  <a:lumOff val="25000"/>
                  <a:alpha val="65000"/>
                </a:srgbClr>
              </a:solidFill>
            </a:endParaRPr>
          </a:p>
        </p:txBody>
      </p:sp>
      <p:sp>
        <p:nvSpPr>
          <p:cNvPr id="10" name="矩形 9"/>
          <p:cNvSpPr/>
          <p:nvPr userDrawn="1"/>
        </p:nvSpPr>
        <p:spPr>
          <a:xfrm>
            <a:off x="520230" y="4961069"/>
            <a:ext cx="62518" cy="138499"/>
          </a:xfrm>
          <a:prstGeom prst="rect">
            <a:avLst/>
          </a:prstGeom>
        </p:spPr>
        <p:txBody>
          <a:bodyPr wrap="none" lIns="0" tIns="0" rIns="0" bIns="0">
            <a:spAutoFit/>
          </a:bodyPr>
          <a:lstStyle/>
          <a:p>
            <a:r>
              <a:rPr lang="en-US" altLang="zh-TW" sz="900" dirty="0" smtClean="0">
                <a:solidFill>
                  <a:srgbClr val="FFFFFF">
                    <a:lumMod val="50000"/>
                  </a:srgbClr>
                </a:solidFill>
              </a:rPr>
              <a:t>©</a:t>
            </a:r>
            <a:endParaRPr lang="zh-TW" altLang="en-US" sz="1400" dirty="0">
              <a:solidFill>
                <a:srgbClr val="FFFFFF">
                  <a:lumMod val="50000"/>
                </a:srgbClr>
              </a:solidFill>
            </a:endParaRPr>
          </a:p>
        </p:txBody>
      </p:sp>
      <p:sp>
        <p:nvSpPr>
          <p:cNvPr id="11" name="Footer Placeholder 4"/>
          <p:cNvSpPr>
            <a:spLocks noGrp="1"/>
          </p:cNvSpPr>
          <p:nvPr>
            <p:ph type="ftr" sz="quarter" idx="3"/>
          </p:nvPr>
        </p:nvSpPr>
        <p:spPr>
          <a:xfrm>
            <a:off x="2992068" y="4893396"/>
            <a:ext cx="3086100" cy="273844"/>
          </a:xfrm>
          <a:prstGeom prst="rect">
            <a:avLst/>
          </a:prstGeom>
        </p:spPr>
        <p:txBody>
          <a:bodyPr vert="horz" lIns="91440" tIns="45720" rIns="91440" bIns="45720" rtlCol="0" anchor="ctr"/>
          <a:lstStyle>
            <a:lvl1pPr algn="ctr">
              <a:defRPr sz="600">
                <a:solidFill>
                  <a:schemeClr val="tx1">
                    <a:tint val="75000"/>
                  </a:schemeClr>
                </a:solidFill>
                <a:latin typeface="+mn-lt"/>
                <a:ea typeface="+mn-ea"/>
              </a:defRPr>
            </a:lvl1pPr>
          </a:lstStyle>
          <a:p>
            <a:endParaRPr lang="en-US" dirty="0">
              <a:solidFill>
                <a:srgbClr val="000000">
                  <a:tint val="75000"/>
                </a:srgbClr>
              </a:solidFill>
            </a:endParaRPr>
          </a:p>
        </p:txBody>
      </p:sp>
      <p:sp>
        <p:nvSpPr>
          <p:cNvPr id="8" name="Freeform 5"/>
          <p:cNvSpPr>
            <a:spLocks noChangeAspect="1" noEditPoints="1"/>
          </p:cNvSpPr>
          <p:nvPr userDrawn="1"/>
        </p:nvSpPr>
        <p:spPr bwMode="auto">
          <a:xfrm>
            <a:off x="8361592" y="4753677"/>
            <a:ext cx="507600" cy="179416"/>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rgbClr val="005087"/>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9490780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ing Pag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xmlns="" id="{054A8AFF-F688-43D7-8F8E-CD8E790824BD}"/>
              </a:ext>
            </a:extLst>
          </p:cNvPr>
          <p:cNvSpPr>
            <a:spLocks noGrp="1"/>
          </p:cNvSpPr>
          <p:nvPr>
            <p:ph type="title" hasCustomPrompt="1"/>
          </p:nvPr>
        </p:nvSpPr>
        <p:spPr>
          <a:xfrm>
            <a:off x="623888" y="1725105"/>
            <a:ext cx="7886700" cy="1696751"/>
          </a:xfrm>
        </p:spPr>
        <p:txBody>
          <a:bodyPr anchor="ctr">
            <a:normAutofit/>
          </a:bodyPr>
          <a:lstStyle>
            <a:lvl1pPr algn="ctr">
              <a:defRPr sz="3000">
                <a:solidFill>
                  <a:schemeClr val="bg1"/>
                </a:solidFill>
                <a:latin typeface="+mj-lt"/>
              </a:defRPr>
            </a:lvl1pPr>
          </a:lstStyle>
          <a:p>
            <a:r>
              <a:rPr lang="en-US" altLang="zh-TW" dirty="0"/>
              <a:t>Tap Into The Possibilities</a:t>
            </a:r>
            <a:endParaRPr lang="en-US" dirty="0"/>
          </a:p>
        </p:txBody>
      </p:sp>
      <p:sp>
        <p:nvSpPr>
          <p:cNvPr id="12" name="Freeform 5"/>
          <p:cNvSpPr>
            <a:spLocks noChangeAspect="1" noEditPoints="1"/>
          </p:cNvSpPr>
          <p:nvPr userDrawn="1"/>
        </p:nvSpPr>
        <p:spPr bwMode="auto">
          <a:xfrm>
            <a:off x="8026333" y="4560330"/>
            <a:ext cx="842400" cy="297755"/>
          </a:xfrm>
          <a:custGeom>
            <a:avLst/>
            <a:gdLst>
              <a:gd name="T0" fmla="*/ 3206 w 4102"/>
              <a:gd name="T1" fmla="*/ 14 h 1450"/>
              <a:gd name="T2" fmla="*/ 2954 w 4102"/>
              <a:gd name="T3" fmla="*/ 108 h 1450"/>
              <a:gd name="T4" fmla="*/ 2812 w 4102"/>
              <a:gd name="T5" fmla="*/ 228 h 1450"/>
              <a:gd name="T6" fmla="*/ 2736 w 4102"/>
              <a:gd name="T7" fmla="*/ 344 h 1450"/>
              <a:gd name="T8" fmla="*/ 2676 w 4102"/>
              <a:gd name="T9" fmla="*/ 452 h 1450"/>
              <a:gd name="T10" fmla="*/ 2200 w 4102"/>
              <a:gd name="T11" fmla="*/ 816 h 1450"/>
              <a:gd name="T12" fmla="*/ 2178 w 4102"/>
              <a:gd name="T13" fmla="*/ 946 h 1450"/>
              <a:gd name="T14" fmla="*/ 2118 w 4102"/>
              <a:gd name="T15" fmla="*/ 1022 h 1450"/>
              <a:gd name="T16" fmla="*/ 2012 w 4102"/>
              <a:gd name="T17" fmla="*/ 1046 h 1450"/>
              <a:gd name="T18" fmla="*/ 1920 w 4102"/>
              <a:gd name="T19" fmla="*/ 1030 h 1450"/>
              <a:gd name="T20" fmla="*/ 1854 w 4102"/>
              <a:gd name="T21" fmla="*/ 962 h 1450"/>
              <a:gd name="T22" fmla="*/ 1826 w 4102"/>
              <a:gd name="T23" fmla="*/ 846 h 1450"/>
              <a:gd name="T24" fmla="*/ 1354 w 4102"/>
              <a:gd name="T25" fmla="*/ 734 h 1450"/>
              <a:gd name="T26" fmla="*/ 568 w 4102"/>
              <a:gd name="T27" fmla="*/ 52 h 1450"/>
              <a:gd name="T28" fmla="*/ 804 w 4102"/>
              <a:gd name="T29" fmla="*/ 600 h 1450"/>
              <a:gd name="T30" fmla="*/ 1516 w 4102"/>
              <a:gd name="T31" fmla="*/ 1202 h 1450"/>
              <a:gd name="T32" fmla="*/ 1608 w 4102"/>
              <a:gd name="T33" fmla="*/ 1262 h 1450"/>
              <a:gd name="T34" fmla="*/ 1752 w 4102"/>
              <a:gd name="T35" fmla="*/ 1310 h 1450"/>
              <a:gd name="T36" fmla="*/ 2014 w 4102"/>
              <a:gd name="T37" fmla="*/ 1332 h 1450"/>
              <a:gd name="T38" fmla="*/ 2328 w 4102"/>
              <a:gd name="T39" fmla="*/ 1296 h 1450"/>
              <a:gd name="T40" fmla="*/ 2486 w 4102"/>
              <a:gd name="T41" fmla="*/ 1224 h 1450"/>
              <a:gd name="T42" fmla="*/ 2568 w 4102"/>
              <a:gd name="T43" fmla="*/ 1144 h 1450"/>
              <a:gd name="T44" fmla="*/ 2626 w 4102"/>
              <a:gd name="T45" fmla="*/ 1040 h 1450"/>
              <a:gd name="T46" fmla="*/ 2674 w 4102"/>
              <a:gd name="T47" fmla="*/ 912 h 1450"/>
              <a:gd name="T48" fmla="*/ 2726 w 4102"/>
              <a:gd name="T49" fmla="*/ 1062 h 1450"/>
              <a:gd name="T50" fmla="*/ 2806 w 4102"/>
              <a:gd name="T51" fmla="*/ 1186 h 1450"/>
              <a:gd name="T52" fmla="*/ 2908 w 4102"/>
              <a:gd name="T53" fmla="*/ 1282 h 1450"/>
              <a:gd name="T54" fmla="*/ 3030 w 4102"/>
              <a:gd name="T55" fmla="*/ 1354 h 1450"/>
              <a:gd name="T56" fmla="*/ 3314 w 4102"/>
              <a:gd name="T57" fmla="*/ 1420 h 1450"/>
              <a:gd name="T58" fmla="*/ 3484 w 4102"/>
              <a:gd name="T59" fmla="*/ 1416 h 1450"/>
              <a:gd name="T60" fmla="*/ 3654 w 4102"/>
              <a:gd name="T61" fmla="*/ 1382 h 1450"/>
              <a:gd name="T62" fmla="*/ 3806 w 4102"/>
              <a:gd name="T63" fmla="*/ 1312 h 1450"/>
              <a:gd name="T64" fmla="*/ 3932 w 4102"/>
              <a:gd name="T65" fmla="*/ 1206 h 1450"/>
              <a:gd name="T66" fmla="*/ 4028 w 4102"/>
              <a:gd name="T67" fmla="*/ 1064 h 1450"/>
              <a:gd name="T68" fmla="*/ 4086 w 4102"/>
              <a:gd name="T69" fmla="*/ 884 h 1450"/>
              <a:gd name="T70" fmla="*/ 4102 w 4102"/>
              <a:gd name="T71" fmla="*/ 710 h 1450"/>
              <a:gd name="T72" fmla="*/ 4078 w 4102"/>
              <a:gd name="T73" fmla="*/ 498 h 1450"/>
              <a:gd name="T74" fmla="*/ 4012 w 4102"/>
              <a:gd name="T75" fmla="*/ 326 h 1450"/>
              <a:gd name="T76" fmla="*/ 3910 w 4102"/>
              <a:gd name="T77" fmla="*/ 192 h 1450"/>
              <a:gd name="T78" fmla="*/ 3778 w 4102"/>
              <a:gd name="T79" fmla="*/ 94 h 1450"/>
              <a:gd name="T80" fmla="*/ 3622 w 4102"/>
              <a:gd name="T81" fmla="*/ 30 h 1450"/>
              <a:gd name="T82" fmla="*/ 3448 w 4102"/>
              <a:gd name="T83" fmla="*/ 2 h 1450"/>
              <a:gd name="T84" fmla="*/ 3376 w 4102"/>
              <a:gd name="T85" fmla="*/ 1128 h 1450"/>
              <a:gd name="T86" fmla="*/ 3294 w 4102"/>
              <a:gd name="T87" fmla="*/ 1112 h 1450"/>
              <a:gd name="T88" fmla="*/ 3212 w 4102"/>
              <a:gd name="T89" fmla="*/ 1046 h 1450"/>
              <a:gd name="T90" fmla="*/ 3152 w 4102"/>
              <a:gd name="T91" fmla="*/ 892 h 1450"/>
              <a:gd name="T92" fmla="*/ 3136 w 4102"/>
              <a:gd name="T93" fmla="*/ 712 h 1450"/>
              <a:gd name="T94" fmla="*/ 3160 w 4102"/>
              <a:gd name="T95" fmla="*/ 496 h 1450"/>
              <a:gd name="T96" fmla="*/ 3232 w 4102"/>
              <a:gd name="T97" fmla="*/ 352 h 1450"/>
              <a:gd name="T98" fmla="*/ 3310 w 4102"/>
              <a:gd name="T99" fmla="*/ 304 h 1450"/>
              <a:gd name="T100" fmla="*/ 3376 w 4102"/>
              <a:gd name="T101" fmla="*/ 294 h 1450"/>
              <a:gd name="T102" fmla="*/ 3458 w 4102"/>
              <a:gd name="T103" fmla="*/ 310 h 1450"/>
              <a:gd name="T104" fmla="*/ 3540 w 4102"/>
              <a:gd name="T105" fmla="*/ 376 h 1450"/>
              <a:gd name="T106" fmla="*/ 3602 w 4102"/>
              <a:gd name="T107" fmla="*/ 530 h 1450"/>
              <a:gd name="T108" fmla="*/ 3618 w 4102"/>
              <a:gd name="T109" fmla="*/ 710 h 1450"/>
              <a:gd name="T110" fmla="*/ 3602 w 4102"/>
              <a:gd name="T111" fmla="*/ 892 h 1450"/>
              <a:gd name="T112" fmla="*/ 3540 w 4102"/>
              <a:gd name="T113" fmla="*/ 1046 h 1450"/>
              <a:gd name="T114" fmla="*/ 3458 w 4102"/>
              <a:gd name="T115" fmla="*/ 1112 h 1450"/>
              <a:gd name="T116" fmla="*/ 3376 w 4102"/>
              <a:gd name="T117" fmla="*/ 1128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02" h="1450">
                <a:moveTo>
                  <a:pt x="3376" y="0"/>
                </a:moveTo>
                <a:lnTo>
                  <a:pt x="3376" y="0"/>
                </a:lnTo>
                <a:lnTo>
                  <a:pt x="3318" y="0"/>
                </a:lnTo>
                <a:lnTo>
                  <a:pt x="3262" y="6"/>
                </a:lnTo>
                <a:lnTo>
                  <a:pt x="3206" y="14"/>
                </a:lnTo>
                <a:lnTo>
                  <a:pt x="3152" y="26"/>
                </a:lnTo>
                <a:lnTo>
                  <a:pt x="3098" y="42"/>
                </a:lnTo>
                <a:lnTo>
                  <a:pt x="3048" y="60"/>
                </a:lnTo>
                <a:lnTo>
                  <a:pt x="3000" y="82"/>
                </a:lnTo>
                <a:lnTo>
                  <a:pt x="2954" y="108"/>
                </a:lnTo>
                <a:lnTo>
                  <a:pt x="2910" y="138"/>
                </a:lnTo>
                <a:lnTo>
                  <a:pt x="2868" y="172"/>
                </a:lnTo>
                <a:lnTo>
                  <a:pt x="2850" y="190"/>
                </a:lnTo>
                <a:lnTo>
                  <a:pt x="2830" y="210"/>
                </a:lnTo>
                <a:lnTo>
                  <a:pt x="2812" y="228"/>
                </a:lnTo>
                <a:lnTo>
                  <a:pt x="2796" y="250"/>
                </a:lnTo>
                <a:lnTo>
                  <a:pt x="2780" y="272"/>
                </a:lnTo>
                <a:lnTo>
                  <a:pt x="2764" y="294"/>
                </a:lnTo>
                <a:lnTo>
                  <a:pt x="2750" y="318"/>
                </a:lnTo>
                <a:lnTo>
                  <a:pt x="2736" y="344"/>
                </a:lnTo>
                <a:lnTo>
                  <a:pt x="2724" y="368"/>
                </a:lnTo>
                <a:lnTo>
                  <a:pt x="2712" y="396"/>
                </a:lnTo>
                <a:lnTo>
                  <a:pt x="2702" y="424"/>
                </a:lnTo>
                <a:lnTo>
                  <a:pt x="2692" y="452"/>
                </a:lnTo>
                <a:lnTo>
                  <a:pt x="2676" y="452"/>
                </a:lnTo>
                <a:lnTo>
                  <a:pt x="2676" y="52"/>
                </a:lnTo>
                <a:lnTo>
                  <a:pt x="2202" y="52"/>
                </a:lnTo>
                <a:lnTo>
                  <a:pt x="2202" y="784"/>
                </a:lnTo>
                <a:lnTo>
                  <a:pt x="2202" y="784"/>
                </a:lnTo>
                <a:lnTo>
                  <a:pt x="2200" y="816"/>
                </a:lnTo>
                <a:lnTo>
                  <a:pt x="2198" y="846"/>
                </a:lnTo>
                <a:lnTo>
                  <a:pt x="2196" y="874"/>
                </a:lnTo>
                <a:lnTo>
                  <a:pt x="2192" y="900"/>
                </a:lnTo>
                <a:lnTo>
                  <a:pt x="2186" y="924"/>
                </a:lnTo>
                <a:lnTo>
                  <a:pt x="2178" y="946"/>
                </a:lnTo>
                <a:lnTo>
                  <a:pt x="2170" y="966"/>
                </a:lnTo>
                <a:lnTo>
                  <a:pt x="2160" y="982"/>
                </a:lnTo>
                <a:lnTo>
                  <a:pt x="2148" y="998"/>
                </a:lnTo>
                <a:lnTo>
                  <a:pt x="2134" y="1010"/>
                </a:lnTo>
                <a:lnTo>
                  <a:pt x="2118" y="1022"/>
                </a:lnTo>
                <a:lnTo>
                  <a:pt x="2102" y="1030"/>
                </a:lnTo>
                <a:lnTo>
                  <a:pt x="2082" y="1038"/>
                </a:lnTo>
                <a:lnTo>
                  <a:pt x="2060" y="1042"/>
                </a:lnTo>
                <a:lnTo>
                  <a:pt x="2038" y="1046"/>
                </a:lnTo>
                <a:lnTo>
                  <a:pt x="2012" y="1046"/>
                </a:lnTo>
                <a:lnTo>
                  <a:pt x="2012" y="1046"/>
                </a:lnTo>
                <a:lnTo>
                  <a:pt x="1986" y="1046"/>
                </a:lnTo>
                <a:lnTo>
                  <a:pt x="1962" y="1042"/>
                </a:lnTo>
                <a:lnTo>
                  <a:pt x="1940" y="1036"/>
                </a:lnTo>
                <a:lnTo>
                  <a:pt x="1920" y="1030"/>
                </a:lnTo>
                <a:lnTo>
                  <a:pt x="1904" y="1020"/>
                </a:lnTo>
                <a:lnTo>
                  <a:pt x="1888" y="1008"/>
                </a:lnTo>
                <a:lnTo>
                  <a:pt x="1874" y="996"/>
                </a:lnTo>
                <a:lnTo>
                  <a:pt x="1862" y="980"/>
                </a:lnTo>
                <a:lnTo>
                  <a:pt x="1854" y="962"/>
                </a:lnTo>
                <a:lnTo>
                  <a:pt x="1844" y="944"/>
                </a:lnTo>
                <a:lnTo>
                  <a:pt x="1838" y="922"/>
                </a:lnTo>
                <a:lnTo>
                  <a:pt x="1832" y="898"/>
                </a:lnTo>
                <a:lnTo>
                  <a:pt x="1828" y="872"/>
                </a:lnTo>
                <a:lnTo>
                  <a:pt x="1826" y="846"/>
                </a:lnTo>
                <a:lnTo>
                  <a:pt x="1824" y="784"/>
                </a:lnTo>
                <a:lnTo>
                  <a:pt x="1824" y="52"/>
                </a:lnTo>
                <a:lnTo>
                  <a:pt x="1354" y="52"/>
                </a:lnTo>
                <a:lnTo>
                  <a:pt x="1354" y="734"/>
                </a:lnTo>
                <a:lnTo>
                  <a:pt x="1354" y="734"/>
                </a:lnTo>
                <a:lnTo>
                  <a:pt x="1356" y="772"/>
                </a:lnTo>
                <a:lnTo>
                  <a:pt x="1360" y="808"/>
                </a:lnTo>
                <a:lnTo>
                  <a:pt x="1346" y="812"/>
                </a:lnTo>
                <a:lnTo>
                  <a:pt x="1038" y="54"/>
                </a:lnTo>
                <a:lnTo>
                  <a:pt x="568" y="52"/>
                </a:lnTo>
                <a:lnTo>
                  <a:pt x="0" y="1450"/>
                </a:lnTo>
                <a:lnTo>
                  <a:pt x="526" y="1450"/>
                </a:lnTo>
                <a:lnTo>
                  <a:pt x="796" y="600"/>
                </a:lnTo>
                <a:lnTo>
                  <a:pt x="802" y="600"/>
                </a:lnTo>
                <a:lnTo>
                  <a:pt x="804" y="600"/>
                </a:lnTo>
                <a:lnTo>
                  <a:pt x="810" y="600"/>
                </a:lnTo>
                <a:lnTo>
                  <a:pt x="1082" y="1450"/>
                </a:lnTo>
                <a:lnTo>
                  <a:pt x="1606" y="1450"/>
                </a:lnTo>
                <a:lnTo>
                  <a:pt x="1508" y="1206"/>
                </a:lnTo>
                <a:lnTo>
                  <a:pt x="1516" y="1202"/>
                </a:lnTo>
                <a:lnTo>
                  <a:pt x="1516" y="1202"/>
                </a:lnTo>
                <a:lnTo>
                  <a:pt x="1536" y="1218"/>
                </a:lnTo>
                <a:lnTo>
                  <a:pt x="1558" y="1234"/>
                </a:lnTo>
                <a:lnTo>
                  <a:pt x="1582" y="1248"/>
                </a:lnTo>
                <a:lnTo>
                  <a:pt x="1608" y="1262"/>
                </a:lnTo>
                <a:lnTo>
                  <a:pt x="1634" y="1274"/>
                </a:lnTo>
                <a:lnTo>
                  <a:pt x="1662" y="1284"/>
                </a:lnTo>
                <a:lnTo>
                  <a:pt x="1690" y="1294"/>
                </a:lnTo>
                <a:lnTo>
                  <a:pt x="1722" y="1302"/>
                </a:lnTo>
                <a:lnTo>
                  <a:pt x="1752" y="1310"/>
                </a:lnTo>
                <a:lnTo>
                  <a:pt x="1786" y="1316"/>
                </a:lnTo>
                <a:lnTo>
                  <a:pt x="1856" y="1324"/>
                </a:lnTo>
                <a:lnTo>
                  <a:pt x="1932" y="1330"/>
                </a:lnTo>
                <a:lnTo>
                  <a:pt x="2014" y="1332"/>
                </a:lnTo>
                <a:lnTo>
                  <a:pt x="2014" y="1332"/>
                </a:lnTo>
                <a:lnTo>
                  <a:pt x="2086" y="1330"/>
                </a:lnTo>
                <a:lnTo>
                  <a:pt x="2152" y="1326"/>
                </a:lnTo>
                <a:lnTo>
                  <a:pt x="2216" y="1320"/>
                </a:lnTo>
                <a:lnTo>
                  <a:pt x="2274" y="1310"/>
                </a:lnTo>
                <a:lnTo>
                  <a:pt x="2328" y="1296"/>
                </a:lnTo>
                <a:lnTo>
                  <a:pt x="2378" y="1280"/>
                </a:lnTo>
                <a:lnTo>
                  <a:pt x="2424" y="1260"/>
                </a:lnTo>
                <a:lnTo>
                  <a:pt x="2446" y="1248"/>
                </a:lnTo>
                <a:lnTo>
                  <a:pt x="2466" y="1236"/>
                </a:lnTo>
                <a:lnTo>
                  <a:pt x="2486" y="1224"/>
                </a:lnTo>
                <a:lnTo>
                  <a:pt x="2504" y="1210"/>
                </a:lnTo>
                <a:lnTo>
                  <a:pt x="2520" y="1194"/>
                </a:lnTo>
                <a:lnTo>
                  <a:pt x="2538" y="1178"/>
                </a:lnTo>
                <a:lnTo>
                  <a:pt x="2552" y="1162"/>
                </a:lnTo>
                <a:lnTo>
                  <a:pt x="2568" y="1144"/>
                </a:lnTo>
                <a:lnTo>
                  <a:pt x="2580" y="1126"/>
                </a:lnTo>
                <a:lnTo>
                  <a:pt x="2594" y="1106"/>
                </a:lnTo>
                <a:lnTo>
                  <a:pt x="2606" y="1086"/>
                </a:lnTo>
                <a:lnTo>
                  <a:pt x="2616" y="1064"/>
                </a:lnTo>
                <a:lnTo>
                  <a:pt x="2626" y="1040"/>
                </a:lnTo>
                <a:lnTo>
                  <a:pt x="2634" y="1018"/>
                </a:lnTo>
                <a:lnTo>
                  <a:pt x="2650" y="966"/>
                </a:lnTo>
                <a:lnTo>
                  <a:pt x="2662" y="912"/>
                </a:lnTo>
                <a:lnTo>
                  <a:pt x="2674" y="912"/>
                </a:lnTo>
                <a:lnTo>
                  <a:pt x="2674" y="912"/>
                </a:lnTo>
                <a:lnTo>
                  <a:pt x="2682" y="944"/>
                </a:lnTo>
                <a:lnTo>
                  <a:pt x="2692" y="976"/>
                </a:lnTo>
                <a:lnTo>
                  <a:pt x="2702" y="1006"/>
                </a:lnTo>
                <a:lnTo>
                  <a:pt x="2714" y="1034"/>
                </a:lnTo>
                <a:lnTo>
                  <a:pt x="2726" y="1062"/>
                </a:lnTo>
                <a:lnTo>
                  <a:pt x="2740" y="1090"/>
                </a:lnTo>
                <a:lnTo>
                  <a:pt x="2756" y="1116"/>
                </a:lnTo>
                <a:lnTo>
                  <a:pt x="2772" y="1140"/>
                </a:lnTo>
                <a:lnTo>
                  <a:pt x="2788" y="1164"/>
                </a:lnTo>
                <a:lnTo>
                  <a:pt x="2806" y="1186"/>
                </a:lnTo>
                <a:lnTo>
                  <a:pt x="2824" y="1208"/>
                </a:lnTo>
                <a:lnTo>
                  <a:pt x="2844" y="1228"/>
                </a:lnTo>
                <a:lnTo>
                  <a:pt x="2864" y="1248"/>
                </a:lnTo>
                <a:lnTo>
                  <a:pt x="2886" y="1266"/>
                </a:lnTo>
                <a:lnTo>
                  <a:pt x="2908" y="1282"/>
                </a:lnTo>
                <a:lnTo>
                  <a:pt x="2932" y="1300"/>
                </a:lnTo>
                <a:lnTo>
                  <a:pt x="2954" y="1314"/>
                </a:lnTo>
                <a:lnTo>
                  <a:pt x="2978" y="1328"/>
                </a:lnTo>
                <a:lnTo>
                  <a:pt x="3004" y="1342"/>
                </a:lnTo>
                <a:lnTo>
                  <a:pt x="3030" y="1354"/>
                </a:lnTo>
                <a:lnTo>
                  <a:pt x="3082" y="1376"/>
                </a:lnTo>
                <a:lnTo>
                  <a:pt x="3138" y="1392"/>
                </a:lnTo>
                <a:lnTo>
                  <a:pt x="3196" y="1406"/>
                </a:lnTo>
                <a:lnTo>
                  <a:pt x="3254" y="1416"/>
                </a:lnTo>
                <a:lnTo>
                  <a:pt x="3314" y="1420"/>
                </a:lnTo>
                <a:lnTo>
                  <a:pt x="3376" y="1422"/>
                </a:lnTo>
                <a:lnTo>
                  <a:pt x="3376" y="1422"/>
                </a:lnTo>
                <a:lnTo>
                  <a:pt x="3412" y="1422"/>
                </a:lnTo>
                <a:lnTo>
                  <a:pt x="3448" y="1420"/>
                </a:lnTo>
                <a:lnTo>
                  <a:pt x="3484" y="1416"/>
                </a:lnTo>
                <a:lnTo>
                  <a:pt x="3520" y="1412"/>
                </a:lnTo>
                <a:lnTo>
                  <a:pt x="3554" y="1406"/>
                </a:lnTo>
                <a:lnTo>
                  <a:pt x="3588" y="1400"/>
                </a:lnTo>
                <a:lnTo>
                  <a:pt x="3622" y="1390"/>
                </a:lnTo>
                <a:lnTo>
                  <a:pt x="3654" y="1382"/>
                </a:lnTo>
                <a:lnTo>
                  <a:pt x="3686" y="1370"/>
                </a:lnTo>
                <a:lnTo>
                  <a:pt x="3718" y="1358"/>
                </a:lnTo>
                <a:lnTo>
                  <a:pt x="3748" y="1344"/>
                </a:lnTo>
                <a:lnTo>
                  <a:pt x="3778" y="1328"/>
                </a:lnTo>
                <a:lnTo>
                  <a:pt x="3806" y="1312"/>
                </a:lnTo>
                <a:lnTo>
                  <a:pt x="3834" y="1294"/>
                </a:lnTo>
                <a:lnTo>
                  <a:pt x="3860" y="1274"/>
                </a:lnTo>
                <a:lnTo>
                  <a:pt x="3886" y="1252"/>
                </a:lnTo>
                <a:lnTo>
                  <a:pt x="3910" y="1230"/>
                </a:lnTo>
                <a:lnTo>
                  <a:pt x="3932" y="1206"/>
                </a:lnTo>
                <a:lnTo>
                  <a:pt x="3954" y="1180"/>
                </a:lnTo>
                <a:lnTo>
                  <a:pt x="3976" y="1154"/>
                </a:lnTo>
                <a:lnTo>
                  <a:pt x="3994" y="1126"/>
                </a:lnTo>
                <a:lnTo>
                  <a:pt x="4012" y="1096"/>
                </a:lnTo>
                <a:lnTo>
                  <a:pt x="4028" y="1064"/>
                </a:lnTo>
                <a:lnTo>
                  <a:pt x="4044" y="1030"/>
                </a:lnTo>
                <a:lnTo>
                  <a:pt x="4056" y="996"/>
                </a:lnTo>
                <a:lnTo>
                  <a:pt x="4068" y="960"/>
                </a:lnTo>
                <a:lnTo>
                  <a:pt x="4078" y="922"/>
                </a:lnTo>
                <a:lnTo>
                  <a:pt x="4086" y="884"/>
                </a:lnTo>
                <a:lnTo>
                  <a:pt x="4094" y="842"/>
                </a:lnTo>
                <a:lnTo>
                  <a:pt x="4098" y="800"/>
                </a:lnTo>
                <a:lnTo>
                  <a:pt x="4100" y="756"/>
                </a:lnTo>
                <a:lnTo>
                  <a:pt x="4102" y="710"/>
                </a:lnTo>
                <a:lnTo>
                  <a:pt x="4102" y="710"/>
                </a:lnTo>
                <a:lnTo>
                  <a:pt x="4102" y="666"/>
                </a:lnTo>
                <a:lnTo>
                  <a:pt x="4098" y="622"/>
                </a:lnTo>
                <a:lnTo>
                  <a:pt x="4094" y="578"/>
                </a:lnTo>
                <a:lnTo>
                  <a:pt x="4086" y="538"/>
                </a:lnTo>
                <a:lnTo>
                  <a:pt x="4078" y="498"/>
                </a:lnTo>
                <a:lnTo>
                  <a:pt x="4068" y="462"/>
                </a:lnTo>
                <a:lnTo>
                  <a:pt x="4056" y="426"/>
                </a:lnTo>
                <a:lnTo>
                  <a:pt x="4044" y="390"/>
                </a:lnTo>
                <a:lnTo>
                  <a:pt x="4028" y="358"/>
                </a:lnTo>
                <a:lnTo>
                  <a:pt x="4012" y="326"/>
                </a:lnTo>
                <a:lnTo>
                  <a:pt x="3994" y="296"/>
                </a:lnTo>
                <a:lnTo>
                  <a:pt x="3976" y="268"/>
                </a:lnTo>
                <a:lnTo>
                  <a:pt x="3954" y="240"/>
                </a:lnTo>
                <a:lnTo>
                  <a:pt x="3932" y="216"/>
                </a:lnTo>
                <a:lnTo>
                  <a:pt x="3910" y="192"/>
                </a:lnTo>
                <a:lnTo>
                  <a:pt x="3886" y="170"/>
                </a:lnTo>
                <a:lnTo>
                  <a:pt x="3860" y="148"/>
                </a:lnTo>
                <a:lnTo>
                  <a:pt x="3834" y="128"/>
                </a:lnTo>
                <a:lnTo>
                  <a:pt x="3806" y="110"/>
                </a:lnTo>
                <a:lnTo>
                  <a:pt x="3778" y="94"/>
                </a:lnTo>
                <a:lnTo>
                  <a:pt x="3748" y="78"/>
                </a:lnTo>
                <a:lnTo>
                  <a:pt x="3718" y="64"/>
                </a:lnTo>
                <a:lnTo>
                  <a:pt x="3686" y="52"/>
                </a:lnTo>
                <a:lnTo>
                  <a:pt x="3654" y="40"/>
                </a:lnTo>
                <a:lnTo>
                  <a:pt x="3622" y="30"/>
                </a:lnTo>
                <a:lnTo>
                  <a:pt x="3588" y="22"/>
                </a:lnTo>
                <a:lnTo>
                  <a:pt x="3554" y="16"/>
                </a:lnTo>
                <a:lnTo>
                  <a:pt x="3520" y="10"/>
                </a:lnTo>
                <a:lnTo>
                  <a:pt x="3484" y="4"/>
                </a:lnTo>
                <a:lnTo>
                  <a:pt x="3448" y="2"/>
                </a:lnTo>
                <a:lnTo>
                  <a:pt x="3412" y="0"/>
                </a:lnTo>
                <a:lnTo>
                  <a:pt x="3376" y="0"/>
                </a:lnTo>
                <a:lnTo>
                  <a:pt x="3376" y="0"/>
                </a:lnTo>
                <a:close/>
                <a:moveTo>
                  <a:pt x="3376" y="1128"/>
                </a:moveTo>
                <a:lnTo>
                  <a:pt x="3376" y="1128"/>
                </a:lnTo>
                <a:lnTo>
                  <a:pt x="3358" y="1128"/>
                </a:lnTo>
                <a:lnTo>
                  <a:pt x="3340" y="1126"/>
                </a:lnTo>
                <a:lnTo>
                  <a:pt x="3324" y="1122"/>
                </a:lnTo>
                <a:lnTo>
                  <a:pt x="3308" y="1118"/>
                </a:lnTo>
                <a:lnTo>
                  <a:pt x="3294" y="1112"/>
                </a:lnTo>
                <a:lnTo>
                  <a:pt x="3280" y="1106"/>
                </a:lnTo>
                <a:lnTo>
                  <a:pt x="3268" y="1098"/>
                </a:lnTo>
                <a:lnTo>
                  <a:pt x="3254" y="1090"/>
                </a:lnTo>
                <a:lnTo>
                  <a:pt x="3232" y="1070"/>
                </a:lnTo>
                <a:lnTo>
                  <a:pt x="3212" y="1046"/>
                </a:lnTo>
                <a:lnTo>
                  <a:pt x="3196" y="1020"/>
                </a:lnTo>
                <a:lnTo>
                  <a:pt x="3182" y="990"/>
                </a:lnTo>
                <a:lnTo>
                  <a:pt x="3170" y="960"/>
                </a:lnTo>
                <a:lnTo>
                  <a:pt x="3160" y="926"/>
                </a:lnTo>
                <a:lnTo>
                  <a:pt x="3152" y="892"/>
                </a:lnTo>
                <a:lnTo>
                  <a:pt x="3146" y="856"/>
                </a:lnTo>
                <a:lnTo>
                  <a:pt x="3140" y="820"/>
                </a:lnTo>
                <a:lnTo>
                  <a:pt x="3138" y="784"/>
                </a:lnTo>
                <a:lnTo>
                  <a:pt x="3136" y="712"/>
                </a:lnTo>
                <a:lnTo>
                  <a:pt x="3136" y="712"/>
                </a:lnTo>
                <a:lnTo>
                  <a:pt x="3138" y="638"/>
                </a:lnTo>
                <a:lnTo>
                  <a:pt x="3140" y="602"/>
                </a:lnTo>
                <a:lnTo>
                  <a:pt x="3146" y="566"/>
                </a:lnTo>
                <a:lnTo>
                  <a:pt x="3152" y="530"/>
                </a:lnTo>
                <a:lnTo>
                  <a:pt x="3160" y="496"/>
                </a:lnTo>
                <a:lnTo>
                  <a:pt x="3170" y="462"/>
                </a:lnTo>
                <a:lnTo>
                  <a:pt x="3182" y="432"/>
                </a:lnTo>
                <a:lnTo>
                  <a:pt x="3196" y="402"/>
                </a:lnTo>
                <a:lnTo>
                  <a:pt x="3212" y="376"/>
                </a:lnTo>
                <a:lnTo>
                  <a:pt x="3232" y="352"/>
                </a:lnTo>
                <a:lnTo>
                  <a:pt x="3254" y="332"/>
                </a:lnTo>
                <a:lnTo>
                  <a:pt x="3268" y="324"/>
                </a:lnTo>
                <a:lnTo>
                  <a:pt x="3280" y="316"/>
                </a:lnTo>
                <a:lnTo>
                  <a:pt x="3294" y="310"/>
                </a:lnTo>
                <a:lnTo>
                  <a:pt x="3310" y="304"/>
                </a:lnTo>
                <a:lnTo>
                  <a:pt x="3324" y="300"/>
                </a:lnTo>
                <a:lnTo>
                  <a:pt x="3342" y="296"/>
                </a:lnTo>
                <a:lnTo>
                  <a:pt x="3358" y="294"/>
                </a:lnTo>
                <a:lnTo>
                  <a:pt x="3376" y="294"/>
                </a:lnTo>
                <a:lnTo>
                  <a:pt x="3376" y="294"/>
                </a:lnTo>
                <a:lnTo>
                  <a:pt x="3394" y="294"/>
                </a:lnTo>
                <a:lnTo>
                  <a:pt x="3412" y="296"/>
                </a:lnTo>
                <a:lnTo>
                  <a:pt x="3428" y="300"/>
                </a:lnTo>
                <a:lnTo>
                  <a:pt x="3444" y="304"/>
                </a:lnTo>
                <a:lnTo>
                  <a:pt x="3458" y="310"/>
                </a:lnTo>
                <a:lnTo>
                  <a:pt x="3472" y="316"/>
                </a:lnTo>
                <a:lnTo>
                  <a:pt x="3486" y="324"/>
                </a:lnTo>
                <a:lnTo>
                  <a:pt x="3498" y="332"/>
                </a:lnTo>
                <a:lnTo>
                  <a:pt x="3520" y="352"/>
                </a:lnTo>
                <a:lnTo>
                  <a:pt x="3540" y="376"/>
                </a:lnTo>
                <a:lnTo>
                  <a:pt x="3556" y="402"/>
                </a:lnTo>
                <a:lnTo>
                  <a:pt x="3572" y="432"/>
                </a:lnTo>
                <a:lnTo>
                  <a:pt x="3584" y="462"/>
                </a:lnTo>
                <a:lnTo>
                  <a:pt x="3594" y="496"/>
                </a:lnTo>
                <a:lnTo>
                  <a:pt x="3602" y="530"/>
                </a:lnTo>
                <a:lnTo>
                  <a:pt x="3608" y="566"/>
                </a:lnTo>
                <a:lnTo>
                  <a:pt x="3612" y="602"/>
                </a:lnTo>
                <a:lnTo>
                  <a:pt x="3616" y="638"/>
                </a:lnTo>
                <a:lnTo>
                  <a:pt x="3616" y="674"/>
                </a:lnTo>
                <a:lnTo>
                  <a:pt x="3618" y="710"/>
                </a:lnTo>
                <a:lnTo>
                  <a:pt x="3618" y="710"/>
                </a:lnTo>
                <a:lnTo>
                  <a:pt x="3616" y="784"/>
                </a:lnTo>
                <a:lnTo>
                  <a:pt x="3612" y="820"/>
                </a:lnTo>
                <a:lnTo>
                  <a:pt x="3608" y="856"/>
                </a:lnTo>
                <a:lnTo>
                  <a:pt x="3602" y="892"/>
                </a:lnTo>
                <a:lnTo>
                  <a:pt x="3594" y="926"/>
                </a:lnTo>
                <a:lnTo>
                  <a:pt x="3584" y="960"/>
                </a:lnTo>
                <a:lnTo>
                  <a:pt x="3572" y="992"/>
                </a:lnTo>
                <a:lnTo>
                  <a:pt x="3556" y="1020"/>
                </a:lnTo>
                <a:lnTo>
                  <a:pt x="3540" y="1046"/>
                </a:lnTo>
                <a:lnTo>
                  <a:pt x="3520" y="1070"/>
                </a:lnTo>
                <a:lnTo>
                  <a:pt x="3498" y="1090"/>
                </a:lnTo>
                <a:lnTo>
                  <a:pt x="3486" y="1098"/>
                </a:lnTo>
                <a:lnTo>
                  <a:pt x="3472" y="1106"/>
                </a:lnTo>
                <a:lnTo>
                  <a:pt x="3458" y="1112"/>
                </a:lnTo>
                <a:lnTo>
                  <a:pt x="3444" y="1118"/>
                </a:lnTo>
                <a:lnTo>
                  <a:pt x="3428" y="1122"/>
                </a:lnTo>
                <a:lnTo>
                  <a:pt x="3412" y="1126"/>
                </a:lnTo>
                <a:lnTo>
                  <a:pt x="3394" y="1128"/>
                </a:lnTo>
                <a:lnTo>
                  <a:pt x="3376" y="1128"/>
                </a:lnTo>
                <a:lnTo>
                  <a:pt x="3376" y="1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TW" altLang="en-US">
              <a:solidFill>
                <a:srgbClr val="000000"/>
              </a:solidFill>
            </a:endParaRPr>
          </a:p>
        </p:txBody>
      </p:sp>
    </p:spTree>
    <p:extLst>
      <p:ext uri="{BB962C8B-B14F-4D97-AF65-F5344CB8AC3E}">
        <p14:creationId xmlns:p14="http://schemas.microsoft.com/office/powerpoint/2010/main" val="1823565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theme" Target="../theme/theme2.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3.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ltLang="zh-TW" dirty="0" smtClean="0"/>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ltLang="zh-TW" smtClean="0"/>
              <a:t>Edit Master text styles</a:t>
            </a:r>
          </a:p>
          <a:p>
            <a:pPr lvl="1"/>
            <a:r>
              <a:rPr lang="en-US" altLang="zh-TW" smtClean="0"/>
              <a:t>Second level</a:t>
            </a:r>
          </a:p>
          <a:p>
            <a:pPr lvl="2"/>
            <a:r>
              <a:rPr lang="en-US" altLang="zh-TW" smtClean="0"/>
              <a:t>Third level</a:t>
            </a:r>
          </a:p>
          <a:p>
            <a:pPr lvl="3"/>
            <a:r>
              <a:rPr lang="en-US" altLang="zh-TW" smtClean="0"/>
              <a:t>Fourth level</a:t>
            </a:r>
          </a:p>
          <a:p>
            <a:pPr lvl="4"/>
            <a:r>
              <a:rPr lang="en-US" altLang="zh-TW" smtClean="0"/>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mtClean="0"/>
              <a:t>YYYY/MM/DD</a:t>
            </a:r>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5D4F6FD-3A3C-4BEB-A0CF-E776CFFA096D}" type="slidenum">
              <a:rPr lang="en-US" smtClean="0"/>
              <a:pPr/>
              <a:t>‹#›</a:t>
            </a:fld>
            <a:endParaRPr lang="en-US"/>
          </a:p>
        </p:txBody>
      </p:sp>
    </p:spTree>
    <p:extLst>
      <p:ext uri="{BB962C8B-B14F-4D97-AF65-F5344CB8AC3E}">
        <p14:creationId xmlns:p14="http://schemas.microsoft.com/office/powerpoint/2010/main" val="128215123"/>
      </p:ext>
    </p:extLst>
  </p:cSld>
  <p:clrMap bg1="lt1" tx1="dk1" bg2="lt2" tx2="dk2" accent1="accent1" accent2="accent2" accent3="accent3" accent4="accent4" accent5="accent5" accent6="accent6" hlink="hlink" folHlink="folHlink"/>
  <p:sldLayoutIdLst>
    <p:sldLayoutId id="214748372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70" r:id="rId11"/>
    <p:sldLayoutId id="2147483772" r:id="rId12"/>
    <p:sldLayoutId id="2147483774" r:id="rId13"/>
    <p:sldLayoutId id="2147483775" r:id="rId14"/>
    <p:sldLayoutId id="2147483776" r:id="rId15"/>
    <p:sldLayoutId id="2147483777" r:id="rId16"/>
    <p:sldLayoutId id="2147483778" r:id="rId17"/>
  </p:sldLayoutIdLst>
  <p:timing>
    <p:tnLst>
      <p:par>
        <p:cTn id="1" dur="indefinite" restart="never" nodeType="tmRoot"/>
      </p:par>
    </p:tnLst>
  </p:timing>
  <p:hf sldNum="0"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8336"/>
            <a:ext cx="7886700" cy="994172"/>
          </a:xfrm>
          <a:prstGeom prst="rect">
            <a:avLst/>
          </a:prstGeom>
        </p:spPr>
        <p:txBody>
          <a:bodyPr vert="horz" lIns="91440" tIns="45720" rIns="91440" bIns="45720" rtlCol="0" anchor="ctr">
            <a:normAutofit/>
          </a:bodyPr>
          <a:lstStyle/>
          <a:p>
            <a:r>
              <a:rPr lang="en-US" altLang="zh-TW" dirty="0" smtClean="0"/>
              <a:t>Click to edit Master title style</a:t>
            </a:r>
            <a:endParaRPr lang="en-US" dirty="0"/>
          </a:p>
        </p:txBody>
      </p:sp>
      <p:sp>
        <p:nvSpPr>
          <p:cNvPr id="3" name="Text Placeholder 2"/>
          <p:cNvSpPr>
            <a:spLocks noGrp="1"/>
          </p:cNvSpPr>
          <p:nvPr>
            <p:ph type="body" idx="1"/>
          </p:nvPr>
        </p:nvSpPr>
        <p:spPr>
          <a:xfrm>
            <a:off x="628650" y="1171099"/>
            <a:ext cx="7886700" cy="3263504"/>
          </a:xfrm>
          <a:prstGeom prst="rect">
            <a:avLst/>
          </a:prstGeom>
        </p:spPr>
        <p:txBody>
          <a:bodyPr vert="horz" lIns="91440" tIns="45720" rIns="91440" bIns="45720" rtlCol="0">
            <a:normAutofit/>
          </a:bodyPr>
          <a:lstStyle/>
          <a:p>
            <a:pPr lvl="0"/>
            <a:r>
              <a:rPr lang="en-US" altLang="zh-TW" smtClean="0"/>
              <a:t>Edit Master text styles</a:t>
            </a:r>
          </a:p>
          <a:p>
            <a:pPr lvl="1"/>
            <a:r>
              <a:rPr lang="en-US" altLang="zh-TW" smtClean="0"/>
              <a:t>Second level</a:t>
            </a:r>
          </a:p>
          <a:p>
            <a:pPr lvl="2"/>
            <a:r>
              <a:rPr lang="en-US" altLang="zh-TW" smtClean="0"/>
              <a:t>Third level</a:t>
            </a:r>
          </a:p>
          <a:p>
            <a:pPr lvl="3"/>
            <a:r>
              <a:rPr lang="en-US" altLang="zh-TW" smtClean="0"/>
              <a:t>Fourth level</a:t>
            </a:r>
          </a:p>
          <a:p>
            <a:pPr lvl="4"/>
            <a:r>
              <a:rPr lang="en-US" altLang="zh-TW" smtClean="0"/>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mtClean="0">
                <a:solidFill>
                  <a:srgbClr val="000000">
                    <a:tint val="75000"/>
                  </a:srgbClr>
                </a:solidFill>
              </a:rPr>
              <a:t>YYYY/MM/DD</a:t>
            </a:r>
            <a:endParaRPr lang="en-US">
              <a:solidFill>
                <a:srgbClr val="000000">
                  <a:tint val="75000"/>
                </a:srgbClr>
              </a:solidFill>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srgbClr val="000000">
                  <a:tint val="75000"/>
                </a:srgb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5D4F6FD-3A3C-4BEB-A0CF-E776CFFA096D}"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164478625"/>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Lst>
  <p:timing>
    <p:tnLst>
      <p:par>
        <p:cTn id="1" dur="indefinite" restart="never" nodeType="tmRoot"/>
      </p:par>
    </p:tnLst>
  </p:timing>
  <p:hf sldNum="0"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8336"/>
            <a:ext cx="7886700" cy="994172"/>
          </a:xfrm>
          <a:prstGeom prst="rect">
            <a:avLst/>
          </a:prstGeom>
        </p:spPr>
        <p:txBody>
          <a:bodyPr vert="horz" lIns="91440" tIns="45720" rIns="91440" bIns="45720" rtlCol="0" anchor="ctr">
            <a:normAutofit/>
          </a:bodyPr>
          <a:lstStyle/>
          <a:p>
            <a:r>
              <a:rPr lang="en-US" altLang="zh-TW" dirty="0" smtClean="0"/>
              <a:t>Click to edit Master title style</a:t>
            </a:r>
            <a:endParaRPr lang="en-US" dirty="0"/>
          </a:p>
        </p:txBody>
      </p:sp>
      <p:sp>
        <p:nvSpPr>
          <p:cNvPr id="3" name="Text Placeholder 2"/>
          <p:cNvSpPr>
            <a:spLocks noGrp="1"/>
          </p:cNvSpPr>
          <p:nvPr>
            <p:ph type="body" idx="1"/>
          </p:nvPr>
        </p:nvSpPr>
        <p:spPr>
          <a:xfrm>
            <a:off x="628650" y="1148239"/>
            <a:ext cx="7886700" cy="3263504"/>
          </a:xfrm>
          <a:prstGeom prst="rect">
            <a:avLst/>
          </a:prstGeom>
        </p:spPr>
        <p:txBody>
          <a:bodyPr vert="horz" lIns="91440" tIns="45720" rIns="91440" bIns="45720" rtlCol="0">
            <a:normAutofit/>
          </a:bodyPr>
          <a:lstStyle/>
          <a:p>
            <a:pPr lvl="0"/>
            <a:r>
              <a:rPr lang="en-US" altLang="zh-TW" smtClean="0"/>
              <a:t>Edit Master text styles</a:t>
            </a:r>
          </a:p>
          <a:p>
            <a:pPr lvl="1"/>
            <a:r>
              <a:rPr lang="en-US" altLang="zh-TW" smtClean="0"/>
              <a:t>Second level</a:t>
            </a:r>
          </a:p>
          <a:p>
            <a:pPr lvl="2"/>
            <a:r>
              <a:rPr lang="en-US" altLang="zh-TW" smtClean="0"/>
              <a:t>Third level</a:t>
            </a:r>
          </a:p>
          <a:p>
            <a:pPr lvl="3"/>
            <a:r>
              <a:rPr lang="en-US" altLang="zh-TW" smtClean="0"/>
              <a:t>Fourth level</a:t>
            </a:r>
          </a:p>
          <a:p>
            <a:pPr lvl="4"/>
            <a:r>
              <a:rPr lang="en-US" altLang="zh-TW" smtClean="0"/>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mtClean="0">
                <a:solidFill>
                  <a:srgbClr val="000000">
                    <a:tint val="75000"/>
                  </a:srgbClr>
                </a:solidFill>
              </a:rPr>
              <a:t>YYYY/MM/DD</a:t>
            </a:r>
            <a:endParaRPr lang="en-US">
              <a:solidFill>
                <a:srgbClr val="000000">
                  <a:tint val="75000"/>
                </a:srgbClr>
              </a:solidFill>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srgbClr val="000000">
                  <a:tint val="75000"/>
                </a:srgb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5D4F6FD-3A3C-4BEB-A0CF-E776CFFA096D}"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4008001612"/>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Lst>
  <p:timing>
    <p:tnLst>
      <p:par>
        <p:cTn id="1" dur="indefinite" restart="never" nodeType="tmRoot"/>
      </p:par>
    </p:tnLst>
  </p:timing>
  <p:hf sldNum="0"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8.xml"/><Relationship Id="rId11" Type="http://schemas.openxmlformats.org/officeDocument/2006/relationships/image" Target="../media/image9.png"/><Relationship Id="rId10" Type="http://schemas.openxmlformats.org/officeDocument/2006/relationships/image" Target="NUL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75.png"/><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77.png"/></Relationships>
</file>

<file path=ppt/slides/_rels/slide30.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 Id="rId9" Type="http://schemas.openxmlformats.org/officeDocument/2006/relationships/image" Target="../media/image96.png"/></Relationships>
</file>

<file path=ppt/slides/_rels/slide3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3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104.png"/></Relationships>
</file>

<file path=ppt/slides/_rels/slide3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106.png"/></Relationships>
</file>

<file path=ppt/slides/_rels/slide39.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35.xml"/><Relationship Id="rId1" Type="http://schemas.openxmlformats.org/officeDocument/2006/relationships/slideLayout" Target="../slideLayouts/slideLayout8.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40.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notesSlide" Target="../notesSlides/notesSlide36.xml"/><Relationship Id="rId1" Type="http://schemas.openxmlformats.org/officeDocument/2006/relationships/slideLayout" Target="../slideLayouts/slideLayout8.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 Id="rId9" Type="http://schemas.openxmlformats.org/officeDocument/2006/relationships/image" Target="../media/image128.png"/></Relationships>
</file>

<file path=ppt/slides/_rels/slide43.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129.png"/><Relationship Id="rId1" Type="http://schemas.openxmlformats.org/officeDocument/2006/relationships/slideLayout" Target="../slideLayouts/slideLayout1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44.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38.png"/><Relationship Id="rId2" Type="http://schemas.openxmlformats.org/officeDocument/2006/relationships/notesSlide" Target="../notesSlides/notesSlide38.xml"/><Relationship Id="rId1" Type="http://schemas.openxmlformats.org/officeDocument/2006/relationships/slideLayout" Target="../slideLayouts/slideLayout9.xml"/><Relationship Id="rId6" Type="http://schemas.microsoft.com/office/2007/relationships/hdphoto" Target="../media/hdphoto3.wdp"/><Relationship Id="rId5" Type="http://schemas.openxmlformats.org/officeDocument/2006/relationships/image" Target="../media/image137.png"/><Relationship Id="rId4" Type="http://schemas.microsoft.com/office/2007/relationships/hdphoto" Target="../media/hdphoto2.wdp"/></Relationships>
</file>

<file path=ppt/slides/_rels/slide4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1.jpg"/><Relationship Id="rId7" Type="http://schemas.openxmlformats.org/officeDocument/2006/relationships/image" Target="../media/image145.png"/><Relationship Id="rId2" Type="http://schemas.openxmlformats.org/officeDocument/2006/relationships/notesSlide" Target="../notesSlides/notesSlide39.xml"/><Relationship Id="rId1" Type="http://schemas.openxmlformats.org/officeDocument/2006/relationships/slideLayout" Target="../slideLayouts/slideLayout9.xml"/><Relationship Id="rId6" Type="http://schemas.openxmlformats.org/officeDocument/2006/relationships/image" Target="../media/image144.png"/><Relationship Id="rId5" Type="http://schemas.openxmlformats.org/officeDocument/2006/relationships/image" Target="../media/image143.png"/><Relationship Id="rId10" Type="http://schemas.microsoft.com/office/2007/relationships/hdphoto" Target="../media/hdphoto4.wdp"/><Relationship Id="rId4" Type="http://schemas.openxmlformats.org/officeDocument/2006/relationships/image" Target="../media/image142.png"/><Relationship Id="rId9" Type="http://schemas.openxmlformats.org/officeDocument/2006/relationships/image" Target="../media/image147.png"/></Relationships>
</file>

<file path=ppt/slides/_rels/slide47.xml.rels><?xml version="1.0" encoding="UTF-8" standalone="yes"?>
<Relationships xmlns="http://schemas.openxmlformats.org/package/2006/relationships"><Relationship Id="rId8" Type="http://schemas.openxmlformats.org/officeDocument/2006/relationships/image" Target="../media/image153.png"/><Relationship Id="rId13" Type="http://schemas.microsoft.com/office/2007/relationships/hdphoto" Target="../media/hdphoto5.wdp"/><Relationship Id="rId3" Type="http://schemas.openxmlformats.org/officeDocument/2006/relationships/image" Target="../media/image148.png"/><Relationship Id="rId7" Type="http://schemas.openxmlformats.org/officeDocument/2006/relationships/image" Target="../media/image152.jpg"/><Relationship Id="rId12" Type="http://schemas.openxmlformats.org/officeDocument/2006/relationships/image" Target="../media/image157.png"/><Relationship Id="rId2" Type="http://schemas.openxmlformats.org/officeDocument/2006/relationships/notesSlide" Target="../notesSlides/notesSlide40.xml"/><Relationship Id="rId16" Type="http://schemas.openxmlformats.org/officeDocument/2006/relationships/image" Target="../media/image160.png"/><Relationship Id="rId1" Type="http://schemas.openxmlformats.org/officeDocument/2006/relationships/slideLayout" Target="../slideLayouts/slideLayout9.xml"/><Relationship Id="rId6" Type="http://schemas.openxmlformats.org/officeDocument/2006/relationships/image" Target="../media/image151.jpeg"/><Relationship Id="rId11" Type="http://schemas.openxmlformats.org/officeDocument/2006/relationships/image" Target="../media/image156.png"/><Relationship Id="rId5" Type="http://schemas.openxmlformats.org/officeDocument/2006/relationships/image" Target="../media/image150.jpeg"/><Relationship Id="rId15" Type="http://schemas.openxmlformats.org/officeDocument/2006/relationships/image" Target="../media/image159.png"/><Relationship Id="rId10" Type="http://schemas.openxmlformats.org/officeDocument/2006/relationships/image" Target="../media/image155.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8.png"/></Relationships>
</file>

<file path=ppt/slides/_rels/slide48.xml.rels><?xml version="1.0" encoding="UTF-8" standalone="yes"?>
<Relationships xmlns="http://schemas.openxmlformats.org/package/2006/relationships"><Relationship Id="rId8" Type="http://schemas.openxmlformats.org/officeDocument/2006/relationships/image" Target="../media/image166.jpeg"/><Relationship Id="rId3" Type="http://schemas.openxmlformats.org/officeDocument/2006/relationships/image" Target="../media/image161.png"/><Relationship Id="rId7" Type="http://schemas.openxmlformats.org/officeDocument/2006/relationships/image" Target="../media/image165.jpg"/><Relationship Id="rId2" Type="http://schemas.openxmlformats.org/officeDocument/2006/relationships/notesSlide" Target="../notesSlides/notesSlide41.xml"/><Relationship Id="rId1" Type="http://schemas.openxmlformats.org/officeDocument/2006/relationships/slideLayout" Target="../slideLayouts/slideLayout9.xml"/><Relationship Id="rId6" Type="http://schemas.openxmlformats.org/officeDocument/2006/relationships/image" Target="../media/image164.jpeg"/><Relationship Id="rId5" Type="http://schemas.openxmlformats.org/officeDocument/2006/relationships/image" Target="../media/image163.png"/><Relationship Id="rId4" Type="http://schemas.openxmlformats.org/officeDocument/2006/relationships/image" Target="../media/image162.png"/><Relationship Id="rId9" Type="http://schemas.openxmlformats.org/officeDocument/2006/relationships/image" Target="../media/image167.jpg"/></Relationships>
</file>

<file path=ppt/slides/_rels/slide4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174.pn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tmp"/></Relationships>
</file>

<file path=ppt/slides/_rels/slide52.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3.xml"/><Relationship Id="rId1" Type="http://schemas.openxmlformats.org/officeDocument/2006/relationships/slideLayout" Target="../slideLayouts/slideLayout15.xml"/><Relationship Id="rId4" Type="http://schemas.openxmlformats.org/officeDocument/2006/relationships/image" Target="../media/image176.png"/></Relationships>
</file>

<file path=ppt/slides/_rels/slide53.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47.png"/><Relationship Id="rId7" Type="http://schemas.openxmlformats.org/officeDocument/2006/relationships/image" Target="../media/image179.png"/><Relationship Id="rId2" Type="http://schemas.openxmlformats.org/officeDocument/2006/relationships/notesSlide" Target="../notesSlides/notesSlide44.xml"/><Relationship Id="rId1" Type="http://schemas.openxmlformats.org/officeDocument/2006/relationships/slideLayout" Target="../slideLayouts/slideLayout9.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77.png"/><Relationship Id="rId10" Type="http://schemas.openxmlformats.org/officeDocument/2006/relationships/image" Target="../media/image182.png"/><Relationship Id="rId4" Type="http://schemas.microsoft.com/office/2007/relationships/hdphoto" Target="../media/hdphoto4.wdp"/><Relationship Id="rId9" Type="http://schemas.openxmlformats.org/officeDocument/2006/relationships/image" Target="../media/image181.png"/></Relationships>
</file>

<file path=ppt/slides/_rels/slide54.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84.png"/><Relationship Id="rId7" Type="http://schemas.openxmlformats.org/officeDocument/2006/relationships/image" Target="../media/image186.png"/><Relationship Id="rId2" Type="http://schemas.openxmlformats.org/officeDocument/2006/relationships/notesSlide" Target="../notesSlides/notesSlide45.xml"/><Relationship Id="rId1" Type="http://schemas.openxmlformats.org/officeDocument/2006/relationships/slideLayout" Target="../slideLayouts/slideLayout9.xml"/><Relationship Id="rId6" Type="http://schemas.openxmlformats.org/officeDocument/2006/relationships/image" Target="../media/image185.png"/><Relationship Id="rId5" Type="http://schemas.microsoft.com/office/2007/relationships/hdphoto" Target="../media/hdphoto4.wdp"/><Relationship Id="rId4" Type="http://schemas.openxmlformats.org/officeDocument/2006/relationships/image" Target="../media/image147.png"/><Relationship Id="rId9" Type="http://schemas.openxmlformats.org/officeDocument/2006/relationships/image" Target="../media/image188.png"/></Relationships>
</file>

<file path=ppt/slides/_rels/slide55.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7.png"/><Relationship Id="rId3" Type="http://schemas.openxmlformats.org/officeDocument/2006/relationships/image" Target="../media/image189.png"/><Relationship Id="rId7" Type="http://schemas.openxmlformats.org/officeDocument/2006/relationships/image" Target="../media/image193.png"/><Relationship Id="rId12" Type="http://schemas.openxmlformats.org/officeDocument/2006/relationships/image" Target="../media/image196.png"/><Relationship Id="rId2" Type="http://schemas.openxmlformats.org/officeDocument/2006/relationships/notesSlide" Target="../notesSlides/notesSlide46.xml"/><Relationship Id="rId1" Type="http://schemas.openxmlformats.org/officeDocument/2006/relationships/slideLayout" Target="../slideLayouts/slideLayout9.xml"/><Relationship Id="rId6" Type="http://schemas.openxmlformats.org/officeDocument/2006/relationships/image" Target="../media/image192.png"/><Relationship Id="rId11" Type="http://schemas.microsoft.com/office/2007/relationships/hdphoto" Target="../media/hdphoto4.wdp"/><Relationship Id="rId5" Type="http://schemas.openxmlformats.org/officeDocument/2006/relationships/image" Target="../media/image191.png"/><Relationship Id="rId10" Type="http://schemas.openxmlformats.org/officeDocument/2006/relationships/image" Target="../media/image147.png"/><Relationship Id="rId4" Type="http://schemas.openxmlformats.org/officeDocument/2006/relationships/image" Target="../media/image190.png"/><Relationship Id="rId9" Type="http://schemas.openxmlformats.org/officeDocument/2006/relationships/image" Target="../media/image195.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zh-TW" altLang="en-US" dirty="0" smtClean="0"/>
              <a:t>智慧製造人才庫</a:t>
            </a:r>
            <a:r>
              <a:rPr lang="en-US" altLang="zh-TW" dirty="0" smtClean="0"/>
              <a:t>-</a:t>
            </a:r>
            <a:br>
              <a:rPr lang="en-US" altLang="zh-TW" dirty="0" smtClean="0"/>
            </a:br>
            <a:r>
              <a:rPr lang="zh-TW" altLang="en-US" sz="3200" dirty="0" smtClean="0"/>
              <a:t>菁英</a:t>
            </a:r>
            <a:r>
              <a:rPr lang="en-US" altLang="zh-TW" sz="3200" dirty="0" smtClean="0"/>
              <a:t>Level 3 </a:t>
            </a:r>
            <a:r>
              <a:rPr lang="zh-TW" altLang="en-US" sz="3200" dirty="0" smtClean="0"/>
              <a:t>人才</a:t>
            </a:r>
            <a:r>
              <a:rPr lang="en-US" altLang="zh-TW" sz="3200" dirty="0"/>
              <a:t>( </a:t>
            </a:r>
            <a:r>
              <a:rPr lang="zh-TW" altLang="en-US" sz="3200" dirty="0" smtClean="0"/>
              <a:t>智控中心</a:t>
            </a:r>
            <a:r>
              <a:rPr lang="en-US" altLang="zh-TW" sz="3200" dirty="0" smtClean="0"/>
              <a:t>)</a:t>
            </a:r>
            <a:endParaRPr lang="zh-TW" altLang="en-US" sz="3200" dirty="0"/>
          </a:p>
        </p:txBody>
      </p:sp>
      <p:sp>
        <p:nvSpPr>
          <p:cNvPr id="3" name="Date Placeholder 2"/>
          <p:cNvSpPr>
            <a:spLocks noGrp="1"/>
          </p:cNvSpPr>
          <p:nvPr>
            <p:ph type="dt" sz="half" idx="10"/>
          </p:nvPr>
        </p:nvSpPr>
        <p:spPr/>
        <p:txBody>
          <a:bodyPr/>
          <a:lstStyle/>
          <a:p>
            <a:r>
              <a:rPr lang="en-US" altLang="zh-TW" dirty="0" smtClean="0"/>
              <a:t>2025/12/24</a:t>
            </a:r>
            <a:endParaRPr lang="en-US" altLang="zh-TW" dirty="0"/>
          </a:p>
        </p:txBody>
      </p:sp>
      <p:sp>
        <p:nvSpPr>
          <p:cNvPr id="6" name="Text Placeholder 5"/>
          <p:cNvSpPr>
            <a:spLocks noGrp="1"/>
          </p:cNvSpPr>
          <p:nvPr>
            <p:ph type="body" sz="quarter" idx="12"/>
          </p:nvPr>
        </p:nvSpPr>
        <p:spPr/>
        <p:txBody>
          <a:bodyPr>
            <a:normAutofit/>
          </a:bodyPr>
          <a:lstStyle/>
          <a:p>
            <a:pPr lvl="0"/>
            <a:r>
              <a:rPr lang="zh-TW" altLang="en-US" dirty="0"/>
              <a:t>林怡辰</a:t>
            </a:r>
            <a:endParaRPr lang="en-US" altLang="zh-TW" dirty="0"/>
          </a:p>
          <a:p>
            <a:pPr lvl="0"/>
            <a:r>
              <a:rPr lang="zh-TW" altLang="en-US" dirty="0" smtClean="0"/>
              <a:t>智慧製造工程師</a:t>
            </a:r>
            <a:r>
              <a:rPr lang="en-US" altLang="zh-TW" dirty="0" smtClean="0"/>
              <a:t> </a:t>
            </a:r>
            <a:r>
              <a:rPr lang="en-US" altLang="zh-TW" dirty="0"/>
              <a:t>/ </a:t>
            </a:r>
            <a:r>
              <a:rPr lang="en-US" altLang="zh-TW" dirty="0" smtClean="0"/>
              <a:t>ML6A01</a:t>
            </a:r>
            <a:endParaRPr lang="en-US" altLang="zh-TW" dirty="0"/>
          </a:p>
        </p:txBody>
      </p:sp>
    </p:spTree>
    <p:extLst>
      <p:ext uri="{BB962C8B-B14F-4D97-AF65-F5344CB8AC3E}">
        <p14:creationId xmlns:p14="http://schemas.microsoft.com/office/powerpoint/2010/main" val="21115485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37661376"/>
              </p:ext>
            </p:extLst>
          </p:nvPr>
        </p:nvGraphicFramePr>
        <p:xfrm>
          <a:off x="586515" y="336207"/>
          <a:ext cx="7875877" cy="4780173"/>
        </p:xfrm>
        <a:graphic>
          <a:graphicData uri="http://schemas.openxmlformats.org/drawingml/2006/table">
            <a:tbl>
              <a:tblPr/>
              <a:tblGrid>
                <a:gridCol w="848772"/>
                <a:gridCol w="238516"/>
                <a:gridCol w="802922"/>
                <a:gridCol w="534852"/>
                <a:gridCol w="145503"/>
                <a:gridCol w="211283"/>
                <a:gridCol w="188482"/>
                <a:gridCol w="624356"/>
                <a:gridCol w="576417"/>
                <a:gridCol w="509418"/>
                <a:gridCol w="646627"/>
                <a:gridCol w="343483"/>
                <a:gridCol w="990109"/>
                <a:gridCol w="1215137"/>
              </a:tblGrid>
              <a:tr h="210864">
                <a:tc gridSpan="14">
                  <a:txBody>
                    <a:bodyPr/>
                    <a:lstStyle/>
                    <a:p>
                      <a:pPr algn="ctr" fontAlgn="ctr"/>
                      <a:r>
                        <a:rPr lang="en-US" altLang="zh-TW" sz="1000" b="1" i="0" u="none" strike="noStrike" dirty="0">
                          <a:solidFill>
                            <a:srgbClr val="FFFFFF"/>
                          </a:solidFill>
                          <a:latin typeface="微軟正黑體" pitchFamily="34" charset="-120"/>
                          <a:ea typeface="微軟正黑體" pitchFamily="34" charset="-120"/>
                        </a:rPr>
                        <a:t>(</a:t>
                      </a:r>
                      <a:r>
                        <a:rPr lang="zh-TW" altLang="en-US" sz="1000" b="1" i="0" u="none" strike="noStrike" dirty="0">
                          <a:solidFill>
                            <a:srgbClr val="FFFFFF"/>
                          </a:solidFill>
                          <a:latin typeface="微軟正黑體" pitchFamily="34" charset="-120"/>
                          <a:ea typeface="微軟正黑體" pitchFamily="34" charset="-120"/>
                        </a:rPr>
                        <a:t>一</a:t>
                      </a:r>
                      <a:r>
                        <a:rPr lang="en-US" altLang="zh-TW" sz="1000" b="1" i="0" u="none" strike="noStrike" dirty="0">
                          <a:solidFill>
                            <a:srgbClr val="FFFFFF"/>
                          </a:solidFill>
                          <a:latin typeface="微軟正黑體" pitchFamily="34" charset="-120"/>
                          <a:ea typeface="微軟正黑體" pitchFamily="34" charset="-120"/>
                        </a:rPr>
                        <a:t>)</a:t>
                      </a:r>
                      <a:r>
                        <a:rPr lang="zh-TW" altLang="en-US" sz="1000" b="1" i="0" u="none" strike="noStrike" dirty="0">
                          <a:solidFill>
                            <a:srgbClr val="FFFFFF"/>
                          </a:solidFill>
                          <a:latin typeface="微軟正黑體" pitchFamily="34" charset="-120"/>
                          <a:ea typeface="微軟正黑體" pitchFamily="34" charset="-120"/>
                        </a:rPr>
                        <a:t>提報人員基本資料</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297769">
                <a:tc>
                  <a:txBody>
                    <a:bodyPr/>
                    <a:lstStyle/>
                    <a:p>
                      <a:pPr algn="ctr" fontAlgn="ctr"/>
                      <a:r>
                        <a:rPr lang="zh-TW" altLang="en-US" sz="900" b="1" i="0" u="none" strike="noStrike" dirty="0" smtClean="0">
                          <a:latin typeface="微軟正黑體" pitchFamily="34" charset="-120"/>
                          <a:ea typeface="微軟正黑體" pitchFamily="34" charset="-120"/>
                        </a:rPr>
                        <a:t>申請類別</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gridSpan="2">
                  <a:txBody>
                    <a:bodyPr/>
                    <a:lstStyle/>
                    <a:p>
                      <a:pPr algn="ctr" fontAlgn="ctr"/>
                      <a:r>
                        <a:rPr lang="zh-TW" altLang="en-US" sz="900" b="1" i="0" u="none" strike="noStrike" dirty="0" smtClean="0">
                          <a:latin typeface="微軟正黑體" pitchFamily="34" charset="-120"/>
                          <a:ea typeface="微軟正黑體" pitchFamily="34" charset="-120"/>
                        </a:rPr>
                        <a:t>菁英人才</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pPr algn="l" fontAlgn="ctr"/>
                      <a:endParaRPr lang="zh-TW" altLang="en-US" sz="900" b="1" i="0" u="none" strike="noStrike" dirty="0">
                        <a:latin typeface="Gill Sans MT"/>
                      </a:endParaRP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gridSpan="4">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TW" altLang="en-US" sz="900" b="1" i="0" u="none" strike="noStrike" dirty="0" smtClean="0">
                          <a:latin typeface="微軟正黑體" pitchFamily="34" charset="-120"/>
                          <a:ea typeface="微軟正黑體" pitchFamily="34" charset="-120"/>
                        </a:rPr>
                        <a:t>　技術類別</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7">
                  <a:txBody>
                    <a:bodyPr/>
                    <a:lstStyle/>
                    <a:p>
                      <a:pPr algn="l" fontAlgn="ctr"/>
                      <a:r>
                        <a:rPr lang="zh-TW" altLang="en-US" sz="900" b="1" i="0" u="none" strike="noStrike" baseline="0" dirty="0" smtClean="0">
                          <a:latin typeface="微軟正黑體" pitchFamily="34" charset="-120"/>
                          <a:ea typeface="微軟正黑體" pitchFamily="34" charset="-120"/>
                        </a:rPr>
                        <a:t> </a:t>
                      </a:r>
                      <a:r>
                        <a:rPr lang="en-US" altLang="zh-TW" sz="900" b="1" i="0" u="none" strike="noStrike" dirty="0" smtClean="0">
                          <a:latin typeface="微軟正黑體" pitchFamily="34" charset="-120"/>
                          <a:ea typeface="微軟正黑體" pitchFamily="34" charset="-120"/>
                        </a:rPr>
                        <a:t>□ </a:t>
                      </a:r>
                      <a:r>
                        <a:rPr lang="zh-TW" altLang="en-US" sz="900" b="1" i="0" u="none" strike="noStrike" dirty="0" smtClean="0">
                          <a:latin typeface="微軟正黑體" pitchFamily="34" charset="-120"/>
                          <a:ea typeface="微軟正黑體" pitchFamily="34" charset="-120"/>
                        </a:rPr>
                        <a:t>自動化設備維運與開發  □ 數位化技術  □ 影像辨識</a:t>
                      </a:r>
                      <a:r>
                        <a:rPr lang="en-US" altLang="zh-TW" sz="900" b="1" i="0" u="none" strike="noStrike" dirty="0" smtClean="0">
                          <a:latin typeface="微軟正黑體" pitchFamily="34" charset="-120"/>
                          <a:ea typeface="微軟正黑體" pitchFamily="34" charset="-120"/>
                        </a:rPr>
                        <a:t>/</a:t>
                      </a:r>
                      <a:r>
                        <a:rPr lang="zh-TW" altLang="en-US" sz="900" b="1" i="0" u="none" strike="noStrike" dirty="0" smtClean="0">
                          <a:latin typeface="微軟正黑體" pitchFamily="34" charset="-120"/>
                          <a:ea typeface="微軟正黑體" pitchFamily="34" charset="-120"/>
                        </a:rPr>
                        <a:t>量測 </a:t>
                      </a:r>
                      <a:endParaRPr lang="en-US" altLang="zh-TW" sz="900" b="1" i="0" u="none" strike="noStrike" dirty="0" smtClean="0">
                        <a:latin typeface="微軟正黑體" pitchFamily="34" charset="-120"/>
                        <a:ea typeface="微軟正黑體" pitchFamily="34" charset="-120"/>
                      </a:endParaRPr>
                    </a:p>
                    <a:p>
                      <a:pPr algn="l" fontAlgn="ctr"/>
                      <a:r>
                        <a:rPr lang="zh-TW" altLang="en-US" sz="900" b="1" i="0" u="none" strike="noStrike" dirty="0" smtClean="0">
                          <a:latin typeface="微軟正黑體" pitchFamily="34" charset="-120"/>
                          <a:ea typeface="微軟正黑體" pitchFamily="34" charset="-120"/>
                        </a:rPr>
                        <a:t> □ 預測式生產  </a:t>
                      </a:r>
                      <a:r>
                        <a:rPr lang="en-US" altLang="zh-TW" sz="900" b="1" i="0" u="none" strike="noStrike" dirty="0" smtClean="0">
                          <a:latin typeface="微軟正黑體" pitchFamily="34" charset="-120"/>
                          <a:ea typeface="微軟正黑體" pitchFamily="34" charset="-120"/>
                        </a:rPr>
                        <a:t>□</a:t>
                      </a:r>
                      <a:r>
                        <a:rPr lang="zh-TW" altLang="en-US" sz="900" b="1" i="0" u="none" strike="noStrike" dirty="0" smtClean="0">
                          <a:latin typeface="微軟正黑體" pitchFamily="34" charset="-120"/>
                          <a:ea typeface="微軟正黑體" pitchFamily="34" charset="-120"/>
                        </a:rPr>
                        <a:t> 機台設備預警  ■ 智控中心  □ </a:t>
                      </a:r>
                      <a:r>
                        <a:rPr lang="en-US" altLang="zh-TW" sz="900" b="1" i="0" u="none" strike="noStrike" dirty="0" smtClean="0">
                          <a:latin typeface="微軟正黑體" pitchFamily="34" charset="-120"/>
                          <a:ea typeface="微軟正黑體" pitchFamily="34" charset="-120"/>
                        </a:rPr>
                        <a:t>FAE</a:t>
                      </a:r>
                      <a:r>
                        <a:rPr lang="zh-TW" altLang="en-US" sz="900" b="1" i="0" u="none" strike="noStrike" dirty="0" smtClean="0">
                          <a:latin typeface="微軟正黑體" pitchFamily="34" charset="-120"/>
                          <a:ea typeface="微軟正黑體" pitchFamily="34" charset="-120"/>
                        </a:rPr>
                        <a:t>場域應用 □環境永續發展</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pPr algn="ctr" fontAlgn="ctr"/>
                      <a:endParaRPr lang="zh-TW" altLang="en-US" sz="900" b="1" i="0" u="none" strike="noStrike" dirty="0">
                        <a:latin typeface="微軟正黑體" pitchFamily="34" charset="-120"/>
                        <a:ea typeface="微軟正黑體" pitchFamily="34" charset="-12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hMerge="1">
                  <a:txBody>
                    <a:bodyPr/>
                    <a:lstStyle/>
                    <a:p>
                      <a:endParaRPr lang="zh-TW" altLang="en-US"/>
                    </a:p>
                  </a:txBody>
                  <a:tcPr/>
                </a:tc>
                <a:tc hMerge="1">
                  <a:txBody>
                    <a:bodyPr/>
                    <a:lstStyle/>
                    <a:p>
                      <a:pPr algn="l" fontAlgn="ctr"/>
                      <a:endParaRPr lang="zh-TW" altLang="en-US" sz="900" b="1" i="0" u="none" strike="noStrike" dirty="0">
                        <a:latin typeface="微軟正黑體" pitchFamily="34" charset="-120"/>
                        <a:ea typeface="微軟正黑體" pitchFamily="34" charset="-12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r>
              <a:tr h="297769">
                <a:tc>
                  <a:txBody>
                    <a:bodyPr/>
                    <a:lstStyle/>
                    <a:p>
                      <a:pPr algn="ctr" fontAlgn="ctr"/>
                      <a:r>
                        <a:rPr lang="zh-TW" altLang="en-US" sz="900" b="1" i="0" u="none" strike="noStrike" dirty="0">
                          <a:latin typeface="微軟正黑體" pitchFamily="34" charset="-120"/>
                          <a:ea typeface="微軟正黑體" pitchFamily="34" charset="-120"/>
                        </a:rPr>
                        <a:t>部門</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2">
                  <a:txBody>
                    <a:bodyPr/>
                    <a:lstStyle/>
                    <a:p>
                      <a:pPr algn="ctr" fontAlgn="ctr"/>
                      <a:r>
                        <a:rPr lang="zh-TW" altLang="en-US" sz="900" b="1" i="0" u="none" strike="noStrike" dirty="0">
                          <a:latin typeface="微軟正黑體" pitchFamily="34" charset="-120"/>
                          <a:ea typeface="微軟正黑體" pitchFamily="34" charset="-120"/>
                        </a:rPr>
                        <a:t>　</a:t>
                      </a:r>
                      <a:r>
                        <a:rPr lang="en-US" altLang="zh-TW" sz="900" b="1" i="0" u="none" strike="noStrike" dirty="0" smtClean="0">
                          <a:latin typeface="微軟正黑體" pitchFamily="34" charset="-120"/>
                          <a:ea typeface="微軟正黑體" pitchFamily="34" charset="-120"/>
                        </a:rPr>
                        <a:t>ML6A01</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800" b="1" i="0" u="none" strike="noStrike" dirty="0">
                        <a:latin typeface="微軟正黑體"/>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TW" altLang="en-US" sz="900" b="1" i="0" u="none" strike="noStrike" dirty="0">
                          <a:latin typeface="微軟正黑體" pitchFamily="34" charset="-120"/>
                          <a:ea typeface="微軟正黑體" pitchFamily="34" charset="-120"/>
                        </a:rPr>
                        <a:t>姓名</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4">
                  <a:txBody>
                    <a:bodyPr/>
                    <a:lstStyle/>
                    <a:p>
                      <a:pPr algn="ctr" fontAlgn="ctr"/>
                      <a:r>
                        <a:rPr lang="zh-TW" altLang="en-US" sz="900" b="1" i="0" u="none" strike="noStrike" dirty="0" smtClean="0">
                          <a:latin typeface="微軟正黑體" pitchFamily="34" charset="-120"/>
                          <a:ea typeface="微軟正黑體" pitchFamily="34" charset="-120"/>
                        </a:rPr>
                        <a:t>林怡辰</a:t>
                      </a:r>
                      <a:r>
                        <a:rPr lang="zh-TW" altLang="en-US" sz="900" b="1" i="0" u="none" strike="noStrike" dirty="0">
                          <a:latin typeface="微軟正黑體" pitchFamily="34" charset="-120"/>
                          <a:ea typeface="微軟正黑體" pitchFamily="34" charset="-120"/>
                        </a:rPr>
                        <a:t>　</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800" b="1" i="0" u="none" strike="noStrike" dirty="0">
                        <a:latin typeface="微軟正黑體"/>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TW" altLang="en-US"/>
                    </a:p>
                  </a:txBody>
                  <a:tcPr/>
                </a:tc>
                <a:tc hMerge="1">
                  <a:txBody>
                    <a:bodyPr/>
                    <a:lstStyle/>
                    <a:p>
                      <a:endParaRPr lang="zh-TW" altLang="en-US"/>
                    </a:p>
                  </a:txBody>
                  <a:tcPr/>
                </a:tc>
                <a:tc>
                  <a:txBody>
                    <a:bodyPr/>
                    <a:lstStyle/>
                    <a:p>
                      <a:pPr algn="ctr" fontAlgn="ctr"/>
                      <a:r>
                        <a:rPr lang="zh-TW" altLang="en-US" sz="900" b="1" i="0" u="none" strike="noStrike" dirty="0">
                          <a:latin typeface="微軟正黑體" pitchFamily="34" charset="-120"/>
                          <a:ea typeface="微軟正黑體" pitchFamily="34" charset="-120"/>
                        </a:rPr>
                        <a:t>工號</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2">
                  <a:txBody>
                    <a:bodyPr/>
                    <a:lstStyle/>
                    <a:p>
                      <a:pPr algn="ctr" fontAlgn="ctr"/>
                      <a:r>
                        <a:rPr lang="en-US" altLang="zh-TW" sz="900" b="1" i="0" u="none" strike="noStrike" dirty="0" smtClean="0">
                          <a:latin typeface="微軟正黑體" pitchFamily="34" charset="-120"/>
                          <a:ea typeface="微軟正黑體" pitchFamily="34" charset="-120"/>
                        </a:rPr>
                        <a:t>2209056</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gridSpan="2">
                  <a:txBody>
                    <a:bodyPr/>
                    <a:lstStyle/>
                    <a:p>
                      <a:pPr algn="ctr" fontAlgn="ctr"/>
                      <a:r>
                        <a:rPr lang="zh-TW" altLang="en-US" sz="900" b="1" i="0" u="none" strike="noStrike" dirty="0">
                          <a:latin typeface="微軟正黑體" pitchFamily="34" charset="-120"/>
                          <a:ea typeface="微軟正黑體" pitchFamily="34" charset="-120"/>
                        </a:rPr>
                        <a:t>職務</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a:txBody>
                    <a:bodyPr/>
                    <a:lstStyle/>
                    <a:p>
                      <a:pPr algn="ctr" fontAlgn="ctr"/>
                      <a:r>
                        <a:rPr lang="zh-TW" altLang="en-US" sz="900" b="1" i="0" u="none" strike="noStrike" dirty="0">
                          <a:latin typeface="微軟正黑體" pitchFamily="34" charset="-120"/>
                          <a:ea typeface="微軟正黑體" pitchFamily="34" charset="-120"/>
                        </a:rPr>
                        <a:t>　</a:t>
                      </a:r>
                      <a:r>
                        <a:rPr lang="zh-TW" altLang="en-US" sz="900" b="1" i="0" u="none" strike="noStrike" dirty="0" smtClean="0">
                          <a:latin typeface="微軟正黑體" pitchFamily="34" charset="-120"/>
                          <a:ea typeface="微軟正黑體" pitchFamily="34" charset="-120"/>
                        </a:rPr>
                        <a:t>智慧製造工程師</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r>
              <a:tr h="297769">
                <a:tc>
                  <a:txBody>
                    <a:bodyPr/>
                    <a:lstStyle/>
                    <a:p>
                      <a:pPr algn="ctr" fontAlgn="ctr"/>
                      <a:r>
                        <a:rPr lang="zh-TW" altLang="en-US" sz="900" b="1" i="0" u="none" strike="noStrike" dirty="0" smtClean="0">
                          <a:latin typeface="微軟正黑體" pitchFamily="34" charset="-120"/>
                          <a:ea typeface="微軟正黑體" pitchFamily="34" charset="-120"/>
                        </a:rPr>
                        <a:t>技術年資</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2">
                  <a:txBody>
                    <a:bodyPr/>
                    <a:lstStyle/>
                    <a:p>
                      <a:pPr algn="ctr" fontAlgn="ctr"/>
                      <a:r>
                        <a:rPr lang="en-US" sz="900" b="1" i="0" u="none" strike="noStrike" dirty="0">
                          <a:latin typeface="微軟正黑體" pitchFamily="34" charset="-120"/>
                          <a:ea typeface="微軟正黑體" pitchFamily="34" charset="-120"/>
                        </a:rPr>
                        <a:t>AUO</a:t>
                      </a:r>
                      <a:r>
                        <a:rPr lang="zh-TW" altLang="en-US" sz="900" b="1" i="0" u="none" strike="noStrike" dirty="0" smtClean="0">
                          <a:latin typeface="微軟正黑體" pitchFamily="34" charset="-120"/>
                          <a:ea typeface="微軟正黑體" pitchFamily="34" charset="-120"/>
                        </a:rPr>
                        <a:t>年資</a:t>
                      </a:r>
                      <a:r>
                        <a:rPr lang="en-US" altLang="zh-TW" sz="900" b="1" i="0" u="none" strike="noStrike" dirty="0" smtClean="0">
                          <a:latin typeface="微軟正黑體" pitchFamily="34" charset="-120"/>
                          <a:ea typeface="微軟正黑體" pitchFamily="34" charset="-120"/>
                        </a:rPr>
                        <a:t>(</a:t>
                      </a:r>
                      <a:r>
                        <a:rPr lang="en-US" sz="900" b="1" i="0" u="none" strike="noStrike" dirty="0">
                          <a:latin typeface="微軟正黑體" pitchFamily="34" charset="-120"/>
                          <a:ea typeface="微軟正黑體" pitchFamily="34" charset="-120"/>
                        </a:rPr>
                        <a:t>A)</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700" b="0" i="0" u="none" strike="noStrike">
                        <a:latin typeface="Gill Sans MT"/>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n-US" altLang="zh-TW" sz="900" b="1" i="0" u="none" strike="noStrike" kern="1200" dirty="0" smtClean="0">
                          <a:solidFill>
                            <a:schemeClr val="tx1"/>
                          </a:solidFill>
                          <a:latin typeface="微軟正黑體" pitchFamily="34" charset="-120"/>
                          <a:ea typeface="微軟正黑體" pitchFamily="34" charset="-120"/>
                          <a:cs typeface="+mn-cs"/>
                        </a:rPr>
                        <a:t>3.3</a:t>
                      </a:r>
                      <a:endParaRPr lang="zh-TW" altLang="en-US" sz="900" b="1" i="0" u="none" strike="noStrike" kern="1200" dirty="0">
                        <a:solidFill>
                          <a:schemeClr val="tx1"/>
                        </a:solidFill>
                        <a:latin typeface="微軟正黑體" pitchFamily="34" charset="-120"/>
                        <a:ea typeface="微軟正黑體" pitchFamily="34" charset="-120"/>
                        <a:cs typeface="+mn-cs"/>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3">
                  <a:txBody>
                    <a:bodyPr/>
                    <a:lstStyle/>
                    <a:p>
                      <a:pPr algn="ctr" fontAlgn="ctr"/>
                      <a:r>
                        <a:rPr lang="zh-TW" altLang="en-US" sz="900" b="1" i="0" u="none" strike="noStrike" dirty="0">
                          <a:latin typeface="微軟正黑體" pitchFamily="34" charset="-120"/>
                          <a:ea typeface="微軟正黑體" pitchFamily="34" charset="-120"/>
                        </a:rPr>
                        <a:t>職前專業</a:t>
                      </a:r>
                      <a:r>
                        <a:rPr lang="zh-TW" altLang="en-US" sz="900" b="1" i="0" u="none" strike="noStrike" dirty="0" smtClean="0">
                          <a:latin typeface="微軟正黑體" pitchFamily="34" charset="-120"/>
                          <a:ea typeface="微軟正黑體" pitchFamily="34" charset="-120"/>
                        </a:rPr>
                        <a:t>年資</a:t>
                      </a:r>
                      <a:r>
                        <a:rPr lang="en-US" altLang="zh-TW" sz="900" b="1" i="0" u="none" strike="noStrike" dirty="0" smtClean="0">
                          <a:latin typeface="微軟正黑體" pitchFamily="34" charset="-120"/>
                          <a:ea typeface="微軟正黑體" pitchFamily="34" charset="-120"/>
                        </a:rPr>
                        <a:t>(</a:t>
                      </a:r>
                      <a:r>
                        <a:rPr lang="en-US" altLang="zh-TW" sz="900" b="1" i="0" u="none" strike="noStrike" dirty="0">
                          <a:latin typeface="微軟正黑體" pitchFamily="34" charset="-120"/>
                          <a:ea typeface="微軟正黑體" pitchFamily="34" charset="-120"/>
                        </a:rPr>
                        <a:t>B)</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2">
                  <a:txBody>
                    <a:bodyPr/>
                    <a:lstStyle/>
                    <a:p>
                      <a:pPr algn="ctr" fontAlgn="ctr"/>
                      <a:r>
                        <a:rPr lang="en-US" altLang="zh-TW" sz="900" b="0" i="0" u="none" strike="noStrike" dirty="0" smtClean="0">
                          <a:solidFill>
                            <a:srgbClr val="C0C0C0"/>
                          </a:solidFill>
                          <a:latin typeface="微軟正黑體" pitchFamily="34" charset="-120"/>
                          <a:ea typeface="微軟正黑體" pitchFamily="34" charset="-120"/>
                        </a:rPr>
                        <a:t>0</a:t>
                      </a:r>
                      <a:r>
                        <a:rPr lang="zh-TW" altLang="en-US" sz="900" b="0" i="0" u="none" strike="noStrike" dirty="0">
                          <a:solidFill>
                            <a:srgbClr val="C0C0C0"/>
                          </a:solidFill>
                          <a:latin typeface="微軟正黑體" pitchFamily="34" charset="-120"/>
                          <a:ea typeface="微軟正黑體" pitchFamily="34" charset="-120"/>
                        </a:rPr>
                        <a:t>　</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gridSpan="2">
                  <a:txBody>
                    <a:bodyPr/>
                    <a:lstStyle/>
                    <a:p>
                      <a:pPr algn="ctr" fontAlgn="ctr"/>
                      <a:r>
                        <a:rPr lang="zh-TW" altLang="en-US" sz="900" b="1" i="0" u="none" strike="noStrike" dirty="0">
                          <a:latin typeface="微軟正黑體" pitchFamily="34" charset="-120"/>
                          <a:ea typeface="微軟正黑體" pitchFamily="34" charset="-120"/>
                        </a:rPr>
                        <a:t>總專業年資</a:t>
                      </a:r>
                      <a:r>
                        <a:rPr lang="en-US" altLang="zh-TW" sz="900" b="1" i="0" u="none" strike="noStrike" dirty="0">
                          <a:latin typeface="微軟正黑體" pitchFamily="34" charset="-120"/>
                          <a:ea typeface="微軟正黑體" pitchFamily="34" charset="-120"/>
                        </a:rPr>
                        <a:t>(</a:t>
                      </a:r>
                      <a:r>
                        <a:rPr lang="en-US" sz="900" b="1" i="0" u="none" strike="noStrike" dirty="0">
                          <a:latin typeface="微軟正黑體" pitchFamily="34" charset="-120"/>
                          <a:ea typeface="微軟正黑體" pitchFamily="34" charset="-120"/>
                        </a:rPr>
                        <a:t>A)+(B)</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a:txBody>
                    <a:bodyPr/>
                    <a:lstStyle/>
                    <a:p>
                      <a:pPr algn="ctr" fontAlgn="ctr"/>
                      <a:r>
                        <a:rPr lang="en-US" altLang="zh-TW" sz="900" b="1" i="0" u="none" strike="noStrike" kern="1200" dirty="0" smtClean="0">
                          <a:solidFill>
                            <a:schemeClr val="tx1"/>
                          </a:solidFill>
                          <a:latin typeface="微軟正黑體" pitchFamily="34" charset="-120"/>
                          <a:ea typeface="微軟正黑體" pitchFamily="34" charset="-120"/>
                          <a:cs typeface="+mn-cs"/>
                        </a:rPr>
                        <a:t>3.3</a:t>
                      </a:r>
                      <a:endParaRPr lang="zh-TW" altLang="en-US" sz="900" b="0"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r>
              <a:tr h="190457">
                <a:tc gridSpan="14">
                  <a:txBody>
                    <a:bodyPr/>
                    <a:lstStyle/>
                    <a:p>
                      <a:pPr algn="ctr" fontAlgn="ctr"/>
                      <a:r>
                        <a:rPr lang="en-US" altLang="zh-TW" sz="1000" b="1" i="0" u="none" strike="noStrike" dirty="0">
                          <a:solidFill>
                            <a:srgbClr val="FFFFFF"/>
                          </a:solidFill>
                          <a:latin typeface="微軟正黑體" pitchFamily="34" charset="-120"/>
                          <a:ea typeface="微軟正黑體" pitchFamily="34" charset="-120"/>
                        </a:rPr>
                        <a:t>(</a:t>
                      </a:r>
                      <a:r>
                        <a:rPr lang="zh-TW" altLang="en-US" sz="1000" b="1" i="0" u="none" strike="noStrike" dirty="0">
                          <a:solidFill>
                            <a:srgbClr val="FFFFFF"/>
                          </a:solidFill>
                          <a:latin typeface="微軟正黑體" pitchFamily="34" charset="-120"/>
                          <a:ea typeface="微軟正黑體" pitchFamily="34" charset="-120"/>
                        </a:rPr>
                        <a:t>二</a:t>
                      </a:r>
                      <a:r>
                        <a:rPr lang="en-US" altLang="zh-TW" sz="1000" b="1" i="0" u="none" strike="noStrike" dirty="0">
                          <a:solidFill>
                            <a:srgbClr val="FFFFFF"/>
                          </a:solidFill>
                          <a:latin typeface="微軟正黑體" pitchFamily="34" charset="-120"/>
                          <a:ea typeface="微軟正黑體" pitchFamily="34" charset="-120"/>
                        </a:rPr>
                        <a:t>)</a:t>
                      </a:r>
                      <a:r>
                        <a:rPr lang="zh-TW" altLang="en-US" sz="1000" b="1" i="0" u="none" strike="noStrike" dirty="0">
                          <a:solidFill>
                            <a:srgbClr val="FFFFFF"/>
                          </a:solidFill>
                          <a:latin typeface="微軟正黑體" pitchFamily="34" charset="-120"/>
                          <a:ea typeface="微軟正黑體" pitchFamily="34" charset="-120"/>
                        </a:rPr>
                        <a:t>推薦原因說明</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1008159">
                <a:tc rowSpan="8"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TW" altLang="en-US" sz="900" b="1" i="0" u="none" strike="noStrike" cap="none" normalizeH="0" baseline="0" dirty="0" smtClean="0">
                          <a:ln>
                            <a:noFill/>
                          </a:ln>
                          <a:solidFill>
                            <a:srgbClr val="000000"/>
                          </a:solidFill>
                          <a:effectLst/>
                          <a:latin typeface="微軟正黑體" pitchFamily="34" charset="-120"/>
                          <a:ea typeface="微軟正黑體" pitchFamily="34" charset="-120"/>
                        </a:rPr>
                        <a:t>具體貢獻</a:t>
                      </a:r>
                      <a:endParaRPr kumimoji="1" lang="en-US" altLang="zh-TW" sz="900" b="1" i="0" u="none" strike="noStrike" cap="none" normalizeH="0" baseline="0" dirty="0" smtClean="0">
                        <a:ln>
                          <a:noFill/>
                        </a:ln>
                        <a:solidFill>
                          <a:srgbClr val="000000"/>
                        </a:solidFill>
                        <a:effectLst/>
                        <a:latin typeface="微軟正黑體" pitchFamily="34" charset="-120"/>
                        <a:ea typeface="微軟正黑體" pitchFamily="34" charset="-12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TW" altLang="en-US" sz="900" b="1" i="0" u="none" strike="noStrike" cap="none" normalizeH="0" baseline="0" dirty="0" smtClean="0">
                          <a:ln>
                            <a:noFill/>
                          </a:ln>
                          <a:solidFill>
                            <a:srgbClr val="000000"/>
                          </a:solidFill>
                          <a:effectLst/>
                          <a:latin typeface="微軟正黑體" pitchFamily="34" charset="-120"/>
                          <a:ea typeface="微軟正黑體" pitchFamily="34" charset="-120"/>
                        </a:rPr>
                        <a:t>與</a:t>
                      </a:r>
                      <a:endParaRPr kumimoji="1" lang="en-US" altLang="zh-TW" sz="900" b="1" i="0" u="none" strike="noStrike" cap="none" normalizeH="0" baseline="0" dirty="0" smtClean="0">
                        <a:ln>
                          <a:noFill/>
                        </a:ln>
                        <a:solidFill>
                          <a:srgbClr val="000000"/>
                        </a:solidFill>
                        <a:effectLst/>
                        <a:latin typeface="微軟正黑體" pitchFamily="34" charset="-120"/>
                        <a:ea typeface="微軟正黑體" pitchFamily="34" charset="-120"/>
                      </a:endParaRPr>
                    </a:p>
                    <a:p>
                      <a:pPr marL="0" marR="0" lvl="0" indent="0" algn="ctr" defTabSz="914400" rtl="0" eaLnBrk="1" fontAlgn="base" latinLnBrk="0" hangingPunct="1">
                        <a:lnSpc>
                          <a:spcPct val="100000"/>
                        </a:lnSpc>
                        <a:spcBef>
                          <a:spcPct val="20000"/>
                        </a:spcBef>
                        <a:spcAft>
                          <a:spcPct val="0"/>
                        </a:spcAft>
                        <a:buClrTx/>
                        <a:buSzTx/>
                        <a:buFontTx/>
                        <a:buNone/>
                        <a:tabLst/>
                      </a:pPr>
                      <a:r>
                        <a:rPr lang="zh-TW" altLang="en-US" sz="900" b="1" i="0" u="none" strike="noStrike" dirty="0" smtClean="0">
                          <a:latin typeface="微軟正黑體" pitchFamily="34" charset="-120"/>
                          <a:ea typeface="微軟正黑體" pitchFamily="34" charset="-120"/>
                        </a:rPr>
                        <a:t>事蹟說明</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D8D8D8"/>
                    </a:solidFill>
                  </a:tcPr>
                </a:tc>
                <a:tc rowSpan="8" hMerge="1">
                  <a:txBody>
                    <a:bodyPr/>
                    <a:lstStyle/>
                    <a:p>
                      <a:endParaRPr lang="zh-TW" altLang="en-US"/>
                    </a:p>
                  </a:txBody>
                  <a:tcPr/>
                </a:tc>
                <a:tc gridSpan="12">
                  <a:txBody>
                    <a:bodyPr/>
                    <a:lstStyle/>
                    <a:p>
                      <a:pPr marL="228600" indent="-228600" algn="l" fontAlgn="ctr">
                        <a:buAutoNum type="arabicPeriod"/>
                      </a:pPr>
                      <a:r>
                        <a:rPr lang="en-US" altLang="zh-TW" sz="800" b="0" i="0" u="none" strike="noStrike" dirty="0" smtClean="0">
                          <a:effectLst/>
                          <a:latin typeface="微軟正黑體" pitchFamily="34" charset="-120"/>
                          <a:ea typeface="微軟正黑體" pitchFamily="34" charset="-120"/>
                        </a:rPr>
                        <a:t>2023</a:t>
                      </a:r>
                      <a:r>
                        <a:rPr lang="zh-TW" altLang="en-US" sz="800" b="0" i="0" u="none" strike="noStrike" dirty="0" smtClean="0">
                          <a:effectLst/>
                          <a:latin typeface="微軟正黑體" pitchFamily="34" charset="-120"/>
                          <a:ea typeface="微軟正黑體" pitchFamily="34" charset="-120"/>
                        </a:rPr>
                        <a:t>－</a:t>
                      </a:r>
                      <a:r>
                        <a:rPr lang="en-US" altLang="zh-TW" sz="800" b="0" i="0" u="none" strike="noStrike" dirty="0" smtClean="0">
                          <a:effectLst/>
                          <a:latin typeface="微軟正黑體" pitchFamily="34" charset="-120"/>
                          <a:ea typeface="微軟正黑體" pitchFamily="34" charset="-120"/>
                        </a:rPr>
                        <a:t>2024 CHIP ID 2D Code </a:t>
                      </a:r>
                      <a:r>
                        <a:rPr lang="zh-TW" altLang="en-US" sz="800" b="0" i="0" u="none" strike="noStrike" dirty="0" smtClean="0">
                          <a:effectLst/>
                          <a:latin typeface="微軟正黑體" pitchFamily="34" charset="-120"/>
                          <a:ea typeface="微軟正黑體" pitchFamily="34" charset="-120"/>
                        </a:rPr>
                        <a:t>影像辨識：開發以</a:t>
                      </a:r>
                      <a:r>
                        <a:rPr lang="en-US" altLang="zh-TW" sz="800" b="0" i="0" u="none" strike="noStrike" dirty="0" smtClean="0">
                          <a:effectLst/>
                          <a:latin typeface="微軟正黑體" pitchFamily="34" charset="-120"/>
                          <a:ea typeface="微軟正黑體" pitchFamily="34" charset="-120"/>
                        </a:rPr>
                        <a:t>YOLOv5</a:t>
                      </a:r>
                      <a:r>
                        <a:rPr lang="zh-TW" altLang="en-US" sz="800" b="0" i="0" u="none" strike="noStrike" dirty="0" smtClean="0">
                          <a:effectLst/>
                          <a:latin typeface="微軟正黑體" pitchFamily="34" charset="-120"/>
                          <a:ea typeface="微軟正黑體" pitchFamily="34" charset="-120"/>
                        </a:rPr>
                        <a:t>為基礎的影像辨識模型，結合影像處理與邊緣偵測技術精準取得物件座標偏移量。利用</a:t>
                      </a:r>
                      <a:r>
                        <a:rPr lang="en-US" altLang="zh-TW" sz="800" b="0" i="0" u="none" strike="noStrike" dirty="0" smtClean="0">
                          <a:effectLst/>
                          <a:latin typeface="微軟正黑體" pitchFamily="34" charset="-120"/>
                          <a:ea typeface="微軟正黑體" pitchFamily="34" charset="-120"/>
                        </a:rPr>
                        <a:t>AI</a:t>
                      </a:r>
                      <a:r>
                        <a:rPr lang="zh-TW" altLang="en-US" sz="800" b="0" i="0" u="none" strike="noStrike" dirty="0" smtClean="0">
                          <a:effectLst/>
                          <a:latin typeface="微軟正黑體" pitchFamily="34" charset="-120"/>
                          <a:ea typeface="微軟正黑體" pitchFamily="34" charset="-120"/>
                        </a:rPr>
                        <a:t>影像技術顯著提高檢出率，並建構具備</a:t>
                      </a:r>
                      <a:r>
                        <a:rPr lang="en-US" altLang="zh-TW" sz="800" b="0" i="0" u="none" strike="noStrike" dirty="0" smtClean="0">
                          <a:effectLst/>
                          <a:latin typeface="微軟正黑體" pitchFamily="34" charset="-120"/>
                          <a:ea typeface="微軟正黑體" pitchFamily="34" charset="-120"/>
                        </a:rPr>
                        <a:t>UI</a:t>
                      </a:r>
                      <a:r>
                        <a:rPr lang="zh-TW" altLang="en-US" sz="800" b="0" i="0" u="none" strike="noStrike" dirty="0" smtClean="0">
                          <a:effectLst/>
                          <a:latin typeface="微軟正黑體" pitchFamily="34" charset="-120"/>
                          <a:ea typeface="微軟正黑體" pitchFamily="34" charset="-120"/>
                        </a:rPr>
                        <a:t>介面、資料庫、圖表輸出功能的全端系統；機台</a:t>
                      </a:r>
                      <a:r>
                        <a:rPr lang="en-US" altLang="zh-TW" sz="800" b="0" i="0" u="none" strike="noStrike" dirty="0" smtClean="0">
                          <a:effectLst/>
                          <a:latin typeface="微軟正黑體" pitchFamily="34" charset="-120"/>
                          <a:ea typeface="微軟正黑體" pitchFamily="34" charset="-120"/>
                        </a:rPr>
                        <a:t>PPC </a:t>
                      </a:r>
                      <a:r>
                        <a:rPr lang="zh-TW" altLang="en-US" sz="800" b="0" i="0" u="none" strike="noStrike" dirty="0" smtClean="0">
                          <a:effectLst/>
                          <a:latin typeface="微軟正黑體" pitchFamily="34" charset="-120"/>
                          <a:ea typeface="微軟正黑體" pitchFamily="34" charset="-120"/>
                        </a:rPr>
                        <a:t>預警系：運用數據分析與解碼技術解析 </a:t>
                      </a:r>
                      <a:r>
                        <a:rPr lang="en-US" altLang="zh-TW" sz="800" b="0" i="0" u="none" strike="noStrike" dirty="0" smtClean="0">
                          <a:effectLst/>
                          <a:latin typeface="微軟正黑體" pitchFamily="34" charset="-120"/>
                          <a:ea typeface="微軟正黑體" pitchFamily="34" charset="-120"/>
                        </a:rPr>
                        <a:t>Canon </a:t>
                      </a:r>
                      <a:r>
                        <a:rPr lang="zh-TW" altLang="en-US" sz="800" b="0" i="0" u="none" strike="noStrike" dirty="0" smtClean="0">
                          <a:effectLst/>
                          <a:latin typeface="微軟正黑體" pitchFamily="34" charset="-120"/>
                          <a:ea typeface="微軟正黑體" pitchFamily="34" charset="-120"/>
                        </a:rPr>
                        <a:t>機台 </a:t>
                      </a:r>
                      <a:r>
                        <a:rPr lang="en-US" altLang="zh-TW" sz="800" b="0" i="0" u="none" strike="noStrike" dirty="0" smtClean="0">
                          <a:effectLst/>
                          <a:latin typeface="微軟正黑體" pitchFamily="34" charset="-120"/>
                          <a:ea typeface="微軟正黑體" pitchFamily="34" charset="-120"/>
                        </a:rPr>
                        <a:t>Recipe</a:t>
                      </a:r>
                      <a:r>
                        <a:rPr lang="zh-TW" altLang="en-US" sz="800" b="0" i="0" u="none" strike="noStrike" dirty="0" smtClean="0">
                          <a:effectLst/>
                          <a:latin typeface="微軟正黑體" pitchFamily="34" charset="-120"/>
                          <a:ea typeface="微軟正黑體" pitchFamily="34" charset="-120"/>
                        </a:rPr>
                        <a:t>，計算數據點位與 </a:t>
                      </a:r>
                      <a:r>
                        <a:rPr lang="en-US" altLang="zh-TW" sz="800" b="0" i="0" u="none" strike="noStrike" dirty="0" smtClean="0">
                          <a:effectLst/>
                          <a:latin typeface="微軟正黑體" pitchFamily="34" charset="-120"/>
                          <a:ea typeface="微軟正黑體" pitchFamily="34" charset="-120"/>
                        </a:rPr>
                        <a:t>Particle Rank </a:t>
                      </a:r>
                      <a:r>
                        <a:rPr lang="zh-TW" altLang="en-US" sz="800" b="0" i="0" u="none" strike="noStrike" dirty="0" smtClean="0">
                          <a:effectLst/>
                          <a:latin typeface="微軟正黑體" pitchFamily="34" charset="-120"/>
                          <a:ea typeface="微軟正黑體" pitchFamily="34" charset="-120"/>
                        </a:rPr>
                        <a:t>權重，生成可視化 </a:t>
                      </a:r>
                      <a:r>
                        <a:rPr lang="en-US" altLang="zh-TW" sz="800" b="0" i="0" u="none" strike="noStrike" dirty="0" smtClean="0">
                          <a:effectLst/>
                          <a:latin typeface="微軟正黑體" pitchFamily="34" charset="-120"/>
                          <a:ea typeface="微軟正黑體" pitchFamily="34" charset="-120"/>
                        </a:rPr>
                        <a:t>Particle Map</a:t>
                      </a:r>
                      <a:r>
                        <a:rPr lang="zh-TW" altLang="en-US" sz="800" b="0" i="0" u="none" strike="noStrike" dirty="0" smtClean="0">
                          <a:effectLst/>
                          <a:latin typeface="微軟正黑體" pitchFamily="34" charset="-120"/>
                          <a:ea typeface="微軟正黑體" pitchFamily="34" charset="-120"/>
                        </a:rPr>
                        <a:t>，用於監控與預警，並結合 </a:t>
                      </a:r>
                      <a:r>
                        <a:rPr lang="en-US" altLang="zh-TW" sz="800" b="0" i="0" u="none" strike="noStrike" dirty="0" smtClean="0">
                          <a:effectLst/>
                          <a:latin typeface="微軟正黑體" pitchFamily="34" charset="-120"/>
                          <a:ea typeface="微軟正黑體" pitchFamily="34" charset="-120"/>
                        </a:rPr>
                        <a:t>UI </a:t>
                      </a:r>
                      <a:r>
                        <a:rPr lang="zh-TW" altLang="en-US" sz="800" b="0" i="0" u="none" strike="noStrike" dirty="0" smtClean="0">
                          <a:effectLst/>
                          <a:latin typeface="微軟正黑體" pitchFamily="34" charset="-120"/>
                          <a:ea typeface="微軟正黑體" pitchFamily="34" charset="-120"/>
                        </a:rPr>
                        <a:t>介面與資料庫實現系統整合；</a:t>
                      </a:r>
                      <a:r>
                        <a:rPr lang="en-US" altLang="zh-TW" sz="800" b="0" i="0" u="none" strike="noStrike" dirty="0" smtClean="0">
                          <a:effectLst/>
                          <a:latin typeface="微軟正黑體" pitchFamily="34" charset="-120"/>
                          <a:ea typeface="微軟正黑體" pitchFamily="34" charset="-120"/>
                        </a:rPr>
                        <a:t>MQC </a:t>
                      </a:r>
                      <a:r>
                        <a:rPr lang="zh-TW" altLang="en-US" sz="800" b="0" i="0" u="none" strike="noStrike" dirty="0" smtClean="0">
                          <a:effectLst/>
                          <a:latin typeface="微軟正黑體" pitchFamily="34" charset="-120"/>
                          <a:ea typeface="微軟正黑體" pitchFamily="34" charset="-120"/>
                        </a:rPr>
                        <a:t>自動套</a:t>
                      </a:r>
                      <a:r>
                        <a:rPr lang="en-US" altLang="zh-TW" sz="800" b="0" i="0" u="none" strike="noStrike" dirty="0" smtClean="0">
                          <a:effectLst/>
                          <a:latin typeface="微軟正黑體" pitchFamily="34" charset="-120"/>
                          <a:ea typeface="微軟正黑體" pitchFamily="34" charset="-120"/>
                        </a:rPr>
                        <a:t>Form</a:t>
                      </a:r>
                      <a:r>
                        <a:rPr lang="zh-TW" altLang="en-US" sz="800" b="0" i="0" u="none" strike="noStrike" dirty="0" smtClean="0">
                          <a:effectLst/>
                          <a:latin typeface="微軟正黑體" pitchFamily="34" charset="-120"/>
                          <a:ea typeface="微軟正黑體" pitchFamily="34" charset="-120"/>
                        </a:rPr>
                        <a:t>：透過數據整合技術，將量測設備、</a:t>
                      </a:r>
                      <a:r>
                        <a:rPr lang="en-US" altLang="zh-TW" sz="800" b="0" i="0" u="none" strike="noStrike" dirty="0" smtClean="0">
                          <a:effectLst/>
                          <a:latin typeface="微軟正黑體" pitchFamily="34" charset="-120"/>
                          <a:ea typeface="微軟正黑體" pitchFamily="34" charset="-120"/>
                        </a:rPr>
                        <a:t>Scan</a:t>
                      </a:r>
                      <a:r>
                        <a:rPr lang="zh-TW" altLang="en-US" sz="800" b="0" i="0" u="none" strike="noStrike" dirty="0" smtClean="0">
                          <a:effectLst/>
                          <a:latin typeface="微軟正黑體" pitchFamily="34" charset="-120"/>
                          <a:ea typeface="微軟正黑體" pitchFamily="34" charset="-120"/>
                        </a:rPr>
                        <a:t>機台 </a:t>
                      </a:r>
                      <a:r>
                        <a:rPr lang="en-US" altLang="zh-TW" sz="800" b="0" i="0" u="none" strike="noStrike" dirty="0" smtClean="0">
                          <a:effectLst/>
                          <a:latin typeface="微軟正黑體" pitchFamily="34" charset="-120"/>
                          <a:ea typeface="微軟正黑體" pitchFamily="34" charset="-120"/>
                        </a:rPr>
                        <a:t>Recipe</a:t>
                      </a:r>
                      <a:r>
                        <a:rPr lang="zh-TW" altLang="en-US" sz="800" b="0" i="0" u="none" strike="noStrike" dirty="0" smtClean="0">
                          <a:effectLst/>
                          <a:latin typeface="微軟正黑體" pitchFamily="34" charset="-120"/>
                          <a:ea typeface="微軟正黑體" pitchFamily="34" charset="-120"/>
                        </a:rPr>
                        <a:t>、製程端數據進行整合，完成自動化數據處理與 </a:t>
                      </a:r>
                      <a:r>
                        <a:rPr lang="en-US" altLang="zh-TW" sz="800" b="0" i="0" u="none" strike="noStrike" dirty="0" smtClean="0">
                          <a:effectLst/>
                          <a:latin typeface="微軟正黑體" pitchFamily="34" charset="-120"/>
                          <a:ea typeface="微軟正黑體" pitchFamily="34" charset="-120"/>
                        </a:rPr>
                        <a:t>Judge </a:t>
                      </a:r>
                      <a:r>
                        <a:rPr lang="zh-TW" altLang="en-US" sz="800" b="0" i="0" u="none" strike="noStrike" dirty="0" smtClean="0">
                          <a:effectLst/>
                          <a:latin typeface="微軟正黑體" pitchFamily="34" charset="-120"/>
                          <a:ea typeface="微軟正黑體" pitchFamily="34" charset="-120"/>
                        </a:rPr>
                        <a:t>規格校驗，開發一站式報表生成與數據比對系統，提供高效資料視覺化介面。 </a:t>
                      </a:r>
                      <a:r>
                        <a:rPr lang="en-US" altLang="zh-TW" sz="800" b="0" i="0" u="none" strike="noStrike" dirty="0" smtClean="0">
                          <a:effectLst/>
                          <a:latin typeface="微軟正黑體" pitchFamily="34" charset="-120"/>
                          <a:ea typeface="微軟正黑體" pitchFamily="34" charset="-120"/>
                        </a:rPr>
                        <a:t>-&gt;</a:t>
                      </a:r>
                      <a:r>
                        <a:rPr lang="zh-TW" altLang="en-US" sz="800" b="0" i="0" u="none" strike="noStrike" dirty="0" smtClean="0">
                          <a:effectLst/>
                          <a:latin typeface="微軟正黑體" pitchFamily="34" charset="-120"/>
                          <a:ea typeface="微軟正黑體" pitchFamily="34" charset="-120"/>
                        </a:rPr>
                        <a:t>後於</a:t>
                      </a:r>
                      <a:r>
                        <a:rPr lang="en-US" altLang="zh-TW" sz="800" b="0" i="0" u="none" strike="noStrike" dirty="0" smtClean="0">
                          <a:effectLst/>
                          <a:latin typeface="微軟正黑體" pitchFamily="34" charset="-120"/>
                          <a:ea typeface="微軟正黑體" pitchFamily="34" charset="-120"/>
                        </a:rPr>
                        <a:t>2025</a:t>
                      </a:r>
                      <a:r>
                        <a:rPr lang="zh-TW" altLang="en-US" sz="800" b="0" i="0" u="none" strike="noStrike" dirty="0" smtClean="0">
                          <a:effectLst/>
                          <a:latin typeface="微軟正黑體" pitchFamily="34" charset="-120"/>
                          <a:ea typeface="微軟正黑體" pitchFamily="34" charset="-120"/>
                        </a:rPr>
                        <a:t>以相同手法平展至其他部門</a:t>
                      </a:r>
                    </a:p>
                    <a:p>
                      <a:pPr marL="228600" indent="-228600" algn="l" fontAlgn="ctr">
                        <a:buAutoNum type="arabicPeriod"/>
                      </a:pPr>
                      <a:r>
                        <a:rPr lang="en-US" altLang="zh-TW" sz="800" b="0" i="0" u="none" strike="noStrike" dirty="0" smtClean="0">
                          <a:effectLst/>
                          <a:latin typeface="微軟正黑體" pitchFamily="34" charset="-120"/>
                          <a:ea typeface="微軟正黑體" pitchFamily="34" charset="-120"/>
                        </a:rPr>
                        <a:t>Auto Photo Job (Vernier + Chip ID </a:t>
                      </a:r>
                      <a:r>
                        <a:rPr lang="zh-TW" altLang="en-US" sz="800" b="0" i="0" u="none" strike="noStrike" dirty="0" smtClean="0">
                          <a:effectLst/>
                          <a:latin typeface="微軟正黑體" pitchFamily="34" charset="-120"/>
                          <a:ea typeface="微軟正黑體" pitchFamily="34" charset="-120"/>
                        </a:rPr>
                        <a:t>自動補值</a:t>
                      </a:r>
                      <a:r>
                        <a:rPr lang="en-US" altLang="zh-TW" sz="800" b="0" i="0" u="none" strike="noStrike" dirty="0" smtClean="0">
                          <a:effectLst/>
                          <a:latin typeface="微軟正黑體" pitchFamily="34" charset="-120"/>
                          <a:ea typeface="微軟正黑體" pitchFamily="34" charset="-120"/>
                        </a:rPr>
                        <a:t>)</a:t>
                      </a:r>
                      <a:r>
                        <a:rPr lang="zh-TW" altLang="en-US" sz="800" b="0" i="0" u="none" strike="noStrike" dirty="0" smtClean="0">
                          <a:effectLst/>
                          <a:latin typeface="微軟正黑體" pitchFamily="34" charset="-120"/>
                          <a:ea typeface="微軟正黑體" pitchFamily="34" charset="-120"/>
                        </a:rPr>
                        <a:t>：建立多項 </a:t>
                      </a:r>
                      <a:r>
                        <a:rPr lang="en-US" altLang="zh-TW" sz="800" b="0" i="0" u="none" strike="noStrike" dirty="0" smtClean="0">
                          <a:effectLst/>
                          <a:latin typeface="微軟正黑體" pitchFamily="34" charset="-120"/>
                          <a:ea typeface="微軟正黑體" pitchFamily="34" charset="-120"/>
                        </a:rPr>
                        <a:t>MQC </a:t>
                      </a:r>
                      <a:r>
                        <a:rPr lang="zh-TW" altLang="en-US" sz="800" b="0" i="0" u="none" strike="noStrike" dirty="0" smtClean="0">
                          <a:effectLst/>
                          <a:latin typeface="微軟正黑體" pitchFamily="34" charset="-120"/>
                          <a:ea typeface="微軟正黑體" pitchFamily="34" charset="-120"/>
                        </a:rPr>
                        <a:t>辨識模型，整合製程模型與數據，實現</a:t>
                      </a:r>
                      <a:r>
                        <a:rPr lang="en-US" altLang="zh-TW" sz="800" b="0" i="0" u="none" strike="noStrike" dirty="0" smtClean="0">
                          <a:effectLst/>
                          <a:latin typeface="微軟正黑體" pitchFamily="34" charset="-120"/>
                          <a:ea typeface="微軟正黑體" pitchFamily="34" charset="-120"/>
                        </a:rPr>
                        <a:t>NG</a:t>
                      </a:r>
                      <a:r>
                        <a:rPr lang="zh-TW" altLang="en-US" sz="800" b="0" i="0" u="none" strike="noStrike" dirty="0" smtClean="0">
                          <a:effectLst/>
                          <a:latin typeface="微軟正黑體" pitchFamily="34" charset="-120"/>
                          <a:ea typeface="微軟正黑體" pitchFamily="34" charset="-120"/>
                        </a:rPr>
                        <a:t>影像補值的自動計算與回填，完成從自動判讀到補值數據回填製程機台的全流程</a:t>
                      </a:r>
                      <a:r>
                        <a:rPr lang="en-US" altLang="zh-TW" sz="800" b="0" i="0" u="none" strike="noStrike" dirty="0" smtClean="0">
                          <a:effectLst/>
                          <a:latin typeface="微軟正黑體" pitchFamily="34" charset="-120"/>
                          <a:ea typeface="微軟正黑體" pitchFamily="34" charset="-120"/>
                        </a:rPr>
                        <a:t>AI</a:t>
                      </a:r>
                      <a:r>
                        <a:rPr lang="zh-TW" altLang="en-US" sz="800" b="0" i="0" u="none" strike="noStrike" dirty="0" smtClean="0">
                          <a:effectLst/>
                          <a:latin typeface="微軟正黑體" pitchFamily="34" charset="-120"/>
                          <a:ea typeface="微軟正黑體" pitchFamily="34" charset="-120"/>
                        </a:rPr>
                        <a:t>化，優化多重人工作業程序。</a:t>
                      </a:r>
                      <a:endParaRPr lang="en-US" altLang="zh-TW" sz="800" b="0" i="0" u="none" strike="noStrike" dirty="0" smtClean="0">
                        <a:effectLst/>
                        <a:latin typeface="微軟正黑體" pitchFamily="34" charset="-120"/>
                        <a:ea typeface="微軟正黑體" pitchFamily="34" charset="-120"/>
                      </a:endParaRPr>
                    </a:p>
                    <a:p>
                      <a:pPr marL="228600" indent="-228600" algn="l" fontAlgn="ctr">
                        <a:buAutoNum type="arabicPeriod"/>
                      </a:pPr>
                      <a:r>
                        <a:rPr lang="zh-TW" altLang="en-US" sz="800" b="0" i="0" u="none" strike="noStrike" dirty="0" smtClean="0">
                          <a:effectLst/>
                          <a:latin typeface="微軟正黑體" pitchFamily="34" charset="-120"/>
                          <a:ea typeface="微軟正黑體" pitchFamily="34" charset="-120"/>
                        </a:rPr>
                        <a:t>開發各項功能網頁：部門：入口網頁、專案效益彙整系統 ；主管：入口網頁、</a:t>
                      </a:r>
                      <a:r>
                        <a:rPr lang="en-US" altLang="zh-TW" sz="800" b="0" i="0" u="none" strike="noStrike" dirty="0" smtClean="0">
                          <a:effectLst/>
                          <a:latin typeface="微軟正黑體" pitchFamily="34" charset="-120"/>
                          <a:ea typeface="微軟正黑體" pitchFamily="34" charset="-120"/>
                        </a:rPr>
                        <a:t>IMS</a:t>
                      </a:r>
                      <a:r>
                        <a:rPr lang="zh-TW" altLang="en-US" sz="800" b="0" i="0" u="none" strike="noStrike" dirty="0" smtClean="0">
                          <a:effectLst/>
                          <a:latin typeface="微軟正黑體" pitchFamily="34" charset="-120"/>
                          <a:ea typeface="微軟正黑體" pitchFamily="34" charset="-120"/>
                        </a:rPr>
                        <a:t>指標維護及改善網頁；廠端：專案協報網頁</a:t>
                      </a:r>
                    </a:p>
                    <a:p>
                      <a:pPr marL="228600" indent="-228600" algn="l" fontAlgn="ctr">
                        <a:buAutoNum type="arabicPeriod"/>
                      </a:pPr>
                      <a:r>
                        <a:rPr lang="zh-TW" altLang="en-US" sz="800" b="0" i="0" u="none" strike="noStrike" dirty="0" smtClean="0">
                          <a:effectLst/>
                          <a:latin typeface="微軟正黑體" pitchFamily="34" charset="-120"/>
                          <a:ea typeface="微軟正黑體" pitchFamily="34" charset="-120"/>
                        </a:rPr>
                        <a:t>開發</a:t>
                      </a:r>
                      <a:r>
                        <a:rPr lang="en-US" altLang="zh-TW" sz="800" b="0" i="0" u="none" strike="noStrike" dirty="0" smtClean="0">
                          <a:effectLst/>
                          <a:latin typeface="微軟正黑體" pitchFamily="34" charset="-120"/>
                          <a:ea typeface="微軟正黑體" pitchFamily="34" charset="-120"/>
                        </a:rPr>
                        <a:t>PI AOI</a:t>
                      </a:r>
                      <a:r>
                        <a:rPr lang="zh-TW" altLang="en-US" sz="800" b="0" i="0" u="none" strike="noStrike" dirty="0" smtClean="0">
                          <a:effectLst/>
                          <a:latin typeface="微軟正黑體" pitchFamily="34" charset="-120"/>
                          <a:ea typeface="微軟正黑體" pitchFamily="34" charset="-120"/>
                        </a:rPr>
                        <a:t>系統節省雲端系統串接延遲時間提升檢片效率</a:t>
                      </a:r>
                    </a:p>
                  </a:txBody>
                  <a:tcPr marL="36000" marR="36000" marT="0"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dirty="0"/>
                    </a:p>
                  </a:txBody>
                  <a:tcPr/>
                </a:tc>
              </a:tr>
              <a:tr h="171865">
                <a:tc gridSpan="2" vMerge="1">
                  <a:txBody>
                    <a:bodyPr/>
                    <a:lstStyle/>
                    <a:p>
                      <a:endParaRPr lang="zh-TW" altLang="en-US"/>
                    </a:p>
                  </a:txBody>
                  <a:tcPr/>
                </a:tc>
                <a:tc hMerge="1" vMerge="1">
                  <a:txBody>
                    <a:bodyPr/>
                    <a:lstStyle/>
                    <a:p>
                      <a:endParaRPr lang="zh-TW" altLang="en-US"/>
                    </a:p>
                  </a:txBody>
                  <a:tcPr/>
                </a:tc>
                <a:tc rowSpan="2" gridSpan="3">
                  <a:txBody>
                    <a:bodyPr/>
                    <a:lstStyle/>
                    <a:p>
                      <a:pPr algn="ctr" fontAlgn="ctr"/>
                      <a:r>
                        <a:rPr lang="zh-TW" altLang="en-US" sz="1000" b="1" i="0" u="none" strike="noStrike" dirty="0">
                          <a:solidFill>
                            <a:srgbClr val="FFFFFF"/>
                          </a:solidFill>
                          <a:latin typeface="微軟正黑體" pitchFamily="34" charset="-120"/>
                          <a:ea typeface="微軟正黑體" pitchFamily="34" charset="-120"/>
                        </a:rPr>
                        <a:t>貢獻類別</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rowSpan="2" hMerge="1">
                  <a:txBody>
                    <a:bodyPr/>
                    <a:lstStyle/>
                    <a:p>
                      <a:endParaRPr lang="zh-TW" altLang="en-US"/>
                    </a:p>
                  </a:txBody>
                  <a:tcPr/>
                </a:tc>
                <a:tc rowSpan="2" hMerge="1">
                  <a:txBody>
                    <a:bodyPr/>
                    <a:lstStyle/>
                    <a:p>
                      <a:endParaRPr lang="zh-TW" altLang="en-US"/>
                    </a:p>
                  </a:txBody>
                  <a:tcPr/>
                </a:tc>
                <a:tc rowSpan="2" gridSpan="5">
                  <a:txBody>
                    <a:bodyPr/>
                    <a:lstStyle/>
                    <a:p>
                      <a:pPr algn="ctr" fontAlgn="ctr"/>
                      <a:r>
                        <a:rPr lang="zh-TW" altLang="en-US" sz="1000" b="1" i="0" u="none" strike="noStrike" dirty="0" smtClean="0">
                          <a:solidFill>
                            <a:srgbClr val="FFFFFF"/>
                          </a:solidFill>
                          <a:latin typeface="微軟正黑體" pitchFamily="34" charset="-120"/>
                          <a:ea typeface="微軟正黑體" pitchFamily="34" charset="-120"/>
                        </a:rPr>
                        <a:t>成果說明</a:t>
                      </a:r>
                      <a:endParaRPr lang="zh-TW" altLang="en-US" sz="1000" b="1" i="0" u="none" strike="noStrike" dirty="0">
                        <a:solidFill>
                          <a:srgbClr val="FFFFFF"/>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rowSpan="2" hMerge="1">
                  <a:txBody>
                    <a:bodyPr/>
                    <a:lstStyle/>
                    <a:p>
                      <a:pPr algn="ctr" fontAlgn="ctr"/>
                      <a:endParaRPr lang="zh-TW" altLang="en-US" sz="700" b="1" i="0" u="none" strike="noStrike">
                        <a:solidFill>
                          <a:srgbClr val="FFFFFF"/>
                        </a:solidFill>
                        <a:latin typeface="微軟正黑體"/>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002060"/>
                    </a:solidFill>
                  </a:tcPr>
                </a:tc>
                <a:tc rowSpan="2" hMerge="1">
                  <a:txBody>
                    <a:bodyPr/>
                    <a:lstStyle/>
                    <a:p>
                      <a:endParaRPr lang="zh-TW" altLang="en-US"/>
                    </a:p>
                  </a:txBody>
                  <a:tcPr/>
                </a:tc>
                <a:tc rowSpan="2" hMerge="1">
                  <a:txBody>
                    <a:bodyPr/>
                    <a:lstStyle/>
                    <a:p>
                      <a:endParaRPr lang="zh-TW" altLang="en-US"/>
                    </a:p>
                  </a:txBody>
                  <a:tcPr/>
                </a:tc>
                <a:tc rowSpan="2" hMerge="1">
                  <a:txBody>
                    <a:bodyPr/>
                    <a:lstStyle/>
                    <a:p>
                      <a:endParaRPr lang="zh-TW" altLang="en-US"/>
                    </a:p>
                  </a:txBody>
                  <a:tcPr/>
                </a:tc>
                <a:tc gridSpan="2">
                  <a:txBody>
                    <a:bodyPr/>
                    <a:lstStyle/>
                    <a:p>
                      <a:pPr algn="ctr" fontAlgn="ctr"/>
                      <a:r>
                        <a:rPr lang="zh-TW" altLang="en-US" sz="1000" b="1" i="0" u="none" strike="noStrike" dirty="0" smtClean="0">
                          <a:solidFill>
                            <a:srgbClr val="FFFFFF"/>
                          </a:solidFill>
                          <a:latin typeface="微軟正黑體" pitchFamily="34" charset="-120"/>
                          <a:ea typeface="微軟正黑體" pitchFamily="34" charset="-120"/>
                        </a:rPr>
                        <a:t>決核主管評等</a:t>
                      </a:r>
                      <a:endParaRPr lang="en-US" altLang="zh-TW" sz="1000" b="1" i="0" u="none" strike="noStrike" dirty="0" smtClean="0">
                        <a:solidFill>
                          <a:srgbClr val="FFFFFF"/>
                        </a:solidFill>
                        <a:latin typeface="微軟正黑體" pitchFamily="34" charset="-120"/>
                        <a:ea typeface="微軟正黑體" pitchFamily="34" charset="-120"/>
                      </a:endParaRPr>
                    </a:p>
                    <a:p>
                      <a:pPr algn="ctr" fontAlgn="ctr"/>
                      <a:r>
                        <a:rPr lang="en-US" altLang="zh-TW" sz="1000" b="1" i="0" u="none" strike="noStrike" dirty="0" smtClean="0">
                          <a:solidFill>
                            <a:srgbClr val="FFFFFF"/>
                          </a:solidFill>
                          <a:latin typeface="微軟正黑體" pitchFamily="34" charset="-120"/>
                          <a:ea typeface="微軟正黑體" pitchFamily="34" charset="-120"/>
                        </a:rPr>
                        <a:t>(A+</a:t>
                      </a:r>
                      <a:r>
                        <a:rPr lang="zh-TW" altLang="en-US" sz="1000" b="1" i="0" u="none" strike="noStrike" dirty="0" smtClean="0">
                          <a:solidFill>
                            <a:srgbClr val="FFFFFF"/>
                          </a:solidFill>
                          <a:latin typeface="微軟正黑體" pitchFamily="34" charset="-120"/>
                          <a:ea typeface="微軟正黑體" pitchFamily="34" charset="-120"/>
                        </a:rPr>
                        <a:t>、</a:t>
                      </a:r>
                      <a:r>
                        <a:rPr lang="en-US" altLang="zh-TW" sz="1000" b="1" i="0" u="none" strike="noStrike" dirty="0" smtClean="0">
                          <a:solidFill>
                            <a:srgbClr val="FFFFFF"/>
                          </a:solidFill>
                          <a:latin typeface="微軟正黑體" pitchFamily="34" charset="-120"/>
                          <a:ea typeface="微軟正黑體" pitchFamily="34" charset="-120"/>
                        </a:rPr>
                        <a:t>A</a:t>
                      </a:r>
                      <a:r>
                        <a:rPr lang="zh-TW" altLang="en-US" sz="1000" b="1" i="0" u="none" strike="noStrike" dirty="0" smtClean="0">
                          <a:solidFill>
                            <a:srgbClr val="FFFFFF"/>
                          </a:solidFill>
                          <a:latin typeface="微軟正黑體" pitchFamily="34" charset="-120"/>
                          <a:ea typeface="微軟正黑體" pitchFamily="34" charset="-120"/>
                        </a:rPr>
                        <a:t>、</a:t>
                      </a:r>
                      <a:r>
                        <a:rPr lang="en-US" altLang="zh-TW" sz="1000" b="1" i="0" u="none" strike="noStrike" dirty="0" smtClean="0">
                          <a:solidFill>
                            <a:srgbClr val="FFFFFF"/>
                          </a:solidFill>
                          <a:latin typeface="微軟正黑體" pitchFamily="34" charset="-120"/>
                          <a:ea typeface="微軟正黑體" pitchFamily="34" charset="-120"/>
                        </a:rPr>
                        <a:t>B)</a:t>
                      </a:r>
                      <a:endParaRPr lang="zh-TW" altLang="en-US" sz="1000" b="1" i="0" u="none" strike="noStrike" dirty="0">
                        <a:solidFill>
                          <a:srgbClr val="FFFFFF"/>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a:txBody>
                    <a:bodyPr/>
                    <a:lstStyle/>
                    <a:p>
                      <a:endParaRPr lang="zh-TW" altLang="en-US"/>
                    </a:p>
                  </a:txBody>
                  <a:tcPr/>
                </a:tc>
                <a:tc gridSpan="2">
                  <a:txBody>
                    <a:bodyPr/>
                    <a:lstStyle/>
                    <a:p>
                      <a:pPr algn="ctr" fontAlgn="ctr"/>
                      <a:r>
                        <a:rPr lang="zh-TW" altLang="en-US" sz="1000" b="1" i="0" u="none" strike="noStrike" dirty="0" smtClean="0">
                          <a:solidFill>
                            <a:srgbClr val="FFFFFF"/>
                          </a:solidFill>
                          <a:latin typeface="微軟正黑體" pitchFamily="34" charset="-120"/>
                          <a:ea typeface="微軟正黑體" pitchFamily="34" charset="-120"/>
                        </a:rPr>
                        <a:t>決核主管</a:t>
                      </a:r>
                      <a:r>
                        <a:rPr lang="en-US" altLang="zh-TW" sz="1000" b="1" i="0" u="none" strike="noStrike" dirty="0" smtClean="0">
                          <a:solidFill>
                            <a:srgbClr val="FFFFFF"/>
                          </a:solidFill>
                          <a:latin typeface="微軟正黑體" pitchFamily="34" charset="-120"/>
                          <a:ea typeface="微軟正黑體" pitchFamily="34" charset="-120"/>
                        </a:rPr>
                        <a:t>Comment</a:t>
                      </a:r>
                      <a:endParaRPr lang="zh-TW" altLang="en-US" sz="1000" b="1" i="0" u="none" strike="noStrike" dirty="0">
                        <a:solidFill>
                          <a:srgbClr val="FFFFFF"/>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a:txBody>
                    <a:bodyPr/>
                    <a:lstStyle/>
                    <a:p>
                      <a:endParaRPr lang="zh-TW" altLang="en-US"/>
                    </a:p>
                  </a:txBody>
                  <a:tcPr/>
                </a:tc>
              </a:tr>
              <a:tr h="171865">
                <a:tc gridSpan="2" vMerge="1">
                  <a:txBody>
                    <a:bodyPr/>
                    <a:lstStyle/>
                    <a:p>
                      <a:endParaRPr lang="zh-TW" altLang="en-US"/>
                    </a:p>
                  </a:txBody>
                  <a:tcPr/>
                </a:tc>
                <a:tc hMerge="1" vMerge="1">
                  <a:txBody>
                    <a:bodyPr/>
                    <a:lstStyle/>
                    <a:p>
                      <a:endParaRPr lang="zh-TW" altLang="en-US"/>
                    </a:p>
                  </a:txBody>
                  <a:tcPr/>
                </a:tc>
                <a:tc gridSpan="3" vMerge="1">
                  <a:txBody>
                    <a:bodyPr/>
                    <a:lstStyle/>
                    <a:p>
                      <a:pPr algn="ctr" fontAlgn="ctr"/>
                      <a:endParaRPr lang="zh-TW" altLang="en-US" sz="1000" b="1" i="0" u="none" strike="noStrike" dirty="0">
                        <a:solidFill>
                          <a:srgbClr val="FFFFFF"/>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vMerge="1">
                  <a:txBody>
                    <a:bodyPr/>
                    <a:lstStyle/>
                    <a:p>
                      <a:endParaRPr lang="zh-TW" altLang="en-US"/>
                    </a:p>
                  </a:txBody>
                  <a:tcPr/>
                </a:tc>
                <a:tc hMerge="1" vMerge="1">
                  <a:txBody>
                    <a:bodyPr/>
                    <a:lstStyle/>
                    <a:p>
                      <a:endParaRPr lang="zh-TW" altLang="en-US"/>
                    </a:p>
                  </a:txBody>
                  <a:tcPr/>
                </a:tc>
                <a:tc gridSpan="5" vMerge="1">
                  <a:txBody>
                    <a:bodyPr/>
                    <a:lstStyle/>
                    <a:p>
                      <a:pPr algn="ctr" fontAlgn="ctr"/>
                      <a:endParaRPr lang="zh-TW" altLang="en-US" sz="1000" b="1" i="0" u="none" strike="noStrike" dirty="0">
                        <a:solidFill>
                          <a:srgbClr val="FFFFFF"/>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gridSpan="4">
                  <a:txBody>
                    <a:bodyPr/>
                    <a:lstStyle/>
                    <a:p>
                      <a:pPr algn="l" fontAlgn="ctr"/>
                      <a:r>
                        <a:rPr lang="zh-TW" altLang="en-US" sz="800" b="0" i="0" u="none" strike="noStrike" dirty="0" smtClean="0">
                          <a:solidFill>
                            <a:srgbClr val="FFFFFF"/>
                          </a:solidFill>
                          <a:latin typeface="微軟正黑體" pitchFamily="34" charset="-120"/>
                          <a:ea typeface="微軟正黑體" pitchFamily="34" charset="-120"/>
                        </a:rPr>
                        <a:t>*決核權限：</a:t>
                      </a:r>
                      <a:r>
                        <a:rPr lang="en-US" altLang="zh-TW" sz="800" b="0" i="0" u="none" strike="noStrike" dirty="0" smtClean="0">
                          <a:solidFill>
                            <a:srgbClr val="FFFFFF"/>
                          </a:solidFill>
                          <a:latin typeface="微軟正黑體" pitchFamily="34" charset="-120"/>
                          <a:ea typeface="微軟正黑體" pitchFamily="34" charset="-120"/>
                        </a:rPr>
                        <a:t>DAC</a:t>
                      </a:r>
                      <a:r>
                        <a:rPr lang="zh-TW" altLang="en-US" sz="800" b="0" i="0" u="none" strike="noStrike" dirty="0" smtClean="0">
                          <a:solidFill>
                            <a:srgbClr val="FFFFFF"/>
                          </a:solidFill>
                          <a:latin typeface="微軟正黑體" pitchFamily="34" charset="-120"/>
                          <a:ea typeface="微軟正黑體" pitchFamily="34" charset="-120"/>
                        </a:rPr>
                        <a:t>專家由中心級主管決核</a:t>
                      </a:r>
                      <a:r>
                        <a:rPr lang="en-US" altLang="zh-TW" sz="800" b="0" i="0" u="none" strike="noStrike" dirty="0" smtClean="0">
                          <a:solidFill>
                            <a:srgbClr val="FFFFFF"/>
                          </a:solidFill>
                          <a:latin typeface="微軟正黑體" pitchFamily="34" charset="-120"/>
                          <a:ea typeface="微軟正黑體" pitchFamily="34" charset="-120"/>
                        </a:rPr>
                        <a:t>/Level3</a:t>
                      </a:r>
                      <a:r>
                        <a:rPr lang="zh-TW" altLang="en-US" sz="800" b="0" i="0" u="none" strike="noStrike" dirty="0" smtClean="0">
                          <a:solidFill>
                            <a:srgbClr val="FFFFFF"/>
                          </a:solidFill>
                          <a:latin typeface="微軟正黑體" pitchFamily="34" charset="-120"/>
                          <a:ea typeface="微軟正黑體" pitchFamily="34" charset="-120"/>
                        </a:rPr>
                        <a:t>菁英由廠處級決核</a:t>
                      </a:r>
                      <a:endParaRPr lang="zh-TW" altLang="en-US" sz="800" b="0" i="0" u="none" strike="noStrike" dirty="0">
                        <a:solidFill>
                          <a:srgbClr val="FFFFFF"/>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a:txBody>
                    <a:bodyPr/>
                    <a:lstStyle/>
                    <a:p>
                      <a:endParaRPr lang="zh-TW" altLang="en-US"/>
                    </a:p>
                  </a:txBody>
                  <a:tcPr/>
                </a:tc>
                <a:tc hMerge="1">
                  <a:txBody>
                    <a:bodyPr/>
                    <a:lstStyle/>
                    <a:p>
                      <a:pPr algn="ctr" fontAlgn="ctr"/>
                      <a:endParaRPr lang="zh-TW" altLang="en-US" sz="1000" b="1" i="0" u="none" strike="noStrike" dirty="0">
                        <a:solidFill>
                          <a:srgbClr val="FFFFFF"/>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002060"/>
                    </a:solidFill>
                  </a:tcPr>
                </a:tc>
                <a:tc hMerge="1">
                  <a:txBody>
                    <a:bodyPr/>
                    <a:lstStyle/>
                    <a:p>
                      <a:endParaRPr lang="zh-TW" altLang="en-US"/>
                    </a:p>
                  </a:txBody>
                  <a:tcPr/>
                </a:tc>
              </a:tr>
              <a:tr h="180000">
                <a:tc gridSpan="2" vMerge="1">
                  <a:txBody>
                    <a:bodyPr/>
                    <a:lstStyle/>
                    <a:p>
                      <a:endParaRPr lang="zh-TW" altLang="en-US"/>
                    </a:p>
                  </a:txBody>
                  <a:tcPr/>
                </a:tc>
                <a:tc hMerge="1" vMerge="1">
                  <a:txBody>
                    <a:bodyPr/>
                    <a:lstStyle/>
                    <a:p>
                      <a:endParaRPr lang="zh-TW" altLang="en-US"/>
                    </a:p>
                  </a:txBody>
                  <a:tcPr/>
                </a:tc>
                <a:tc rowSpan="3" gridSpan="3">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TW" altLang="en-US" sz="900" b="1" i="0" u="none" strike="noStrike" dirty="0" smtClean="0">
                          <a:latin typeface="微軟正黑體" pitchFamily="34" charset="-120"/>
                          <a:ea typeface="微軟正黑體" pitchFamily="34" charset="-120"/>
                        </a:rPr>
                        <a:t>公司貢獻 </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rowSpan="3" hMerge="1">
                  <a:txBody>
                    <a:bodyPr/>
                    <a:lstStyle/>
                    <a:p>
                      <a:endParaRPr lang="zh-TW" altLang="en-US"/>
                    </a:p>
                  </a:txBody>
                  <a:tcPr/>
                </a:tc>
                <a:tc rowSpan="3" hMerge="1">
                  <a:txBody>
                    <a:bodyPr/>
                    <a:lstStyle/>
                    <a:p>
                      <a:endParaRPr lang="zh-TW" altLang="en-US"/>
                    </a:p>
                  </a:txBody>
                  <a:tcPr/>
                </a:tc>
                <a:tc gridSpan="5">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r>
                        <a:rPr lang="zh-TW" altLang="en-US" sz="800" b="0" i="0" u="none" strike="noStrike" dirty="0" smtClean="0">
                          <a:solidFill>
                            <a:schemeClr val="tx2"/>
                          </a:solidFill>
                          <a:latin typeface="微軟正黑體" pitchFamily="34" charset="-120"/>
                          <a:ea typeface="微軟正黑體" pitchFamily="34" charset="-120"/>
                        </a:rPr>
                        <a:t>建置多個整合系統，提升智成異常分析與決策效率</a:t>
                      </a:r>
                      <a:endParaRPr lang="en-US" altLang="zh-TW" sz="800" b="0" i="0" u="none" strike="noStrike" dirty="0" smtClean="0">
                        <a:solidFill>
                          <a:schemeClr val="tx2"/>
                        </a:solidFill>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700" b="0" i="0" u="none" strike="noStrike">
                        <a:latin typeface="微軟正黑體"/>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3" gridSpan="2">
                  <a:txBody>
                    <a:bodyPr/>
                    <a:lstStyle/>
                    <a:p>
                      <a:pPr algn="ctr" fontAlgn="ctr">
                        <a:lnSpc>
                          <a:spcPct val="100000"/>
                        </a:lnSpc>
                      </a:pPr>
                      <a:r>
                        <a:rPr lang="en-US" altLang="zh-TW" sz="900" b="0" i="0" u="none" strike="noStrike" dirty="0" smtClean="0">
                          <a:latin typeface="微軟正黑體" pitchFamily="34" charset="-120"/>
                          <a:ea typeface="微軟正黑體" pitchFamily="34" charset="-120"/>
                        </a:rPr>
                        <a:t>A+</a:t>
                      </a:r>
                      <a:endParaRPr lang="zh-TW" altLang="en-US" sz="900" b="0"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rowSpan="3" hMerge="1">
                  <a:txBody>
                    <a:bodyPr/>
                    <a:lstStyle/>
                    <a:p>
                      <a:pPr algn="ctr" fontAlgn="ctr"/>
                      <a:endParaRPr lang="zh-TW" altLang="en-US" sz="700" b="0" i="0" u="none" strike="noStrike">
                        <a:latin typeface="微軟正黑體"/>
                      </a:endParaRPr>
                    </a:p>
                  </a:txBody>
                  <a:tcPr marL="0" marR="0" marT="0" marB="0" anchor="ctr"/>
                </a:tc>
                <a:tc rowSpan="3" gridSpan="2">
                  <a:txBody>
                    <a:bodyPr/>
                    <a:lstStyle/>
                    <a:p>
                      <a:pPr algn="l" fontAlgn="ctr">
                        <a:lnSpc>
                          <a:spcPts val="1200"/>
                        </a:lnSpc>
                      </a:pPr>
                      <a:r>
                        <a:rPr lang="zh-TW" altLang="en-US" sz="800" b="0" i="0" u="none" strike="noStrike" dirty="0" smtClean="0">
                          <a:latin typeface="微軟正黑體" pitchFamily="34" charset="-120"/>
                          <a:ea typeface="微軟正黑體" pitchFamily="34" charset="-120"/>
                        </a:rPr>
                        <a:t>從實際需求出發，優化工程作業流程，將原本分散且仰賴外部或雲端支援的作業內部系統化。多項專案由零開始建置並成功落地，不僅提升分析效率與流程穩定性，也有效降低利用雲端資源的費用，為公司帶來實質成本與營運效益。</a:t>
                      </a:r>
                      <a:endParaRPr lang="zh-TW" altLang="en-US" sz="800" b="0"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rowSpan="3" hMerge="1">
                  <a:txBody>
                    <a:bodyPr/>
                    <a:lstStyle/>
                    <a:p>
                      <a:endParaRPr lang="zh-TW" altLang="en-US"/>
                    </a:p>
                  </a:txBody>
                  <a:tcPr/>
                </a:tc>
              </a:tr>
              <a:tr h="180000">
                <a:tc gridSpan="2" vMerge="1">
                  <a:txBody>
                    <a:bodyPr/>
                    <a:lstStyle/>
                    <a:p>
                      <a:endParaRPr lang="zh-TW" altLang="en-US"/>
                    </a:p>
                  </a:txBody>
                  <a:tcPr/>
                </a:tc>
                <a:tc hMerge="1" vMerge="1">
                  <a:txBody>
                    <a:bodyPr/>
                    <a:lstStyle/>
                    <a:p>
                      <a:endParaRPr lang="zh-TW" altLang="en-US"/>
                    </a:p>
                  </a:txBody>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gridSpan="5">
                  <a:txBody>
                    <a:bodyPr/>
                    <a:lstStyle/>
                    <a:p>
                      <a:pPr marL="228600" indent="-228600" algn="l" fontAlgn="ctr">
                        <a:lnSpc>
                          <a:spcPct val="100000"/>
                        </a:lnSpc>
                        <a:buFont typeface="+mj-lt"/>
                        <a:buAutoNum type="arabicPeriod" startAt="2"/>
                      </a:pPr>
                      <a:r>
                        <a:rPr lang="zh-TW" altLang="en-US" sz="800" b="0" i="0" u="none" strike="noStrike" dirty="0" smtClean="0">
                          <a:latin typeface="微軟正黑體" pitchFamily="34" charset="-120"/>
                          <a:ea typeface="微軟正黑體" pitchFamily="34" charset="-120"/>
                        </a:rPr>
                        <a:t>自動化資料整合流程，節省人工整理、拉表比對時間且降低人工錯誤風險</a:t>
                      </a:r>
                      <a:endParaRPr lang="zh-TW" altLang="en-US" sz="800" b="0"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700" b="0" i="0" u="none" strike="noStrike">
                        <a:latin typeface="微軟正黑體"/>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2" vMerge="1">
                  <a:txBody>
                    <a:bodyPr/>
                    <a:lstStyle/>
                    <a:p>
                      <a:pPr algn="ctr" fontAlgn="ctr"/>
                      <a:endParaRPr lang="zh-TW" altLang="en-US" sz="900" b="0" i="0" u="none" strike="noStrike" dirty="0">
                        <a:latin typeface="微軟正黑體" pitchFamily="34" charset="-120"/>
                        <a:ea typeface="微軟正黑體" pitchFamily="34" charset="-12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vMerge="1">
                  <a:txBody>
                    <a:bodyPr/>
                    <a:lstStyle/>
                    <a:p>
                      <a:pPr algn="ctr" fontAlgn="ctr"/>
                      <a:endParaRPr lang="zh-TW" altLang="en-US" sz="700" b="0" i="0" u="none" strike="noStrike">
                        <a:latin typeface="微軟正黑體"/>
                      </a:endParaRPr>
                    </a:p>
                  </a:txBody>
                  <a:tcPr marL="0" marR="0" marT="0" marB="0" anchor="ctr"/>
                </a:tc>
                <a:tc gridSpan="2" vMerge="1">
                  <a:txBody>
                    <a:bodyPr/>
                    <a:lstStyle/>
                    <a:p>
                      <a:pPr algn="ctr" fontAlgn="ctr"/>
                      <a:endParaRPr lang="zh-TW" altLang="en-US" sz="900" b="0" i="0" u="none" strike="noStrike" dirty="0">
                        <a:latin typeface="微軟正黑體" pitchFamily="34" charset="-120"/>
                        <a:ea typeface="微軟正黑體" pitchFamily="34" charset="-12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vMerge="1">
                  <a:txBody>
                    <a:bodyPr/>
                    <a:lstStyle/>
                    <a:p>
                      <a:endParaRPr lang="zh-TW" altLang="en-US"/>
                    </a:p>
                  </a:txBody>
                  <a:tcPr/>
                </a:tc>
              </a:tr>
              <a:tr h="180000">
                <a:tc gridSpan="2" vMerge="1">
                  <a:txBody>
                    <a:bodyPr/>
                    <a:lstStyle/>
                    <a:p>
                      <a:endParaRPr lang="zh-TW" altLang="en-US"/>
                    </a:p>
                  </a:txBody>
                  <a:tcPr/>
                </a:tc>
                <a:tc hMerge="1" vMerge="1">
                  <a:txBody>
                    <a:bodyPr/>
                    <a:lstStyle/>
                    <a:p>
                      <a:endParaRPr lang="zh-TW" altLang="en-US"/>
                    </a:p>
                  </a:txBody>
                  <a:tcPr/>
                </a:tc>
                <a:tc gridSpan="3"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gridSpan="5">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startAt="3"/>
                        <a:tabLst/>
                        <a:defRPr/>
                      </a:pPr>
                      <a:r>
                        <a:rPr lang="zh-TW" altLang="en-US" sz="800" b="0" i="0" u="none" strike="noStrike" dirty="0" smtClean="0">
                          <a:latin typeface="微軟正黑體" pitchFamily="34" charset="-120"/>
                          <a:ea typeface="微軟正黑體" pitchFamily="34" charset="-120"/>
                        </a:rPr>
                        <a:t>模型、資料庫數據串流建置，結合</a:t>
                      </a:r>
                      <a:r>
                        <a:rPr lang="en-US" altLang="zh-TW" sz="800" b="0" i="0" u="none" strike="noStrike" dirty="0" smtClean="0">
                          <a:latin typeface="微軟正黑體" pitchFamily="34" charset="-120"/>
                          <a:ea typeface="微軟正黑體" pitchFamily="34" charset="-120"/>
                        </a:rPr>
                        <a:t>UI</a:t>
                      </a:r>
                      <a:r>
                        <a:rPr lang="zh-TW" altLang="en-US" sz="800" b="0" i="0" u="none" strike="noStrike" dirty="0" smtClean="0">
                          <a:latin typeface="微軟正黑體" pitchFamily="34" charset="-120"/>
                          <a:ea typeface="微軟正黑體" pitchFamily="34" charset="-120"/>
                        </a:rPr>
                        <a:t>介面支援跨部門品質與製程品質改善</a:t>
                      </a:r>
                      <a:endParaRPr lang="zh-TW" altLang="en-US" sz="800" b="0"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700" b="0" i="0" u="none" strike="noStrike">
                        <a:latin typeface="微軟正黑體"/>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2" vMerge="1">
                  <a:txBody>
                    <a:bodyPr/>
                    <a:lstStyle/>
                    <a:p>
                      <a:pPr algn="ctr" fontAlgn="ctr"/>
                      <a:endParaRPr lang="zh-TW" altLang="en-US" sz="900" b="0" i="0" u="none" strike="noStrike" dirty="0">
                        <a:latin typeface="微軟正黑體" pitchFamily="34" charset="-120"/>
                        <a:ea typeface="微軟正黑體" pitchFamily="34" charset="-12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vMerge="1">
                  <a:txBody>
                    <a:bodyPr/>
                    <a:lstStyle/>
                    <a:p>
                      <a:pPr algn="ctr" fontAlgn="ctr"/>
                      <a:endParaRPr lang="zh-TW" altLang="en-US" sz="700" b="0" i="0" u="none" strike="noStrike">
                        <a:latin typeface="微軟正黑體"/>
                      </a:endParaRPr>
                    </a:p>
                  </a:txBody>
                  <a:tcPr marL="0" marR="0" marT="0" marB="0" anchor="ctr"/>
                </a:tc>
                <a:tc gridSpan="2" vMerge="1">
                  <a:txBody>
                    <a:bodyPr/>
                    <a:lstStyle/>
                    <a:p>
                      <a:pPr algn="ctr" fontAlgn="ctr"/>
                      <a:endParaRPr lang="zh-TW" altLang="en-US" sz="900" b="0" i="0" u="none" strike="noStrike" dirty="0">
                        <a:latin typeface="微軟正黑體" pitchFamily="34" charset="-120"/>
                        <a:ea typeface="微軟正黑體" pitchFamily="34" charset="-12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vMerge="1">
                  <a:txBody>
                    <a:bodyPr/>
                    <a:lstStyle/>
                    <a:p>
                      <a:endParaRPr lang="zh-TW" altLang="en-US"/>
                    </a:p>
                  </a:txBody>
                  <a:tcPr/>
                </a:tc>
              </a:tr>
              <a:tr h="540000">
                <a:tc gridSpan="2" vMerge="1">
                  <a:txBody>
                    <a:bodyPr/>
                    <a:lstStyle/>
                    <a:p>
                      <a:endParaRPr lang="zh-TW" altLang="en-US"/>
                    </a:p>
                  </a:txBody>
                  <a:tcPr/>
                </a:tc>
                <a:tc hMerge="1" vMerge="1">
                  <a:txBody>
                    <a:bodyPr/>
                    <a:lstStyle/>
                    <a:p>
                      <a:endParaRPr lang="zh-TW" altLang="en-US"/>
                    </a:p>
                  </a:txBody>
                  <a:tcPr/>
                </a:tc>
                <a:tc gridSpan="3">
                  <a:txBody>
                    <a:bodyPr/>
                    <a:lstStyle/>
                    <a:p>
                      <a:pPr algn="ctr" fontAlgn="ctr">
                        <a:lnSpc>
                          <a:spcPct val="100000"/>
                        </a:lnSpc>
                      </a:pPr>
                      <a:r>
                        <a:rPr lang="zh-TW" altLang="en-US" sz="900" b="1" i="0" u="none" strike="noStrike" dirty="0" smtClean="0">
                          <a:latin typeface="微軟正黑體" pitchFamily="34" charset="-120"/>
                          <a:ea typeface="微軟正黑體" pitchFamily="34" charset="-120"/>
                        </a:rPr>
                        <a:t>技術成就</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5">
                  <a:txBody>
                    <a:bodyPr/>
                    <a:lstStyle/>
                    <a:p>
                      <a:pPr marL="0" marR="0" lvl="0" indent="0" algn="l" defTabSz="685800" rtl="0" eaLnBrk="1" fontAlgn="ctr" latinLnBrk="0" hangingPunct="1">
                        <a:lnSpc>
                          <a:spcPct val="100000"/>
                        </a:lnSpc>
                        <a:spcBef>
                          <a:spcPts val="0"/>
                        </a:spcBef>
                        <a:spcAft>
                          <a:spcPts val="0"/>
                        </a:spcAft>
                        <a:buClrTx/>
                        <a:buSzTx/>
                        <a:buFont typeface="+mj-lt"/>
                        <a:buNone/>
                        <a:tabLst/>
                        <a:defRPr/>
                      </a:pPr>
                      <a:r>
                        <a:rPr lang="zh-TW" altLang="en-US" sz="800" b="0" i="0" u="none" strike="noStrike" kern="1200" dirty="0" smtClean="0">
                          <a:solidFill>
                            <a:schemeClr val="tx2"/>
                          </a:solidFill>
                          <a:latin typeface="微軟正黑體" pitchFamily="34" charset="-120"/>
                          <a:ea typeface="微軟正黑體" pitchFamily="34" charset="-120"/>
                          <a:cs typeface="+mn-cs"/>
                        </a:rPr>
                        <a:t>熟練</a:t>
                      </a:r>
                      <a:r>
                        <a:rPr lang="en-US" altLang="zh-TW" sz="800" b="0" i="0" u="none" strike="noStrike" kern="1200" dirty="0" smtClean="0">
                          <a:solidFill>
                            <a:schemeClr val="tx2"/>
                          </a:solidFill>
                          <a:latin typeface="微軟正黑體" pitchFamily="34" charset="-120"/>
                          <a:ea typeface="微軟正黑體" pitchFamily="34" charset="-120"/>
                          <a:cs typeface="+mn-cs"/>
                        </a:rPr>
                        <a:t>FastAPI</a:t>
                      </a:r>
                      <a:r>
                        <a:rPr lang="zh-TW" altLang="en-US" sz="800" b="0" i="0" u="none" strike="noStrike" kern="1200" dirty="0" smtClean="0">
                          <a:solidFill>
                            <a:schemeClr val="tx2"/>
                          </a:solidFill>
                          <a:latin typeface="微軟正黑體" pitchFamily="34" charset="-120"/>
                          <a:ea typeface="微軟正黑體" pitchFamily="34" charset="-120"/>
                          <a:cs typeface="+mn-cs"/>
                        </a:rPr>
                        <a:t>創建完整易於維護及持續開發之系統，串接多元資料整合，自主開發自動化</a:t>
                      </a:r>
                      <a:r>
                        <a:rPr lang="en-US" altLang="zh-TW" sz="800" b="0" i="0" u="none" strike="noStrike" kern="1200" dirty="0" smtClean="0">
                          <a:solidFill>
                            <a:schemeClr val="tx2"/>
                          </a:solidFill>
                          <a:latin typeface="微軟正黑體" pitchFamily="34" charset="-120"/>
                          <a:ea typeface="微軟正黑體" pitchFamily="34" charset="-120"/>
                          <a:cs typeface="+mn-cs"/>
                        </a:rPr>
                        <a:t>-</a:t>
                      </a:r>
                      <a:r>
                        <a:rPr lang="zh-TW" altLang="en-US" sz="800" b="0" i="0" u="none" strike="noStrike" kern="1200" dirty="0" smtClean="0">
                          <a:solidFill>
                            <a:schemeClr val="tx2"/>
                          </a:solidFill>
                          <a:latin typeface="微軟正黑體" pitchFamily="34" charset="-120"/>
                          <a:ea typeface="微軟正黑體" pitchFamily="34" charset="-120"/>
                          <a:cs typeface="+mn-cs"/>
                        </a:rPr>
                        <a:t>智能化</a:t>
                      </a:r>
                      <a:r>
                        <a:rPr lang="en-US" altLang="zh-TW" sz="800" b="0" i="0" u="none" strike="noStrike" kern="1200" dirty="0" smtClean="0">
                          <a:solidFill>
                            <a:schemeClr val="tx2"/>
                          </a:solidFill>
                          <a:latin typeface="微軟正黑體" pitchFamily="34" charset="-120"/>
                          <a:ea typeface="微軟正黑體" pitchFamily="34" charset="-120"/>
                          <a:cs typeface="+mn-cs"/>
                        </a:rPr>
                        <a:t>-</a:t>
                      </a:r>
                      <a:r>
                        <a:rPr lang="zh-TW" altLang="en-US" sz="800" b="0" i="0" u="none" strike="noStrike" kern="1200" dirty="0" smtClean="0">
                          <a:solidFill>
                            <a:schemeClr val="tx2"/>
                          </a:solidFill>
                          <a:latin typeface="微軟正黑體" pitchFamily="34" charset="-120"/>
                          <a:ea typeface="微軟正黑體" pitchFamily="34" charset="-120"/>
                          <a:cs typeface="+mn-cs"/>
                        </a:rPr>
                        <a:t>可視化</a:t>
                      </a:r>
                      <a:r>
                        <a:rPr lang="en-US" altLang="zh-TW" sz="800" b="0" i="0" u="none" strike="noStrike" kern="1200" dirty="0" smtClean="0">
                          <a:solidFill>
                            <a:schemeClr val="tx2"/>
                          </a:solidFill>
                          <a:latin typeface="微軟正黑體" pitchFamily="34" charset="-120"/>
                          <a:ea typeface="微軟正黑體" pitchFamily="34" charset="-120"/>
                          <a:cs typeface="+mn-cs"/>
                        </a:rPr>
                        <a:t>-</a:t>
                      </a:r>
                      <a:r>
                        <a:rPr lang="zh-TW" altLang="en-US" sz="800" b="0" i="0" u="none" strike="noStrike" kern="1200" dirty="0" smtClean="0">
                          <a:solidFill>
                            <a:schemeClr val="tx2"/>
                          </a:solidFill>
                          <a:latin typeface="微軟正黑體" pitchFamily="34" charset="-120"/>
                          <a:ea typeface="微軟正黑體" pitchFamily="34" charset="-120"/>
                          <a:cs typeface="+mn-cs"/>
                        </a:rPr>
                        <a:t>異常通知全端開發串接</a:t>
                      </a:r>
                      <a:endParaRPr lang="en-US" altLang="zh-TW" sz="800" b="0" i="0" u="none" strike="noStrike" kern="1200" dirty="0" smtClean="0">
                        <a:solidFill>
                          <a:schemeClr val="tx2"/>
                        </a:solidFill>
                        <a:latin typeface="微軟正黑體" pitchFamily="34" charset="-120"/>
                        <a:ea typeface="微軟正黑體" pitchFamily="34" charset="-120"/>
                        <a:cs typeface="+mn-cs"/>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228600" indent="-228600" algn="l" fontAlgn="ctr">
                        <a:buFont typeface="+mj-lt"/>
                        <a:buAutoNum type="arabicPeriod"/>
                      </a:pPr>
                      <a:endParaRPr lang="en-US" altLang="zh-TW" sz="900" b="0" i="0" u="none" strike="noStrike" dirty="0" smtClean="0">
                        <a:solidFill>
                          <a:schemeClr val="tx2"/>
                        </a:solidFill>
                        <a:latin typeface="微軟正黑體" pitchFamily="34" charset="-120"/>
                        <a:ea typeface="微軟正黑體" pitchFamily="34" charset="-120"/>
                      </a:endParaRPr>
                    </a:p>
                  </a:txBody>
                  <a:tcPr marL="36000" marR="3600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pPr algn="ctr" fontAlgn="ctr"/>
                      <a:endParaRPr lang="zh-TW" altLang="en-US" sz="700" b="0" i="0" u="none" strike="noStrike">
                        <a:latin typeface="微軟正黑體"/>
                      </a:endParaRPr>
                    </a:p>
                  </a:txBody>
                  <a:tcPr marL="0" marR="0" marT="0" marB="0" anchor="ctr"/>
                </a:tc>
                <a:tc hMerge="1">
                  <a:txBody>
                    <a:bodyPr/>
                    <a:lstStyle/>
                    <a:p>
                      <a:endParaRPr lang="zh-TW" altLang="en-US"/>
                    </a:p>
                  </a:txBody>
                  <a:tcPr/>
                </a:tc>
                <a:tc hMerge="1">
                  <a:txBody>
                    <a:bodyPr/>
                    <a:lstStyle/>
                    <a:p>
                      <a:endParaRPr lang="zh-TW" altLang="en-US"/>
                    </a:p>
                  </a:txBody>
                  <a:tcPr/>
                </a:tc>
                <a:tc gridSpan="2">
                  <a:txBody>
                    <a:bodyPr/>
                    <a:lstStyle/>
                    <a:p>
                      <a:pPr algn="ctr" fontAlgn="ctr">
                        <a:lnSpc>
                          <a:spcPct val="100000"/>
                        </a:lnSpc>
                      </a:pPr>
                      <a:r>
                        <a:rPr lang="en-US" altLang="zh-TW" sz="900" b="0" i="0" u="none" strike="noStrike" dirty="0" smtClean="0">
                          <a:latin typeface="微軟正黑體" pitchFamily="34" charset="-120"/>
                          <a:ea typeface="微軟正黑體" pitchFamily="34" charset="-120"/>
                        </a:rPr>
                        <a:t>A+</a:t>
                      </a:r>
                      <a:endParaRPr lang="zh-TW" altLang="en-US" sz="900" b="0"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700" b="0" i="0" u="none" strike="noStrike">
                        <a:latin typeface="微軟正黑體"/>
                      </a:endParaRPr>
                    </a:p>
                  </a:txBody>
                  <a:tcPr marL="0" marR="0" marT="0" marB="0" anchor="ctr"/>
                </a:tc>
                <a:tc gridSpan="2">
                  <a:txBody>
                    <a:bodyPr/>
                    <a:lstStyle/>
                    <a:p>
                      <a:pPr marL="0" indent="0" algn="l" fontAlgn="ctr">
                        <a:lnSpc>
                          <a:spcPts val="1200"/>
                        </a:lnSpc>
                        <a:buNone/>
                      </a:pPr>
                      <a:r>
                        <a:rPr lang="zh-TW" altLang="en-US" sz="800" b="0" i="0" u="none" strike="noStrike" dirty="0" smtClean="0">
                          <a:latin typeface="微軟正黑體" pitchFamily="34" charset="-120"/>
                          <a:ea typeface="微軟正黑體" pitchFamily="34" charset="-120"/>
                        </a:rPr>
                        <a:t>　</a:t>
                      </a:r>
                      <a:r>
                        <a:rPr lang="zh-TW" altLang="en-US" sz="800" b="0" i="0" u="none" strike="noStrike" kern="1200" dirty="0" smtClean="0">
                          <a:solidFill>
                            <a:schemeClr val="tx1"/>
                          </a:solidFill>
                          <a:latin typeface="微軟正黑體" pitchFamily="34" charset="-120"/>
                          <a:ea typeface="微軟正黑體" pitchFamily="34" charset="-120"/>
                          <a:cs typeface="+mn-cs"/>
                        </a:rPr>
                        <a:t>具備成熟的研發能力，獨立完成多項系統架構設計與核心功能實作，將資料整合、計算與分析流程模組化並服務化。所建置之系統兼顧效能、可維護性與擴充性。</a:t>
                      </a:r>
                      <a:endParaRPr lang="en-US" altLang="zh-TW" sz="800" b="0" i="0" u="none" strike="noStrike" kern="1200" dirty="0" smtClean="0">
                        <a:solidFill>
                          <a:schemeClr val="tx1"/>
                        </a:solidFill>
                        <a:latin typeface="微軟正黑體" pitchFamily="34" charset="-120"/>
                        <a:ea typeface="微軟正黑體" pitchFamily="34" charset="-120"/>
                        <a:cs typeface="+mn-cs"/>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r>
              <a:tr h="540000">
                <a:tc gridSpan="2" vMerge="1">
                  <a:txBody>
                    <a:bodyPr/>
                    <a:lstStyle/>
                    <a:p>
                      <a:endParaRPr lang="zh-TW" altLang="en-US"/>
                    </a:p>
                  </a:txBody>
                  <a:tcPr/>
                </a:tc>
                <a:tc hMerge="1" vMerge="1">
                  <a:txBody>
                    <a:bodyPr/>
                    <a:lstStyle/>
                    <a:p>
                      <a:endParaRPr lang="zh-TW" altLang="en-US"/>
                    </a:p>
                  </a:txBody>
                  <a:tcPr/>
                </a:tc>
                <a:tc gridSpan="3">
                  <a:txBody>
                    <a:bodyPr/>
                    <a:lstStyle/>
                    <a:p>
                      <a:pPr algn="ctr" fontAlgn="ctr">
                        <a:lnSpc>
                          <a:spcPct val="100000"/>
                        </a:lnSpc>
                      </a:pPr>
                      <a:r>
                        <a:rPr lang="zh-TW" altLang="en-US" sz="900" b="1" i="0" u="none" strike="noStrike" dirty="0">
                          <a:latin typeface="微軟正黑體" pitchFamily="34" charset="-120"/>
                          <a:ea typeface="微軟正黑體" pitchFamily="34" charset="-120"/>
                        </a:rPr>
                        <a:t>論文或</a:t>
                      </a:r>
                      <a:r>
                        <a:rPr lang="zh-TW" altLang="en-US" sz="900" b="1" i="0" u="none" strike="noStrike" dirty="0" smtClean="0">
                          <a:latin typeface="微軟正黑體" pitchFamily="34" charset="-120"/>
                          <a:ea typeface="微軟正黑體" pitchFamily="34" charset="-120"/>
                        </a:rPr>
                        <a:t>專利</a:t>
                      </a:r>
                      <a:endParaRPr lang="en-US" altLang="zh-TW" sz="900" b="1" i="0" u="none" strike="noStrike" dirty="0" smtClean="0">
                        <a:latin typeface="微軟正黑體" pitchFamily="34" charset="-120"/>
                        <a:ea typeface="微軟正黑體" pitchFamily="34" charset="-120"/>
                      </a:endParaRPr>
                    </a:p>
                    <a:p>
                      <a:pPr algn="ctr" fontAlgn="ctr">
                        <a:lnSpc>
                          <a:spcPct val="100000"/>
                        </a:lnSpc>
                      </a:pPr>
                      <a:r>
                        <a:rPr lang="en-US" altLang="zh-TW" sz="900" b="1" i="0" u="none" strike="noStrike" dirty="0" smtClean="0">
                          <a:latin typeface="微軟正黑體" pitchFamily="34" charset="-120"/>
                          <a:ea typeface="微軟正黑體" pitchFamily="34" charset="-120"/>
                        </a:rPr>
                        <a:t>(</a:t>
                      </a:r>
                      <a:r>
                        <a:rPr lang="zh-TW" altLang="en-US" sz="900" b="1" i="0" u="none" strike="noStrike" dirty="0" smtClean="0">
                          <a:latin typeface="微軟正黑體" pitchFamily="34" charset="-120"/>
                          <a:ea typeface="微軟正黑體" pitchFamily="34" charset="-120"/>
                        </a:rPr>
                        <a:t>或其他特殊事蹟</a:t>
                      </a:r>
                      <a:r>
                        <a:rPr lang="en-US" altLang="zh-TW" sz="900" b="1" i="0" u="none" strike="noStrike" dirty="0" smtClean="0">
                          <a:latin typeface="微軟正黑體" pitchFamily="34" charset="-120"/>
                          <a:ea typeface="微軟正黑體" pitchFamily="34" charset="-120"/>
                        </a:rPr>
                        <a:t>)</a:t>
                      </a:r>
                      <a:endParaRPr lang="zh-TW" altLang="en-US" sz="900" b="1"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5">
                  <a:txBody>
                    <a:bodyPr/>
                    <a:lstStyle/>
                    <a:p>
                      <a:pPr algn="l" fontAlgn="ctr">
                        <a:lnSpc>
                          <a:spcPct val="100000"/>
                        </a:lnSpc>
                      </a:pPr>
                      <a:r>
                        <a:rPr lang="en-US" altLang="zh-TW" sz="800" b="0" i="0" u="none" strike="noStrike" kern="1200" dirty="0" smtClean="0">
                          <a:solidFill>
                            <a:schemeClr val="tx2"/>
                          </a:solidFill>
                          <a:latin typeface="微軟正黑體" pitchFamily="34" charset="-120"/>
                          <a:ea typeface="微軟正黑體" pitchFamily="34" charset="-120"/>
                          <a:cs typeface="+mn-cs"/>
                        </a:rPr>
                        <a:t>2023 L6A </a:t>
                      </a:r>
                      <a:r>
                        <a:rPr lang="zh-TW" altLang="en-US" sz="800" b="0" i="0" u="none" strike="noStrike" kern="1200" dirty="0" smtClean="0">
                          <a:solidFill>
                            <a:schemeClr val="tx2"/>
                          </a:solidFill>
                          <a:latin typeface="微軟正黑體" pitchFamily="34" charset="-120"/>
                          <a:ea typeface="微軟正黑體" pitchFamily="34" charset="-120"/>
                          <a:cs typeface="+mn-cs"/>
                        </a:rPr>
                        <a:t>智慧製造展第二名</a:t>
                      </a:r>
                      <a:r>
                        <a:rPr lang="zh-TW" altLang="en-US" sz="800" b="0" i="0" u="none" strike="noStrike" kern="1200" dirty="0">
                          <a:solidFill>
                            <a:schemeClr val="tx1"/>
                          </a:solidFill>
                          <a:latin typeface="微軟正黑體" pitchFamily="34" charset="-120"/>
                          <a:ea typeface="微軟正黑體" pitchFamily="34" charset="-120"/>
                          <a:cs typeface="+mn-cs"/>
                        </a:rPr>
                        <a:t>　</a:t>
                      </a:r>
                      <a:endParaRPr lang="zh-TW" altLang="en-US" sz="800" b="0" i="0" u="none" strike="noStrike" dirty="0">
                        <a:latin typeface="微軟正黑體" pitchFamily="34" charset="-120"/>
                        <a:ea typeface="微軟正黑體" pitchFamily="34" charset="-120"/>
                      </a:endParaRPr>
                    </a:p>
                    <a:p>
                      <a:pPr algn="l" fontAlgn="ctr">
                        <a:lnSpc>
                          <a:spcPct val="100000"/>
                        </a:lnSpc>
                      </a:pPr>
                      <a:r>
                        <a:rPr lang="zh-TW" altLang="en-US" sz="800" b="0" i="0" u="none" strike="noStrike" dirty="0">
                          <a:latin typeface="微軟正黑體" pitchFamily="34" charset="-120"/>
                          <a:ea typeface="微軟正黑體" pitchFamily="34" charset="-120"/>
                        </a:rPr>
                        <a:t>　</a:t>
                      </a: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700" b="0" i="0" u="none" strike="noStrike">
                        <a:latin typeface="微軟正黑體"/>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2">
                  <a:txBody>
                    <a:bodyPr/>
                    <a:lstStyle/>
                    <a:p>
                      <a:pPr algn="ctr" fontAlgn="ctr">
                        <a:lnSpc>
                          <a:spcPct val="100000"/>
                        </a:lnSpc>
                      </a:pPr>
                      <a:r>
                        <a:rPr lang="en-US" altLang="zh-TW" sz="900" b="0" i="0" u="none" strike="noStrike" smtClean="0">
                          <a:latin typeface="微軟正黑體" pitchFamily="34" charset="-120"/>
                          <a:ea typeface="微軟正黑體" pitchFamily="34" charset="-120"/>
                        </a:rPr>
                        <a:t>A</a:t>
                      </a:r>
                      <a:endParaRPr lang="zh-TW" altLang="en-US" sz="900" b="0" i="0" u="none" strike="noStrike" dirty="0">
                        <a:latin typeface="微軟正黑體" pitchFamily="34" charset="-120"/>
                        <a:ea typeface="微軟正黑體" pitchFamily="34" charset="-120"/>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algn="ctr" fontAlgn="ctr"/>
                      <a:endParaRPr lang="zh-TW" altLang="en-US" sz="700" b="0" i="0" u="none" strike="noStrike">
                        <a:latin typeface="微軟正黑體"/>
                      </a:endParaRPr>
                    </a:p>
                  </a:txBody>
                  <a:tcPr marL="0" marR="0" marT="0" marB="0" anchor="ctr"/>
                </a:tc>
                <a:tc gridSpan="2">
                  <a:txBody>
                    <a:bodyPr/>
                    <a:lstStyle/>
                    <a:p>
                      <a:pPr algn="l" fontAlgn="ctr">
                        <a:lnSpc>
                          <a:spcPts val="1200"/>
                        </a:lnSpc>
                      </a:pPr>
                      <a:r>
                        <a:rPr lang="zh-TW" altLang="en-US" sz="800" b="0" i="0" u="none" strike="noStrike" dirty="0" smtClean="0">
                          <a:latin typeface="微軟正黑體" pitchFamily="34" charset="-120"/>
                          <a:ea typeface="微軟正黑體" pitchFamily="34" charset="-120"/>
                        </a:rPr>
                        <a:t>在</a:t>
                      </a:r>
                      <a:r>
                        <a:rPr lang="en-US" altLang="zh-TW" sz="800" b="0" i="0" u="none" strike="noStrike" dirty="0" smtClean="0">
                          <a:latin typeface="微軟正黑體" pitchFamily="34" charset="-120"/>
                          <a:ea typeface="微軟正黑體" pitchFamily="34" charset="-120"/>
                        </a:rPr>
                        <a:t>2023 L6A</a:t>
                      </a:r>
                      <a:r>
                        <a:rPr lang="zh-TW" altLang="en-US" sz="800" b="0" i="0" u="none" strike="noStrike" dirty="0" smtClean="0">
                          <a:latin typeface="微軟正黑體" pitchFamily="34" charset="-120"/>
                          <a:ea typeface="微軟正黑體" pitchFamily="34" charset="-120"/>
                        </a:rPr>
                        <a:t>智慧製造展中獲得第二名的佳績，展現其技術應用的實際成效</a:t>
                      </a:r>
                      <a:endParaRPr lang="zh-TW" altLang="en-US" sz="700" b="0" i="0" u="none" strike="noStrike" kern="1200" dirty="0">
                        <a:solidFill>
                          <a:schemeClr val="tx1"/>
                        </a:solidFill>
                        <a:latin typeface="微軟正黑體" pitchFamily="34" charset="-120"/>
                        <a:ea typeface="微軟正黑體" pitchFamily="34" charset="-120"/>
                        <a:cs typeface="+mn-cs"/>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endParaRPr lang="zh-TW" altLang="en-US"/>
                    </a:p>
                  </a:txBody>
                  <a:tcPr/>
                </a:tc>
              </a:tr>
            </a:tbl>
          </a:graphicData>
        </a:graphic>
      </p:graphicFrame>
      <p:sp>
        <p:nvSpPr>
          <p:cNvPr id="5" name="標題 2"/>
          <p:cNvSpPr txBox="1">
            <a:spLocks/>
          </p:cNvSpPr>
          <p:nvPr/>
        </p:nvSpPr>
        <p:spPr>
          <a:xfrm>
            <a:off x="103842" y="0"/>
            <a:ext cx="7373937" cy="889000"/>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3200" kern="1200">
                <a:solidFill>
                  <a:srgbClr val="005087"/>
                </a:solidFill>
                <a:latin typeface="+mj-lt"/>
                <a:ea typeface="+mj-ea"/>
                <a:cs typeface="+mj-cs"/>
              </a:defRPr>
            </a:lvl1pPr>
          </a:lstStyle>
          <a:p>
            <a:r>
              <a:rPr lang="zh-TW" altLang="en-US" sz="2800" b="1" dirty="0" smtClean="0">
                <a:latin typeface="微軟正黑體" panose="020B0604030504040204" pitchFamily="34" charset="-120"/>
              </a:rPr>
              <a:t>智慧製造人才提報申請表</a:t>
            </a:r>
            <a:endParaRPr lang="zh-TW" altLang="en-US" sz="2800" b="1" dirty="0">
              <a:latin typeface="微軟正黑體" panose="020B0604030504040204" pitchFamily="34" charset="-120"/>
            </a:endParaRPr>
          </a:p>
        </p:txBody>
      </p:sp>
    </p:spTree>
    <p:extLst>
      <p:ext uri="{BB962C8B-B14F-4D97-AF65-F5344CB8AC3E}">
        <p14:creationId xmlns:p14="http://schemas.microsoft.com/office/powerpoint/2010/main" val="21978096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Прямая соединительная линия 7">
            <a:extLst>
              <a:ext uri="{FF2B5EF4-FFF2-40B4-BE49-F238E27FC236}">
                <a16:creationId xmlns="" xmlns:a16="http://schemas.microsoft.com/office/drawing/2014/main" id="{FECFDD74-2781-4622-BF75-992AD9F304A3}"/>
              </a:ext>
            </a:extLst>
          </p:cNvPr>
          <p:cNvCxnSpPr/>
          <p:nvPr/>
        </p:nvCxnSpPr>
        <p:spPr>
          <a:xfrm flipV="1">
            <a:off x="3269611" y="1849247"/>
            <a:ext cx="0" cy="432000"/>
          </a:xfrm>
          <a:prstGeom prst="line">
            <a:avLst/>
          </a:prstGeom>
          <a:ln w="25400">
            <a:solidFill>
              <a:srgbClr val="64DCF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7">
            <a:extLst>
              <a:ext uri="{FF2B5EF4-FFF2-40B4-BE49-F238E27FC236}">
                <a16:creationId xmlns="" xmlns:a16="http://schemas.microsoft.com/office/drawing/2014/main" id="{FECFDD74-2781-4622-BF75-992AD9F304A3}"/>
              </a:ext>
            </a:extLst>
          </p:cNvPr>
          <p:cNvCxnSpPr/>
          <p:nvPr/>
        </p:nvCxnSpPr>
        <p:spPr>
          <a:xfrm flipV="1">
            <a:off x="651514" y="1879638"/>
            <a:ext cx="0" cy="288000"/>
          </a:xfrm>
          <a:prstGeom prst="line">
            <a:avLst/>
          </a:prstGeom>
          <a:ln w="25400"/>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Круг: прозрачная заливка 8">
            <a:extLst>
              <a:ext uri="{FF2B5EF4-FFF2-40B4-BE49-F238E27FC236}">
                <a16:creationId xmlns="" xmlns:a16="http://schemas.microsoft.com/office/drawing/2014/main" id="{EDC4F14C-DCE6-4E69-B7DC-5545EA071D9D}"/>
              </a:ext>
            </a:extLst>
          </p:cNvPr>
          <p:cNvSpPr/>
          <p:nvPr/>
        </p:nvSpPr>
        <p:spPr>
          <a:xfrm>
            <a:off x="343370" y="1259141"/>
            <a:ext cx="616288" cy="616288"/>
          </a:xfrm>
          <a:prstGeom prst="donut">
            <a:avLst>
              <a:gd name="adj" fmla="val 8904"/>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13">
              <a:solidFill>
                <a:schemeClr val="tx1"/>
              </a:solidFill>
            </a:endParaRPr>
          </a:p>
        </p:txBody>
      </p:sp>
      <p:sp>
        <p:nvSpPr>
          <p:cNvPr id="32" name="TextBox 36">
            <a:extLst>
              <a:ext uri="{FF2B5EF4-FFF2-40B4-BE49-F238E27FC236}">
                <a16:creationId xmlns="" xmlns:a16="http://schemas.microsoft.com/office/drawing/2014/main" id="{550BB9FF-D8D0-4794-9F11-778EA5E7AAE6}"/>
              </a:ext>
            </a:extLst>
          </p:cNvPr>
          <p:cNvSpPr txBox="1"/>
          <p:nvPr/>
        </p:nvSpPr>
        <p:spPr>
          <a:xfrm>
            <a:off x="324564" y="971469"/>
            <a:ext cx="646331" cy="276999"/>
          </a:xfrm>
          <a:prstGeom prst="rect">
            <a:avLst/>
          </a:prstGeom>
          <a:noFill/>
        </p:spPr>
        <p:txBody>
          <a:bodyPr wrap="none" rtlCol="0">
            <a:spAutoFit/>
          </a:bodyPr>
          <a:lstStyle/>
          <a:p>
            <a:pPr algn="ctr"/>
            <a:r>
              <a:rPr lang="zh-TW" altLang="en-US" sz="1200" b="1" dirty="0" smtClean="0">
                <a:solidFill>
                  <a:schemeClr val="accent1"/>
                </a:solidFill>
              </a:rPr>
              <a:t>入職</a:t>
            </a:r>
            <a:r>
              <a:rPr lang="zh-TW" altLang="en-US" sz="1200" b="1" dirty="0">
                <a:solidFill>
                  <a:schemeClr val="accent1"/>
                </a:solidFill>
              </a:rPr>
              <a:t>前</a:t>
            </a:r>
            <a:endParaRPr lang="ru-RU" sz="1200" b="1" dirty="0">
              <a:solidFill>
                <a:schemeClr val="accent1"/>
              </a:solidFill>
            </a:endParaRPr>
          </a:p>
        </p:txBody>
      </p:sp>
      <p:sp>
        <p:nvSpPr>
          <p:cNvPr id="49" name="標題 11"/>
          <p:cNvSpPr>
            <a:spLocks noGrp="1"/>
          </p:cNvSpPr>
          <p:nvPr>
            <p:ph type="ctrTitle"/>
          </p:nvPr>
        </p:nvSpPr>
        <p:spPr>
          <a:xfrm>
            <a:off x="419782" y="144119"/>
            <a:ext cx="2081233" cy="605190"/>
          </a:xfrm>
        </p:spPr>
        <p:txBody>
          <a:bodyPr>
            <a:normAutofit/>
          </a:bodyPr>
          <a:lstStyle/>
          <a:p>
            <a:r>
              <a:rPr lang="zh-TW" altLang="en-US" b="1" dirty="0"/>
              <a:t>個人經歷</a:t>
            </a:r>
          </a:p>
        </p:txBody>
      </p:sp>
      <p:pic>
        <p:nvPicPr>
          <p:cNvPr id="72" name="Рисунок 22">
            <a:extLst>
              <a:ext uri="{FF2B5EF4-FFF2-40B4-BE49-F238E27FC236}">
                <a16:creationId xmlns="" xmlns:a16="http://schemas.microsoft.com/office/drawing/2014/main" id="{CA2C27FD-744A-4045-800F-8B12D2BB09F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rcRect/>
          <a:stretch/>
        </p:blipFill>
        <p:spPr>
          <a:xfrm>
            <a:off x="483438" y="1403469"/>
            <a:ext cx="328581" cy="328581"/>
          </a:xfrm>
          <a:prstGeom prst="rect">
            <a:avLst/>
          </a:prstGeom>
        </p:spPr>
      </p:pic>
      <p:sp>
        <p:nvSpPr>
          <p:cNvPr id="74" name="Стрелка: шеврон 2">
            <a:extLst>
              <a:ext uri="{FF2B5EF4-FFF2-40B4-BE49-F238E27FC236}">
                <a16:creationId xmlns="" xmlns:a16="http://schemas.microsoft.com/office/drawing/2014/main" id="{2589DD2A-5A3F-4DFC-B9CE-F153C4AB0216}"/>
              </a:ext>
            </a:extLst>
          </p:cNvPr>
          <p:cNvSpPr/>
          <p:nvPr/>
        </p:nvSpPr>
        <p:spPr>
          <a:xfrm>
            <a:off x="324564" y="1956444"/>
            <a:ext cx="2612060" cy="318031"/>
          </a:xfrm>
          <a:prstGeom prst="chevron">
            <a:avLst>
              <a:gd name="adj" fmla="val 58912"/>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13">
              <a:solidFill>
                <a:schemeClr val="tx1"/>
              </a:solidFill>
            </a:endParaRPr>
          </a:p>
        </p:txBody>
      </p:sp>
      <p:sp>
        <p:nvSpPr>
          <p:cNvPr id="75" name="TextBox 28">
            <a:extLst>
              <a:ext uri="{FF2B5EF4-FFF2-40B4-BE49-F238E27FC236}">
                <a16:creationId xmlns="" xmlns:a16="http://schemas.microsoft.com/office/drawing/2014/main" id="{AE5C7419-D675-492A-B049-E681808FE762}"/>
              </a:ext>
            </a:extLst>
          </p:cNvPr>
          <p:cNvSpPr txBox="1"/>
          <p:nvPr/>
        </p:nvSpPr>
        <p:spPr>
          <a:xfrm>
            <a:off x="543620" y="1945478"/>
            <a:ext cx="2153055" cy="307777"/>
          </a:xfrm>
          <a:prstGeom prst="rect">
            <a:avLst/>
          </a:prstGeom>
          <a:noFill/>
        </p:spPr>
        <p:txBody>
          <a:bodyPr wrap="square" rtlCol="0">
            <a:spAutoFit/>
          </a:bodyPr>
          <a:lstStyle/>
          <a:p>
            <a:pPr algn="ctr"/>
            <a:r>
              <a:rPr lang="en-US" altLang="zh-TW" sz="1400" b="1" dirty="0" smtClean="0">
                <a:solidFill>
                  <a:schemeClr val="bg1"/>
                </a:solidFill>
              </a:rPr>
              <a:t>2019-2022</a:t>
            </a:r>
            <a:endParaRPr lang="ru-RU" sz="1400" b="1" dirty="0">
              <a:solidFill>
                <a:schemeClr val="bg1"/>
              </a:solidFill>
            </a:endParaRPr>
          </a:p>
        </p:txBody>
      </p:sp>
      <p:sp>
        <p:nvSpPr>
          <p:cNvPr id="76" name="TextBox 30">
            <a:extLst>
              <a:ext uri="{FF2B5EF4-FFF2-40B4-BE49-F238E27FC236}">
                <a16:creationId xmlns="" xmlns:a16="http://schemas.microsoft.com/office/drawing/2014/main" id="{940DAF3F-07B5-4618-8F03-F5DFC9D923BA}"/>
              </a:ext>
            </a:extLst>
          </p:cNvPr>
          <p:cNvSpPr txBox="1"/>
          <p:nvPr/>
        </p:nvSpPr>
        <p:spPr>
          <a:xfrm>
            <a:off x="475347" y="2517123"/>
            <a:ext cx="2719010" cy="423193"/>
          </a:xfrm>
          <a:prstGeom prst="rect">
            <a:avLst/>
          </a:prstGeom>
          <a:noFill/>
        </p:spPr>
        <p:txBody>
          <a:bodyPr wrap="square" rtlCol="0">
            <a:spAutoFit/>
          </a:bodyPr>
          <a:lstStyle>
            <a:defPPr>
              <a:defRPr lang="en-US"/>
            </a:defPPr>
            <a:lvl1pPr marL="171450" indent="-171450">
              <a:spcBef>
                <a:spcPts val="300"/>
              </a:spcBef>
              <a:buFont typeface="Arial" panose="020B0604020202020204" pitchFamily="34" charset="0"/>
              <a:buChar char="•"/>
              <a:defRPr sz="900" b="1">
                <a:latin typeface="微軟正黑體" panose="020B0604030504040204" pitchFamily="34" charset="-120"/>
                <a:ea typeface="微軟正黑體" panose="020B0604030504040204" pitchFamily="34" charset="-120"/>
              </a:defRPr>
            </a:lvl1pPr>
            <a:lvl2pPr marL="514350" lvl="1" indent="-171450">
              <a:spcBef>
                <a:spcPts val="300"/>
              </a:spcBef>
              <a:buFont typeface="Arial" panose="020B0604020202020204" pitchFamily="34" charset="0"/>
              <a:buChar char="•"/>
              <a:defRPr sz="900" b="1">
                <a:latin typeface="微軟正黑體" panose="020B0604030504040204" pitchFamily="34" charset="-120"/>
                <a:ea typeface="微軟正黑體" panose="020B0604030504040204" pitchFamily="34" charset="-120"/>
              </a:defRPr>
            </a:lvl2pPr>
          </a:lstStyle>
          <a:p>
            <a:r>
              <a:rPr lang="zh-TW" altLang="en-US" dirty="0"/>
              <a:t>醫療智慧物聯網專案</a:t>
            </a:r>
            <a:r>
              <a:rPr lang="en-US" altLang="zh-TW" dirty="0"/>
              <a:t>(</a:t>
            </a:r>
            <a:r>
              <a:rPr lang="zh-TW" altLang="en-US" dirty="0"/>
              <a:t>馬偕醫院</a:t>
            </a:r>
            <a:r>
              <a:rPr lang="en-US" altLang="zh-TW" dirty="0"/>
              <a:t>)</a:t>
            </a:r>
          </a:p>
          <a:p>
            <a:pPr lvl="1"/>
            <a:r>
              <a:rPr lang="zh-TW" altLang="en-US" dirty="0"/>
              <a:t>病床追蹤定位、溫溼度自適應調整</a:t>
            </a:r>
            <a:endParaRPr lang="en-US" altLang="zh-TW" dirty="0"/>
          </a:p>
        </p:txBody>
      </p:sp>
      <p:sp>
        <p:nvSpPr>
          <p:cNvPr id="77" name="TextBox 30">
            <a:extLst>
              <a:ext uri="{FF2B5EF4-FFF2-40B4-BE49-F238E27FC236}">
                <a16:creationId xmlns="" xmlns:a16="http://schemas.microsoft.com/office/drawing/2014/main" id="{940DAF3F-07B5-4618-8F03-F5DFC9D923BA}"/>
              </a:ext>
            </a:extLst>
          </p:cNvPr>
          <p:cNvSpPr txBox="1"/>
          <p:nvPr/>
        </p:nvSpPr>
        <p:spPr>
          <a:xfrm>
            <a:off x="418981" y="3309939"/>
            <a:ext cx="2965444" cy="1423467"/>
          </a:xfrm>
          <a:prstGeom prst="rect">
            <a:avLst/>
          </a:prstGeom>
          <a:noFill/>
        </p:spPr>
        <p:txBody>
          <a:bodyPr wrap="square" rtlCol="0">
            <a:spAutoFit/>
          </a:bodyPr>
          <a:lstStyle>
            <a:defPPr>
              <a:defRPr lang="en-US"/>
            </a:defPPr>
            <a:lvl1pPr marL="171450" indent="-171450">
              <a:spcBef>
                <a:spcPts val="300"/>
              </a:spcBef>
              <a:buFont typeface="Arial" panose="020B0604020202020204" pitchFamily="34" charset="0"/>
              <a:buChar char="•"/>
              <a:defRPr sz="900" b="1">
                <a:latin typeface="微軟正黑體" panose="020B0604030504040204" pitchFamily="34" charset="-120"/>
                <a:ea typeface="微軟正黑體" panose="020B0604030504040204" pitchFamily="34" charset="-120"/>
              </a:defRPr>
            </a:lvl1pPr>
            <a:lvl2pPr marL="514350" lvl="1" indent="-171450">
              <a:spcBef>
                <a:spcPts val="300"/>
              </a:spcBef>
              <a:buFont typeface="Arial" panose="020B0604020202020204" pitchFamily="34" charset="0"/>
              <a:buChar char="•"/>
              <a:defRPr sz="900" b="1">
                <a:latin typeface="微軟正黑體" panose="020B0604030504040204" pitchFamily="34" charset="-120"/>
                <a:ea typeface="微軟正黑體" panose="020B0604030504040204" pitchFamily="34" charset="-120"/>
              </a:defRPr>
            </a:lvl2pPr>
          </a:lstStyle>
          <a:p>
            <a:r>
              <a:rPr lang="en-US" altLang="zh-TW" dirty="0"/>
              <a:t>AI</a:t>
            </a:r>
            <a:r>
              <a:rPr lang="zh-TW" altLang="en-US" dirty="0"/>
              <a:t>影像預測模型</a:t>
            </a:r>
            <a:r>
              <a:rPr lang="en-US" altLang="zh-TW" dirty="0"/>
              <a:t>(</a:t>
            </a:r>
            <a:r>
              <a:rPr lang="zh-TW" altLang="en-US" dirty="0"/>
              <a:t>醫學合作論文</a:t>
            </a:r>
            <a:r>
              <a:rPr lang="en-US" altLang="zh-TW" dirty="0"/>
              <a:t>)</a:t>
            </a:r>
          </a:p>
          <a:p>
            <a:pPr lvl="1"/>
            <a:r>
              <a:rPr lang="zh-TW" altLang="en-US" dirty="0"/>
              <a:t>糖尿病神經病變預測</a:t>
            </a:r>
            <a:r>
              <a:rPr lang="en-US" altLang="zh-TW" dirty="0"/>
              <a:t>(</a:t>
            </a:r>
            <a:r>
              <a:rPr lang="zh-TW" altLang="en-US" dirty="0"/>
              <a:t>高醫</a:t>
            </a:r>
            <a:r>
              <a:rPr lang="en-US" altLang="zh-TW" dirty="0"/>
              <a:t>)</a:t>
            </a:r>
          </a:p>
          <a:p>
            <a:pPr lvl="1"/>
            <a:r>
              <a:rPr lang="zh-TW" altLang="en-US" dirty="0"/>
              <a:t>眼底神經腎病變預測</a:t>
            </a:r>
            <a:r>
              <a:rPr lang="en-US" altLang="zh-TW" dirty="0"/>
              <a:t>(</a:t>
            </a:r>
            <a:r>
              <a:rPr lang="zh-TW" altLang="en-US" dirty="0"/>
              <a:t>高醫</a:t>
            </a:r>
            <a:r>
              <a:rPr lang="en-US" altLang="zh-TW" dirty="0"/>
              <a:t>)</a:t>
            </a:r>
          </a:p>
          <a:p>
            <a:pPr lvl="1"/>
            <a:r>
              <a:rPr lang="zh-TW" altLang="en-US" dirty="0"/>
              <a:t>乳房攝影異常偵測    </a:t>
            </a:r>
            <a:r>
              <a:rPr lang="en-US" altLang="zh-TW" dirty="0"/>
              <a:t>(</a:t>
            </a:r>
            <a:r>
              <a:rPr lang="zh-TW" altLang="en-US" dirty="0"/>
              <a:t>高醫</a:t>
            </a:r>
            <a:r>
              <a:rPr lang="en-US" altLang="zh-TW" dirty="0"/>
              <a:t>)</a:t>
            </a:r>
          </a:p>
          <a:p>
            <a:pPr lvl="1"/>
            <a:r>
              <a:rPr lang="zh-TW" altLang="en-US" dirty="0"/>
              <a:t>乳癌放射術後皮膚炎預測</a:t>
            </a:r>
            <a:r>
              <a:rPr lang="en-US" altLang="zh-TW" dirty="0"/>
              <a:t>(</a:t>
            </a:r>
            <a:r>
              <a:rPr lang="zh-TW" altLang="en-US" dirty="0"/>
              <a:t>長庚</a:t>
            </a:r>
            <a:r>
              <a:rPr lang="en-US" altLang="zh-TW" dirty="0"/>
              <a:t>)</a:t>
            </a:r>
          </a:p>
          <a:p>
            <a:r>
              <a:rPr lang="zh-TW" altLang="en-US" dirty="0"/>
              <a:t>放射治療計畫智慧預測及排程系統</a:t>
            </a:r>
            <a:r>
              <a:rPr lang="en-US" altLang="zh-TW" dirty="0"/>
              <a:t>(</a:t>
            </a:r>
            <a:r>
              <a:rPr lang="zh-TW" altLang="en-US" dirty="0"/>
              <a:t>碩論</a:t>
            </a:r>
            <a:r>
              <a:rPr lang="en-US" altLang="zh-TW" dirty="0"/>
              <a:t>)</a:t>
            </a:r>
          </a:p>
          <a:p>
            <a:pPr lvl="1">
              <a:lnSpc>
                <a:spcPts val="900"/>
              </a:lnSpc>
            </a:pPr>
            <a:r>
              <a:rPr lang="zh-TW" altLang="en-US" dirty="0"/>
              <a:t>場域 </a:t>
            </a:r>
            <a:r>
              <a:rPr lang="en-US" altLang="zh-TW" dirty="0"/>
              <a:t>-</a:t>
            </a:r>
            <a:r>
              <a:rPr lang="zh-TW" altLang="en-US" dirty="0"/>
              <a:t>阮綜合</a:t>
            </a:r>
            <a:r>
              <a:rPr lang="zh-TW" altLang="en-US" dirty="0" smtClean="0"/>
              <a:t>、</a:t>
            </a:r>
            <a:r>
              <a:rPr lang="zh-TW" altLang="en-US" dirty="0"/>
              <a:t>高</a:t>
            </a:r>
            <a:r>
              <a:rPr lang="zh-TW" altLang="en-US" dirty="0" smtClean="0"/>
              <a:t>榮、</a:t>
            </a:r>
            <a:r>
              <a:rPr lang="zh-TW" altLang="en-US" dirty="0"/>
              <a:t>長庚 放腫科 </a:t>
            </a:r>
            <a:r>
              <a:rPr lang="zh-TW" altLang="en-US" dirty="0" smtClean="0"/>
              <a:t>實際應用</a:t>
            </a:r>
            <a:endParaRPr lang="en-US" altLang="zh-TW" dirty="0" smtClean="0"/>
          </a:p>
          <a:p>
            <a:pPr>
              <a:lnSpc>
                <a:spcPts val="900"/>
              </a:lnSpc>
            </a:pPr>
            <a:r>
              <a:rPr lang="zh-TW" altLang="en-US" dirty="0" smtClean="0"/>
              <a:t>警政署詐騙預測及分類</a:t>
            </a:r>
            <a:r>
              <a:rPr lang="en-US" altLang="zh-TW" dirty="0" smtClean="0"/>
              <a:t>(</a:t>
            </a:r>
            <a:r>
              <a:rPr lang="zh-TW" altLang="en-US" dirty="0" smtClean="0"/>
              <a:t>全國電子專題創意競賽優勝</a:t>
            </a:r>
            <a:r>
              <a:rPr lang="en-US" altLang="zh-TW" dirty="0" smtClean="0"/>
              <a:t>)</a:t>
            </a:r>
            <a:endParaRPr lang="en-US" altLang="zh-TW" dirty="0"/>
          </a:p>
        </p:txBody>
      </p:sp>
      <p:sp>
        <p:nvSpPr>
          <p:cNvPr id="78" name="TextBox 36">
            <a:extLst>
              <a:ext uri="{FF2B5EF4-FFF2-40B4-BE49-F238E27FC236}">
                <a16:creationId xmlns="" xmlns:a16="http://schemas.microsoft.com/office/drawing/2014/main" id="{550BB9FF-D8D0-4794-9F11-778EA5E7AAE6}"/>
              </a:ext>
            </a:extLst>
          </p:cNvPr>
          <p:cNvSpPr txBox="1"/>
          <p:nvPr/>
        </p:nvSpPr>
        <p:spPr>
          <a:xfrm>
            <a:off x="343370" y="2295440"/>
            <a:ext cx="2108269" cy="276999"/>
          </a:xfrm>
          <a:prstGeom prst="rect">
            <a:avLst/>
          </a:prstGeom>
          <a:noFill/>
        </p:spPr>
        <p:txBody>
          <a:bodyPr wrap="none" rtlCol="0">
            <a:spAutoFit/>
          </a:bodyPr>
          <a:lstStyle/>
          <a:p>
            <a:pPr algn="ctr"/>
            <a:r>
              <a:rPr lang="zh-TW" altLang="en-US" sz="1200" b="1" dirty="0" smtClean="0">
                <a:solidFill>
                  <a:schemeClr val="accent1"/>
                </a:solidFill>
              </a:rPr>
              <a:t>工研院實習</a:t>
            </a:r>
            <a:r>
              <a:rPr lang="en-US" altLang="zh-TW" sz="1200" b="1" dirty="0" smtClean="0">
                <a:solidFill>
                  <a:schemeClr val="accent1"/>
                </a:solidFill>
              </a:rPr>
              <a:t>(2019.09-2020.06)</a:t>
            </a:r>
            <a:endParaRPr lang="ru-RU" sz="1200" b="1" dirty="0">
              <a:solidFill>
                <a:schemeClr val="accent1"/>
              </a:solidFill>
            </a:endParaRPr>
          </a:p>
        </p:txBody>
      </p:sp>
      <p:sp>
        <p:nvSpPr>
          <p:cNvPr id="79" name="TextBox 36">
            <a:extLst>
              <a:ext uri="{FF2B5EF4-FFF2-40B4-BE49-F238E27FC236}">
                <a16:creationId xmlns="" xmlns:a16="http://schemas.microsoft.com/office/drawing/2014/main" id="{550BB9FF-D8D0-4794-9F11-778EA5E7AAE6}"/>
              </a:ext>
            </a:extLst>
          </p:cNvPr>
          <p:cNvSpPr txBox="1"/>
          <p:nvPr/>
        </p:nvSpPr>
        <p:spPr>
          <a:xfrm>
            <a:off x="418981" y="2915267"/>
            <a:ext cx="2531462" cy="461665"/>
          </a:xfrm>
          <a:prstGeom prst="rect">
            <a:avLst/>
          </a:prstGeom>
          <a:noFill/>
        </p:spPr>
        <p:txBody>
          <a:bodyPr wrap="none" rtlCol="0">
            <a:spAutoFit/>
          </a:bodyPr>
          <a:lstStyle/>
          <a:p>
            <a:pPr algn="ctr"/>
            <a:r>
              <a:rPr lang="zh-TW" altLang="en-US" sz="1200" b="1" dirty="0" smtClean="0">
                <a:solidFill>
                  <a:schemeClr val="accent1"/>
                </a:solidFill>
              </a:rPr>
              <a:t>高雄應用科技大學 電子工程研究所</a:t>
            </a:r>
            <a:endParaRPr lang="en-US" altLang="zh-TW" sz="1200" b="1" dirty="0" smtClean="0">
              <a:solidFill>
                <a:schemeClr val="accent1"/>
              </a:solidFill>
            </a:endParaRPr>
          </a:p>
          <a:p>
            <a:r>
              <a:rPr lang="en-US" altLang="zh-TW" sz="1200" b="1" dirty="0" smtClean="0">
                <a:solidFill>
                  <a:schemeClr val="accent1"/>
                </a:solidFill>
              </a:rPr>
              <a:t>(2020-2022)</a:t>
            </a:r>
            <a:endParaRPr lang="ru-RU" sz="1200" b="1" dirty="0">
              <a:solidFill>
                <a:schemeClr val="accent1"/>
              </a:solidFill>
            </a:endParaRPr>
          </a:p>
        </p:txBody>
      </p:sp>
      <p:sp>
        <p:nvSpPr>
          <p:cNvPr id="80" name="Стрелка: шеврон 2">
            <a:extLst>
              <a:ext uri="{FF2B5EF4-FFF2-40B4-BE49-F238E27FC236}">
                <a16:creationId xmlns="" xmlns:a16="http://schemas.microsoft.com/office/drawing/2014/main" id="{2589DD2A-5A3F-4DFC-B9CE-F153C4AB0216}"/>
              </a:ext>
            </a:extLst>
          </p:cNvPr>
          <p:cNvSpPr/>
          <p:nvPr/>
        </p:nvSpPr>
        <p:spPr>
          <a:xfrm>
            <a:off x="3030866" y="1956444"/>
            <a:ext cx="2948402" cy="318031"/>
          </a:xfrm>
          <a:prstGeom prst="chevron">
            <a:avLst>
              <a:gd name="adj" fmla="val 58912"/>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13">
              <a:solidFill>
                <a:schemeClr val="tx1"/>
              </a:solidFill>
            </a:endParaRPr>
          </a:p>
        </p:txBody>
      </p:sp>
      <p:sp>
        <p:nvSpPr>
          <p:cNvPr id="81" name="TextBox 28">
            <a:extLst>
              <a:ext uri="{FF2B5EF4-FFF2-40B4-BE49-F238E27FC236}">
                <a16:creationId xmlns="" xmlns:a16="http://schemas.microsoft.com/office/drawing/2014/main" id="{AE5C7419-D675-492A-B049-E681808FE762}"/>
              </a:ext>
            </a:extLst>
          </p:cNvPr>
          <p:cNvSpPr txBox="1"/>
          <p:nvPr/>
        </p:nvSpPr>
        <p:spPr>
          <a:xfrm>
            <a:off x="3249922" y="1945478"/>
            <a:ext cx="2153055" cy="307777"/>
          </a:xfrm>
          <a:prstGeom prst="rect">
            <a:avLst/>
          </a:prstGeom>
          <a:noFill/>
        </p:spPr>
        <p:txBody>
          <a:bodyPr wrap="square" rtlCol="0">
            <a:spAutoFit/>
          </a:bodyPr>
          <a:lstStyle/>
          <a:p>
            <a:pPr algn="ctr"/>
            <a:r>
              <a:rPr lang="en-US" altLang="zh-TW" sz="1400" b="1" dirty="0" smtClean="0">
                <a:solidFill>
                  <a:schemeClr val="bg1"/>
                </a:solidFill>
              </a:rPr>
              <a:t>2022.09-2024.11</a:t>
            </a:r>
            <a:endParaRPr lang="ru-RU" sz="1400" b="1" dirty="0">
              <a:solidFill>
                <a:schemeClr val="bg1"/>
              </a:solidFill>
            </a:endParaRPr>
          </a:p>
        </p:txBody>
      </p:sp>
      <p:sp>
        <p:nvSpPr>
          <p:cNvPr id="82" name="TextBox 30">
            <a:extLst>
              <a:ext uri="{FF2B5EF4-FFF2-40B4-BE49-F238E27FC236}">
                <a16:creationId xmlns="" xmlns:a16="http://schemas.microsoft.com/office/drawing/2014/main" id="{940DAF3F-07B5-4618-8F03-F5DFC9D923BA}"/>
              </a:ext>
            </a:extLst>
          </p:cNvPr>
          <p:cNvSpPr txBox="1"/>
          <p:nvPr/>
        </p:nvSpPr>
        <p:spPr>
          <a:xfrm>
            <a:off x="3086911" y="2644098"/>
            <a:ext cx="3190672" cy="1469633"/>
          </a:xfrm>
          <a:prstGeom prst="rect">
            <a:avLst/>
          </a:prstGeom>
          <a:noFill/>
        </p:spPr>
        <p:txBody>
          <a:bodyPr wrap="square" rtlCol="0">
            <a:spAutoFit/>
          </a:bodyPr>
          <a:lstStyle/>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專案開發</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落地</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閉環</a:t>
            </a:r>
            <a:endParaRPr lang="en-US" altLang="zh-TW" sz="900" b="1" dirty="0" smtClean="0">
              <a:latin typeface="微軟正黑體" panose="020B0604030504040204" pitchFamily="34" charset="-120"/>
              <a:ea typeface="微軟正黑體" panose="020B0604030504040204" pitchFamily="34" charset="-120"/>
            </a:endParaRPr>
          </a:p>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數據流整合</a:t>
            </a:r>
            <a:r>
              <a:rPr lang="en-US" altLang="zh-TW" sz="900" b="1" dirty="0" smtClean="0">
                <a:latin typeface="微軟正黑體" panose="020B0604030504040204" pitchFamily="34" charset="-120"/>
                <a:ea typeface="微軟正黑體" panose="020B0604030504040204" pitchFamily="34" charset="-120"/>
              </a:rPr>
              <a:t>(Fab</a:t>
            </a:r>
            <a:r>
              <a:rPr lang="zh-TW" altLang="en-US" sz="900" b="1" dirty="0" smtClean="0">
                <a:latin typeface="微軟正黑體" panose="020B0604030504040204" pitchFamily="34" charset="-120"/>
                <a:ea typeface="微軟正黑體" panose="020B0604030504040204" pitchFamily="34" charset="-120"/>
              </a:rPr>
              <a:t>機台、製程網頁</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 提取</a:t>
            </a:r>
            <a:r>
              <a:rPr lang="zh-TW" altLang="en-US" sz="900" b="1" dirty="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 分析</a:t>
            </a:r>
            <a:endParaRPr lang="en-US" altLang="zh-TW" sz="900" b="1" dirty="0" smtClean="0">
              <a:latin typeface="微軟正黑體" panose="020B0604030504040204" pitchFamily="34" charset="-120"/>
              <a:ea typeface="微軟正黑體" panose="020B0604030504040204" pitchFamily="34" charset="-120"/>
            </a:endParaRPr>
          </a:p>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資料庫</a:t>
            </a:r>
            <a:r>
              <a:rPr lang="en-US" altLang="zh-TW" sz="900" b="1" dirty="0" smtClean="0">
                <a:latin typeface="微軟正黑體" panose="020B0604030504040204" pitchFamily="34" charset="-120"/>
                <a:ea typeface="微軟正黑體" panose="020B0604030504040204" pitchFamily="34" charset="-120"/>
              </a:rPr>
              <a:t>(MySQL)</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&amp;</a:t>
            </a:r>
            <a:r>
              <a:rPr lang="zh-TW" altLang="en-US" sz="900" b="1" dirty="0" smtClean="0">
                <a:latin typeface="微軟正黑體" panose="020B0604030504040204" pitchFamily="34" charset="-120"/>
                <a:ea typeface="微軟正黑體" panose="020B0604030504040204" pitchFamily="34" charset="-120"/>
              </a:rPr>
              <a:t> 開發環境</a:t>
            </a:r>
            <a:r>
              <a:rPr lang="en-US" altLang="zh-TW" sz="900" b="1" dirty="0" smtClean="0">
                <a:latin typeface="微軟正黑體" panose="020B0604030504040204" pitchFamily="34" charset="-120"/>
                <a:ea typeface="微軟正黑體" panose="020B0604030504040204" pitchFamily="34" charset="-120"/>
              </a:rPr>
              <a:t>Server</a:t>
            </a:r>
            <a:r>
              <a:rPr lang="zh-TW" altLang="en-US" sz="900" b="1" dirty="0" smtClean="0">
                <a:latin typeface="微軟正黑體" panose="020B0604030504040204" pitchFamily="34" charset="-120"/>
                <a:ea typeface="微軟正黑體" panose="020B0604030504040204" pitchFamily="34" charset="-120"/>
              </a:rPr>
              <a:t> 建置</a:t>
            </a:r>
            <a:endParaRPr lang="en-US" altLang="zh-TW" sz="900" b="1" dirty="0" smtClean="0">
              <a:latin typeface="微軟正黑體" panose="020B0604030504040204" pitchFamily="34" charset="-120"/>
              <a:ea typeface="微軟正黑體" panose="020B0604030504040204" pitchFamily="34" charset="-120"/>
            </a:endParaRPr>
          </a:p>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系統開發</a:t>
            </a:r>
            <a:r>
              <a:rPr lang="en-US" altLang="zh-TW" sz="900" b="1" dirty="0" smtClean="0">
                <a:latin typeface="微軟正黑體" panose="020B0604030504040204" pitchFamily="34" charset="-120"/>
                <a:ea typeface="微軟正黑體" panose="020B0604030504040204" pitchFamily="34" charset="-120"/>
              </a:rPr>
              <a:t>(Java</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Scripts,</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PHP)</a:t>
            </a:r>
          </a:p>
          <a:p>
            <a:pPr marL="171450" indent="-171450">
              <a:spcBef>
                <a:spcPts val="300"/>
              </a:spcBef>
              <a:buFont typeface="Arial" panose="020B0604020202020204" pitchFamily="34" charset="0"/>
              <a:buChar char="•"/>
            </a:pPr>
            <a:r>
              <a:rPr lang="en-US" altLang="zh-TW" sz="900" b="1" dirty="0" smtClean="0">
                <a:latin typeface="微軟正黑體" panose="020B0604030504040204" pitchFamily="34" charset="-120"/>
                <a:ea typeface="微軟正黑體" panose="020B0604030504040204" pitchFamily="34" charset="-120"/>
              </a:rPr>
              <a:t>AI</a:t>
            </a:r>
            <a:r>
              <a:rPr lang="zh-TW" altLang="en-US" sz="900" b="1" dirty="0" smtClean="0">
                <a:latin typeface="微軟正黑體" panose="020B0604030504040204" pitchFamily="34" charset="-120"/>
                <a:ea typeface="微軟正黑體" panose="020B0604030504040204" pitchFamily="34" charset="-120"/>
              </a:rPr>
              <a:t>影像</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物件偵測</a:t>
            </a:r>
            <a:r>
              <a:rPr lang="en-US" altLang="zh-TW" sz="900" b="1" dirty="0" smtClean="0">
                <a:latin typeface="微軟正黑體" panose="020B0604030504040204" pitchFamily="34" charset="-120"/>
                <a:ea typeface="微軟正黑體" panose="020B0604030504040204" pitchFamily="34" charset="-120"/>
              </a:rPr>
              <a:t>(YOLO</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v5)</a:t>
            </a:r>
            <a:r>
              <a:rPr lang="zh-TW" altLang="en-US" sz="900" b="1" dirty="0" smtClean="0">
                <a:latin typeface="微軟正黑體" panose="020B0604030504040204" pitchFamily="34" charset="-120"/>
                <a:ea typeface="微軟正黑體" panose="020B0604030504040204" pitchFamily="34" charset="-120"/>
              </a:rPr>
              <a:t>、影像處理技術</a:t>
            </a:r>
            <a:endParaRPr lang="en-US" altLang="zh-TW" sz="900" b="1" dirty="0" smtClean="0">
              <a:latin typeface="微軟正黑體" panose="020B0604030504040204" pitchFamily="34" charset="-120"/>
              <a:ea typeface="微軟正黑體" panose="020B0604030504040204" pitchFamily="34" charset="-120"/>
            </a:endParaRPr>
          </a:p>
          <a:p>
            <a:pPr marL="171450" indent="-171450">
              <a:spcBef>
                <a:spcPts val="300"/>
              </a:spcBef>
              <a:buFont typeface="Arial" panose="020B0604020202020204" pitchFamily="34" charset="0"/>
              <a:buChar char="•"/>
            </a:pPr>
            <a:r>
              <a:rPr lang="en-US" altLang="zh-TW" sz="900" b="1" dirty="0" smtClean="0">
                <a:latin typeface="微軟正黑體" panose="020B0604030504040204" pitchFamily="34" charset="-120"/>
                <a:ea typeface="微軟正黑體" panose="020B0604030504040204" pitchFamily="34" charset="-120"/>
              </a:rPr>
              <a:t>UI</a:t>
            </a:r>
            <a:r>
              <a:rPr lang="zh-TW" altLang="en-US" sz="900" b="1" dirty="0" smtClean="0">
                <a:latin typeface="微軟正黑體" panose="020B0604030504040204" pitchFamily="34" charset="-120"/>
                <a:ea typeface="微軟正黑體" panose="020B0604030504040204" pitchFamily="34" charset="-120"/>
              </a:rPr>
              <a:t>介面開發建置</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網頁系統、可視化報表</a:t>
            </a:r>
            <a:r>
              <a:rPr lang="en-US" altLang="zh-TW" sz="900" b="1" dirty="0" smtClean="0">
                <a:latin typeface="微軟正黑體" panose="020B0604030504040204" pitchFamily="34" charset="-120"/>
                <a:ea typeface="微軟正黑體" panose="020B0604030504040204" pitchFamily="34" charset="-120"/>
              </a:rPr>
              <a:t>)</a:t>
            </a:r>
            <a:endParaRPr lang="en-US" altLang="zh-TW" sz="900" b="1" dirty="0">
              <a:latin typeface="微軟正黑體" panose="020B0604030504040204" pitchFamily="34" charset="-120"/>
              <a:ea typeface="微軟正黑體" panose="020B0604030504040204" pitchFamily="34" charset="-120"/>
            </a:endParaRPr>
          </a:p>
          <a:p>
            <a:pPr marL="171450" indent="-171450">
              <a:spcBef>
                <a:spcPts val="300"/>
              </a:spcBef>
              <a:buFont typeface="Arial" panose="020B0604020202020204" pitchFamily="34" charset="0"/>
              <a:buChar char="•"/>
            </a:pPr>
            <a:endParaRPr lang="en-US" altLang="zh-TW" sz="900" b="1" dirty="0" smtClean="0">
              <a:latin typeface="微軟正黑體" panose="020B0604030504040204" pitchFamily="34" charset="-120"/>
              <a:ea typeface="微軟正黑體" panose="020B0604030504040204" pitchFamily="34" charset="-120"/>
            </a:endParaRPr>
          </a:p>
          <a:p>
            <a:pPr marL="171450" indent="-171450">
              <a:spcBef>
                <a:spcPts val="300"/>
              </a:spcBef>
              <a:buFont typeface="Arial" panose="020B0604020202020204" pitchFamily="34" charset="0"/>
              <a:buChar char="•"/>
            </a:pPr>
            <a:endParaRPr lang="en-US" altLang="zh-TW" sz="900" b="1" dirty="0" smtClean="0">
              <a:latin typeface="微軟正黑體" panose="020B0604030504040204" pitchFamily="34" charset="-120"/>
              <a:ea typeface="微軟正黑體" panose="020B0604030504040204" pitchFamily="34" charset="-120"/>
            </a:endParaRPr>
          </a:p>
        </p:txBody>
      </p:sp>
      <p:sp>
        <p:nvSpPr>
          <p:cNvPr id="83" name="TextBox 36">
            <a:extLst>
              <a:ext uri="{FF2B5EF4-FFF2-40B4-BE49-F238E27FC236}">
                <a16:creationId xmlns="" xmlns:a16="http://schemas.microsoft.com/office/drawing/2014/main" id="{550BB9FF-D8D0-4794-9F11-778EA5E7AAE6}"/>
              </a:ext>
            </a:extLst>
          </p:cNvPr>
          <p:cNvSpPr txBox="1"/>
          <p:nvPr/>
        </p:nvSpPr>
        <p:spPr>
          <a:xfrm>
            <a:off x="3138792" y="2328805"/>
            <a:ext cx="1031051" cy="276999"/>
          </a:xfrm>
          <a:prstGeom prst="rect">
            <a:avLst/>
          </a:prstGeom>
          <a:noFill/>
        </p:spPr>
        <p:txBody>
          <a:bodyPr wrap="none" rtlCol="0">
            <a:spAutoFit/>
          </a:bodyPr>
          <a:lstStyle/>
          <a:p>
            <a:pPr algn="ctr"/>
            <a:r>
              <a:rPr lang="en-US" altLang="zh-TW" sz="1200" b="1" dirty="0" smtClean="0">
                <a:solidFill>
                  <a:schemeClr val="accent2"/>
                </a:solidFill>
              </a:rPr>
              <a:t>L6AP1-</a:t>
            </a:r>
            <a:r>
              <a:rPr lang="zh-TW" altLang="en-US" sz="1200" b="1" dirty="0" smtClean="0">
                <a:solidFill>
                  <a:schemeClr val="accent2"/>
                </a:solidFill>
              </a:rPr>
              <a:t>技能</a:t>
            </a:r>
            <a:endParaRPr lang="ru-RU" sz="1200" b="1" dirty="0">
              <a:solidFill>
                <a:schemeClr val="accent2"/>
              </a:solidFill>
            </a:endParaRPr>
          </a:p>
        </p:txBody>
      </p:sp>
      <p:sp>
        <p:nvSpPr>
          <p:cNvPr id="92" name="TextBox 44">
            <a:extLst>
              <a:ext uri="{FF2B5EF4-FFF2-40B4-BE49-F238E27FC236}">
                <a16:creationId xmlns="" xmlns:a16="http://schemas.microsoft.com/office/drawing/2014/main" id="{3BEB0CEB-DB0F-4661-A06A-B73322E73857}"/>
              </a:ext>
            </a:extLst>
          </p:cNvPr>
          <p:cNvSpPr txBox="1"/>
          <p:nvPr/>
        </p:nvSpPr>
        <p:spPr>
          <a:xfrm>
            <a:off x="4240624" y="1248468"/>
            <a:ext cx="4028603" cy="584775"/>
          </a:xfrm>
          <a:prstGeom prst="rect">
            <a:avLst/>
          </a:prstGeom>
          <a:noFill/>
        </p:spPr>
        <p:txBody>
          <a:bodyPr wrap="square" rtlCol="0">
            <a:spAutoFit/>
          </a:bodyPr>
          <a:lstStyle/>
          <a:p>
            <a:pPr algn="ctr"/>
            <a:r>
              <a:rPr lang="en-US" sz="1200" b="1" dirty="0" smtClean="0"/>
              <a:t>AUO</a:t>
            </a:r>
          </a:p>
          <a:p>
            <a:pPr algn="ctr"/>
            <a:r>
              <a:rPr lang="zh-TW" altLang="en-US" sz="1200" b="1" dirty="0" smtClean="0"/>
              <a:t>智慧製造工程師</a:t>
            </a:r>
            <a:endParaRPr lang="en-US" altLang="zh-TW" sz="1200" b="1" dirty="0" smtClean="0"/>
          </a:p>
          <a:p>
            <a:pPr algn="ctr"/>
            <a:r>
              <a:rPr lang="en-US" altLang="zh-TW" sz="800" b="1" dirty="0" smtClean="0"/>
              <a:t>(</a:t>
            </a:r>
            <a:r>
              <a:rPr lang="zh-TW" altLang="en-US" sz="800" b="1" dirty="0" smtClean="0"/>
              <a:t>數據視覺化，自動化數據整合，影像處理</a:t>
            </a:r>
            <a:r>
              <a:rPr lang="en-US" altLang="zh-TW" sz="800" b="1" dirty="0" smtClean="0"/>
              <a:t>/</a:t>
            </a:r>
            <a:r>
              <a:rPr lang="zh-TW" altLang="en-US" sz="800" b="1" dirty="0" smtClean="0"/>
              <a:t>辨識，系統開發，網頁設計</a:t>
            </a:r>
            <a:r>
              <a:rPr lang="en-US" altLang="zh-TW" sz="800" b="1" dirty="0" smtClean="0"/>
              <a:t>)</a:t>
            </a:r>
            <a:endParaRPr lang="en-US" altLang="zh-TW" sz="800" b="1" dirty="0"/>
          </a:p>
        </p:txBody>
      </p:sp>
      <p:sp>
        <p:nvSpPr>
          <p:cNvPr id="27" name="Стрелка: шеврон 93">
            <a:extLst>
              <a:ext uri="{FF2B5EF4-FFF2-40B4-BE49-F238E27FC236}">
                <a16:creationId xmlns="" xmlns:a16="http://schemas.microsoft.com/office/drawing/2014/main" id="{BB3B7A49-90AE-40F7-AAF4-60B2543DF174}"/>
              </a:ext>
            </a:extLst>
          </p:cNvPr>
          <p:cNvSpPr/>
          <p:nvPr/>
        </p:nvSpPr>
        <p:spPr>
          <a:xfrm>
            <a:off x="5936769" y="1969022"/>
            <a:ext cx="2785699" cy="318031"/>
          </a:xfrm>
          <a:prstGeom prst="chevron">
            <a:avLst>
              <a:gd name="adj" fmla="val 58912"/>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13">
              <a:solidFill>
                <a:schemeClr val="tx1"/>
              </a:solidFill>
            </a:endParaRPr>
          </a:p>
        </p:txBody>
      </p:sp>
      <p:sp>
        <p:nvSpPr>
          <p:cNvPr id="28" name="TextBox 28">
            <a:extLst>
              <a:ext uri="{FF2B5EF4-FFF2-40B4-BE49-F238E27FC236}">
                <a16:creationId xmlns="" xmlns:a16="http://schemas.microsoft.com/office/drawing/2014/main" id="{AE5C7419-D675-492A-B049-E681808FE762}"/>
              </a:ext>
            </a:extLst>
          </p:cNvPr>
          <p:cNvSpPr txBox="1"/>
          <p:nvPr/>
        </p:nvSpPr>
        <p:spPr>
          <a:xfrm>
            <a:off x="6116172" y="1956444"/>
            <a:ext cx="2153055" cy="307777"/>
          </a:xfrm>
          <a:prstGeom prst="rect">
            <a:avLst/>
          </a:prstGeom>
          <a:noFill/>
        </p:spPr>
        <p:txBody>
          <a:bodyPr wrap="square" rtlCol="0">
            <a:spAutoFit/>
          </a:bodyPr>
          <a:lstStyle/>
          <a:p>
            <a:pPr algn="ctr"/>
            <a:r>
              <a:rPr lang="en-US" altLang="zh-TW" sz="1400" b="1" dirty="0" smtClean="0">
                <a:solidFill>
                  <a:schemeClr val="bg1"/>
                </a:solidFill>
              </a:rPr>
              <a:t>2024.11</a:t>
            </a:r>
            <a:r>
              <a:rPr lang="zh-TW" altLang="en-US" sz="1400" b="1" dirty="0" smtClean="0">
                <a:solidFill>
                  <a:schemeClr val="bg1"/>
                </a:solidFill>
              </a:rPr>
              <a:t> </a:t>
            </a:r>
            <a:r>
              <a:rPr lang="en-US" altLang="zh-TW" sz="1400" b="1" dirty="0" smtClean="0">
                <a:solidFill>
                  <a:schemeClr val="bg1"/>
                </a:solidFill>
              </a:rPr>
              <a:t>-</a:t>
            </a:r>
            <a:r>
              <a:rPr lang="zh-TW" altLang="en-US" sz="1400" b="1" dirty="0" smtClean="0">
                <a:solidFill>
                  <a:schemeClr val="bg1"/>
                </a:solidFill>
              </a:rPr>
              <a:t> </a:t>
            </a:r>
            <a:endParaRPr lang="ru-RU" sz="1400" b="1" dirty="0">
              <a:solidFill>
                <a:schemeClr val="bg1"/>
              </a:solidFill>
            </a:endParaRPr>
          </a:p>
        </p:txBody>
      </p:sp>
      <p:sp>
        <p:nvSpPr>
          <p:cNvPr id="29" name="TextBox 30">
            <a:extLst>
              <a:ext uri="{FF2B5EF4-FFF2-40B4-BE49-F238E27FC236}">
                <a16:creationId xmlns="" xmlns:a16="http://schemas.microsoft.com/office/drawing/2014/main" id="{940DAF3F-07B5-4618-8F03-F5DFC9D923BA}"/>
              </a:ext>
            </a:extLst>
          </p:cNvPr>
          <p:cNvSpPr txBox="1"/>
          <p:nvPr/>
        </p:nvSpPr>
        <p:spPr>
          <a:xfrm>
            <a:off x="5936769" y="2644098"/>
            <a:ext cx="2892357" cy="761747"/>
          </a:xfrm>
          <a:prstGeom prst="rect">
            <a:avLst/>
          </a:prstGeom>
          <a:noFill/>
        </p:spPr>
        <p:txBody>
          <a:bodyPr wrap="square" rtlCol="0">
            <a:spAutoFit/>
          </a:bodyPr>
          <a:lstStyle/>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依照工程部需求進行共同開發</a:t>
            </a:r>
            <a:endParaRPr lang="en-US" altLang="zh-TW" sz="900" b="1" dirty="0" smtClean="0">
              <a:latin typeface="微軟正黑體" panose="020B0604030504040204" pitchFamily="34" charset="-120"/>
              <a:ea typeface="微軟正黑體" panose="020B0604030504040204" pitchFamily="34" charset="-120"/>
            </a:endParaRPr>
          </a:p>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後端開發：</a:t>
            </a:r>
            <a:r>
              <a:rPr lang="en-US" altLang="zh-TW" sz="900" b="1" dirty="0" smtClean="0">
                <a:latin typeface="微軟正黑體" panose="020B0604030504040204" pitchFamily="34" charset="-120"/>
                <a:ea typeface="微軟正黑體" panose="020B0604030504040204" pitchFamily="34" charset="-120"/>
              </a:rPr>
              <a:t>Fast API/Reset API</a:t>
            </a:r>
          </a:p>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資料庫</a:t>
            </a:r>
            <a:r>
              <a:rPr lang="zh-TW" altLang="en-US" sz="900" b="1" dirty="0">
                <a:latin typeface="微軟正黑體" panose="020B0604030504040204" pitchFamily="34" charset="-120"/>
                <a:ea typeface="微軟正黑體" panose="020B0604030504040204" pitchFamily="34" charset="-120"/>
              </a:rPr>
              <a:t>：</a:t>
            </a:r>
            <a:r>
              <a:rPr lang="en-US" altLang="zh-TW" sz="900" b="1" dirty="0" smtClean="0">
                <a:latin typeface="微軟正黑體" panose="020B0604030504040204" pitchFamily="34" charset="-120"/>
                <a:ea typeface="微軟正黑體" panose="020B0604030504040204" pitchFamily="34" charset="-120"/>
              </a:rPr>
              <a:t>Oracle/MySQL</a:t>
            </a:r>
          </a:p>
          <a:p>
            <a:pPr marL="171450" indent="-171450">
              <a:spcBef>
                <a:spcPts val="300"/>
              </a:spcBef>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前端網頁設計</a:t>
            </a:r>
            <a:r>
              <a:rPr lang="zh-TW" altLang="en-US" sz="900" b="1" dirty="0">
                <a:latin typeface="微軟正黑體" panose="020B0604030504040204" pitchFamily="34" charset="-120"/>
                <a:ea typeface="微軟正黑體" panose="020B0604030504040204" pitchFamily="34" charset="-120"/>
              </a:rPr>
              <a:t>：</a:t>
            </a:r>
            <a:r>
              <a:rPr lang="en-US" altLang="zh-TW" sz="900" b="1" dirty="0" smtClean="0">
                <a:latin typeface="微軟正黑體" panose="020B0604030504040204" pitchFamily="34" charset="-120"/>
                <a:ea typeface="微軟正黑體" panose="020B0604030504040204" pitchFamily="34" charset="-120"/>
              </a:rPr>
              <a:t>HTML,</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JavaScripts,</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CSS</a:t>
            </a:r>
          </a:p>
        </p:txBody>
      </p:sp>
      <p:sp>
        <p:nvSpPr>
          <p:cNvPr id="30" name="TextBox 36">
            <a:extLst>
              <a:ext uri="{FF2B5EF4-FFF2-40B4-BE49-F238E27FC236}">
                <a16:creationId xmlns="" xmlns:a16="http://schemas.microsoft.com/office/drawing/2014/main" id="{550BB9FF-D8D0-4794-9F11-778EA5E7AAE6}"/>
              </a:ext>
            </a:extLst>
          </p:cNvPr>
          <p:cNvSpPr txBox="1"/>
          <p:nvPr/>
        </p:nvSpPr>
        <p:spPr>
          <a:xfrm>
            <a:off x="5937569" y="2328805"/>
            <a:ext cx="2153155" cy="276999"/>
          </a:xfrm>
          <a:prstGeom prst="rect">
            <a:avLst/>
          </a:prstGeom>
          <a:noFill/>
        </p:spPr>
        <p:txBody>
          <a:bodyPr wrap="none" rtlCol="0">
            <a:spAutoFit/>
          </a:bodyPr>
          <a:lstStyle/>
          <a:p>
            <a:pPr algn="ctr"/>
            <a:r>
              <a:rPr lang="en-US" altLang="zh-TW" sz="1200" b="1" dirty="0" smtClean="0">
                <a:solidFill>
                  <a:schemeClr val="accent4"/>
                </a:solidFill>
              </a:rPr>
              <a:t>L6A01-</a:t>
            </a:r>
            <a:r>
              <a:rPr lang="zh-TW" altLang="en-US" sz="1200" b="1" dirty="0">
                <a:solidFill>
                  <a:schemeClr val="accent4"/>
                </a:solidFill>
              </a:rPr>
              <a:t>廠</a:t>
            </a:r>
            <a:r>
              <a:rPr lang="zh-TW" altLang="en-US" sz="1200" b="1" dirty="0" smtClean="0">
                <a:solidFill>
                  <a:schemeClr val="accent4"/>
                </a:solidFill>
              </a:rPr>
              <a:t>端需求 </a:t>
            </a:r>
            <a:r>
              <a:rPr lang="en-US" altLang="zh-TW" sz="1200" b="1" dirty="0" smtClean="0">
                <a:solidFill>
                  <a:schemeClr val="accent4"/>
                </a:solidFill>
              </a:rPr>
              <a:t>&amp;</a:t>
            </a:r>
            <a:r>
              <a:rPr lang="zh-TW" altLang="en-US" sz="1200" b="1" dirty="0" smtClean="0">
                <a:solidFill>
                  <a:schemeClr val="accent4"/>
                </a:solidFill>
              </a:rPr>
              <a:t> 協同作業</a:t>
            </a:r>
            <a:endParaRPr lang="ru-RU" sz="1200" b="1" dirty="0">
              <a:solidFill>
                <a:schemeClr val="accent4"/>
              </a:solidFill>
            </a:endParaRPr>
          </a:p>
        </p:txBody>
      </p:sp>
      <p:pic>
        <p:nvPicPr>
          <p:cNvPr id="31" name="Рисунок 20">
            <a:extLst>
              <a:ext uri="{FF2B5EF4-FFF2-40B4-BE49-F238E27FC236}">
                <a16:creationId xmlns="" xmlns:a16="http://schemas.microsoft.com/office/drawing/2014/main" id="{40AF2B1F-D040-445E-9C93-BF1BC9DC519E}"/>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rcRect/>
          <a:stretch/>
        </p:blipFill>
        <p:spPr>
          <a:xfrm>
            <a:off x="3113263" y="1383186"/>
            <a:ext cx="328581" cy="328581"/>
          </a:xfrm>
          <a:prstGeom prst="rect">
            <a:avLst/>
          </a:prstGeom>
        </p:spPr>
      </p:pic>
      <p:sp>
        <p:nvSpPr>
          <p:cNvPr id="34" name="Круг: прозрачная заливка 8">
            <a:extLst>
              <a:ext uri="{FF2B5EF4-FFF2-40B4-BE49-F238E27FC236}">
                <a16:creationId xmlns="" xmlns:a16="http://schemas.microsoft.com/office/drawing/2014/main" id="{EDC4F14C-DCE6-4E69-B7DC-5545EA071D9D}"/>
              </a:ext>
            </a:extLst>
          </p:cNvPr>
          <p:cNvSpPr/>
          <p:nvPr/>
        </p:nvSpPr>
        <p:spPr>
          <a:xfrm>
            <a:off x="2949642" y="1232959"/>
            <a:ext cx="616288" cy="616288"/>
          </a:xfrm>
          <a:prstGeom prst="donut">
            <a:avLst>
              <a:gd name="adj" fmla="val 8904"/>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13">
              <a:solidFill>
                <a:schemeClr val="tx1"/>
              </a:solidFill>
            </a:endParaRPr>
          </a:p>
        </p:txBody>
      </p:sp>
    </p:spTree>
    <p:extLst>
      <p:ext uri="{BB962C8B-B14F-4D97-AF65-F5344CB8AC3E}">
        <p14:creationId xmlns:p14="http://schemas.microsoft.com/office/powerpoint/2010/main" val="27788926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74630" y="107798"/>
            <a:ext cx="8482972" cy="1064131"/>
          </a:xfrm>
        </p:spPr>
        <p:txBody>
          <a:bodyPr/>
          <a:lstStyle/>
          <a:p>
            <a:r>
              <a:rPr lang="zh-TW" altLang="en-US" b="1" dirty="0" smtClean="0">
                <a:latin typeface="微軟正黑體" pitchFamily="34" charset="-120"/>
              </a:rPr>
              <a:t>公司貢獻</a:t>
            </a:r>
            <a:r>
              <a:rPr lang="zh-TW" altLang="en-US" b="1" dirty="0" smtClean="0"/>
              <a:t>補充說明</a:t>
            </a:r>
            <a:endParaRPr lang="zh-TW" altLang="en-US" b="1" dirty="0"/>
          </a:p>
        </p:txBody>
      </p:sp>
      <p:pic>
        <p:nvPicPr>
          <p:cNvPr id="6" name="圖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0200" y="2387716"/>
            <a:ext cx="3261788" cy="1846295"/>
          </a:xfrm>
          <a:prstGeom prst="rect">
            <a:avLst/>
          </a:prstGeom>
        </p:spPr>
      </p:pic>
      <p:pic>
        <p:nvPicPr>
          <p:cNvPr id="4" name="圖片 3"/>
          <p:cNvPicPr>
            <a:picLocks noChangeAspect="1"/>
          </p:cNvPicPr>
          <p:nvPr/>
        </p:nvPicPr>
        <p:blipFill>
          <a:blip r:embed="rId3"/>
          <a:stretch>
            <a:fillRect/>
          </a:stretch>
        </p:blipFill>
        <p:spPr>
          <a:xfrm>
            <a:off x="227091" y="2387716"/>
            <a:ext cx="3133330" cy="1969093"/>
          </a:xfrm>
          <a:prstGeom prst="rect">
            <a:avLst/>
          </a:prstGeom>
        </p:spPr>
      </p:pic>
      <p:pic>
        <p:nvPicPr>
          <p:cNvPr id="5" name="圖片 4"/>
          <p:cNvPicPr>
            <a:picLocks noChangeAspect="1"/>
          </p:cNvPicPr>
          <p:nvPr/>
        </p:nvPicPr>
        <p:blipFill>
          <a:blip r:embed="rId4"/>
          <a:stretch>
            <a:fillRect/>
          </a:stretch>
        </p:blipFill>
        <p:spPr>
          <a:xfrm>
            <a:off x="3431289" y="2387716"/>
            <a:ext cx="2268043" cy="1593625"/>
          </a:xfrm>
          <a:prstGeom prst="rect">
            <a:avLst/>
          </a:prstGeom>
        </p:spPr>
      </p:pic>
      <p:pic>
        <p:nvPicPr>
          <p:cNvPr id="8" name="圖片 7"/>
          <p:cNvPicPr>
            <a:picLocks noChangeAspect="1"/>
          </p:cNvPicPr>
          <p:nvPr/>
        </p:nvPicPr>
        <p:blipFill>
          <a:blip r:embed="rId5"/>
          <a:stretch>
            <a:fillRect/>
          </a:stretch>
        </p:blipFill>
        <p:spPr>
          <a:xfrm>
            <a:off x="227090" y="793194"/>
            <a:ext cx="8734030" cy="1441192"/>
          </a:xfrm>
          <a:prstGeom prst="rect">
            <a:avLst/>
          </a:prstGeom>
        </p:spPr>
      </p:pic>
      <p:sp>
        <p:nvSpPr>
          <p:cNvPr id="7" name="矩形 6"/>
          <p:cNvSpPr/>
          <p:nvPr/>
        </p:nvSpPr>
        <p:spPr>
          <a:xfrm>
            <a:off x="5898355" y="3040856"/>
            <a:ext cx="1654969" cy="71437"/>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b="1" dirty="0">
                <a:latin typeface="+mn-ea"/>
                <a:ea typeface="+mn-ea"/>
              </a:rPr>
              <a:t>Data </a:t>
            </a:r>
            <a:r>
              <a:rPr lang="en-US" altLang="zh-TW" b="1" dirty="0" smtClean="0">
                <a:latin typeface="+mn-ea"/>
                <a:ea typeface="+mn-ea"/>
              </a:rPr>
              <a:t>Fusion</a:t>
            </a:r>
            <a:r>
              <a:rPr lang="zh-TW" altLang="en-US" b="1" dirty="0" smtClean="0">
                <a:latin typeface="+mn-ea"/>
                <a:ea typeface="+mn-ea"/>
              </a:rPr>
              <a:t>分析</a:t>
            </a:r>
            <a:r>
              <a:rPr lang="zh-TW" altLang="en-US" b="1" dirty="0">
                <a:latin typeface="+mn-ea"/>
                <a:ea typeface="+mn-ea"/>
              </a:rPr>
              <a:t>監控</a:t>
            </a:r>
            <a:r>
              <a:rPr lang="zh-TW" altLang="en-US" b="1" dirty="0" smtClean="0">
                <a:latin typeface="+mn-ea"/>
                <a:ea typeface="+mn-ea"/>
              </a:rPr>
              <a:t>系統</a:t>
            </a:r>
            <a:endParaRPr lang="zh-TW" altLang="en-US" b="1" dirty="0">
              <a:latin typeface="+mn-ea"/>
              <a:ea typeface="+mn-ea"/>
            </a:endParaRPr>
          </a:p>
        </p:txBody>
      </p:sp>
      <p:sp>
        <p:nvSpPr>
          <p:cNvPr id="3" name="文字版面配置區 2"/>
          <p:cNvSpPr>
            <a:spLocks noGrp="1"/>
          </p:cNvSpPr>
          <p:nvPr>
            <p:ph type="body" sz="quarter" idx="10"/>
          </p:nvPr>
        </p:nvSpPr>
        <p:spPr/>
        <p:txBody>
          <a:bodyPr>
            <a:normAutofit fontScale="92500" lnSpcReduction="10000"/>
          </a:bodyPr>
          <a:lstStyle/>
          <a:p>
            <a:pPr marL="342900" indent="-342900">
              <a:buFont typeface="Wingdings" panose="05000000000000000000" pitchFamily="2" charset="2"/>
              <a:buChar char="u"/>
            </a:pPr>
            <a:r>
              <a:rPr lang="en-US" altLang="zh-TW" b="1" dirty="0">
                <a:solidFill>
                  <a:schemeClr val="accent1"/>
                </a:solidFill>
                <a:latin typeface="+mn-ea"/>
              </a:rPr>
              <a:t>Cell PI </a:t>
            </a:r>
            <a:r>
              <a:rPr lang="en-US" altLang="zh-TW" b="1" dirty="0" smtClean="0">
                <a:solidFill>
                  <a:schemeClr val="accent1"/>
                </a:solidFill>
                <a:latin typeface="+mn-ea"/>
              </a:rPr>
              <a:t>AOI</a:t>
            </a:r>
            <a:r>
              <a:rPr lang="zh-TW" altLang="en-US" b="1" dirty="0" smtClean="0">
                <a:solidFill>
                  <a:schemeClr val="accent1"/>
                </a:solidFill>
                <a:latin typeface="+mn-ea"/>
              </a:rPr>
              <a:t>可視化系統</a:t>
            </a:r>
            <a:endParaRPr lang="zh-TW" altLang="en-US" b="1" dirty="0">
              <a:solidFill>
                <a:schemeClr val="accent1"/>
              </a:solidFill>
              <a:latin typeface="+mn-ea"/>
            </a:endParaRPr>
          </a:p>
          <a:p>
            <a:pPr lvl="1"/>
            <a:r>
              <a:rPr lang="zh-TW" altLang="en-US" dirty="0">
                <a:solidFill>
                  <a:schemeClr val="accent1"/>
                </a:solidFill>
                <a:latin typeface="+mn-ea"/>
              </a:rPr>
              <a:t>同點比對</a:t>
            </a:r>
          </a:p>
          <a:p>
            <a:pPr lvl="1"/>
            <a:r>
              <a:rPr lang="en-US" altLang="zh-TW" dirty="0">
                <a:solidFill>
                  <a:schemeClr val="accent1"/>
                </a:solidFill>
                <a:latin typeface="+mn-ea"/>
              </a:rPr>
              <a:t>Defect Density</a:t>
            </a:r>
            <a:r>
              <a:rPr lang="zh-TW" altLang="en-US" dirty="0">
                <a:solidFill>
                  <a:schemeClr val="accent1"/>
                </a:solidFill>
                <a:latin typeface="+mn-ea"/>
              </a:rPr>
              <a:t>監控</a:t>
            </a:r>
          </a:p>
          <a:p>
            <a:pPr lvl="1"/>
            <a:r>
              <a:rPr lang="en-US" altLang="zh-TW" dirty="0" smtClean="0">
                <a:solidFill>
                  <a:schemeClr val="accent1"/>
                </a:solidFill>
                <a:latin typeface="+mn-ea"/>
              </a:rPr>
              <a:t>Inspection</a:t>
            </a:r>
            <a:r>
              <a:rPr lang="zh-TW" altLang="en-US" dirty="0" smtClean="0">
                <a:solidFill>
                  <a:schemeClr val="accent1"/>
                </a:solidFill>
                <a:latin typeface="+mn-ea"/>
              </a:rPr>
              <a:t>監控</a:t>
            </a:r>
            <a:endParaRPr lang="en-US" altLang="zh-TW" dirty="0">
              <a:solidFill>
                <a:schemeClr val="accent1"/>
              </a:solidFill>
              <a:latin typeface="+mn-ea"/>
            </a:endParaRPr>
          </a:p>
          <a:p>
            <a:pPr lvl="1"/>
            <a:r>
              <a:rPr lang="zh-TW" altLang="en-US" dirty="0">
                <a:solidFill>
                  <a:schemeClr val="accent1"/>
                </a:solidFill>
                <a:latin typeface="+mn-ea"/>
              </a:rPr>
              <a:t>稼動率監控</a:t>
            </a:r>
          </a:p>
          <a:p>
            <a:endParaRPr lang="zh-TW" altLang="en-US" dirty="0">
              <a:solidFill>
                <a:schemeClr val="accent1"/>
              </a:solidFill>
              <a:latin typeface="+mn-ea"/>
            </a:endParaRPr>
          </a:p>
          <a:p>
            <a:pPr marL="342900" indent="-342900">
              <a:buFont typeface="Wingdings" panose="05000000000000000000" pitchFamily="2" charset="2"/>
              <a:buChar char="u"/>
            </a:pPr>
            <a:r>
              <a:rPr lang="en-US" altLang="zh-TW" b="1" dirty="0">
                <a:solidFill>
                  <a:schemeClr val="accent1"/>
                </a:solidFill>
                <a:latin typeface="+mn-ea"/>
              </a:rPr>
              <a:t>MQC </a:t>
            </a:r>
            <a:r>
              <a:rPr lang="zh-TW" altLang="en-US" b="1" dirty="0">
                <a:solidFill>
                  <a:schemeClr val="accent1"/>
                </a:solidFill>
                <a:latin typeface="+mn-ea"/>
              </a:rPr>
              <a:t>輔助決策</a:t>
            </a:r>
          </a:p>
          <a:p>
            <a:pPr lvl="1"/>
            <a:r>
              <a:rPr lang="en-US" altLang="zh-TW" dirty="0">
                <a:solidFill>
                  <a:schemeClr val="accent1"/>
                </a:solidFill>
                <a:latin typeface="+mn-ea"/>
              </a:rPr>
              <a:t>THK MQC</a:t>
            </a:r>
            <a:r>
              <a:rPr lang="zh-TW" altLang="en-US" dirty="0">
                <a:solidFill>
                  <a:schemeClr val="accent1"/>
                </a:solidFill>
                <a:latin typeface="+mn-ea"/>
              </a:rPr>
              <a:t>輔助決策</a:t>
            </a:r>
          </a:p>
          <a:p>
            <a:pPr lvl="1"/>
            <a:r>
              <a:rPr lang="en-US" altLang="zh-TW" dirty="0">
                <a:solidFill>
                  <a:schemeClr val="accent1"/>
                </a:solidFill>
                <a:latin typeface="+mn-ea"/>
              </a:rPr>
              <a:t>MQC</a:t>
            </a:r>
            <a:r>
              <a:rPr lang="zh-TW" altLang="en-US" dirty="0">
                <a:solidFill>
                  <a:schemeClr val="accent1"/>
                </a:solidFill>
                <a:latin typeface="+mn-ea"/>
              </a:rPr>
              <a:t>自動套圖系統</a:t>
            </a:r>
          </a:p>
          <a:p>
            <a:endParaRPr lang="zh-TW" altLang="en-US" dirty="0">
              <a:solidFill>
                <a:schemeClr val="accent1"/>
              </a:solidFill>
              <a:latin typeface="+mn-ea"/>
            </a:endParaRPr>
          </a:p>
        </p:txBody>
      </p:sp>
    </p:spTree>
    <p:extLst>
      <p:ext uri="{BB962C8B-B14F-4D97-AF65-F5344CB8AC3E}">
        <p14:creationId xmlns:p14="http://schemas.microsoft.com/office/powerpoint/2010/main" val="3696821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4330066" y="463161"/>
            <a:ext cx="4471034" cy="4383159"/>
          </a:xfrm>
          <a:prstGeom prst="roundRect">
            <a:avLst>
              <a:gd name="adj" fmla="val 3265"/>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4" name="圓角矩形 3"/>
          <p:cNvSpPr/>
          <p:nvPr/>
        </p:nvSpPr>
        <p:spPr>
          <a:xfrm>
            <a:off x="127421" y="482253"/>
            <a:ext cx="4094388" cy="4165087"/>
          </a:xfrm>
          <a:prstGeom prst="roundRect">
            <a:avLst>
              <a:gd name="adj" fmla="val 4101"/>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182823" y="709441"/>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298796" y="806705"/>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a:t>— </a:t>
            </a:r>
            <a:r>
              <a:rPr lang="en-US" altLang="zh-TW" dirty="0">
                <a:latin typeface="+mn-ea"/>
                <a:cs typeface="Arial" panose="020B0604020202020204" pitchFamily="34" charset="0"/>
              </a:rPr>
              <a:t>PI AOI </a:t>
            </a:r>
            <a:r>
              <a:rPr lang="zh-TW" altLang="en-US" dirty="0" smtClean="0">
                <a:latin typeface="+mn-ea"/>
                <a:cs typeface="Arial" panose="020B0604020202020204" pitchFamily="34" charset="0"/>
              </a:rPr>
              <a:t>同點比對系統</a:t>
            </a:r>
            <a:endParaRPr lang="zh-TW" altLang="zh-TW" dirty="0"/>
          </a:p>
          <a:p>
            <a:endParaRPr lang="zh-TW" altLang="zh-TW" dirty="0"/>
          </a:p>
        </p:txBody>
      </p:sp>
      <p:sp>
        <p:nvSpPr>
          <p:cNvPr id="52" name="椭圆 66"/>
          <p:cNvSpPr/>
          <p:nvPr/>
        </p:nvSpPr>
        <p:spPr bwMode="auto">
          <a:xfrm rot="4723889">
            <a:off x="1857114" y="156760"/>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3" name="组合 67"/>
          <p:cNvGrpSpPr>
            <a:grpSpLocks/>
          </p:cNvGrpSpPr>
          <p:nvPr/>
        </p:nvGrpSpPr>
        <p:grpSpPr bwMode="auto">
          <a:xfrm rot="5400000">
            <a:off x="1651788" y="180017"/>
            <a:ext cx="951398" cy="1215148"/>
            <a:chOff x="1123476" y="1681897"/>
            <a:chExt cx="3206311" cy="2990785"/>
          </a:xfrm>
        </p:grpSpPr>
        <p:grpSp>
          <p:nvGrpSpPr>
            <p:cNvPr id="54" name="组合 68"/>
            <p:cNvGrpSpPr>
              <a:grpSpLocks/>
            </p:cNvGrpSpPr>
            <p:nvPr/>
          </p:nvGrpSpPr>
          <p:grpSpPr bwMode="auto">
            <a:xfrm>
              <a:off x="1123476" y="1763461"/>
              <a:ext cx="2798050" cy="2798050"/>
              <a:chOff x="1123476" y="1763461"/>
              <a:chExt cx="2798050" cy="2798050"/>
            </a:xfrm>
          </p:grpSpPr>
          <p:sp>
            <p:nvSpPr>
              <p:cNvPr id="60" name="弧形 59"/>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1" name="弧形 60"/>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5" name="组合 69"/>
            <p:cNvGrpSpPr>
              <a:grpSpLocks/>
            </p:cNvGrpSpPr>
            <p:nvPr/>
          </p:nvGrpSpPr>
          <p:grpSpPr bwMode="auto">
            <a:xfrm rot="-7200000">
              <a:off x="1273270" y="1616165"/>
              <a:ext cx="2990785" cy="3122249"/>
              <a:chOff x="891209" y="1807143"/>
              <a:chExt cx="2990785" cy="3122249"/>
            </a:xfrm>
          </p:grpSpPr>
          <p:sp>
            <p:nvSpPr>
              <p:cNvPr id="56" name="弧形 55"/>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7" name="弧形 56"/>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64" name="矩形 63"/>
          <p:cNvSpPr/>
          <p:nvPr/>
        </p:nvSpPr>
        <p:spPr>
          <a:xfrm>
            <a:off x="1595089" y="610537"/>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65" name="椭圆 66"/>
          <p:cNvSpPr/>
          <p:nvPr/>
        </p:nvSpPr>
        <p:spPr bwMode="auto">
          <a:xfrm rot="4723889">
            <a:off x="6484424" y="222111"/>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6" name="组合 67"/>
          <p:cNvGrpSpPr>
            <a:grpSpLocks/>
          </p:cNvGrpSpPr>
          <p:nvPr/>
        </p:nvGrpSpPr>
        <p:grpSpPr bwMode="auto">
          <a:xfrm rot="4723889">
            <a:off x="6409454" y="278184"/>
            <a:ext cx="671560" cy="961309"/>
            <a:chOff x="1123476" y="1681897"/>
            <a:chExt cx="3206311" cy="2990785"/>
          </a:xfrm>
        </p:grpSpPr>
        <p:grpSp>
          <p:nvGrpSpPr>
            <p:cNvPr id="67" name="组合 68"/>
            <p:cNvGrpSpPr>
              <a:grpSpLocks/>
            </p:cNvGrpSpPr>
            <p:nvPr/>
          </p:nvGrpSpPr>
          <p:grpSpPr bwMode="auto">
            <a:xfrm>
              <a:off x="1123476" y="1763461"/>
              <a:ext cx="2798050" cy="2798050"/>
              <a:chOff x="1123476" y="1763461"/>
              <a:chExt cx="2798050" cy="2798050"/>
            </a:xfrm>
          </p:grpSpPr>
          <p:sp>
            <p:nvSpPr>
              <p:cNvPr id="73" name="弧形 72"/>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4" name="弧形 73"/>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8" name="组合 69"/>
            <p:cNvGrpSpPr>
              <a:grpSpLocks/>
            </p:cNvGrpSpPr>
            <p:nvPr/>
          </p:nvGrpSpPr>
          <p:grpSpPr bwMode="auto">
            <a:xfrm rot="-7200000">
              <a:off x="1273270" y="1616165"/>
              <a:ext cx="2990785" cy="3122249"/>
              <a:chOff x="891209" y="1807143"/>
              <a:chExt cx="2990785" cy="3122249"/>
            </a:xfrm>
          </p:grpSpPr>
          <p:sp>
            <p:nvSpPr>
              <p:cNvPr id="69" name="弧形 68"/>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0" name="弧形 69"/>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77" name="矩形 76"/>
          <p:cNvSpPr/>
          <p:nvPr/>
        </p:nvSpPr>
        <p:spPr>
          <a:xfrm>
            <a:off x="6243873" y="544607"/>
            <a:ext cx="100272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改善後</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90" name="矩形 89"/>
          <p:cNvSpPr/>
          <p:nvPr/>
        </p:nvSpPr>
        <p:spPr>
          <a:xfrm>
            <a:off x="4923177" y="3774919"/>
            <a:ext cx="3689295" cy="872422"/>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79" name="矩形 178"/>
          <p:cNvSpPr/>
          <p:nvPr/>
        </p:nvSpPr>
        <p:spPr>
          <a:xfrm>
            <a:off x="195859" y="740459"/>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grpSp>
        <p:nvGrpSpPr>
          <p:cNvPr id="91" name="群組 90"/>
          <p:cNvGrpSpPr/>
          <p:nvPr/>
        </p:nvGrpSpPr>
        <p:grpSpPr>
          <a:xfrm>
            <a:off x="4370328" y="3687820"/>
            <a:ext cx="705005" cy="379970"/>
            <a:chOff x="86762" y="2855908"/>
            <a:chExt cx="743568" cy="292690"/>
          </a:xfrm>
          <a:solidFill>
            <a:srgbClr val="005087"/>
          </a:solidFill>
        </p:grpSpPr>
        <p:sp>
          <p:nvSpPr>
            <p:cNvPr id="92" name="圓角矩形 91"/>
            <p:cNvSpPr/>
            <p:nvPr/>
          </p:nvSpPr>
          <p:spPr>
            <a:xfrm>
              <a:off x="153897" y="2855908"/>
              <a:ext cx="640538" cy="249289"/>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3" name="矩形 92">
              <a:extLst>
                <a:ext uri="{FF2B5EF4-FFF2-40B4-BE49-F238E27FC236}">
                  <a16:creationId xmlns:a16="http://schemas.microsoft.com/office/drawing/2014/main" xmlns="" id="{2FB82B3E-7C5A-4E57-B159-B07D5CBA84B6}"/>
                </a:ext>
              </a:extLst>
            </p:cNvPr>
            <p:cNvSpPr/>
            <p:nvPr/>
          </p:nvSpPr>
          <p:spPr>
            <a:xfrm>
              <a:off x="86762" y="2871599"/>
              <a:ext cx="743568" cy="276999"/>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sp>
        <p:nvSpPr>
          <p:cNvPr id="82" name="矩形 81"/>
          <p:cNvSpPr/>
          <p:nvPr/>
        </p:nvSpPr>
        <p:spPr>
          <a:xfrm>
            <a:off x="4995745" y="3849633"/>
            <a:ext cx="3635133" cy="761747"/>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zh-TW" altLang="en-US" sz="1050" dirty="0" smtClean="0">
                <a:latin typeface="+mn-ea"/>
              </a:rPr>
              <a:t>單</a:t>
            </a:r>
            <a:r>
              <a:rPr lang="zh-TW" altLang="en-US" sz="1050" dirty="0">
                <a:latin typeface="+mn-ea"/>
              </a:rPr>
              <a:t>片比對節省</a:t>
            </a:r>
            <a:r>
              <a:rPr lang="zh-TW" altLang="en-US" sz="1050" dirty="0" smtClean="0">
                <a:latin typeface="+mn-ea"/>
              </a:rPr>
              <a:t>工時</a:t>
            </a:r>
            <a:r>
              <a:rPr lang="en-US" altLang="zh-TW" sz="1050" dirty="0" smtClean="0">
                <a:latin typeface="+mn-ea"/>
              </a:rPr>
              <a:t>:15min/1</a:t>
            </a:r>
            <a:r>
              <a:rPr lang="zh-TW" altLang="en-US" sz="1050" dirty="0" smtClean="0">
                <a:latin typeface="+mn-ea"/>
              </a:rPr>
              <a:t>人</a:t>
            </a:r>
            <a:r>
              <a:rPr lang="en-US" altLang="zh-TW" sz="1050" dirty="0" smtClean="0">
                <a:latin typeface="+mn-ea"/>
              </a:rPr>
              <a:t>, 12.5</a:t>
            </a:r>
            <a:r>
              <a:rPr lang="zh-TW" altLang="en-US" sz="1050" dirty="0">
                <a:latin typeface="+mn-ea"/>
              </a:rPr>
              <a:t>小時</a:t>
            </a:r>
            <a:r>
              <a:rPr lang="en-US" altLang="zh-TW" sz="1050" dirty="0">
                <a:latin typeface="+mn-ea"/>
              </a:rPr>
              <a:t>/</a:t>
            </a:r>
            <a:r>
              <a:rPr lang="zh-TW" altLang="en-US" sz="1050" dirty="0">
                <a:latin typeface="+mn-ea"/>
              </a:rPr>
              <a:t>天</a:t>
            </a:r>
            <a:r>
              <a:rPr lang="en-US" altLang="zh-TW" sz="1050" dirty="0">
                <a:latin typeface="+mn-ea"/>
              </a:rPr>
              <a:t>, </a:t>
            </a:r>
            <a:r>
              <a:rPr lang="en-US" altLang="zh-TW" sz="1200" b="1" dirty="0">
                <a:solidFill>
                  <a:srgbClr val="FF0000"/>
                </a:solidFill>
                <a:latin typeface="+mn-ea"/>
              </a:rPr>
              <a:t>375</a:t>
            </a:r>
            <a:r>
              <a:rPr lang="en-US" altLang="zh-TW" sz="1050" b="1" dirty="0">
                <a:solidFill>
                  <a:srgbClr val="FF0000"/>
                </a:solidFill>
                <a:latin typeface="+mn-ea"/>
              </a:rPr>
              <a:t> </a:t>
            </a:r>
            <a:r>
              <a:rPr lang="zh-TW" altLang="en-US" sz="1050" b="1" dirty="0">
                <a:solidFill>
                  <a:srgbClr val="FF0000"/>
                </a:solidFill>
                <a:latin typeface="+mn-ea"/>
              </a:rPr>
              <a:t>小時</a:t>
            </a:r>
            <a:r>
              <a:rPr lang="en-US" altLang="zh-TW" sz="1050" b="1" dirty="0">
                <a:solidFill>
                  <a:srgbClr val="FF0000"/>
                </a:solidFill>
                <a:latin typeface="+mn-ea"/>
              </a:rPr>
              <a:t>/</a:t>
            </a:r>
            <a:r>
              <a:rPr lang="zh-TW" altLang="en-US" sz="1050" b="1" dirty="0">
                <a:solidFill>
                  <a:srgbClr val="FF0000"/>
                </a:solidFill>
                <a:latin typeface="+mn-ea"/>
              </a:rPr>
              <a:t>月</a:t>
            </a:r>
          </a:p>
          <a:p>
            <a:r>
              <a:rPr lang="zh-TW" altLang="en-US" sz="1050" dirty="0">
                <a:latin typeface="+mn-ea"/>
              </a:rPr>
              <a:t>原</a:t>
            </a:r>
            <a:r>
              <a:rPr lang="en-US" altLang="zh-TW" sz="1050" dirty="0">
                <a:latin typeface="+mn-ea"/>
              </a:rPr>
              <a:t>: </a:t>
            </a:r>
            <a:r>
              <a:rPr lang="zh-TW" altLang="en-US" sz="1050" dirty="0">
                <a:latin typeface="+mn-ea"/>
              </a:rPr>
              <a:t>異常或高規產品才檢測</a:t>
            </a:r>
            <a:r>
              <a:rPr lang="en-US" altLang="zh-TW" sz="1050" dirty="0">
                <a:latin typeface="+mn-ea"/>
              </a:rPr>
              <a:t>,</a:t>
            </a:r>
            <a:r>
              <a:rPr lang="zh-TW" altLang="en-US" sz="1050" dirty="0">
                <a:latin typeface="+mn-ea"/>
              </a:rPr>
              <a:t>單日約</a:t>
            </a:r>
            <a:r>
              <a:rPr lang="en-US" altLang="zh-TW" sz="1050" dirty="0">
                <a:latin typeface="+mn-ea"/>
              </a:rPr>
              <a:t>50</a:t>
            </a:r>
            <a:r>
              <a:rPr lang="zh-TW" altLang="en-US" sz="1050" dirty="0">
                <a:latin typeface="+mn-ea"/>
              </a:rPr>
              <a:t>片</a:t>
            </a:r>
            <a:r>
              <a:rPr lang="en-US" altLang="zh-TW" sz="1050" dirty="0">
                <a:latin typeface="+mn-ea"/>
              </a:rPr>
              <a:t>(</a:t>
            </a:r>
            <a:r>
              <a:rPr lang="zh-TW" altLang="en-US" sz="1050" dirty="0">
                <a:latin typeface="+mn-ea"/>
              </a:rPr>
              <a:t>日夜班製程各</a:t>
            </a:r>
            <a:r>
              <a:rPr lang="en-US" altLang="zh-TW" sz="1050" dirty="0">
                <a:latin typeface="+mn-ea"/>
              </a:rPr>
              <a:t>1</a:t>
            </a:r>
            <a:r>
              <a:rPr lang="zh-TW" altLang="en-US" sz="1050" dirty="0">
                <a:latin typeface="+mn-ea"/>
              </a:rPr>
              <a:t>人</a:t>
            </a:r>
            <a:r>
              <a:rPr lang="en-US" altLang="zh-TW" sz="1050" dirty="0">
                <a:latin typeface="+mn-ea"/>
              </a:rPr>
              <a:t>)</a:t>
            </a:r>
          </a:p>
          <a:p>
            <a:r>
              <a:rPr lang="zh-TW" altLang="en-US" sz="1050" dirty="0">
                <a:latin typeface="+mn-ea"/>
              </a:rPr>
              <a:t>現</a:t>
            </a:r>
            <a:r>
              <a:rPr lang="en-US" altLang="zh-TW" sz="1050" dirty="0">
                <a:latin typeface="+mn-ea"/>
              </a:rPr>
              <a:t>: </a:t>
            </a:r>
            <a:r>
              <a:rPr lang="zh-TW" altLang="en-US" sz="1050" dirty="0">
                <a:latin typeface="+mn-ea"/>
              </a:rPr>
              <a:t>日常檢</a:t>
            </a:r>
            <a:r>
              <a:rPr lang="en-US" altLang="zh-TW" sz="1050" dirty="0">
                <a:latin typeface="+mn-ea"/>
              </a:rPr>
              <a:t>,</a:t>
            </a:r>
            <a:r>
              <a:rPr lang="zh-TW" altLang="en-US" sz="1050" dirty="0">
                <a:latin typeface="+mn-ea"/>
              </a:rPr>
              <a:t>單天檢測片數約</a:t>
            </a:r>
            <a:r>
              <a:rPr lang="en-US" altLang="zh-TW" sz="1050" dirty="0">
                <a:latin typeface="+mn-ea"/>
              </a:rPr>
              <a:t>300~1500</a:t>
            </a:r>
            <a:r>
              <a:rPr lang="zh-TW" altLang="en-US" sz="1050" dirty="0">
                <a:latin typeface="+mn-ea"/>
              </a:rPr>
              <a:t>片</a:t>
            </a:r>
            <a:r>
              <a:rPr lang="en-US" altLang="zh-TW" sz="1050" dirty="0">
                <a:latin typeface="+mn-ea"/>
              </a:rPr>
              <a:t>(</a:t>
            </a:r>
            <a:r>
              <a:rPr lang="zh-TW" altLang="en-US" sz="1050" dirty="0">
                <a:latin typeface="+mn-ea"/>
              </a:rPr>
              <a:t>依投入</a:t>
            </a:r>
            <a:r>
              <a:rPr lang="en-US" altLang="zh-TW" sz="1050" dirty="0">
                <a:latin typeface="+mn-ea"/>
              </a:rPr>
              <a:t>) </a:t>
            </a:r>
            <a:r>
              <a:rPr lang="en-US" altLang="zh-TW" sz="1050" dirty="0" smtClean="0">
                <a:latin typeface="+mn-ea"/>
              </a:rPr>
              <a:t>-&gt;</a:t>
            </a:r>
          </a:p>
          <a:p>
            <a:r>
              <a:rPr lang="zh-TW" altLang="en-US" sz="1050" dirty="0" smtClean="0">
                <a:latin typeface="+mn-ea"/>
              </a:rPr>
              <a:t>檢測</a:t>
            </a:r>
            <a:r>
              <a:rPr lang="zh-TW" altLang="en-US" sz="1050" dirty="0">
                <a:latin typeface="+mn-ea"/>
              </a:rPr>
              <a:t>率提升</a:t>
            </a:r>
            <a:r>
              <a:rPr lang="en-US" altLang="zh-TW" sz="1050" dirty="0">
                <a:latin typeface="+mn-ea"/>
              </a:rPr>
              <a:t>6~30</a:t>
            </a:r>
            <a:r>
              <a:rPr lang="zh-TW" altLang="en-US" sz="1050" dirty="0">
                <a:latin typeface="+mn-ea"/>
              </a:rPr>
              <a:t>倍</a:t>
            </a:r>
          </a:p>
        </p:txBody>
      </p:sp>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88" name="矩形 87">
            <a:extLst>
              <a:ext uri="{FF2B5EF4-FFF2-40B4-BE49-F238E27FC236}">
                <a16:creationId xmlns="" xmlns:a16="http://schemas.microsoft.com/office/drawing/2014/main" id="{9BE08482-D953-47F4-81A8-BD823C2E476A}"/>
              </a:ext>
            </a:extLst>
          </p:cNvPr>
          <p:cNvSpPr/>
          <p:nvPr/>
        </p:nvSpPr>
        <p:spPr>
          <a:xfrm>
            <a:off x="206625" y="1210322"/>
            <a:ext cx="4006209" cy="553998"/>
          </a:xfrm>
          <a:prstGeom prst="rect">
            <a:avLst/>
          </a:prstGeom>
          <a:noFill/>
        </p:spPr>
        <p:txBody>
          <a:bodyPr wrap="square">
            <a:spAutoFit/>
          </a:bodyPr>
          <a:lstStyle/>
          <a:p>
            <a:pPr>
              <a:lnSpc>
                <a:spcPct val="150000"/>
              </a:lnSpc>
            </a:pPr>
            <a:r>
              <a:rPr lang="zh-TW" altLang="en-US" sz="1000" b="1" dirty="0" smtClean="0">
                <a:latin typeface="微軟正黑體" panose="020B0604030504040204" pitchFamily="34" charset="-120"/>
                <a:ea typeface="微軟正黑體" panose="020B0604030504040204" pitchFamily="34" charset="-120"/>
              </a:rPr>
              <a:t>人員確認系統上</a:t>
            </a:r>
            <a:r>
              <a:rPr lang="en-US" altLang="zh-TW" sz="1000" b="1" dirty="0" smtClean="0">
                <a:latin typeface="微軟正黑體" panose="020B0604030504040204" pitchFamily="34" charset="-120"/>
                <a:ea typeface="微軟正黑體" panose="020B0604030504040204" pitchFamily="34" charset="-120"/>
              </a:rPr>
              <a:t>LINE+AOI</a:t>
            </a:r>
            <a:r>
              <a:rPr lang="zh-TW" altLang="en-US" sz="1000" b="1" dirty="0" smtClean="0">
                <a:latin typeface="微軟正黑體" panose="020B0604030504040204" pitchFamily="34" charset="-120"/>
                <a:ea typeface="微軟正黑體" panose="020B0604030504040204" pitchFamily="34" charset="-120"/>
              </a:rPr>
              <a:t>量測資料相同</a:t>
            </a:r>
            <a:r>
              <a:rPr lang="en-US" altLang="zh-TW" sz="1000" b="1" dirty="0" smtClean="0">
                <a:latin typeface="微軟正黑體" panose="020B0604030504040204" pitchFamily="34" charset="-120"/>
                <a:ea typeface="微軟正黑體" panose="020B0604030504040204" pitchFamily="34" charset="-120"/>
              </a:rPr>
              <a:t>GLASS</a:t>
            </a:r>
            <a:r>
              <a:rPr lang="zh-TW" altLang="en-US" sz="1000" b="1" dirty="0" smtClean="0">
                <a:latin typeface="微軟正黑體" panose="020B0604030504040204" pitchFamily="34" charset="-120"/>
                <a:ea typeface="微軟正黑體" panose="020B0604030504040204" pitchFamily="34" charset="-120"/>
              </a:rPr>
              <a:t>量測資料</a:t>
            </a:r>
            <a:r>
              <a:rPr lang="en-US" altLang="zh-TW" sz="1000" b="1" dirty="0" smtClean="0">
                <a:latin typeface="微軟正黑體" panose="020B0604030504040204" pitchFamily="34" charset="-120"/>
                <a:ea typeface="微軟正黑體" panose="020B0604030504040204" pitchFamily="34" charset="-120"/>
              </a:rPr>
              <a:t>,</a:t>
            </a:r>
            <a:r>
              <a:rPr lang="zh-TW" altLang="en-US" sz="1000" b="1" dirty="0" smtClean="0">
                <a:latin typeface="微軟正黑體" panose="020B0604030504040204" pitchFamily="34" charset="-120"/>
                <a:ea typeface="微軟正黑體" panose="020B0604030504040204" pitchFamily="34" charset="-120"/>
              </a:rPr>
              <a:t>將比對的</a:t>
            </a:r>
            <a:r>
              <a:rPr lang="zh-TW" altLang="en-US" sz="1000" b="1" dirty="0">
                <a:latin typeface="微軟正黑體" panose="020B0604030504040204" pitchFamily="34" charset="-120"/>
                <a:ea typeface="微軟正黑體" panose="020B0604030504040204" pitchFamily="34" charset="-120"/>
              </a:rPr>
              <a:t>量測</a:t>
            </a:r>
            <a:r>
              <a:rPr lang="zh-TW" altLang="en-US" sz="1000" b="1" dirty="0" smtClean="0">
                <a:latin typeface="微軟正黑體" panose="020B0604030504040204" pitchFamily="34" charset="-120"/>
                <a:ea typeface="微軟正黑體" panose="020B0604030504040204" pitchFamily="34" charset="-120"/>
              </a:rPr>
              <a:t>影像全複製</a:t>
            </a:r>
            <a:r>
              <a:rPr lang="zh-TW" altLang="en-US" sz="1000" b="1" dirty="0">
                <a:latin typeface="微軟正黑體" panose="020B0604030504040204" pitchFamily="34" charset="-120"/>
                <a:ea typeface="微軟正黑體" panose="020B0604030504040204" pitchFamily="34" charset="-120"/>
              </a:rPr>
              <a:t>到</a:t>
            </a:r>
            <a:r>
              <a:rPr lang="zh-TW" altLang="en-US" sz="1000" b="1" dirty="0" smtClean="0">
                <a:latin typeface="微軟正黑體" panose="020B0604030504040204" pitchFamily="34" charset="-120"/>
                <a:ea typeface="微軟正黑體" panose="020B0604030504040204" pitchFamily="34" charset="-120"/>
              </a:rPr>
              <a:t>空白檔案進行</a:t>
            </a:r>
            <a:r>
              <a:rPr lang="en-US" altLang="zh-TW" sz="1000" b="1" dirty="0" smtClean="0">
                <a:latin typeface="微軟正黑體" panose="020B0604030504040204" pitchFamily="34" charset="-120"/>
                <a:ea typeface="微軟正黑體" panose="020B0604030504040204" pitchFamily="34" charset="-120"/>
              </a:rPr>
              <a:t>Defect</a:t>
            </a:r>
            <a:r>
              <a:rPr lang="zh-TW" altLang="en-US" sz="1000" b="1" dirty="0" smtClean="0">
                <a:latin typeface="微軟正黑體" panose="020B0604030504040204" pitchFamily="34" charset="-120"/>
                <a:ea typeface="微軟正黑體" panose="020B0604030504040204" pitchFamily="34" charset="-120"/>
              </a:rPr>
              <a:t>重疊點位比對</a:t>
            </a:r>
            <a:endParaRPr lang="en-US" altLang="zh-TW" sz="1000" b="1" dirty="0">
              <a:latin typeface="微軟正黑體" panose="020B0604030504040204" pitchFamily="34" charset="-120"/>
              <a:ea typeface="微軟正黑體" panose="020B0604030504040204" pitchFamily="34" charset="-120"/>
            </a:endParaRPr>
          </a:p>
        </p:txBody>
      </p:sp>
      <p:pic>
        <p:nvPicPr>
          <p:cNvPr id="89" name="圖片 88"/>
          <p:cNvPicPr>
            <a:picLocks noChangeAspect="1"/>
          </p:cNvPicPr>
          <p:nvPr/>
        </p:nvPicPr>
        <p:blipFill>
          <a:blip r:embed="rId3"/>
          <a:stretch>
            <a:fillRect/>
          </a:stretch>
        </p:blipFill>
        <p:spPr>
          <a:xfrm>
            <a:off x="275940" y="1774868"/>
            <a:ext cx="3787073" cy="2211522"/>
          </a:xfrm>
          <a:prstGeom prst="rect">
            <a:avLst/>
          </a:prstGeom>
        </p:spPr>
      </p:pic>
      <p:sp>
        <p:nvSpPr>
          <p:cNvPr id="94" name="矩形 93"/>
          <p:cNvSpPr/>
          <p:nvPr/>
        </p:nvSpPr>
        <p:spPr>
          <a:xfrm>
            <a:off x="773248" y="2837156"/>
            <a:ext cx="845275" cy="857240"/>
          </a:xfrm>
          <a:prstGeom prst="rect">
            <a:avLst/>
          </a:prstGeom>
          <a:solidFill>
            <a:schemeClr val="accent5">
              <a:alpha val="19000"/>
            </a:schemeClr>
          </a:solidFill>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95" name="圖片 94"/>
          <p:cNvPicPr>
            <a:picLocks noChangeAspect="1"/>
          </p:cNvPicPr>
          <p:nvPr/>
        </p:nvPicPr>
        <p:blipFill>
          <a:blip r:embed="rId4"/>
          <a:stretch>
            <a:fillRect/>
          </a:stretch>
        </p:blipFill>
        <p:spPr>
          <a:xfrm>
            <a:off x="2445843" y="3650271"/>
            <a:ext cx="1704176" cy="809054"/>
          </a:xfrm>
          <a:prstGeom prst="rect">
            <a:avLst/>
          </a:prstGeom>
          <a:ln>
            <a:noFill/>
          </a:ln>
          <a:effectLst>
            <a:softEdge rad="112500"/>
          </a:effectLst>
        </p:spPr>
      </p:pic>
      <p:pic>
        <p:nvPicPr>
          <p:cNvPr id="96" name="圖片 95"/>
          <p:cNvPicPr>
            <a:picLocks noChangeAspect="1"/>
          </p:cNvPicPr>
          <p:nvPr/>
        </p:nvPicPr>
        <p:blipFill>
          <a:blip r:embed="rId5"/>
          <a:stretch>
            <a:fillRect/>
          </a:stretch>
        </p:blipFill>
        <p:spPr>
          <a:xfrm>
            <a:off x="182952" y="3668063"/>
            <a:ext cx="1704176" cy="819081"/>
          </a:xfrm>
          <a:prstGeom prst="rect">
            <a:avLst/>
          </a:prstGeom>
          <a:ln>
            <a:noFill/>
          </a:ln>
          <a:effectLst>
            <a:softEdge rad="112500"/>
          </a:effectLst>
        </p:spPr>
      </p:pic>
      <p:sp>
        <p:nvSpPr>
          <p:cNvPr id="97" name="文字方塊 96"/>
          <p:cNvSpPr txBox="1"/>
          <p:nvPr/>
        </p:nvSpPr>
        <p:spPr>
          <a:xfrm>
            <a:off x="1456503" y="2769317"/>
            <a:ext cx="1911133" cy="415498"/>
          </a:xfrm>
          <a:prstGeom prst="rect">
            <a:avLst/>
          </a:prstGeom>
          <a:solidFill>
            <a:srgbClr val="FFC000"/>
          </a:solidFill>
          <a:ln>
            <a:solidFill>
              <a:schemeClr val="bg2">
                <a:lumMod val="85000"/>
              </a:schemeClr>
            </a:solidFill>
          </a:ln>
        </p:spPr>
        <p:txBody>
          <a:bodyPr wrap="square" rtlCol="0">
            <a:spAutoFit/>
          </a:bodyPr>
          <a:lstStyle/>
          <a:p>
            <a:r>
              <a:rPr lang="en-US" altLang="zh-TW" sz="700" dirty="0" smtClean="0">
                <a:latin typeface="微軟正黑體" panose="020B0604030504040204" pitchFamily="34" charset="-120"/>
                <a:ea typeface="微軟正黑體" panose="020B0604030504040204" pitchFamily="34" charset="-120"/>
              </a:rPr>
              <a:t>Glass ID</a:t>
            </a:r>
            <a:r>
              <a:rPr lang="zh-TW" altLang="en-US" sz="700" dirty="0" smtClean="0">
                <a:latin typeface="微軟正黑體" panose="020B0604030504040204" pitchFamily="34" charset="-120"/>
                <a:ea typeface="微軟正黑體" panose="020B0604030504040204" pitchFamily="34" charset="-120"/>
              </a:rPr>
              <a:t>同片比對</a:t>
            </a:r>
            <a:r>
              <a:rPr lang="en-US" altLang="zh-TW" sz="700" dirty="0" smtClean="0">
                <a:latin typeface="微軟正黑體" panose="020B0604030504040204" pitchFamily="34" charset="-120"/>
                <a:ea typeface="微軟正黑體" panose="020B0604030504040204" pitchFamily="34" charset="-120"/>
              </a:rPr>
              <a:t>(</a:t>
            </a:r>
            <a:r>
              <a:rPr lang="zh-TW" altLang="en-US" sz="700" dirty="0" smtClean="0">
                <a:latin typeface="微軟正黑體" panose="020B0604030504040204" pitchFamily="34" charset="-120"/>
                <a:ea typeface="微軟正黑體" panose="020B0604030504040204" pitchFamily="34" charset="-120"/>
              </a:rPr>
              <a:t>手動搜尋</a:t>
            </a:r>
            <a:r>
              <a:rPr lang="en-US" altLang="zh-TW" sz="700" dirty="0" smtClean="0">
                <a:latin typeface="微軟正黑體" panose="020B0604030504040204" pitchFamily="34" charset="-120"/>
                <a:ea typeface="微軟正黑體" panose="020B0604030504040204" pitchFamily="34" charset="-120"/>
              </a:rPr>
              <a:t>):</a:t>
            </a:r>
          </a:p>
          <a:p>
            <a:pPr marL="171450" indent="-171450">
              <a:buFont typeface="Arial" panose="020B0604020202020204" pitchFamily="34" charset="0"/>
              <a:buChar char="•"/>
            </a:pPr>
            <a:r>
              <a:rPr lang="en-US" altLang="zh-TW" sz="700" dirty="0" smtClean="0">
                <a:latin typeface="微軟正黑體" panose="020B0604030504040204" pitchFamily="34" charset="-120"/>
                <a:ea typeface="微軟正黑體" panose="020B0604030504040204" pitchFamily="34" charset="-120"/>
              </a:rPr>
              <a:t>Recipe</a:t>
            </a:r>
            <a:r>
              <a:rPr lang="zh-TW" altLang="en-US" sz="700" dirty="0" smtClean="0">
                <a:latin typeface="微軟正黑體" panose="020B0604030504040204" pitchFamily="34" charset="-120"/>
                <a:ea typeface="微軟正黑體" panose="020B0604030504040204" pitchFamily="34" charset="-120"/>
              </a:rPr>
              <a:t> </a:t>
            </a:r>
            <a:r>
              <a:rPr lang="en-US" altLang="zh-TW" sz="700" dirty="0" smtClean="0">
                <a:latin typeface="微軟正黑體" panose="020B0604030504040204" pitchFamily="34" charset="-120"/>
                <a:ea typeface="微軟正黑體" panose="020B0604030504040204" pitchFamily="34" charset="-120"/>
              </a:rPr>
              <a:t>ID</a:t>
            </a:r>
            <a:r>
              <a:rPr lang="zh-TW" altLang="en-US" sz="700" dirty="0" smtClean="0">
                <a:latin typeface="微軟正黑體" panose="020B0604030504040204" pitchFamily="34" charset="-120"/>
                <a:ea typeface="微軟正黑體" panose="020B0604030504040204" pitchFamily="34" charset="-120"/>
              </a:rPr>
              <a:t>不同</a:t>
            </a:r>
            <a:r>
              <a:rPr lang="en-US" altLang="zh-TW" sz="700" dirty="0" smtClean="0">
                <a:latin typeface="微軟正黑體" panose="020B0604030504040204" pitchFamily="34" charset="-120"/>
                <a:ea typeface="微軟正黑體" panose="020B0604030504040204" pitchFamily="34" charset="-120"/>
              </a:rPr>
              <a:t>:</a:t>
            </a:r>
            <a:r>
              <a:rPr lang="zh-TW" altLang="en-US" sz="700" dirty="0" smtClean="0">
                <a:latin typeface="微軟正黑體" panose="020B0604030504040204" pitchFamily="34" charset="-120"/>
                <a:ea typeface="微軟正黑體" panose="020B0604030504040204" pitchFamily="34" charset="-120"/>
              </a:rPr>
              <a:t>製程前後量測資料</a:t>
            </a:r>
            <a:endParaRPr lang="en-US" altLang="zh-TW" sz="700" dirty="0" smtClean="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700" dirty="0">
                <a:latin typeface="微軟正黑體" panose="020B0604030504040204" pitchFamily="34" charset="-120"/>
                <a:ea typeface="微軟正黑體" panose="020B0604030504040204" pitchFamily="34" charset="-120"/>
              </a:rPr>
              <a:t>Recipe</a:t>
            </a:r>
            <a:r>
              <a:rPr lang="zh-TW" altLang="en-US" sz="700" dirty="0">
                <a:latin typeface="微軟正黑體" panose="020B0604030504040204" pitchFamily="34" charset="-120"/>
                <a:ea typeface="微軟正黑體" panose="020B0604030504040204" pitchFamily="34" charset="-120"/>
              </a:rPr>
              <a:t> </a:t>
            </a:r>
            <a:r>
              <a:rPr lang="en-US" altLang="zh-TW" sz="700" dirty="0" smtClean="0">
                <a:latin typeface="微軟正黑體" panose="020B0604030504040204" pitchFamily="34" charset="-120"/>
                <a:ea typeface="微軟正黑體" panose="020B0604030504040204" pitchFamily="34" charset="-120"/>
              </a:rPr>
              <a:t>ID</a:t>
            </a:r>
            <a:r>
              <a:rPr lang="zh-TW" altLang="en-US" sz="700" dirty="0" smtClean="0">
                <a:latin typeface="微軟正黑體" panose="020B0604030504040204" pitchFamily="34" charset="-120"/>
                <a:ea typeface="微軟正黑體" panose="020B0604030504040204" pitchFamily="34" charset="-120"/>
              </a:rPr>
              <a:t>相同</a:t>
            </a:r>
            <a:r>
              <a:rPr lang="en-US" altLang="zh-TW" sz="700" dirty="0" smtClean="0">
                <a:latin typeface="微軟正黑體" panose="020B0604030504040204" pitchFamily="34" charset="-120"/>
                <a:ea typeface="微軟正黑體" panose="020B0604030504040204" pitchFamily="34" charset="-120"/>
              </a:rPr>
              <a:t>:</a:t>
            </a:r>
            <a:r>
              <a:rPr lang="zh-TW" altLang="en-US" sz="700" dirty="0" smtClean="0">
                <a:latin typeface="微軟正黑體" panose="020B0604030504040204" pitchFamily="34" charset="-120"/>
                <a:ea typeface="微軟正黑體" panose="020B0604030504040204" pitchFamily="34" charset="-120"/>
              </a:rPr>
              <a:t>清洗前後資料</a:t>
            </a:r>
            <a:r>
              <a:rPr lang="en-US" altLang="zh-TW" sz="700" dirty="0" smtClean="0">
                <a:latin typeface="微軟正黑體" panose="020B0604030504040204" pitchFamily="34" charset="-120"/>
                <a:ea typeface="微軟正黑體" panose="020B0604030504040204" pitchFamily="34" charset="-120"/>
              </a:rPr>
              <a:t>(</a:t>
            </a:r>
            <a:r>
              <a:rPr lang="zh-TW" altLang="en-US" sz="700" dirty="0" smtClean="0">
                <a:latin typeface="微軟正黑體" panose="020B0604030504040204" pitchFamily="34" charset="-120"/>
                <a:ea typeface="微軟正黑體" panose="020B0604030504040204" pitchFamily="34" charset="-120"/>
              </a:rPr>
              <a:t>時間差異</a:t>
            </a:r>
            <a:r>
              <a:rPr lang="en-US" altLang="zh-TW" sz="700" dirty="0" smtClean="0">
                <a:latin typeface="微軟正黑體" panose="020B0604030504040204" pitchFamily="34" charset="-120"/>
                <a:ea typeface="微軟正黑體" panose="020B0604030504040204" pitchFamily="34" charset="-120"/>
              </a:rPr>
              <a:t>)</a:t>
            </a:r>
          </a:p>
        </p:txBody>
      </p:sp>
      <p:sp>
        <p:nvSpPr>
          <p:cNvPr id="98" name="文字方塊 97"/>
          <p:cNvSpPr txBox="1"/>
          <p:nvPr/>
        </p:nvSpPr>
        <p:spPr>
          <a:xfrm>
            <a:off x="1618523" y="3960106"/>
            <a:ext cx="1175770" cy="415498"/>
          </a:xfrm>
          <a:prstGeom prst="rect">
            <a:avLst/>
          </a:prstGeom>
          <a:solidFill>
            <a:srgbClr val="FFC000"/>
          </a:solidFill>
          <a:ln>
            <a:solidFill>
              <a:schemeClr val="bg2">
                <a:lumMod val="85000"/>
              </a:schemeClr>
            </a:solidFill>
          </a:ln>
        </p:spPr>
        <p:txBody>
          <a:bodyPr wrap="square" rtlCol="0">
            <a:spAutoFit/>
          </a:bodyPr>
          <a:lstStyle/>
          <a:p>
            <a:pPr algn="ctr"/>
            <a:r>
              <a:rPr lang="zh-TW" altLang="en-US" sz="700" dirty="0" smtClean="0">
                <a:latin typeface="微軟正黑體" panose="020B0604030504040204" pitchFamily="34" charset="-120"/>
                <a:ea typeface="微軟正黑體" panose="020B0604030504040204" pitchFamily="34" charset="-120"/>
              </a:rPr>
              <a:t>系統限制單開</a:t>
            </a:r>
            <a:r>
              <a:rPr lang="zh-TW" altLang="en-US" sz="700" dirty="0">
                <a:latin typeface="微軟正黑體" panose="020B0604030504040204" pitchFamily="34" charset="-120"/>
                <a:ea typeface="微軟正黑體" panose="020B0604030504040204" pitchFamily="34" charset="-120"/>
              </a:rPr>
              <a:t>一</a:t>
            </a:r>
            <a:r>
              <a:rPr lang="zh-TW" altLang="en-US" sz="700" dirty="0" smtClean="0">
                <a:latin typeface="微軟正黑體" panose="020B0604030504040204" pitchFamily="34" charset="-120"/>
                <a:ea typeface="微軟正黑體" panose="020B0604030504040204" pitchFamily="34" charset="-120"/>
              </a:rPr>
              <a:t>視窗</a:t>
            </a:r>
            <a:r>
              <a:rPr lang="en-US" altLang="zh-TW" sz="700" dirty="0" smtClean="0">
                <a:latin typeface="微軟正黑體" panose="020B0604030504040204" pitchFamily="34" charset="-120"/>
                <a:ea typeface="微軟正黑體" panose="020B0604030504040204" pitchFamily="34" charset="-120"/>
              </a:rPr>
              <a:t>:</a:t>
            </a:r>
            <a:r>
              <a:rPr lang="zh-TW" altLang="en-US" sz="700" dirty="0" smtClean="0">
                <a:latin typeface="微軟正黑體" panose="020B0604030504040204" pitchFamily="34" charset="-120"/>
                <a:ea typeface="微軟正黑體" panose="020B0604030504040204" pitchFamily="34" charset="-120"/>
              </a:rPr>
              <a:t>需手動複製多張影像至空白檔案進行比對作業</a:t>
            </a:r>
            <a:endParaRPr lang="en-US" altLang="zh-TW" sz="700" dirty="0" smtClean="0">
              <a:latin typeface="微軟正黑體" panose="020B0604030504040204" pitchFamily="34" charset="-120"/>
              <a:ea typeface="微軟正黑體" panose="020B0604030504040204" pitchFamily="34" charset="-120"/>
            </a:endParaRPr>
          </a:p>
        </p:txBody>
      </p:sp>
      <p:sp>
        <p:nvSpPr>
          <p:cNvPr id="99" name="文字方塊 98"/>
          <p:cNvSpPr txBox="1"/>
          <p:nvPr/>
        </p:nvSpPr>
        <p:spPr>
          <a:xfrm>
            <a:off x="1456503" y="3221959"/>
            <a:ext cx="1905977" cy="200055"/>
          </a:xfrm>
          <a:prstGeom prst="rect">
            <a:avLst/>
          </a:prstGeom>
          <a:solidFill>
            <a:srgbClr val="FFC000"/>
          </a:solidFill>
          <a:ln>
            <a:solidFill>
              <a:schemeClr val="bg2">
                <a:lumMod val="85000"/>
              </a:schemeClr>
            </a:solidFill>
          </a:ln>
        </p:spPr>
        <p:txBody>
          <a:bodyPr wrap="square" rtlCol="0">
            <a:spAutoFit/>
          </a:bodyPr>
          <a:lstStyle/>
          <a:p>
            <a:pPr algn="ctr"/>
            <a:r>
              <a:rPr lang="zh-TW" altLang="en-US" sz="700" dirty="0" smtClean="0">
                <a:latin typeface="微軟正黑體" panose="020B0604030504040204" pitchFamily="34" charset="-120"/>
                <a:ea typeface="微軟正黑體" panose="020B0604030504040204" pitchFamily="34" charset="-120"/>
              </a:rPr>
              <a:t>確認</a:t>
            </a:r>
            <a:r>
              <a:rPr lang="en-US" altLang="zh-TW" sz="700" dirty="0" smtClean="0">
                <a:latin typeface="微軟正黑體" panose="020B0604030504040204" pitchFamily="34" charset="-120"/>
                <a:ea typeface="微軟正黑體" panose="020B0604030504040204" pitchFamily="34" charset="-120"/>
              </a:rPr>
              <a:t>Defect</a:t>
            </a:r>
            <a:r>
              <a:rPr lang="zh-TW" altLang="en-US" sz="700" dirty="0" smtClean="0">
                <a:latin typeface="微軟正黑體" panose="020B0604030504040204" pitchFamily="34" charset="-120"/>
                <a:ea typeface="微軟正黑體" panose="020B0604030504040204" pitchFamily="34" charset="-120"/>
              </a:rPr>
              <a:t>影像要到其他影像儲存端點查找</a:t>
            </a:r>
            <a:endParaRPr lang="en-US" altLang="zh-TW" sz="700" dirty="0" smtClean="0">
              <a:latin typeface="微軟正黑體" panose="020B0604030504040204" pitchFamily="34" charset="-120"/>
              <a:ea typeface="微軟正黑體" panose="020B0604030504040204" pitchFamily="34" charset="-120"/>
            </a:endParaRPr>
          </a:p>
        </p:txBody>
      </p:sp>
      <p:sp>
        <p:nvSpPr>
          <p:cNvPr id="100" name="矩形 99"/>
          <p:cNvSpPr/>
          <p:nvPr/>
        </p:nvSpPr>
        <p:spPr>
          <a:xfrm>
            <a:off x="4603454" y="1120428"/>
            <a:ext cx="4009018" cy="2400657"/>
          </a:xfrm>
          <a:prstGeom prst="rect">
            <a:avLst/>
          </a:prstGeom>
          <a:noFill/>
        </p:spPr>
        <p:txBody>
          <a:bodyPr wrap="square">
            <a:spAutoFit/>
          </a:bodyPr>
          <a:lstStyle/>
          <a:p>
            <a:pPr>
              <a:lnSpc>
                <a:spcPct val="150000"/>
              </a:lnSpc>
              <a:buClr>
                <a:schemeClr val="tx1"/>
              </a:buClr>
            </a:pPr>
            <a:r>
              <a:rPr lang="zh-TW" altLang="en-US" sz="1000" dirty="0" smtClean="0">
                <a:solidFill>
                  <a:srgbClr val="0000FF"/>
                </a:solidFill>
                <a:latin typeface="微軟正黑體" panose="020B0604030504040204" pitchFamily="34" charset="-120"/>
                <a:ea typeface="微軟正黑體" panose="020B0604030504040204" pitchFamily="34" charset="-120"/>
              </a:rPr>
              <a:t>自主開發系統</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：開發一站式疊加比對</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系統，取代人工比對</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a:p>
            <a:pPr>
              <a:lnSpc>
                <a:spcPct val="150000"/>
              </a:lnSpc>
              <a:buClr>
                <a:schemeClr val="tx1"/>
              </a:buClr>
            </a:pPr>
            <a:r>
              <a:rPr lang="zh-TW" altLang="en-US" sz="1000" dirty="0" smtClean="0">
                <a:solidFill>
                  <a:srgbClr val="0000FF"/>
                </a:solidFill>
                <a:latin typeface="微軟正黑體" panose="020B0604030504040204" pitchFamily="34" charset="-120"/>
                <a:ea typeface="微軟正黑體" panose="020B0604030504040204" pitchFamily="34" charset="-120"/>
              </a:rPr>
              <a:t>資料庫建置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：建置</a:t>
            </a:r>
            <a:r>
              <a:rPr lang="zh-TW" altLang="en-US" sz="1000" dirty="0" smtClean="0">
                <a:latin typeface="微軟正黑體" panose="020B0604030504040204" pitchFamily="34" charset="-120"/>
                <a:ea typeface="微軟正黑體" panose="020B0604030504040204" pitchFamily="34" charset="-120"/>
              </a:rPr>
              <a:t>資料庫儲存</a:t>
            </a:r>
            <a:r>
              <a:rPr lang="en-US" altLang="zh-TW" sz="1000" dirty="0" smtClean="0">
                <a:latin typeface="微軟正黑體" panose="020B0604030504040204" pitchFamily="34" charset="-120"/>
                <a:ea typeface="微軟正黑體" panose="020B0604030504040204" pitchFamily="34" charset="-120"/>
              </a:rPr>
              <a:t>PI</a:t>
            </a:r>
            <a:r>
              <a:rPr lang="zh-TW" altLang="en-US" sz="1000" dirty="0" smtClean="0">
                <a:latin typeface="微軟正黑體" panose="020B0604030504040204" pitchFamily="34" charset="-120"/>
                <a:ea typeface="微軟正黑體" panose="020B0604030504040204" pitchFamily="34" charset="-120"/>
              </a:rPr>
              <a:t> </a:t>
            </a:r>
            <a:r>
              <a:rPr lang="en-US" altLang="zh-TW" sz="1000" dirty="0" smtClean="0">
                <a:latin typeface="微軟正黑體" panose="020B0604030504040204" pitchFamily="34" charset="-120"/>
                <a:ea typeface="微軟正黑體" panose="020B0604030504040204" pitchFamily="34" charset="-120"/>
              </a:rPr>
              <a:t>AOI</a:t>
            </a:r>
            <a:r>
              <a:rPr lang="zh-TW" altLang="en-US" sz="1000" dirty="0" smtClean="0">
                <a:latin typeface="微軟正黑體" panose="020B0604030504040204" pitchFamily="34" charset="-120"/>
                <a:ea typeface="微軟正黑體" panose="020B0604030504040204" pitchFamily="34" charset="-120"/>
              </a:rPr>
              <a:t>相關資料供歷史回查</a:t>
            </a:r>
            <a:endParaRPr lang="en-US" altLang="zh-TW" sz="1000" dirty="0" smtClean="0">
              <a:latin typeface="微軟正黑體" panose="020B0604030504040204" pitchFamily="34" charset="-120"/>
              <a:ea typeface="微軟正黑體" panose="020B0604030504040204" pitchFamily="34" charset="-120"/>
            </a:endParaRPr>
          </a:p>
          <a:p>
            <a:pPr>
              <a:lnSpc>
                <a:spcPct val="150000"/>
              </a:lnSpc>
              <a:buClr>
                <a:schemeClr val="tx1"/>
              </a:buClr>
            </a:pPr>
            <a:r>
              <a:rPr lang="zh-TW" altLang="en-US" sz="1000" dirty="0">
                <a:solidFill>
                  <a:srgbClr val="0000FF"/>
                </a:solidFill>
                <a:latin typeface="微軟正黑體" panose="020B0604030504040204" pitchFamily="34" charset="-120"/>
                <a:ea typeface="微軟正黑體" panose="020B0604030504040204" pitchFamily="34" charset="-120"/>
              </a:rPr>
              <a:t>網站</a:t>
            </a:r>
            <a:r>
              <a:rPr lang="zh-TW" altLang="en-US" sz="1000" dirty="0" smtClean="0">
                <a:solidFill>
                  <a:srgbClr val="0000FF"/>
                </a:solidFill>
                <a:latin typeface="微軟正黑體" panose="020B0604030504040204" pitchFamily="34" charset="-120"/>
                <a:ea typeface="微軟正黑體" panose="020B0604030504040204" pitchFamily="34" charset="-120"/>
              </a:rPr>
              <a:t>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 </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a:p>
            <a:pPr marL="857250" lvl="2" indent="-171450">
              <a:lnSpc>
                <a:spcPct val="150000"/>
              </a:lnSpc>
              <a:buClr>
                <a:schemeClr val="tx1"/>
              </a:buClr>
              <a:buFont typeface="Arial" panose="020B0604020202020204" pitchFamily="34" charset="0"/>
              <a:buChar char="•"/>
            </a:pPr>
            <a:r>
              <a:rPr lang="en-US" altLang="zh-TW" sz="1000" dirty="0" smtClean="0">
                <a:latin typeface="微軟正黑體" panose="020B0604030504040204" pitchFamily="34" charset="-120"/>
                <a:ea typeface="微軟正黑體" panose="020B0604030504040204" pitchFamily="34" charset="-120"/>
              </a:rPr>
              <a:t>Fast API</a:t>
            </a:r>
            <a:r>
              <a:rPr lang="zh-TW" altLang="en-US" sz="1000" dirty="0" smtClean="0">
                <a:latin typeface="微軟正黑體" panose="020B0604030504040204" pitchFamily="34" charset="-120"/>
                <a:ea typeface="微軟正黑體" panose="020B0604030504040204" pitchFamily="34" charset="-120"/>
              </a:rPr>
              <a:t>建置後端框架串接資料庫及相關串流功能</a:t>
            </a:r>
            <a:endParaRPr lang="en-US" altLang="zh-TW" sz="1000" dirty="0">
              <a:latin typeface="微軟正黑體" panose="020B0604030504040204" pitchFamily="34" charset="-120"/>
              <a:ea typeface="微軟正黑體" panose="020B0604030504040204" pitchFamily="34" charset="-120"/>
            </a:endParaRPr>
          </a:p>
          <a:p>
            <a:pPr marL="857250" lvl="2" indent="-171450">
              <a:lnSpc>
                <a:spcPct val="150000"/>
              </a:lnSpc>
              <a:buClr>
                <a:schemeClr val="tx1"/>
              </a:buClr>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前端網頁設計及功能開發</a:t>
            </a:r>
            <a:endParaRPr lang="en-US" altLang="zh-TW" sz="1000" dirty="0" smtClean="0">
              <a:latin typeface="微軟正黑體" panose="020B0604030504040204" pitchFamily="34" charset="-120"/>
              <a:ea typeface="微軟正黑體" panose="020B0604030504040204" pitchFamily="34" charset="-120"/>
            </a:endParaRPr>
          </a:p>
          <a:p>
            <a:pPr marL="1200150" lvl="3" indent="-171450">
              <a:lnSpc>
                <a:spcPct val="150000"/>
              </a:lnSpc>
              <a:buClr>
                <a:schemeClr val="tx1"/>
              </a:buClr>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自動搜查</a:t>
            </a:r>
            <a:r>
              <a:rPr lang="en-US" altLang="zh-TW" sz="1000" dirty="0" smtClean="0">
                <a:latin typeface="微軟正黑體" panose="020B0604030504040204" pitchFamily="34" charset="-120"/>
                <a:ea typeface="微軟正黑體" panose="020B0604030504040204" pitchFamily="34" charset="-120"/>
              </a:rPr>
              <a:t>Glass</a:t>
            </a:r>
            <a:r>
              <a:rPr lang="zh-TW" altLang="en-US" sz="1000" dirty="0" smtClean="0">
                <a:latin typeface="微軟正黑體" panose="020B0604030504040204" pitchFamily="34" charset="-120"/>
                <a:ea typeface="微軟正黑體" panose="020B0604030504040204" pitchFamily="34" charset="-120"/>
              </a:rPr>
              <a:t>同片量測資訊</a:t>
            </a:r>
            <a:endParaRPr lang="en-US" altLang="zh-TW" sz="1000" dirty="0" smtClean="0">
              <a:latin typeface="微軟正黑體" panose="020B0604030504040204" pitchFamily="34" charset="-120"/>
              <a:ea typeface="微軟正黑體" panose="020B0604030504040204" pitchFamily="34" charset="-120"/>
            </a:endParaRPr>
          </a:p>
          <a:p>
            <a:pPr marL="1200150" lvl="3" indent="-171450">
              <a:lnSpc>
                <a:spcPct val="150000"/>
              </a:lnSpc>
              <a:buClr>
                <a:schemeClr val="tx1"/>
              </a:buClr>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特定關鍵欄位搜尋</a:t>
            </a:r>
            <a:endParaRPr lang="en-US" altLang="zh-TW" sz="1000" dirty="0" smtClean="0">
              <a:latin typeface="微軟正黑體" panose="020B0604030504040204" pitchFamily="34" charset="-120"/>
              <a:ea typeface="微軟正黑體" panose="020B0604030504040204" pitchFamily="34" charset="-120"/>
            </a:endParaRPr>
          </a:p>
          <a:p>
            <a:pPr marL="1200150" lvl="3" indent="-171450">
              <a:lnSpc>
                <a:spcPct val="150000"/>
              </a:lnSpc>
              <a:buClr>
                <a:schemeClr val="tx1"/>
              </a:buClr>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量測資料表</a:t>
            </a:r>
            <a:r>
              <a:rPr lang="en-US" altLang="zh-TW" sz="1000" dirty="0" smtClean="0">
                <a:latin typeface="微軟正黑體" panose="020B0604030504040204" pitchFamily="34" charset="-120"/>
                <a:ea typeface="微軟正黑體" panose="020B0604030504040204" pitchFamily="34" charset="-120"/>
              </a:rPr>
              <a:t>&amp;Glass</a:t>
            </a:r>
            <a:r>
              <a:rPr lang="zh-TW" altLang="en-US" sz="1000" dirty="0" smtClean="0">
                <a:latin typeface="微軟正黑體" panose="020B0604030504040204" pitchFamily="34" charset="-120"/>
                <a:ea typeface="微軟正黑體" panose="020B0604030504040204" pitchFamily="34" charset="-120"/>
              </a:rPr>
              <a:t>量測點位資料</a:t>
            </a:r>
            <a:r>
              <a:rPr lang="zh-TW" altLang="en-US" sz="1000" dirty="0">
                <a:latin typeface="微軟正黑體" panose="020B0604030504040204" pitchFamily="34" charset="-120"/>
                <a:ea typeface="微軟正黑體" panose="020B0604030504040204" pitchFamily="34" charset="-120"/>
              </a:rPr>
              <a:t>即時</a:t>
            </a:r>
            <a:r>
              <a:rPr lang="zh-TW" altLang="en-US" sz="1000" dirty="0" smtClean="0">
                <a:latin typeface="微軟正黑體" panose="020B0604030504040204" pitchFamily="34" charset="-120"/>
                <a:ea typeface="微軟正黑體" panose="020B0604030504040204" pitchFamily="34" charset="-120"/>
              </a:rPr>
              <a:t>呈現</a:t>
            </a:r>
            <a:endParaRPr lang="en-US" altLang="zh-TW" sz="1000" dirty="0" smtClean="0">
              <a:latin typeface="微軟正黑體" panose="020B0604030504040204" pitchFamily="34" charset="-120"/>
              <a:ea typeface="微軟正黑體" panose="020B0604030504040204" pitchFamily="34" charset="-120"/>
            </a:endParaRPr>
          </a:p>
          <a:p>
            <a:pPr marL="1200150" lvl="3" indent="-171450">
              <a:lnSpc>
                <a:spcPct val="150000"/>
              </a:lnSpc>
              <a:buClr>
                <a:schemeClr val="tx1"/>
              </a:buClr>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多片比對</a:t>
            </a:r>
            <a:r>
              <a:rPr lang="en-US" altLang="zh-TW" sz="1000" dirty="0" smtClean="0">
                <a:latin typeface="微軟正黑體" panose="020B0604030504040204" pitchFamily="34" charset="-120"/>
                <a:ea typeface="微軟正黑體" panose="020B0604030504040204" pitchFamily="34" charset="-120"/>
              </a:rPr>
              <a:t>&amp;</a:t>
            </a:r>
            <a:r>
              <a:rPr lang="zh-TW" altLang="en-US" sz="1000" dirty="0" smtClean="0">
                <a:latin typeface="微軟正黑體" panose="020B0604030504040204" pitchFamily="34" charset="-120"/>
                <a:ea typeface="微軟正黑體" panose="020B0604030504040204" pitchFamily="34" charset="-120"/>
              </a:rPr>
              <a:t>重疊點位標註</a:t>
            </a:r>
            <a:endParaRPr lang="en-US" altLang="zh-TW" sz="1000" dirty="0" smtClean="0">
              <a:latin typeface="微軟正黑體" panose="020B0604030504040204" pitchFamily="34" charset="-120"/>
              <a:ea typeface="微軟正黑體" panose="020B0604030504040204" pitchFamily="34" charset="-120"/>
            </a:endParaRPr>
          </a:p>
          <a:p>
            <a:pPr marL="1200150" lvl="3" indent="-171450">
              <a:lnSpc>
                <a:spcPct val="150000"/>
              </a:lnSpc>
              <a:buClr>
                <a:schemeClr val="tx1"/>
              </a:buClr>
              <a:buFont typeface="Arial" panose="020B0604020202020204" pitchFamily="34" charset="0"/>
              <a:buChar char="•"/>
            </a:pPr>
            <a:r>
              <a:rPr lang="en-US" altLang="zh-TW" sz="1000" dirty="0" smtClean="0">
                <a:latin typeface="微軟正黑體" panose="020B0604030504040204" pitchFamily="34" charset="-120"/>
                <a:ea typeface="微軟正黑體" panose="020B0604030504040204" pitchFamily="34" charset="-120"/>
              </a:rPr>
              <a:t>Defect</a:t>
            </a:r>
            <a:r>
              <a:rPr lang="zh-TW" altLang="en-US" sz="1000" dirty="0" smtClean="0">
                <a:latin typeface="微軟正黑體" panose="020B0604030504040204" pitchFamily="34" charset="-120"/>
                <a:ea typeface="微軟正黑體" panose="020B0604030504040204" pitchFamily="34" charset="-120"/>
              </a:rPr>
              <a:t> </a:t>
            </a:r>
            <a:r>
              <a:rPr lang="en-US" altLang="zh-TW" sz="1000" dirty="0" smtClean="0">
                <a:latin typeface="微軟正黑體" panose="020B0604030504040204" pitchFamily="34" charset="-120"/>
                <a:ea typeface="微軟正黑體" panose="020B0604030504040204" pitchFamily="34" charset="-120"/>
              </a:rPr>
              <a:t>map</a:t>
            </a:r>
            <a:r>
              <a:rPr lang="zh-TW" altLang="en-US" sz="1000" dirty="0" smtClean="0">
                <a:latin typeface="微軟正黑體" panose="020B0604030504040204" pitchFamily="34" charset="-120"/>
                <a:ea typeface="微軟正黑體" panose="020B0604030504040204" pitchFamily="34" charset="-120"/>
              </a:rPr>
              <a:t>連動影像顯示</a:t>
            </a:r>
            <a:endParaRPr lang="en-US" altLang="zh-TW" sz="1000" dirty="0" smtClean="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8112098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8" name="肘形接點 167"/>
          <p:cNvCxnSpPr/>
          <p:nvPr/>
        </p:nvCxnSpPr>
        <p:spPr>
          <a:xfrm rot="5400000">
            <a:off x="806798" y="2371553"/>
            <a:ext cx="851799" cy="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ctrTitle"/>
          </p:nvPr>
        </p:nvSpPr>
        <p:spPr>
          <a:xfrm>
            <a:off x="386220" y="0"/>
            <a:ext cx="8482972" cy="680785"/>
          </a:xfrm>
        </p:spPr>
        <p:txBody>
          <a:bodyPr/>
          <a:lstStyle/>
          <a:p>
            <a:r>
              <a:rPr lang="en-US" altLang="zh-TW" b="1" dirty="0" smtClean="0">
                <a:latin typeface="+mj-ea"/>
              </a:rPr>
              <a:t>ETL &amp; Data Fusion</a:t>
            </a:r>
            <a:endParaRPr lang="zh-TW" altLang="en-US" b="1" dirty="0">
              <a:latin typeface="+mj-ea"/>
            </a:endParaRPr>
          </a:p>
        </p:txBody>
      </p:sp>
      <p:grpSp>
        <p:nvGrpSpPr>
          <p:cNvPr id="16" name="群組 15"/>
          <p:cNvGrpSpPr/>
          <p:nvPr/>
        </p:nvGrpSpPr>
        <p:grpSpPr>
          <a:xfrm>
            <a:off x="847440" y="751005"/>
            <a:ext cx="2057189" cy="235191"/>
            <a:chOff x="812940" y="896259"/>
            <a:chExt cx="775648" cy="235191"/>
          </a:xfrm>
        </p:grpSpPr>
        <p:sp>
          <p:nvSpPr>
            <p:cNvPr id="13" name="流程圖: 資料 12"/>
            <p:cNvSpPr/>
            <p:nvPr/>
          </p:nvSpPr>
          <p:spPr>
            <a:xfrm>
              <a:off x="812940" y="896259"/>
              <a:ext cx="775648" cy="23519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5" name="矩形 14"/>
            <p:cNvSpPr/>
            <p:nvPr/>
          </p:nvSpPr>
          <p:spPr>
            <a:xfrm>
              <a:off x="935676" y="916006"/>
              <a:ext cx="530180" cy="215444"/>
            </a:xfrm>
            <a:prstGeom prst="rect">
              <a:avLst/>
            </a:prstGeom>
          </p:spPr>
          <p:txBody>
            <a:bodyPr wrap="none">
              <a:spAutoFit/>
            </a:bodyPr>
            <a:lstStyle/>
            <a:p>
              <a:pPr algn="ctr"/>
              <a:r>
                <a:rPr lang="en-US" altLang="zh-TW" sz="800" dirty="0" smtClean="0">
                  <a:solidFill>
                    <a:schemeClr val="bg1"/>
                  </a:solidFill>
                </a:rPr>
                <a:t>Multi-source Data Integration</a:t>
              </a:r>
              <a:endParaRPr lang="zh-TW" altLang="en-US" sz="800" dirty="0">
                <a:solidFill>
                  <a:schemeClr val="bg1"/>
                </a:solidFill>
              </a:endParaRPr>
            </a:p>
          </p:txBody>
        </p:sp>
      </p:grpSp>
      <p:cxnSp>
        <p:nvCxnSpPr>
          <p:cNvPr id="22" name="肘形接點 21"/>
          <p:cNvCxnSpPr>
            <a:stCxn id="3" idx="1"/>
            <a:endCxn id="152" idx="1"/>
          </p:cNvCxnSpPr>
          <p:nvPr/>
        </p:nvCxnSpPr>
        <p:spPr>
          <a:xfrm rot="10800000" flipV="1">
            <a:off x="284363" y="3013792"/>
            <a:ext cx="457922" cy="503776"/>
          </a:xfrm>
          <a:prstGeom prst="bentConnector3">
            <a:avLst>
              <a:gd name="adj1" fmla="val 14992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86" name="群組 85"/>
          <p:cNvGrpSpPr/>
          <p:nvPr/>
        </p:nvGrpSpPr>
        <p:grpSpPr>
          <a:xfrm>
            <a:off x="731252" y="1236380"/>
            <a:ext cx="1050289" cy="230832"/>
            <a:chOff x="705311" y="893145"/>
            <a:chExt cx="1175318" cy="261757"/>
          </a:xfrm>
        </p:grpSpPr>
        <p:sp>
          <p:nvSpPr>
            <p:cNvPr id="87" name="流程圖: 資料 82"/>
            <p:cNvSpPr/>
            <p:nvPr/>
          </p:nvSpPr>
          <p:spPr>
            <a:xfrm>
              <a:off x="720295" y="914423"/>
              <a:ext cx="1083318"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88" name="矩形 87"/>
            <p:cNvSpPr/>
            <p:nvPr/>
          </p:nvSpPr>
          <p:spPr>
            <a:xfrm>
              <a:off x="705311" y="893145"/>
              <a:ext cx="1175318" cy="261757"/>
            </a:xfrm>
            <a:prstGeom prst="rect">
              <a:avLst/>
            </a:prstGeom>
          </p:spPr>
          <p:txBody>
            <a:bodyPr wrap="none">
              <a:spAutoFit/>
            </a:bodyPr>
            <a:lstStyle/>
            <a:p>
              <a:pPr algn="ctr"/>
              <a:r>
                <a:rPr lang="en-US" altLang="zh-TW" sz="900" dirty="0" smtClean="0">
                  <a:solidFill>
                    <a:schemeClr val="bg1"/>
                  </a:solidFill>
                </a:rPr>
                <a:t>Clean require keys</a:t>
              </a:r>
              <a:endParaRPr lang="en-US" altLang="zh-TW" sz="900" dirty="0">
                <a:solidFill>
                  <a:schemeClr val="bg1"/>
                </a:solidFill>
              </a:endParaRPr>
            </a:p>
          </p:txBody>
        </p:sp>
      </p:grpSp>
      <p:sp>
        <p:nvSpPr>
          <p:cNvPr id="92" name="矩形 91"/>
          <p:cNvSpPr/>
          <p:nvPr/>
        </p:nvSpPr>
        <p:spPr>
          <a:xfrm>
            <a:off x="1957051" y="1232654"/>
            <a:ext cx="877163" cy="230832"/>
          </a:xfrm>
          <a:prstGeom prst="rect">
            <a:avLst/>
          </a:prstGeom>
        </p:spPr>
        <p:txBody>
          <a:bodyPr wrap="none">
            <a:spAutoFit/>
          </a:bodyPr>
          <a:lstStyle/>
          <a:p>
            <a:pPr algn="ctr"/>
            <a:r>
              <a:rPr lang="en-US" altLang="zh-TW" sz="900" dirty="0" smtClean="0">
                <a:solidFill>
                  <a:schemeClr val="bg1"/>
                </a:solidFill>
              </a:rPr>
              <a:t>Drive time key</a:t>
            </a:r>
            <a:endParaRPr lang="en-US" altLang="zh-TW" sz="900" dirty="0">
              <a:solidFill>
                <a:schemeClr val="bg1"/>
              </a:solidFill>
            </a:endParaRPr>
          </a:p>
        </p:txBody>
      </p:sp>
      <p:grpSp>
        <p:nvGrpSpPr>
          <p:cNvPr id="93" name="群組 92"/>
          <p:cNvGrpSpPr/>
          <p:nvPr/>
        </p:nvGrpSpPr>
        <p:grpSpPr>
          <a:xfrm>
            <a:off x="743035" y="1557933"/>
            <a:ext cx="976963" cy="233768"/>
            <a:chOff x="839940" y="867946"/>
            <a:chExt cx="859497" cy="265087"/>
          </a:xfrm>
        </p:grpSpPr>
        <p:sp>
          <p:nvSpPr>
            <p:cNvPr id="94"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96" name="矩形 95"/>
            <p:cNvSpPr/>
            <p:nvPr/>
          </p:nvSpPr>
          <p:spPr>
            <a:xfrm>
              <a:off x="916876" y="867946"/>
              <a:ext cx="701746" cy="261757"/>
            </a:xfrm>
            <a:prstGeom prst="rect">
              <a:avLst/>
            </a:prstGeom>
          </p:spPr>
          <p:txBody>
            <a:bodyPr wrap="none">
              <a:spAutoFit/>
            </a:bodyPr>
            <a:lstStyle/>
            <a:p>
              <a:pPr algn="ctr"/>
              <a:r>
                <a:rPr lang="en-US" altLang="zh-TW" sz="900" dirty="0" smtClean="0">
                  <a:solidFill>
                    <a:schemeClr val="bg1"/>
                  </a:solidFill>
                </a:rPr>
                <a:t>Grouping</a:t>
              </a:r>
              <a:endParaRPr lang="en-US" altLang="zh-TW" sz="900" dirty="0">
                <a:solidFill>
                  <a:schemeClr val="bg1"/>
                </a:solidFill>
              </a:endParaRPr>
            </a:p>
          </p:txBody>
        </p:sp>
      </p:grpSp>
      <p:grpSp>
        <p:nvGrpSpPr>
          <p:cNvPr id="98" name="群組 97"/>
          <p:cNvGrpSpPr/>
          <p:nvPr/>
        </p:nvGrpSpPr>
        <p:grpSpPr>
          <a:xfrm>
            <a:off x="1870840" y="1565119"/>
            <a:ext cx="976963" cy="233768"/>
            <a:chOff x="839940" y="867946"/>
            <a:chExt cx="859497" cy="265087"/>
          </a:xfrm>
        </p:grpSpPr>
        <p:sp>
          <p:nvSpPr>
            <p:cNvPr id="100"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01" name="矩形 100"/>
            <p:cNvSpPr/>
            <p:nvPr/>
          </p:nvSpPr>
          <p:spPr>
            <a:xfrm>
              <a:off x="862159" y="867946"/>
              <a:ext cx="811185" cy="261758"/>
            </a:xfrm>
            <a:prstGeom prst="rect">
              <a:avLst/>
            </a:prstGeom>
          </p:spPr>
          <p:txBody>
            <a:bodyPr wrap="none">
              <a:spAutoFit/>
            </a:bodyPr>
            <a:lstStyle/>
            <a:p>
              <a:pPr algn="ctr"/>
              <a:r>
                <a:rPr lang="en-US" altLang="zh-TW" sz="900" dirty="0" smtClean="0">
                  <a:solidFill>
                    <a:schemeClr val="bg1"/>
                  </a:solidFill>
                </a:rPr>
                <a:t>Compute count </a:t>
              </a:r>
              <a:endParaRPr lang="en-US" altLang="zh-TW" sz="900" dirty="0">
                <a:solidFill>
                  <a:schemeClr val="bg1"/>
                </a:solidFill>
              </a:endParaRPr>
            </a:p>
          </p:txBody>
        </p:sp>
      </p:grpSp>
      <p:grpSp>
        <p:nvGrpSpPr>
          <p:cNvPr id="104" name="群組 103"/>
          <p:cNvGrpSpPr/>
          <p:nvPr/>
        </p:nvGrpSpPr>
        <p:grpSpPr>
          <a:xfrm>
            <a:off x="1858085" y="1228698"/>
            <a:ext cx="976963" cy="233768"/>
            <a:chOff x="839940" y="867946"/>
            <a:chExt cx="859497" cy="265087"/>
          </a:xfrm>
        </p:grpSpPr>
        <p:sp>
          <p:nvSpPr>
            <p:cNvPr id="105"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07" name="矩形 106"/>
            <p:cNvSpPr/>
            <p:nvPr/>
          </p:nvSpPr>
          <p:spPr>
            <a:xfrm>
              <a:off x="931264" y="867946"/>
              <a:ext cx="672978" cy="261758"/>
            </a:xfrm>
            <a:prstGeom prst="rect">
              <a:avLst/>
            </a:prstGeom>
          </p:spPr>
          <p:txBody>
            <a:bodyPr wrap="none">
              <a:spAutoFit/>
            </a:bodyPr>
            <a:lstStyle/>
            <a:p>
              <a:pPr algn="ctr"/>
              <a:r>
                <a:rPr lang="en-US" altLang="zh-TW" sz="900" dirty="0" smtClean="0">
                  <a:solidFill>
                    <a:schemeClr val="bg1"/>
                  </a:solidFill>
                </a:rPr>
                <a:t>Size buckets</a:t>
              </a:r>
              <a:endParaRPr lang="en-US" altLang="zh-TW" sz="900" dirty="0">
                <a:solidFill>
                  <a:schemeClr val="bg1"/>
                </a:solidFill>
              </a:endParaRPr>
            </a:p>
          </p:txBody>
        </p:sp>
      </p:grpSp>
      <p:sp>
        <p:nvSpPr>
          <p:cNvPr id="3" name="流程圖: 決策 2"/>
          <p:cNvSpPr/>
          <p:nvPr/>
        </p:nvSpPr>
        <p:spPr>
          <a:xfrm>
            <a:off x="742285" y="2803693"/>
            <a:ext cx="989136" cy="4201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矩形 130"/>
          <p:cNvSpPr/>
          <p:nvPr/>
        </p:nvSpPr>
        <p:spPr>
          <a:xfrm>
            <a:off x="854414" y="2859001"/>
            <a:ext cx="763351" cy="307777"/>
          </a:xfrm>
          <a:prstGeom prst="rect">
            <a:avLst/>
          </a:prstGeom>
        </p:spPr>
        <p:txBody>
          <a:bodyPr wrap="none">
            <a:spAutoFit/>
          </a:bodyPr>
          <a:lstStyle/>
          <a:p>
            <a:pPr algn="ctr"/>
            <a:r>
              <a:rPr lang="en-US" altLang="zh-TW" sz="700" dirty="0" smtClean="0">
                <a:solidFill>
                  <a:schemeClr val="bg1"/>
                </a:solidFill>
              </a:rPr>
              <a:t>Summary Table</a:t>
            </a:r>
          </a:p>
          <a:p>
            <a:pPr algn="ctr"/>
            <a:r>
              <a:rPr lang="en-US" altLang="zh-TW" sz="700" dirty="0" smtClean="0">
                <a:solidFill>
                  <a:schemeClr val="bg1"/>
                </a:solidFill>
              </a:rPr>
              <a:t> exists</a:t>
            </a:r>
            <a:endParaRPr lang="en-US" altLang="zh-TW" sz="700" dirty="0">
              <a:solidFill>
                <a:schemeClr val="bg1"/>
              </a:solidFill>
            </a:endParaRPr>
          </a:p>
        </p:txBody>
      </p:sp>
      <p:grpSp>
        <p:nvGrpSpPr>
          <p:cNvPr id="132" name="群組 131"/>
          <p:cNvGrpSpPr/>
          <p:nvPr/>
        </p:nvGrpSpPr>
        <p:grpSpPr>
          <a:xfrm>
            <a:off x="914421" y="3382311"/>
            <a:ext cx="592861" cy="233768"/>
            <a:chOff x="839940" y="867946"/>
            <a:chExt cx="859497" cy="265087"/>
          </a:xfrm>
        </p:grpSpPr>
        <p:sp>
          <p:nvSpPr>
            <p:cNvPr id="133"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34" name="矩形 133"/>
            <p:cNvSpPr/>
            <p:nvPr/>
          </p:nvSpPr>
          <p:spPr>
            <a:xfrm>
              <a:off x="1051143" y="867946"/>
              <a:ext cx="433234" cy="261758"/>
            </a:xfrm>
            <a:prstGeom prst="rect">
              <a:avLst/>
            </a:prstGeom>
          </p:spPr>
          <p:txBody>
            <a:bodyPr wrap="none">
              <a:spAutoFit/>
            </a:bodyPr>
            <a:lstStyle/>
            <a:p>
              <a:pPr algn="ctr"/>
              <a:r>
                <a:rPr lang="en-US" altLang="zh-TW" sz="900" dirty="0" smtClean="0">
                  <a:solidFill>
                    <a:schemeClr val="bg1"/>
                  </a:solidFill>
                </a:rPr>
                <a:t>Upsert</a:t>
              </a:r>
              <a:endParaRPr lang="en-US" altLang="zh-TW" sz="900" dirty="0">
                <a:solidFill>
                  <a:schemeClr val="bg1"/>
                </a:solidFill>
              </a:endParaRPr>
            </a:p>
          </p:txBody>
        </p:sp>
      </p:grpSp>
      <p:sp>
        <p:nvSpPr>
          <p:cNvPr id="147" name="圓柱 146"/>
          <p:cNvSpPr/>
          <p:nvPr/>
        </p:nvSpPr>
        <p:spPr>
          <a:xfrm>
            <a:off x="1390719" y="3858946"/>
            <a:ext cx="773334" cy="242917"/>
          </a:xfrm>
          <a:prstGeom prst="can">
            <a:avLst/>
          </a:prstGeom>
          <a:solidFill>
            <a:schemeClr val="accent1"/>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51" name="群組 150"/>
          <p:cNvGrpSpPr/>
          <p:nvPr/>
        </p:nvGrpSpPr>
        <p:grpSpPr>
          <a:xfrm>
            <a:off x="284363" y="3387971"/>
            <a:ext cx="541323" cy="233768"/>
            <a:chOff x="839940" y="867946"/>
            <a:chExt cx="859497" cy="265087"/>
          </a:xfrm>
        </p:grpSpPr>
        <p:sp>
          <p:nvSpPr>
            <p:cNvPr id="152"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53" name="矩形 152"/>
            <p:cNvSpPr/>
            <p:nvPr/>
          </p:nvSpPr>
          <p:spPr>
            <a:xfrm>
              <a:off x="1051143" y="867946"/>
              <a:ext cx="433234" cy="261758"/>
            </a:xfrm>
            <a:prstGeom prst="rect">
              <a:avLst/>
            </a:prstGeom>
          </p:spPr>
          <p:txBody>
            <a:bodyPr wrap="none">
              <a:spAutoFit/>
            </a:bodyPr>
            <a:lstStyle/>
            <a:p>
              <a:pPr algn="ctr"/>
              <a:r>
                <a:rPr lang="en-US" altLang="zh-TW" sz="900" dirty="0">
                  <a:solidFill>
                    <a:schemeClr val="bg1"/>
                  </a:solidFill>
                </a:rPr>
                <a:t>Create</a:t>
              </a:r>
            </a:p>
          </p:txBody>
        </p:sp>
      </p:grpSp>
      <p:sp>
        <p:nvSpPr>
          <p:cNvPr id="158" name="矩形 157"/>
          <p:cNvSpPr/>
          <p:nvPr/>
        </p:nvSpPr>
        <p:spPr>
          <a:xfrm>
            <a:off x="3330690" y="647543"/>
            <a:ext cx="2298550" cy="861774"/>
          </a:xfrm>
          <a:prstGeom prst="rect">
            <a:avLst/>
          </a:prstGeom>
        </p:spPr>
        <p:txBody>
          <a:bodyPr wrap="square">
            <a:spAutoFit/>
          </a:bodyPr>
          <a:lstStyle/>
          <a:p>
            <a:pPr marL="171450" indent="-171450">
              <a:buFont typeface="Arial" panose="020B0604020202020204" pitchFamily="34" charset="0"/>
              <a:buChar char="•"/>
            </a:pPr>
            <a:r>
              <a:rPr lang="zh-TW" altLang="en-US" sz="1000" b="1" dirty="0" smtClean="0"/>
              <a:t>量測機台廠商網頁</a:t>
            </a:r>
            <a:r>
              <a:rPr lang="en-US" altLang="zh-TW" sz="1000" b="1" dirty="0" smtClean="0"/>
              <a:t>(KLA-YMS)</a:t>
            </a:r>
          </a:p>
          <a:p>
            <a:pPr marL="171450" indent="-171450">
              <a:buFont typeface="Arial" panose="020B0604020202020204" pitchFamily="34" charset="0"/>
              <a:buChar char="•"/>
            </a:pPr>
            <a:r>
              <a:rPr lang="en-US" altLang="zh-TW" sz="1000" b="1" dirty="0" smtClean="0"/>
              <a:t>CIM</a:t>
            </a:r>
            <a:r>
              <a:rPr lang="zh-TW" altLang="en-US" sz="1000" b="1" dirty="0" smtClean="0"/>
              <a:t>資料庫</a:t>
            </a:r>
            <a:endParaRPr lang="en-US" altLang="zh-TW" sz="1000" b="1" dirty="0" smtClean="0"/>
          </a:p>
          <a:p>
            <a:pPr marL="571500" lvl="1" indent="-228600">
              <a:buFont typeface="Wingdings" panose="05000000000000000000" pitchFamily="2" charset="2"/>
              <a:buAutoNum type="circleNumWdWhitePlain"/>
            </a:pPr>
            <a:r>
              <a:rPr lang="en-US" altLang="zh-TW" sz="1000" dirty="0" smtClean="0"/>
              <a:t>Fab run</a:t>
            </a:r>
            <a:r>
              <a:rPr lang="zh-TW" altLang="en-US" sz="1000" dirty="0" smtClean="0"/>
              <a:t>貨資訊</a:t>
            </a:r>
            <a:endParaRPr lang="en-US" altLang="zh-TW" sz="1000" dirty="0" smtClean="0"/>
          </a:p>
          <a:p>
            <a:pPr marL="571500" lvl="1" indent="-228600">
              <a:buFont typeface="Wingdings" panose="05000000000000000000" pitchFamily="2" charset="2"/>
              <a:buAutoNum type="circleNumWdWhitePlain"/>
            </a:pPr>
            <a:r>
              <a:rPr lang="en-US" altLang="zh-TW" sz="1000" dirty="0" smtClean="0"/>
              <a:t>Defect </a:t>
            </a:r>
            <a:r>
              <a:rPr lang="zh-TW" altLang="en-US" sz="1000" dirty="0" smtClean="0"/>
              <a:t>座標資訊</a:t>
            </a:r>
            <a:endParaRPr lang="en-US" altLang="zh-TW" sz="1000" dirty="0" smtClean="0"/>
          </a:p>
          <a:p>
            <a:pPr marL="571500" lvl="1" indent="-228600">
              <a:buFont typeface="Wingdings" panose="05000000000000000000" pitchFamily="2" charset="2"/>
              <a:buAutoNum type="circleNumWdWhitePlain"/>
            </a:pPr>
            <a:r>
              <a:rPr lang="en-US" altLang="zh-TW" sz="1000" dirty="0" smtClean="0"/>
              <a:t>AIDI</a:t>
            </a:r>
            <a:r>
              <a:rPr lang="zh-TW" altLang="en-US" sz="1000" dirty="0"/>
              <a:t>判</a:t>
            </a:r>
            <a:r>
              <a:rPr lang="zh-TW" altLang="en-US" sz="1000" dirty="0" smtClean="0"/>
              <a:t>片資訊</a:t>
            </a:r>
            <a:endParaRPr lang="zh-TW" altLang="en-US" sz="1000" dirty="0"/>
          </a:p>
        </p:txBody>
      </p:sp>
      <p:cxnSp>
        <p:nvCxnSpPr>
          <p:cNvPr id="159" name="肘形接點 158"/>
          <p:cNvCxnSpPr>
            <a:endCxn id="94" idx="1"/>
          </p:cNvCxnSpPr>
          <p:nvPr/>
        </p:nvCxnSpPr>
        <p:spPr>
          <a:xfrm rot="5400000">
            <a:off x="1441589" y="761206"/>
            <a:ext cx="227770" cy="1624878"/>
          </a:xfrm>
          <a:prstGeom prst="bentConnector4">
            <a:avLst>
              <a:gd name="adj1" fmla="val 27132"/>
              <a:gd name="adj2" fmla="val 10862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1" name="肘形接點 160"/>
          <p:cNvCxnSpPr/>
          <p:nvPr/>
        </p:nvCxnSpPr>
        <p:spPr>
          <a:xfrm rot="10800000" flipH="1">
            <a:off x="1700056" y="1356709"/>
            <a:ext cx="154661" cy="1818"/>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肘形接點 161"/>
          <p:cNvCxnSpPr/>
          <p:nvPr/>
        </p:nvCxnSpPr>
        <p:spPr>
          <a:xfrm rot="10800000" flipH="1">
            <a:off x="1719306" y="1663398"/>
            <a:ext cx="154661" cy="1818"/>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4" name="圓角矩形 163"/>
          <p:cNvSpPr/>
          <p:nvPr/>
        </p:nvSpPr>
        <p:spPr>
          <a:xfrm>
            <a:off x="670955" y="1164704"/>
            <a:ext cx="2233675" cy="752298"/>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肘形接點 28"/>
          <p:cNvCxnSpPr/>
          <p:nvPr/>
        </p:nvCxnSpPr>
        <p:spPr>
          <a:xfrm rot="5400000">
            <a:off x="1726617" y="1069819"/>
            <a:ext cx="178507" cy="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nvGrpSpPr>
          <p:cNvPr id="67" name="群組 66"/>
          <p:cNvGrpSpPr/>
          <p:nvPr/>
        </p:nvGrpSpPr>
        <p:grpSpPr>
          <a:xfrm>
            <a:off x="6299309" y="143941"/>
            <a:ext cx="2261058" cy="3022837"/>
            <a:chOff x="6045163" y="143941"/>
            <a:chExt cx="2515204" cy="3159490"/>
          </a:xfrm>
        </p:grpSpPr>
        <p:grpSp>
          <p:nvGrpSpPr>
            <p:cNvPr id="89" name="群組 88"/>
            <p:cNvGrpSpPr/>
            <p:nvPr/>
          </p:nvGrpSpPr>
          <p:grpSpPr>
            <a:xfrm>
              <a:off x="6045164" y="143941"/>
              <a:ext cx="2501219" cy="3159490"/>
              <a:chOff x="356597" y="1863447"/>
              <a:chExt cx="2182188" cy="2808390"/>
            </a:xfrm>
          </p:grpSpPr>
          <p:pic>
            <p:nvPicPr>
              <p:cNvPr id="95" name="圖片 94"/>
              <p:cNvPicPr>
                <a:picLocks noChangeAspect="1"/>
              </p:cNvPicPr>
              <p:nvPr/>
            </p:nvPicPr>
            <p:blipFill>
              <a:blip r:embed="rId3"/>
              <a:stretch>
                <a:fillRect/>
              </a:stretch>
            </p:blipFill>
            <p:spPr>
              <a:xfrm>
                <a:off x="356598" y="1863447"/>
                <a:ext cx="2180544" cy="2808390"/>
              </a:xfrm>
              <a:prstGeom prst="rect">
                <a:avLst/>
              </a:prstGeom>
            </p:spPr>
          </p:pic>
          <p:sp>
            <p:nvSpPr>
              <p:cNvPr id="97" name="矩形 96"/>
              <p:cNvSpPr/>
              <p:nvPr/>
            </p:nvSpPr>
            <p:spPr>
              <a:xfrm>
                <a:off x="358241" y="2511163"/>
                <a:ext cx="2180544" cy="784779"/>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9" name="矩形 98"/>
              <p:cNvSpPr/>
              <p:nvPr/>
            </p:nvSpPr>
            <p:spPr>
              <a:xfrm>
                <a:off x="356598" y="3450671"/>
                <a:ext cx="2180544" cy="429179"/>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02" name="矩形 101"/>
              <p:cNvSpPr/>
              <p:nvPr/>
            </p:nvSpPr>
            <p:spPr>
              <a:xfrm>
                <a:off x="356598" y="3949425"/>
                <a:ext cx="2180544" cy="146326"/>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03" name="矩形 102"/>
              <p:cNvSpPr/>
              <p:nvPr/>
            </p:nvSpPr>
            <p:spPr>
              <a:xfrm>
                <a:off x="356598" y="4164305"/>
                <a:ext cx="2180544" cy="74320"/>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06" name="矩形 105"/>
              <p:cNvSpPr/>
              <p:nvPr/>
            </p:nvSpPr>
            <p:spPr>
              <a:xfrm>
                <a:off x="356598" y="4307179"/>
                <a:ext cx="2180544" cy="361775"/>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08" name="矩形 107"/>
              <p:cNvSpPr/>
              <p:nvPr/>
            </p:nvSpPr>
            <p:spPr>
              <a:xfrm>
                <a:off x="356598" y="1949416"/>
                <a:ext cx="2180544" cy="365688"/>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16" name="矩形 115"/>
              <p:cNvSpPr/>
              <p:nvPr/>
            </p:nvSpPr>
            <p:spPr>
              <a:xfrm>
                <a:off x="356597" y="2309937"/>
                <a:ext cx="2180544" cy="201226"/>
              </a:xfrm>
              <a:prstGeom prst="rect">
                <a:avLst/>
              </a:prstGeom>
              <a:solidFill>
                <a:schemeClr val="accent2">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17" name="矩形 116"/>
              <p:cNvSpPr/>
              <p:nvPr/>
            </p:nvSpPr>
            <p:spPr>
              <a:xfrm>
                <a:off x="356597" y="3375679"/>
                <a:ext cx="2180544" cy="80409"/>
              </a:xfrm>
              <a:prstGeom prst="rect">
                <a:avLst/>
              </a:prstGeom>
              <a:solidFill>
                <a:schemeClr val="accent4">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18" name="矩形 117"/>
              <p:cNvSpPr/>
              <p:nvPr/>
            </p:nvSpPr>
            <p:spPr>
              <a:xfrm>
                <a:off x="356597" y="3299308"/>
                <a:ext cx="2180544" cy="81788"/>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19" name="矩形 118"/>
              <p:cNvSpPr/>
              <p:nvPr/>
            </p:nvSpPr>
            <p:spPr>
              <a:xfrm>
                <a:off x="356597" y="3873923"/>
                <a:ext cx="2180544" cy="80409"/>
              </a:xfrm>
              <a:prstGeom prst="rect">
                <a:avLst/>
              </a:prstGeom>
              <a:solidFill>
                <a:schemeClr val="accent2">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124" name="文字方塊 123"/>
            <p:cNvSpPr txBox="1"/>
            <p:nvPr/>
          </p:nvSpPr>
          <p:spPr>
            <a:xfrm>
              <a:off x="7760148" y="405341"/>
              <a:ext cx="800219" cy="215444"/>
            </a:xfrm>
            <a:prstGeom prst="rect">
              <a:avLst/>
            </a:prstGeom>
            <a:noFill/>
          </p:spPr>
          <p:txBody>
            <a:bodyPr wrap="none" rtlCol="0">
              <a:spAutoFit/>
            </a:bodyPr>
            <a:lstStyle/>
            <a:p>
              <a:r>
                <a:rPr lang="zh-TW" altLang="en-US" sz="800" dirty="0" smtClean="0">
                  <a:solidFill>
                    <a:schemeClr val="bg1"/>
                  </a:solidFill>
                  <a:latin typeface="微軟正黑體" panose="020B0604030504040204" pitchFamily="34" charset="-120"/>
                  <a:ea typeface="微軟正黑體" panose="020B0604030504040204" pitchFamily="34" charset="-120"/>
                </a:rPr>
                <a:t>同片共同資</a:t>
              </a:r>
              <a:r>
                <a:rPr lang="zh-TW" altLang="en-US" sz="800" dirty="0">
                  <a:solidFill>
                    <a:schemeClr val="bg1"/>
                  </a:solidFill>
                  <a:latin typeface="微軟正黑體" panose="020B0604030504040204" pitchFamily="34" charset="-120"/>
                  <a:ea typeface="微軟正黑體" panose="020B0604030504040204" pitchFamily="34" charset="-120"/>
                </a:rPr>
                <a:t>訊</a:t>
              </a:r>
              <a:endParaRPr lang="en-US" altLang="zh-TW" sz="800" dirty="0" smtClean="0">
                <a:solidFill>
                  <a:schemeClr val="bg1"/>
                </a:solidFill>
                <a:latin typeface="微軟正黑體" panose="020B0604030504040204" pitchFamily="34" charset="-120"/>
                <a:ea typeface="微軟正黑體" panose="020B0604030504040204" pitchFamily="34" charset="-120"/>
              </a:endParaRPr>
            </a:p>
          </p:txBody>
        </p:sp>
        <p:sp>
          <p:nvSpPr>
            <p:cNvPr id="125" name="文字方塊 124"/>
            <p:cNvSpPr txBox="1"/>
            <p:nvPr/>
          </p:nvSpPr>
          <p:spPr>
            <a:xfrm>
              <a:off x="7633672" y="676041"/>
              <a:ext cx="909223" cy="215444"/>
            </a:xfrm>
            <a:prstGeom prst="rect">
              <a:avLst/>
            </a:prstGeom>
            <a:noFill/>
          </p:spPr>
          <p:txBody>
            <a:bodyPr wrap="none" rtlCol="0">
              <a:spAutoFit/>
            </a:bodyPr>
            <a:lstStyle/>
            <a:p>
              <a:r>
                <a:rPr lang="zh-TW" altLang="en-US" sz="800" dirty="0" smtClean="0">
                  <a:solidFill>
                    <a:schemeClr val="bg1"/>
                  </a:solidFill>
                  <a:latin typeface="微軟正黑體" panose="020B0604030504040204" pitchFamily="34" charset="-120"/>
                  <a:ea typeface="微軟正黑體" panose="020B0604030504040204" pitchFamily="34" charset="-120"/>
                </a:rPr>
                <a:t>單點</a:t>
              </a:r>
              <a:r>
                <a:rPr lang="en-US" altLang="zh-TW" sz="800" dirty="0" smtClean="0">
                  <a:solidFill>
                    <a:schemeClr val="bg1"/>
                  </a:solidFill>
                  <a:latin typeface="微軟正黑體" panose="020B0604030504040204" pitchFamily="34" charset="-120"/>
                  <a:ea typeface="微軟正黑體" panose="020B0604030504040204" pitchFamily="34" charset="-120"/>
                </a:rPr>
                <a:t>Defect</a:t>
              </a:r>
              <a:r>
                <a:rPr lang="zh-TW" altLang="en-US" sz="800" dirty="0" smtClean="0">
                  <a:solidFill>
                    <a:schemeClr val="bg1"/>
                  </a:solidFill>
                  <a:latin typeface="微軟正黑體" panose="020B0604030504040204" pitchFamily="34" charset="-120"/>
                  <a:ea typeface="微軟正黑體" panose="020B0604030504040204" pitchFamily="34" charset="-120"/>
                </a:rPr>
                <a:t>資訊</a:t>
              </a:r>
              <a:endParaRPr lang="en-US" altLang="zh-TW" sz="800" dirty="0" smtClean="0">
                <a:solidFill>
                  <a:schemeClr val="bg1"/>
                </a:solidFill>
                <a:latin typeface="微軟正黑體" panose="020B0604030504040204" pitchFamily="34" charset="-120"/>
                <a:ea typeface="微軟正黑體" panose="020B0604030504040204" pitchFamily="34" charset="-120"/>
              </a:endParaRPr>
            </a:p>
          </p:txBody>
        </p:sp>
        <p:sp>
          <p:nvSpPr>
            <p:cNvPr id="126" name="文字方塊 125"/>
            <p:cNvSpPr txBox="1"/>
            <p:nvPr/>
          </p:nvSpPr>
          <p:spPr>
            <a:xfrm>
              <a:off x="7930148" y="1512667"/>
              <a:ext cx="622286" cy="215444"/>
            </a:xfrm>
            <a:prstGeom prst="rect">
              <a:avLst/>
            </a:prstGeom>
            <a:noFill/>
          </p:spPr>
          <p:txBody>
            <a:bodyPr wrap="none" rtlCol="0">
              <a:spAutoFit/>
            </a:bodyPr>
            <a:lstStyle/>
            <a:p>
              <a:r>
                <a:rPr lang="en-US" altLang="zh-TW" sz="800" dirty="0" smtClean="0">
                  <a:solidFill>
                    <a:schemeClr val="bg1"/>
                  </a:solidFill>
                  <a:latin typeface="微軟正黑體" panose="020B0604030504040204" pitchFamily="34" charset="-120"/>
                  <a:ea typeface="微軟正黑體" panose="020B0604030504040204" pitchFamily="34" charset="-120"/>
                </a:rPr>
                <a:t>drop</a:t>
              </a:r>
              <a:r>
                <a:rPr lang="zh-TW" altLang="en-US" sz="800" dirty="0" smtClean="0">
                  <a:solidFill>
                    <a:schemeClr val="bg1"/>
                  </a:solidFill>
                  <a:latin typeface="微軟正黑體" panose="020B0604030504040204" pitchFamily="34" charset="-120"/>
                  <a:ea typeface="微軟正黑體" panose="020B0604030504040204" pitchFamily="34" charset="-120"/>
                </a:rPr>
                <a:t>資訊</a:t>
              </a:r>
              <a:endParaRPr lang="en-US" altLang="zh-TW" sz="800" dirty="0" smtClean="0">
                <a:solidFill>
                  <a:schemeClr val="bg1"/>
                </a:solidFill>
                <a:latin typeface="微軟正黑體" panose="020B0604030504040204" pitchFamily="34" charset="-120"/>
                <a:ea typeface="微軟正黑體" panose="020B0604030504040204" pitchFamily="34" charset="-120"/>
              </a:endParaRPr>
            </a:p>
          </p:txBody>
        </p:sp>
        <p:sp>
          <p:nvSpPr>
            <p:cNvPr id="128" name="矩形 127"/>
            <p:cNvSpPr/>
            <p:nvPr/>
          </p:nvSpPr>
          <p:spPr>
            <a:xfrm>
              <a:off x="6045163" y="2802583"/>
              <a:ext cx="2499335" cy="92013"/>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29" name="文字方塊 128"/>
            <p:cNvSpPr txBox="1"/>
            <p:nvPr/>
          </p:nvSpPr>
          <p:spPr>
            <a:xfrm>
              <a:off x="7942670" y="1805236"/>
              <a:ext cx="595035" cy="215444"/>
            </a:xfrm>
            <a:prstGeom prst="rect">
              <a:avLst/>
            </a:prstGeom>
            <a:noFill/>
          </p:spPr>
          <p:txBody>
            <a:bodyPr wrap="none" rtlCol="0">
              <a:spAutoFit/>
            </a:bodyPr>
            <a:lstStyle/>
            <a:p>
              <a:r>
                <a:rPr lang="zh-TW" altLang="en-US" sz="800" dirty="0" smtClean="0">
                  <a:solidFill>
                    <a:schemeClr val="bg1"/>
                  </a:solidFill>
                  <a:latin typeface="微軟正黑體" panose="020B0604030504040204" pitchFamily="34" charset="-120"/>
                  <a:ea typeface="微軟正黑體" panose="020B0604030504040204" pitchFamily="34" charset="-120"/>
                </a:rPr>
                <a:t>二次處理</a:t>
              </a:r>
              <a:endParaRPr lang="en-US" altLang="zh-TW" sz="800" dirty="0" smtClean="0">
                <a:solidFill>
                  <a:schemeClr val="bg1"/>
                </a:solidFill>
                <a:latin typeface="微軟正黑體" panose="020B0604030504040204" pitchFamily="34" charset="-120"/>
                <a:ea typeface="微軟正黑體" panose="020B0604030504040204" pitchFamily="34" charset="-120"/>
              </a:endParaRPr>
            </a:p>
          </p:txBody>
        </p:sp>
        <p:sp>
          <p:nvSpPr>
            <p:cNvPr id="146" name="矩形 145"/>
            <p:cNvSpPr/>
            <p:nvPr/>
          </p:nvSpPr>
          <p:spPr>
            <a:xfrm>
              <a:off x="6051958" y="2653365"/>
              <a:ext cx="2499335" cy="90462"/>
            </a:xfrm>
            <a:prstGeom prst="rect">
              <a:avLst/>
            </a:prstGeom>
            <a:solidFill>
              <a:schemeClr val="accent4">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nvGrpSpPr>
          <p:cNvPr id="66" name="群組 65"/>
          <p:cNvGrpSpPr/>
          <p:nvPr/>
        </p:nvGrpSpPr>
        <p:grpSpPr>
          <a:xfrm>
            <a:off x="3648492" y="2193393"/>
            <a:ext cx="2259571" cy="1138400"/>
            <a:chOff x="3663281" y="2550083"/>
            <a:chExt cx="2259571" cy="1138400"/>
          </a:xfrm>
        </p:grpSpPr>
        <p:pic>
          <p:nvPicPr>
            <p:cNvPr id="120" name="圖片 119"/>
            <p:cNvPicPr>
              <a:picLocks noChangeAspect="1"/>
            </p:cNvPicPr>
            <p:nvPr/>
          </p:nvPicPr>
          <p:blipFill rotWithShape="1">
            <a:blip r:embed="rId4"/>
            <a:srcRect r="19617"/>
            <a:stretch/>
          </p:blipFill>
          <p:spPr>
            <a:xfrm>
              <a:off x="3663281" y="2550083"/>
              <a:ext cx="2252777" cy="1138400"/>
            </a:xfrm>
            <a:prstGeom prst="rect">
              <a:avLst/>
            </a:prstGeom>
          </p:spPr>
        </p:pic>
        <p:sp>
          <p:nvSpPr>
            <p:cNvPr id="127" name="矩形 126"/>
            <p:cNvSpPr/>
            <p:nvPr/>
          </p:nvSpPr>
          <p:spPr>
            <a:xfrm>
              <a:off x="3679147" y="2550083"/>
              <a:ext cx="2224385" cy="599781"/>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45" name="矩形 144"/>
            <p:cNvSpPr/>
            <p:nvPr/>
          </p:nvSpPr>
          <p:spPr>
            <a:xfrm>
              <a:off x="3685941" y="3153049"/>
              <a:ext cx="2217592" cy="435226"/>
            </a:xfrm>
            <a:prstGeom prst="rect">
              <a:avLst/>
            </a:prstGeom>
            <a:solidFill>
              <a:schemeClr val="accent4">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50" name="矩形 149"/>
            <p:cNvSpPr/>
            <p:nvPr/>
          </p:nvSpPr>
          <p:spPr>
            <a:xfrm>
              <a:off x="3692733" y="3583210"/>
              <a:ext cx="2230119" cy="102149"/>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183" name="矩形 182"/>
          <p:cNvSpPr/>
          <p:nvPr/>
        </p:nvSpPr>
        <p:spPr>
          <a:xfrm>
            <a:off x="3511363" y="3401664"/>
            <a:ext cx="2821606" cy="769441"/>
          </a:xfrm>
          <a:prstGeom prst="rect">
            <a:avLst/>
          </a:prstGeom>
        </p:spPr>
        <p:txBody>
          <a:bodyPr wrap="none">
            <a:spAutoFit/>
          </a:bodyPr>
          <a:lstStyle/>
          <a:p>
            <a:r>
              <a:rPr lang="en-US" altLang="zh-TW" sz="1100" dirty="0" smtClean="0"/>
              <a:t>Raw Table</a:t>
            </a:r>
          </a:p>
          <a:p>
            <a:pPr marL="171450" indent="-171450">
              <a:buFont typeface="Arial" panose="020B0604020202020204" pitchFamily="34" charset="0"/>
              <a:buChar char="•"/>
            </a:pPr>
            <a:r>
              <a:rPr lang="en-US" altLang="zh-TW" sz="1100" dirty="0" smtClean="0"/>
              <a:t>[</a:t>
            </a:r>
            <a:r>
              <a:rPr lang="en-US" altLang="zh-TW" sz="1100" dirty="0"/>
              <a:t>AOI100|AOI200|AOI300</a:t>
            </a:r>
            <a:r>
              <a:rPr lang="en-US" altLang="zh-TW" sz="1100" dirty="0" smtClean="0"/>
              <a:t>]+’_</a:t>
            </a:r>
            <a:r>
              <a:rPr lang="en-US" altLang="zh-TW" sz="1100" dirty="0"/>
              <a:t>Raw data</a:t>
            </a:r>
            <a:r>
              <a:rPr lang="en-US" altLang="zh-TW" sz="1100" dirty="0" smtClean="0"/>
              <a:t>_’+</a:t>
            </a:r>
          </a:p>
          <a:p>
            <a:r>
              <a:rPr lang="en-US" altLang="zh-TW" sz="1100" dirty="0" smtClean="0"/>
              <a:t>     [</a:t>
            </a:r>
            <a:r>
              <a:rPr lang="en-US" altLang="zh-TW" sz="1100" dirty="0"/>
              <a:t>YYYYMM</a:t>
            </a:r>
            <a:r>
              <a:rPr lang="en-US" altLang="zh-TW" sz="1100" dirty="0" smtClean="0"/>
              <a:t>]+’_’+ [PIX00…]</a:t>
            </a:r>
          </a:p>
          <a:p>
            <a:pPr marL="171450" indent="-171450">
              <a:buFont typeface="Arial" panose="020B0604020202020204" pitchFamily="34" charset="0"/>
              <a:buChar char="•"/>
            </a:pPr>
            <a:r>
              <a:rPr lang="en-US" altLang="zh-TW" sz="1100" dirty="0" smtClean="0"/>
              <a:t>API Router: </a:t>
            </a:r>
            <a:r>
              <a:rPr lang="en-US" altLang="zh-TW" sz="1100" dirty="0"/>
              <a:t>Defect map </a:t>
            </a:r>
            <a:endParaRPr lang="zh-TW" altLang="en-US" sz="1100" dirty="0"/>
          </a:p>
        </p:txBody>
      </p:sp>
      <p:sp>
        <p:nvSpPr>
          <p:cNvPr id="187" name="矩形 186"/>
          <p:cNvSpPr/>
          <p:nvPr/>
        </p:nvSpPr>
        <p:spPr>
          <a:xfrm>
            <a:off x="3333912" y="1586542"/>
            <a:ext cx="3021981" cy="769441"/>
          </a:xfrm>
          <a:prstGeom prst="rect">
            <a:avLst/>
          </a:prstGeom>
        </p:spPr>
        <p:txBody>
          <a:bodyPr wrap="none">
            <a:spAutoFit/>
          </a:bodyPr>
          <a:lstStyle/>
          <a:p>
            <a:r>
              <a:rPr lang="en-US" altLang="zh-TW" sz="1100" dirty="0" smtClean="0"/>
              <a:t>SUMMARY Table</a:t>
            </a:r>
          </a:p>
          <a:p>
            <a:pPr marL="171450" indent="-171450">
              <a:buFont typeface="Arial" panose="020B0604020202020204" pitchFamily="34" charset="0"/>
              <a:buChar char="•"/>
            </a:pPr>
            <a:r>
              <a:rPr lang="en-US" altLang="zh-TW" sz="1100" dirty="0" smtClean="0"/>
              <a:t>AOI_SUMMARY</a:t>
            </a:r>
            <a:r>
              <a:rPr lang="en-US" altLang="zh-TW" sz="1100" dirty="0"/>
              <a:t>_[AOI100|AOI200|AOI300</a:t>
            </a:r>
            <a:r>
              <a:rPr lang="en-US" altLang="zh-TW" sz="1100" dirty="0" smtClean="0"/>
              <a:t>]</a:t>
            </a:r>
          </a:p>
          <a:p>
            <a:pPr marL="171450" indent="-171450">
              <a:buFont typeface="Arial" panose="020B0604020202020204" pitchFamily="34" charset="0"/>
              <a:buChar char="•"/>
            </a:pPr>
            <a:r>
              <a:rPr lang="en-US" altLang="zh-TW" sz="1100" dirty="0"/>
              <a:t>API </a:t>
            </a:r>
            <a:r>
              <a:rPr lang="en-US" altLang="zh-TW" sz="1100" dirty="0" smtClean="0"/>
              <a:t>Router: run_info </a:t>
            </a:r>
          </a:p>
          <a:p>
            <a:pPr marL="171450" indent="-171450">
              <a:buFont typeface="Arial" panose="020B0604020202020204" pitchFamily="34" charset="0"/>
              <a:buChar char="•"/>
            </a:pPr>
            <a:endParaRPr lang="en-US" altLang="zh-TW" sz="1100" dirty="0"/>
          </a:p>
        </p:txBody>
      </p:sp>
      <p:grpSp>
        <p:nvGrpSpPr>
          <p:cNvPr id="64" name="群組 63"/>
          <p:cNvGrpSpPr/>
          <p:nvPr/>
        </p:nvGrpSpPr>
        <p:grpSpPr>
          <a:xfrm>
            <a:off x="3677944" y="4162809"/>
            <a:ext cx="2252777" cy="979813"/>
            <a:chOff x="6922658" y="3662371"/>
            <a:chExt cx="2252777" cy="979813"/>
          </a:xfrm>
        </p:grpSpPr>
        <p:pic>
          <p:nvPicPr>
            <p:cNvPr id="188" name="圖片 187"/>
            <p:cNvPicPr>
              <a:picLocks noChangeAspect="1"/>
            </p:cNvPicPr>
            <p:nvPr/>
          </p:nvPicPr>
          <p:blipFill rotWithShape="1">
            <a:blip r:embed="rId4"/>
            <a:srcRect r="19617" b="53841"/>
            <a:stretch/>
          </p:blipFill>
          <p:spPr>
            <a:xfrm>
              <a:off x="6922658" y="3662371"/>
              <a:ext cx="2252777" cy="525470"/>
            </a:xfrm>
            <a:prstGeom prst="rect">
              <a:avLst/>
            </a:prstGeom>
          </p:spPr>
        </p:pic>
        <p:sp>
          <p:nvSpPr>
            <p:cNvPr id="189" name="矩形 188"/>
            <p:cNvSpPr/>
            <p:nvPr/>
          </p:nvSpPr>
          <p:spPr>
            <a:xfrm>
              <a:off x="6938524" y="3662372"/>
              <a:ext cx="2224385" cy="525470"/>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193" name="圖片 192"/>
            <p:cNvPicPr>
              <a:picLocks noChangeAspect="1"/>
            </p:cNvPicPr>
            <p:nvPr/>
          </p:nvPicPr>
          <p:blipFill rotWithShape="1">
            <a:blip r:embed="rId3"/>
            <a:srcRect t="15787" r="9946" b="76575"/>
            <a:stretch/>
          </p:blipFill>
          <p:spPr>
            <a:xfrm>
              <a:off x="6922658" y="4173917"/>
              <a:ext cx="2250740" cy="241300"/>
            </a:xfrm>
            <a:prstGeom prst="rect">
              <a:avLst/>
            </a:prstGeom>
          </p:spPr>
        </p:pic>
        <p:pic>
          <p:nvPicPr>
            <p:cNvPr id="194" name="圖片 193"/>
            <p:cNvPicPr>
              <a:picLocks noChangeAspect="1"/>
            </p:cNvPicPr>
            <p:nvPr/>
          </p:nvPicPr>
          <p:blipFill rotWithShape="1">
            <a:blip r:embed="rId3"/>
            <a:srcRect t="58398" r="10041" b="39091"/>
            <a:stretch/>
          </p:blipFill>
          <p:spPr>
            <a:xfrm>
              <a:off x="6922658" y="4415217"/>
              <a:ext cx="2248359" cy="79329"/>
            </a:xfrm>
            <a:prstGeom prst="rect">
              <a:avLst/>
            </a:prstGeom>
          </p:spPr>
        </p:pic>
        <p:pic>
          <p:nvPicPr>
            <p:cNvPr id="195" name="圖片 194"/>
            <p:cNvPicPr>
              <a:picLocks noChangeAspect="1"/>
            </p:cNvPicPr>
            <p:nvPr/>
          </p:nvPicPr>
          <p:blipFill rotWithShape="1">
            <a:blip r:embed="rId3"/>
            <a:srcRect t="53773" r="10317" b="43452"/>
            <a:stretch/>
          </p:blipFill>
          <p:spPr>
            <a:xfrm>
              <a:off x="6923202" y="4478331"/>
              <a:ext cx="2241465" cy="87653"/>
            </a:xfrm>
            <a:prstGeom prst="rect">
              <a:avLst/>
            </a:prstGeom>
          </p:spPr>
        </p:pic>
        <p:pic>
          <p:nvPicPr>
            <p:cNvPr id="196" name="圖片 195"/>
            <p:cNvPicPr>
              <a:picLocks noChangeAspect="1"/>
            </p:cNvPicPr>
            <p:nvPr/>
          </p:nvPicPr>
          <p:blipFill rotWithShape="1">
            <a:blip r:embed="rId3"/>
            <a:srcRect t="78902" r="10042" b="17974"/>
            <a:stretch/>
          </p:blipFill>
          <p:spPr>
            <a:xfrm>
              <a:off x="6922658" y="4543484"/>
              <a:ext cx="2248359" cy="98700"/>
            </a:xfrm>
            <a:prstGeom prst="rect">
              <a:avLst/>
            </a:prstGeom>
          </p:spPr>
        </p:pic>
        <p:sp>
          <p:nvSpPr>
            <p:cNvPr id="197" name="矩形 196"/>
            <p:cNvSpPr/>
            <p:nvPr/>
          </p:nvSpPr>
          <p:spPr>
            <a:xfrm>
              <a:off x="6938524" y="4157277"/>
              <a:ext cx="2232493" cy="484907"/>
            </a:xfrm>
            <a:prstGeom prst="rect">
              <a:avLst/>
            </a:prstGeom>
            <a:solidFill>
              <a:schemeClr val="accent2">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cxnSp>
        <p:nvCxnSpPr>
          <p:cNvPr id="211" name="肘形接點 210"/>
          <p:cNvCxnSpPr/>
          <p:nvPr/>
        </p:nvCxnSpPr>
        <p:spPr>
          <a:xfrm rot="5400000">
            <a:off x="1990323" y="2364387"/>
            <a:ext cx="851799" cy="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3" name="流程圖: 決策 212"/>
          <p:cNvSpPr/>
          <p:nvPr/>
        </p:nvSpPr>
        <p:spPr>
          <a:xfrm>
            <a:off x="1925810" y="2796527"/>
            <a:ext cx="989136" cy="4201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4" name="矩形 213"/>
          <p:cNvSpPr/>
          <p:nvPr/>
        </p:nvSpPr>
        <p:spPr>
          <a:xfrm>
            <a:off x="2131715" y="2851835"/>
            <a:ext cx="575799" cy="307777"/>
          </a:xfrm>
          <a:prstGeom prst="rect">
            <a:avLst/>
          </a:prstGeom>
        </p:spPr>
        <p:txBody>
          <a:bodyPr wrap="none">
            <a:spAutoFit/>
          </a:bodyPr>
          <a:lstStyle/>
          <a:p>
            <a:pPr algn="ctr"/>
            <a:r>
              <a:rPr lang="en-US" altLang="zh-TW" sz="700" dirty="0" smtClean="0">
                <a:solidFill>
                  <a:schemeClr val="bg1"/>
                </a:solidFill>
              </a:rPr>
              <a:t>Raw Table</a:t>
            </a:r>
          </a:p>
          <a:p>
            <a:pPr algn="ctr"/>
            <a:r>
              <a:rPr lang="en-US" altLang="zh-TW" sz="700" dirty="0" smtClean="0">
                <a:solidFill>
                  <a:schemeClr val="bg1"/>
                </a:solidFill>
              </a:rPr>
              <a:t> exists</a:t>
            </a:r>
            <a:endParaRPr lang="en-US" altLang="zh-TW" sz="700" dirty="0">
              <a:solidFill>
                <a:schemeClr val="bg1"/>
              </a:solidFill>
            </a:endParaRPr>
          </a:p>
        </p:txBody>
      </p:sp>
      <p:cxnSp>
        <p:nvCxnSpPr>
          <p:cNvPr id="223" name="肘形接點 222"/>
          <p:cNvCxnSpPr>
            <a:stCxn id="3" idx="2"/>
          </p:cNvCxnSpPr>
          <p:nvPr/>
        </p:nvCxnSpPr>
        <p:spPr>
          <a:xfrm rot="5400000">
            <a:off x="1136298" y="3319110"/>
            <a:ext cx="195774" cy="5337"/>
          </a:xfrm>
          <a:prstGeom prst="bentConnector3">
            <a:avLst>
              <a:gd name="adj1" fmla="val 50000"/>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232" name="群組 231"/>
          <p:cNvGrpSpPr/>
          <p:nvPr/>
        </p:nvGrpSpPr>
        <p:grpSpPr>
          <a:xfrm>
            <a:off x="2130736" y="3391957"/>
            <a:ext cx="592861" cy="233768"/>
            <a:chOff x="839940" y="867946"/>
            <a:chExt cx="859497" cy="265087"/>
          </a:xfrm>
        </p:grpSpPr>
        <p:sp>
          <p:nvSpPr>
            <p:cNvPr id="233"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34" name="矩形 233"/>
            <p:cNvSpPr/>
            <p:nvPr/>
          </p:nvSpPr>
          <p:spPr>
            <a:xfrm>
              <a:off x="1051143" y="867946"/>
              <a:ext cx="433234" cy="261758"/>
            </a:xfrm>
            <a:prstGeom prst="rect">
              <a:avLst/>
            </a:prstGeom>
          </p:spPr>
          <p:txBody>
            <a:bodyPr wrap="none">
              <a:spAutoFit/>
            </a:bodyPr>
            <a:lstStyle/>
            <a:p>
              <a:pPr algn="ctr"/>
              <a:r>
                <a:rPr lang="en-US" altLang="zh-TW" sz="900" dirty="0" smtClean="0">
                  <a:solidFill>
                    <a:schemeClr val="bg1"/>
                  </a:solidFill>
                </a:rPr>
                <a:t>Upsert</a:t>
              </a:r>
              <a:endParaRPr lang="en-US" altLang="zh-TW" sz="900" dirty="0">
                <a:solidFill>
                  <a:schemeClr val="bg1"/>
                </a:solidFill>
              </a:endParaRPr>
            </a:p>
          </p:txBody>
        </p:sp>
      </p:grpSp>
      <p:grpSp>
        <p:nvGrpSpPr>
          <p:cNvPr id="235" name="群組 234"/>
          <p:cNvGrpSpPr/>
          <p:nvPr/>
        </p:nvGrpSpPr>
        <p:grpSpPr>
          <a:xfrm>
            <a:off x="2898162" y="3382543"/>
            <a:ext cx="541323" cy="233768"/>
            <a:chOff x="839940" y="867946"/>
            <a:chExt cx="859497" cy="265087"/>
          </a:xfrm>
        </p:grpSpPr>
        <p:sp>
          <p:nvSpPr>
            <p:cNvPr id="236"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37" name="矩形 236"/>
            <p:cNvSpPr/>
            <p:nvPr/>
          </p:nvSpPr>
          <p:spPr>
            <a:xfrm>
              <a:off x="1051143" y="867946"/>
              <a:ext cx="433234" cy="261758"/>
            </a:xfrm>
            <a:prstGeom prst="rect">
              <a:avLst/>
            </a:prstGeom>
          </p:spPr>
          <p:txBody>
            <a:bodyPr wrap="none">
              <a:spAutoFit/>
            </a:bodyPr>
            <a:lstStyle/>
            <a:p>
              <a:pPr algn="ctr"/>
              <a:r>
                <a:rPr lang="en-US" altLang="zh-TW" sz="900" dirty="0">
                  <a:solidFill>
                    <a:schemeClr val="bg1"/>
                  </a:solidFill>
                </a:rPr>
                <a:t>Create</a:t>
              </a:r>
            </a:p>
          </p:txBody>
        </p:sp>
      </p:grpSp>
      <p:cxnSp>
        <p:nvCxnSpPr>
          <p:cNvPr id="240" name="肘形接點 239"/>
          <p:cNvCxnSpPr/>
          <p:nvPr/>
        </p:nvCxnSpPr>
        <p:spPr>
          <a:xfrm rot="5400000">
            <a:off x="2318330" y="3319110"/>
            <a:ext cx="195774" cy="5337"/>
          </a:xfrm>
          <a:prstGeom prst="bentConnector3">
            <a:avLst>
              <a:gd name="adj1" fmla="val 50000"/>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1" name="肘形接點 240"/>
          <p:cNvCxnSpPr>
            <a:stCxn id="213" idx="3"/>
            <a:endCxn id="236" idx="0"/>
          </p:cNvCxnSpPr>
          <p:nvPr/>
        </p:nvCxnSpPr>
        <p:spPr>
          <a:xfrm>
            <a:off x="2914946" y="3006626"/>
            <a:ext cx="253878" cy="401343"/>
          </a:xfrm>
          <a:prstGeom prst="bentConnector2">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46" name="圓角矩形 245"/>
          <p:cNvSpPr/>
          <p:nvPr/>
        </p:nvSpPr>
        <p:spPr>
          <a:xfrm>
            <a:off x="167756" y="3319928"/>
            <a:ext cx="1439534" cy="386442"/>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7" name="圓角矩形 246"/>
          <p:cNvSpPr/>
          <p:nvPr/>
        </p:nvSpPr>
        <p:spPr>
          <a:xfrm>
            <a:off x="2071829" y="3319928"/>
            <a:ext cx="1439534" cy="386442"/>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8" name="肘形接點 247"/>
          <p:cNvCxnSpPr>
            <a:stCxn id="246" idx="2"/>
            <a:endCxn id="147" idx="2"/>
          </p:cNvCxnSpPr>
          <p:nvPr/>
        </p:nvCxnSpPr>
        <p:spPr>
          <a:xfrm rot="16200000" flipH="1">
            <a:off x="1002104" y="3591789"/>
            <a:ext cx="274035" cy="503196"/>
          </a:xfrm>
          <a:prstGeom prst="bentConnector2">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53" name="肘形接點 252"/>
          <p:cNvCxnSpPr>
            <a:stCxn id="247" idx="2"/>
            <a:endCxn id="147" idx="4"/>
          </p:cNvCxnSpPr>
          <p:nvPr/>
        </p:nvCxnSpPr>
        <p:spPr>
          <a:xfrm rot="5400000">
            <a:off x="2340808" y="3529616"/>
            <a:ext cx="274035" cy="627543"/>
          </a:xfrm>
          <a:prstGeom prst="bentConnector2">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58" name="矩形 257"/>
          <p:cNvSpPr/>
          <p:nvPr/>
        </p:nvSpPr>
        <p:spPr>
          <a:xfrm>
            <a:off x="6306443" y="145779"/>
            <a:ext cx="2246792" cy="88956"/>
          </a:xfrm>
          <a:prstGeom prst="rect">
            <a:avLst/>
          </a:prstGeom>
          <a:solidFill>
            <a:schemeClr val="accent1">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59" name="文字方塊 258"/>
          <p:cNvSpPr txBox="1"/>
          <p:nvPr/>
        </p:nvSpPr>
        <p:spPr>
          <a:xfrm>
            <a:off x="7529058" y="88446"/>
            <a:ext cx="1112805" cy="215444"/>
          </a:xfrm>
          <a:prstGeom prst="rect">
            <a:avLst/>
          </a:prstGeom>
          <a:noFill/>
        </p:spPr>
        <p:txBody>
          <a:bodyPr wrap="none" rtlCol="0">
            <a:spAutoFit/>
          </a:bodyPr>
          <a:lstStyle/>
          <a:p>
            <a:r>
              <a:rPr lang="zh-TW" altLang="en-US" sz="800" dirty="0" smtClean="0">
                <a:solidFill>
                  <a:schemeClr val="bg1"/>
                </a:solidFill>
                <a:latin typeface="微軟正黑體" panose="020B0604030504040204" pitchFamily="34" charset="-120"/>
                <a:ea typeface="微軟正黑體" panose="020B0604030504040204" pitchFamily="34" charset="-120"/>
              </a:rPr>
              <a:t>量測時間</a:t>
            </a:r>
            <a:r>
              <a:rPr lang="en-US" altLang="zh-TW" sz="800" dirty="0" smtClean="0">
                <a:solidFill>
                  <a:schemeClr val="bg1"/>
                </a:solidFill>
                <a:latin typeface="微軟正黑體" panose="020B0604030504040204" pitchFamily="34" charset="-120"/>
                <a:ea typeface="微軟正黑體" panose="020B0604030504040204" pitchFamily="34" charset="-120"/>
              </a:rPr>
              <a:t>(KLA-YMS)</a:t>
            </a:r>
          </a:p>
        </p:txBody>
      </p:sp>
    </p:spTree>
    <p:extLst>
      <p:ext uri="{BB962C8B-B14F-4D97-AF65-F5344CB8AC3E}">
        <p14:creationId xmlns:p14="http://schemas.microsoft.com/office/powerpoint/2010/main" val="758889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grpSp>
        <p:nvGrpSpPr>
          <p:cNvPr id="28" name="群組 27"/>
          <p:cNvGrpSpPr/>
          <p:nvPr/>
        </p:nvGrpSpPr>
        <p:grpSpPr>
          <a:xfrm>
            <a:off x="5224083" y="695855"/>
            <a:ext cx="3780754" cy="1533654"/>
            <a:chOff x="5224083" y="695855"/>
            <a:chExt cx="3256468" cy="1382741"/>
          </a:xfrm>
        </p:grpSpPr>
        <p:pic>
          <p:nvPicPr>
            <p:cNvPr id="32" name="圖片 31"/>
            <p:cNvPicPr>
              <a:picLocks noChangeAspect="1"/>
            </p:cNvPicPr>
            <p:nvPr/>
          </p:nvPicPr>
          <p:blipFill>
            <a:blip r:embed="rId3"/>
            <a:stretch>
              <a:fillRect/>
            </a:stretch>
          </p:blipFill>
          <p:spPr>
            <a:xfrm>
              <a:off x="5224083" y="695855"/>
              <a:ext cx="3256468" cy="1382741"/>
            </a:xfrm>
            <a:prstGeom prst="rect">
              <a:avLst/>
            </a:prstGeom>
          </p:spPr>
        </p:pic>
        <p:sp>
          <p:nvSpPr>
            <p:cNvPr id="33" name="矩形 32"/>
            <p:cNvSpPr/>
            <p:nvPr/>
          </p:nvSpPr>
          <p:spPr>
            <a:xfrm>
              <a:off x="5232021" y="1716230"/>
              <a:ext cx="1611692" cy="362365"/>
            </a:xfrm>
            <a:prstGeom prst="rect">
              <a:avLst/>
            </a:prstGeom>
            <a:solidFill>
              <a:schemeClr val="accent4">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4" name="矩形 33"/>
            <p:cNvSpPr/>
            <p:nvPr/>
          </p:nvSpPr>
          <p:spPr>
            <a:xfrm>
              <a:off x="5240625" y="769727"/>
              <a:ext cx="1069706" cy="897380"/>
            </a:xfrm>
            <a:prstGeom prst="rect">
              <a:avLst/>
            </a:prstGeom>
            <a:solidFill>
              <a:schemeClr val="accent4">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5" name="矩形 34"/>
            <p:cNvSpPr/>
            <p:nvPr/>
          </p:nvSpPr>
          <p:spPr>
            <a:xfrm>
              <a:off x="6317464" y="769727"/>
              <a:ext cx="686733" cy="130387"/>
            </a:xfrm>
            <a:prstGeom prst="rect">
              <a:avLst/>
            </a:prstGeom>
            <a:solidFill>
              <a:schemeClr val="accent4">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nvGrpSpPr>
          <p:cNvPr id="36" name="群組 35"/>
          <p:cNvGrpSpPr/>
          <p:nvPr/>
        </p:nvGrpSpPr>
        <p:grpSpPr>
          <a:xfrm>
            <a:off x="188357" y="695855"/>
            <a:ext cx="4809094" cy="2303786"/>
            <a:chOff x="296197" y="700059"/>
            <a:chExt cx="4701253" cy="2235629"/>
          </a:xfrm>
        </p:grpSpPr>
        <p:pic>
          <p:nvPicPr>
            <p:cNvPr id="37" name="圖片 36"/>
            <p:cNvPicPr>
              <a:picLocks noChangeAspect="1"/>
            </p:cNvPicPr>
            <p:nvPr/>
          </p:nvPicPr>
          <p:blipFill>
            <a:blip r:embed="rId4"/>
            <a:stretch>
              <a:fillRect/>
            </a:stretch>
          </p:blipFill>
          <p:spPr>
            <a:xfrm>
              <a:off x="296197" y="700059"/>
              <a:ext cx="4701253" cy="2235629"/>
            </a:xfrm>
            <a:prstGeom prst="rect">
              <a:avLst/>
            </a:prstGeom>
          </p:spPr>
        </p:pic>
        <p:sp>
          <p:nvSpPr>
            <p:cNvPr id="38" name="矩形 37"/>
            <p:cNvSpPr/>
            <p:nvPr/>
          </p:nvSpPr>
          <p:spPr>
            <a:xfrm>
              <a:off x="3861940" y="739004"/>
              <a:ext cx="1094479" cy="219858"/>
            </a:xfrm>
            <a:prstGeom prst="rect">
              <a:avLst/>
            </a:prstGeom>
            <a:solidFill>
              <a:schemeClr val="accent5">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9" name="矩形 38"/>
            <p:cNvSpPr/>
            <p:nvPr/>
          </p:nvSpPr>
          <p:spPr>
            <a:xfrm>
              <a:off x="2971801" y="1047168"/>
              <a:ext cx="1114424" cy="100596"/>
            </a:xfrm>
            <a:prstGeom prst="rect">
              <a:avLst/>
            </a:prstGeom>
            <a:solidFill>
              <a:schemeClr val="accent5">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0" name="矩形 39"/>
            <p:cNvSpPr/>
            <p:nvPr/>
          </p:nvSpPr>
          <p:spPr>
            <a:xfrm>
              <a:off x="4489695" y="1075944"/>
              <a:ext cx="466724" cy="71819"/>
            </a:xfrm>
            <a:prstGeom prst="rect">
              <a:avLst/>
            </a:prstGeom>
            <a:noFill/>
            <a:ln>
              <a:solidFill>
                <a:srgbClr val="FFC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1" name="矩形 40"/>
            <p:cNvSpPr/>
            <p:nvPr/>
          </p:nvSpPr>
          <p:spPr>
            <a:xfrm>
              <a:off x="949180" y="830078"/>
              <a:ext cx="671512" cy="70036"/>
            </a:xfrm>
            <a:prstGeom prst="rect">
              <a:avLst/>
            </a:prstGeom>
            <a:solidFill>
              <a:schemeClr val="accent5">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2" name="文字方塊 41"/>
            <p:cNvSpPr txBox="1"/>
            <p:nvPr/>
          </p:nvSpPr>
          <p:spPr>
            <a:xfrm>
              <a:off x="1128712" y="700059"/>
              <a:ext cx="726481" cy="200055"/>
            </a:xfrm>
            <a:prstGeom prst="rect">
              <a:avLst/>
            </a:prstGeom>
            <a:noFill/>
          </p:spPr>
          <p:txBody>
            <a:bodyPr wrap="none" rtlCol="0">
              <a:spAutoFit/>
            </a:bodyPr>
            <a:lstStyle/>
            <a:p>
              <a:r>
                <a:rPr lang="zh-TW" altLang="en-US" sz="700" dirty="0" smtClean="0">
                  <a:solidFill>
                    <a:schemeClr val="accent3"/>
                  </a:solidFill>
                  <a:latin typeface="微軟正黑體" panose="020B0604030504040204" pitchFamily="34" charset="-120"/>
                  <a:ea typeface="微軟正黑體" panose="020B0604030504040204" pitchFamily="34" charset="-120"/>
                </a:rPr>
                <a:t>選擇</a:t>
              </a:r>
              <a:r>
                <a:rPr lang="en-US" altLang="zh-TW" sz="700" dirty="0" smtClean="0">
                  <a:solidFill>
                    <a:schemeClr val="accent3"/>
                  </a:solidFill>
                  <a:latin typeface="微軟正黑體" panose="020B0604030504040204" pitchFamily="34" charset="-120"/>
                  <a:ea typeface="微軟正黑體" panose="020B0604030504040204" pitchFamily="34" charset="-120"/>
                </a:rPr>
                <a:t>AOI</a:t>
              </a:r>
              <a:r>
                <a:rPr lang="zh-TW" altLang="en-US" sz="700" dirty="0" smtClean="0">
                  <a:solidFill>
                    <a:schemeClr val="accent3"/>
                  </a:solidFill>
                  <a:latin typeface="微軟正黑體" panose="020B0604030504040204" pitchFamily="34" charset="-120"/>
                  <a:ea typeface="微軟正黑體" panose="020B0604030504040204" pitchFamily="34" charset="-120"/>
                </a:rPr>
                <a:t> </a:t>
              </a:r>
              <a:r>
                <a:rPr lang="en-US" altLang="zh-TW" sz="700" dirty="0" smtClean="0">
                  <a:solidFill>
                    <a:schemeClr val="accent3"/>
                  </a:solidFill>
                  <a:latin typeface="微軟正黑體" panose="020B0604030504040204" pitchFamily="34" charset="-120"/>
                  <a:ea typeface="微軟正黑體" panose="020B0604030504040204" pitchFamily="34" charset="-120"/>
                </a:rPr>
                <a:t>Tool</a:t>
              </a:r>
              <a:endParaRPr lang="zh-TW" altLang="en-US" sz="700" dirty="0">
                <a:solidFill>
                  <a:schemeClr val="accent3"/>
                </a:solidFill>
                <a:latin typeface="微軟正黑體" panose="020B0604030504040204" pitchFamily="34" charset="-120"/>
                <a:ea typeface="微軟正黑體" panose="020B0604030504040204" pitchFamily="34" charset="-120"/>
              </a:endParaRPr>
            </a:p>
          </p:txBody>
        </p:sp>
        <p:sp>
          <p:nvSpPr>
            <p:cNvPr id="43" name="文字方塊 42"/>
            <p:cNvSpPr txBox="1"/>
            <p:nvPr/>
          </p:nvSpPr>
          <p:spPr>
            <a:xfrm>
              <a:off x="3529013" y="1467052"/>
              <a:ext cx="774571" cy="200055"/>
            </a:xfrm>
            <a:prstGeom prst="rect">
              <a:avLst/>
            </a:prstGeom>
            <a:noFill/>
          </p:spPr>
          <p:txBody>
            <a:bodyPr wrap="none" rtlCol="0">
              <a:spAutoFit/>
            </a:bodyPr>
            <a:lstStyle/>
            <a:p>
              <a:r>
                <a:rPr lang="zh-TW" altLang="en-US" sz="700" dirty="0" smtClean="0">
                  <a:solidFill>
                    <a:schemeClr val="accent3"/>
                  </a:solidFill>
                  <a:latin typeface="微軟正黑體" panose="020B0604030504040204" pitchFamily="34" charset="-120"/>
                  <a:ea typeface="微軟正黑體" panose="020B0604030504040204" pitchFamily="34" charset="-120"/>
                </a:rPr>
                <a:t>預設</a:t>
              </a:r>
              <a:r>
                <a:rPr lang="en-US" altLang="zh-TW" sz="700" dirty="0" smtClean="0">
                  <a:solidFill>
                    <a:schemeClr val="accent3"/>
                  </a:solidFill>
                  <a:latin typeface="微軟正黑體" panose="020B0604030504040204" pitchFamily="34" charset="-120"/>
                  <a:ea typeface="微軟正黑體" panose="020B0604030504040204" pitchFamily="34" charset="-120"/>
                </a:rPr>
                <a:t>3</a:t>
              </a:r>
              <a:r>
                <a:rPr lang="zh-TW" altLang="en-US" sz="700" dirty="0" smtClean="0">
                  <a:solidFill>
                    <a:schemeClr val="accent3"/>
                  </a:solidFill>
                  <a:latin typeface="微軟正黑體" panose="020B0604030504040204" pitchFamily="34" charset="-120"/>
                  <a:ea typeface="微軟正黑體" panose="020B0604030504040204" pitchFamily="34" charset="-120"/>
                </a:rPr>
                <a:t>天內資料</a:t>
              </a:r>
              <a:endParaRPr lang="en-US" altLang="zh-TW" sz="700" dirty="0" smtClean="0">
                <a:solidFill>
                  <a:schemeClr val="accent3"/>
                </a:solidFill>
                <a:latin typeface="微軟正黑體" panose="020B0604030504040204" pitchFamily="34" charset="-120"/>
                <a:ea typeface="微軟正黑體" panose="020B0604030504040204" pitchFamily="34" charset="-120"/>
              </a:endParaRPr>
            </a:p>
          </p:txBody>
        </p:sp>
        <p:sp>
          <p:nvSpPr>
            <p:cNvPr id="44" name="文字方塊 43"/>
            <p:cNvSpPr txBox="1"/>
            <p:nvPr/>
          </p:nvSpPr>
          <p:spPr>
            <a:xfrm>
              <a:off x="3627439" y="903919"/>
              <a:ext cx="543739" cy="200055"/>
            </a:xfrm>
            <a:prstGeom prst="rect">
              <a:avLst/>
            </a:prstGeom>
            <a:noFill/>
          </p:spPr>
          <p:txBody>
            <a:bodyPr wrap="none" rtlCol="0">
              <a:spAutoFit/>
            </a:bodyPr>
            <a:lstStyle/>
            <a:p>
              <a:r>
                <a:rPr lang="zh-TW" altLang="en-US" sz="700" dirty="0" smtClean="0">
                  <a:solidFill>
                    <a:schemeClr val="accent3"/>
                  </a:solidFill>
                  <a:latin typeface="微軟正黑體" panose="020B0604030504040204" pitchFamily="34" charset="-120"/>
                  <a:ea typeface="微軟正黑體" panose="020B0604030504040204" pitchFamily="34" charset="-120"/>
                </a:rPr>
                <a:t>篩選區</a:t>
              </a:r>
              <a:r>
                <a:rPr lang="zh-TW" altLang="en-US" sz="700" dirty="0">
                  <a:solidFill>
                    <a:schemeClr val="accent3"/>
                  </a:solidFill>
                  <a:latin typeface="微軟正黑體" panose="020B0604030504040204" pitchFamily="34" charset="-120"/>
                  <a:ea typeface="微軟正黑體" panose="020B0604030504040204" pitchFamily="34" charset="-120"/>
                </a:rPr>
                <a:t>域</a:t>
              </a:r>
              <a:endParaRPr lang="en-US" altLang="zh-TW" sz="700" dirty="0" smtClean="0">
                <a:solidFill>
                  <a:schemeClr val="accent3"/>
                </a:solidFill>
                <a:latin typeface="微軟正黑體" panose="020B0604030504040204" pitchFamily="34" charset="-120"/>
                <a:ea typeface="微軟正黑體" panose="020B0604030504040204" pitchFamily="34" charset="-120"/>
              </a:endParaRPr>
            </a:p>
          </p:txBody>
        </p:sp>
      </p:grpSp>
      <p:sp>
        <p:nvSpPr>
          <p:cNvPr id="45" name="文字方塊 44"/>
          <p:cNvSpPr txBox="1"/>
          <p:nvPr/>
        </p:nvSpPr>
        <p:spPr>
          <a:xfrm>
            <a:off x="7287362" y="1097466"/>
            <a:ext cx="1589739" cy="215444"/>
          </a:xfrm>
          <a:prstGeom prst="rect">
            <a:avLst/>
          </a:prstGeom>
          <a:solidFill>
            <a:schemeClr val="accent4"/>
          </a:solidFill>
        </p:spPr>
        <p:txBody>
          <a:bodyPr wrap="square" rtlCol="0">
            <a:spAutoFit/>
          </a:bodyPr>
          <a:lstStyle>
            <a:defPPr>
              <a:defRPr lang="zh-TW"/>
            </a:defPPr>
            <a:lvl1pPr>
              <a:defRPr sz="400">
                <a:latin typeface="+mj-ea"/>
                <a:ea typeface="+mj-ea"/>
              </a:defRPr>
            </a:lvl1pPr>
          </a:lstStyle>
          <a:p>
            <a:r>
              <a:rPr lang="zh-TW" altLang="en-US" sz="800" dirty="0">
                <a:latin typeface="微軟正黑體" panose="020B0604030504040204" pitchFamily="34" charset="-120"/>
                <a:ea typeface="微軟正黑體" panose="020B0604030504040204" pitchFamily="34" charset="-120"/>
              </a:rPr>
              <a:t>勾選後同片</a:t>
            </a:r>
            <a:r>
              <a:rPr lang="en-US" altLang="zh-TW" sz="800" dirty="0">
                <a:latin typeface="微軟正黑體" panose="020B0604030504040204" pitchFamily="34" charset="-120"/>
                <a:ea typeface="微軟正黑體" panose="020B0604030504040204" pitchFamily="34" charset="-120"/>
              </a:rPr>
              <a:t>Glass</a:t>
            </a:r>
            <a:r>
              <a:rPr lang="zh-TW" altLang="en-US" sz="800" dirty="0">
                <a:latin typeface="微軟正黑體" panose="020B0604030504040204" pitchFamily="34" charset="-120"/>
                <a:ea typeface="微軟正黑體" panose="020B0604030504040204" pitchFamily="34" charset="-120"/>
              </a:rPr>
              <a:t>自動查詢</a:t>
            </a:r>
          </a:p>
        </p:txBody>
      </p:sp>
      <p:sp>
        <p:nvSpPr>
          <p:cNvPr id="46" name="向右箭號 45"/>
          <p:cNvSpPr/>
          <p:nvPr/>
        </p:nvSpPr>
        <p:spPr>
          <a:xfrm>
            <a:off x="4997450" y="1448581"/>
            <a:ext cx="219500" cy="252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7" name="文字方塊 46"/>
          <p:cNvSpPr txBox="1"/>
          <p:nvPr/>
        </p:nvSpPr>
        <p:spPr>
          <a:xfrm>
            <a:off x="5330359" y="1110695"/>
            <a:ext cx="1632416" cy="215444"/>
          </a:xfrm>
          <a:prstGeom prst="rect">
            <a:avLst/>
          </a:prstGeom>
          <a:solidFill>
            <a:schemeClr val="accent4"/>
          </a:solidFill>
        </p:spPr>
        <p:txBody>
          <a:bodyPr wrap="square" rtlCol="0">
            <a:spAutoFit/>
          </a:bodyPr>
          <a:lstStyle>
            <a:defPPr>
              <a:defRPr lang="zh-TW"/>
            </a:defPPr>
            <a:lvl1pPr>
              <a:defRPr sz="400">
                <a:latin typeface="+mj-ea"/>
                <a:ea typeface="+mj-ea"/>
              </a:defRPr>
            </a:lvl1pPr>
          </a:lstStyle>
          <a:p>
            <a:r>
              <a:rPr lang="zh-TW" altLang="en-US" sz="800" dirty="0">
                <a:latin typeface="微軟正黑體" panose="020B0604030504040204" pitchFamily="34" charset="-120"/>
                <a:ea typeface="微軟正黑體" panose="020B0604030504040204" pitchFamily="34" charset="-120"/>
              </a:rPr>
              <a:t>單片單次量測</a:t>
            </a:r>
            <a:r>
              <a:rPr lang="en-US" altLang="zh-TW" sz="800" dirty="0">
                <a:latin typeface="微軟正黑體" panose="020B0604030504040204" pitchFamily="34" charset="-120"/>
                <a:ea typeface="微軟正黑體" panose="020B0604030504040204" pitchFamily="34" charset="-120"/>
              </a:rPr>
              <a:t>defect</a:t>
            </a:r>
            <a:r>
              <a:rPr lang="zh-TW" altLang="en-US" sz="800" dirty="0">
                <a:latin typeface="微軟正黑體" panose="020B0604030504040204" pitchFamily="34" charset="-120"/>
                <a:ea typeface="微軟正黑體" panose="020B0604030504040204" pitchFamily="34" charset="-120"/>
              </a:rPr>
              <a:t> </a:t>
            </a:r>
            <a:r>
              <a:rPr lang="en-US" altLang="zh-TW" sz="800" dirty="0">
                <a:latin typeface="微軟正黑體" panose="020B0604030504040204" pitchFamily="34" charset="-120"/>
                <a:ea typeface="微軟正黑體" panose="020B0604030504040204" pitchFamily="34" charset="-120"/>
              </a:rPr>
              <a:t>map</a:t>
            </a:r>
            <a:r>
              <a:rPr lang="zh-TW" altLang="en-US" sz="800" dirty="0">
                <a:latin typeface="微軟正黑體" panose="020B0604030504040204" pitchFamily="34" charset="-120"/>
                <a:ea typeface="微軟正黑體" panose="020B0604030504040204" pitchFamily="34" charset="-120"/>
              </a:rPr>
              <a:t>繪製</a:t>
            </a:r>
            <a:endParaRPr lang="en-US" altLang="zh-TW" sz="800" dirty="0">
              <a:latin typeface="微軟正黑體" panose="020B0604030504040204" pitchFamily="34" charset="-120"/>
              <a:ea typeface="微軟正黑體" panose="020B0604030504040204" pitchFamily="34" charset="-120"/>
            </a:endParaRPr>
          </a:p>
        </p:txBody>
      </p:sp>
      <p:sp>
        <p:nvSpPr>
          <p:cNvPr id="48" name="文字方塊 47"/>
          <p:cNvSpPr txBox="1"/>
          <p:nvPr/>
        </p:nvSpPr>
        <p:spPr>
          <a:xfrm>
            <a:off x="5918803" y="1701045"/>
            <a:ext cx="2247297" cy="215444"/>
          </a:xfrm>
          <a:prstGeom prst="rect">
            <a:avLst/>
          </a:prstGeom>
          <a:solidFill>
            <a:schemeClr val="accent4"/>
          </a:solidFill>
        </p:spPr>
        <p:txBody>
          <a:bodyPr wrap="square" rtlCol="0">
            <a:spAutoFit/>
          </a:bodyPr>
          <a:lstStyle/>
          <a:p>
            <a:r>
              <a:rPr lang="en-US" altLang="zh-TW" sz="800" dirty="0" smtClean="0">
                <a:latin typeface="微軟正黑體" panose="020B0604030504040204" pitchFamily="34" charset="-120"/>
                <a:ea typeface="微軟正黑體" panose="020B0604030504040204" pitchFamily="34" charset="-120"/>
              </a:rPr>
              <a:t>defect</a:t>
            </a:r>
            <a:r>
              <a:rPr lang="zh-TW" altLang="en-US" sz="800" dirty="0" smtClean="0">
                <a:latin typeface="微軟正黑體" panose="020B0604030504040204" pitchFamily="34" charset="-120"/>
                <a:ea typeface="微軟正黑體" panose="020B0604030504040204" pitchFamily="34" charset="-120"/>
              </a:rPr>
              <a:t> </a:t>
            </a:r>
            <a:r>
              <a:rPr lang="en-US" altLang="zh-TW" sz="800" dirty="0" smtClean="0">
                <a:latin typeface="微軟正黑體" panose="020B0604030504040204" pitchFamily="34" charset="-120"/>
                <a:ea typeface="微軟正黑體" panose="020B0604030504040204" pitchFamily="34" charset="-120"/>
              </a:rPr>
              <a:t>map</a:t>
            </a:r>
            <a:r>
              <a:rPr lang="zh-TW" altLang="en-US" sz="800" dirty="0" smtClean="0">
                <a:latin typeface="微軟正黑體" panose="020B0604030504040204" pitchFamily="34" charset="-120"/>
                <a:ea typeface="微軟正黑體" panose="020B0604030504040204" pitchFamily="34" charset="-120"/>
              </a:rPr>
              <a:t>座標 </a:t>
            </a:r>
            <a:r>
              <a:rPr lang="en-US" altLang="zh-TW" sz="800" dirty="0" smtClean="0">
                <a:latin typeface="微軟正黑體" panose="020B0604030504040204" pitchFamily="34" charset="-120"/>
                <a:ea typeface="微軟正黑體" panose="020B0604030504040204" pitchFamily="34" charset="-120"/>
              </a:rPr>
              <a:t>&amp;</a:t>
            </a:r>
            <a:r>
              <a:rPr lang="zh-TW" altLang="en-US" sz="800" dirty="0" smtClean="0">
                <a:latin typeface="微軟正黑體" panose="020B0604030504040204" pitchFamily="34" charset="-120"/>
                <a:ea typeface="微軟正黑體" panose="020B0604030504040204" pitchFamily="34" charset="-120"/>
              </a:rPr>
              <a:t> </a:t>
            </a:r>
            <a:r>
              <a:rPr lang="en-US" altLang="zh-TW" sz="800" dirty="0" smtClean="0">
                <a:latin typeface="微軟正黑體" panose="020B0604030504040204" pitchFamily="34" charset="-120"/>
                <a:ea typeface="微軟正黑體" panose="020B0604030504040204" pitchFamily="34" charset="-120"/>
              </a:rPr>
              <a:t>size</a:t>
            </a:r>
            <a:r>
              <a:rPr lang="zh-TW" altLang="en-US" sz="800" dirty="0" smtClean="0">
                <a:latin typeface="微軟正黑體" panose="020B0604030504040204" pitchFamily="34" charset="-120"/>
                <a:ea typeface="微軟正黑體" panose="020B0604030504040204" pitchFamily="34" charset="-120"/>
              </a:rPr>
              <a:t> </a:t>
            </a:r>
            <a:r>
              <a:rPr lang="en-US" altLang="zh-TW" sz="800" dirty="0" smtClean="0">
                <a:latin typeface="微軟正黑體" panose="020B0604030504040204" pitchFamily="34" charset="-120"/>
                <a:ea typeface="微軟正黑體" panose="020B0604030504040204" pitchFamily="34" charset="-120"/>
              </a:rPr>
              <a:t>&amp;</a:t>
            </a:r>
            <a:r>
              <a:rPr lang="zh-TW" altLang="en-US" sz="800" dirty="0" smtClean="0">
                <a:latin typeface="微軟正黑體" panose="020B0604030504040204" pitchFamily="34" charset="-120"/>
                <a:ea typeface="微軟正黑體" panose="020B0604030504040204" pitchFamily="34" charset="-120"/>
              </a:rPr>
              <a:t> </a:t>
            </a:r>
            <a:r>
              <a:rPr lang="en-US" altLang="zh-TW" sz="800" dirty="0" smtClean="0">
                <a:latin typeface="微軟正黑體" panose="020B0604030504040204" pitchFamily="34" charset="-120"/>
                <a:ea typeface="微軟正黑體" panose="020B0604030504040204" pitchFamily="34" charset="-120"/>
              </a:rPr>
              <a:t>type</a:t>
            </a:r>
            <a:r>
              <a:rPr lang="zh-TW" altLang="en-US" sz="800" dirty="0" smtClean="0">
                <a:latin typeface="微軟正黑體" panose="020B0604030504040204" pitchFamily="34" charset="-120"/>
                <a:ea typeface="微軟正黑體" panose="020B0604030504040204" pitchFamily="34" charset="-120"/>
              </a:rPr>
              <a:t> </a:t>
            </a:r>
            <a:r>
              <a:rPr lang="en-US" altLang="zh-TW" sz="800" dirty="0" smtClean="0">
                <a:latin typeface="微軟正黑體" panose="020B0604030504040204" pitchFamily="34" charset="-120"/>
                <a:ea typeface="微軟正黑體" panose="020B0604030504040204" pitchFamily="34" charset="-120"/>
              </a:rPr>
              <a:t>&amp;</a:t>
            </a:r>
            <a:r>
              <a:rPr lang="zh-TW" altLang="en-US" sz="800" dirty="0" smtClean="0">
                <a:latin typeface="微軟正黑體" panose="020B0604030504040204" pitchFamily="34" charset="-120"/>
                <a:ea typeface="微軟正黑體" panose="020B0604030504040204" pitchFamily="34" charset="-120"/>
              </a:rPr>
              <a:t> </a:t>
            </a:r>
            <a:r>
              <a:rPr lang="en-US" altLang="zh-TW" sz="800" dirty="0" smtClean="0">
                <a:latin typeface="微軟正黑體" panose="020B0604030504040204" pitchFamily="34" charset="-120"/>
                <a:ea typeface="微軟正黑體" panose="020B0604030504040204" pitchFamily="34" charset="-120"/>
              </a:rPr>
              <a:t>chip..</a:t>
            </a:r>
            <a:r>
              <a:rPr lang="zh-TW" altLang="en-US" sz="800" dirty="0" smtClean="0">
                <a:latin typeface="微軟正黑體" panose="020B0604030504040204" pitchFamily="34" charset="-120"/>
                <a:ea typeface="微軟正黑體" panose="020B0604030504040204" pitchFamily="34" charset="-120"/>
              </a:rPr>
              <a:t>資訊</a:t>
            </a:r>
            <a:endParaRPr lang="en-US" altLang="zh-TW" sz="800" dirty="0" smtClean="0">
              <a:latin typeface="微軟正黑體" panose="020B0604030504040204" pitchFamily="34" charset="-120"/>
              <a:ea typeface="微軟正黑體" panose="020B0604030504040204" pitchFamily="34" charset="-120"/>
            </a:endParaRPr>
          </a:p>
        </p:txBody>
      </p:sp>
      <p:sp>
        <p:nvSpPr>
          <p:cNvPr id="49" name="向右箭號 48"/>
          <p:cNvSpPr/>
          <p:nvPr/>
        </p:nvSpPr>
        <p:spPr>
          <a:xfrm rot="5400000">
            <a:off x="6874224" y="2119692"/>
            <a:ext cx="243458" cy="293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50" name="群組 49"/>
          <p:cNvGrpSpPr/>
          <p:nvPr/>
        </p:nvGrpSpPr>
        <p:grpSpPr>
          <a:xfrm>
            <a:off x="4119510" y="2429940"/>
            <a:ext cx="5039729" cy="2589736"/>
            <a:chOff x="3853046" y="2429939"/>
            <a:chExt cx="5306194" cy="2667841"/>
          </a:xfrm>
        </p:grpSpPr>
        <p:pic>
          <p:nvPicPr>
            <p:cNvPr id="51" name="圖片 50"/>
            <p:cNvPicPr>
              <a:picLocks noChangeAspect="1"/>
            </p:cNvPicPr>
            <p:nvPr/>
          </p:nvPicPr>
          <p:blipFill rotWithShape="1">
            <a:blip r:embed="rId5"/>
            <a:srcRect r="11288" b="10209"/>
            <a:stretch/>
          </p:blipFill>
          <p:spPr>
            <a:xfrm>
              <a:off x="3853046" y="2461411"/>
              <a:ext cx="5306194" cy="2636369"/>
            </a:xfrm>
            <a:prstGeom prst="rect">
              <a:avLst/>
            </a:prstGeom>
          </p:spPr>
        </p:pic>
        <p:sp>
          <p:nvSpPr>
            <p:cNvPr id="52" name="文字方塊 51"/>
            <p:cNvSpPr txBox="1"/>
            <p:nvPr/>
          </p:nvSpPr>
          <p:spPr>
            <a:xfrm>
              <a:off x="5330359" y="3699701"/>
              <a:ext cx="1274595" cy="348765"/>
            </a:xfrm>
            <a:prstGeom prst="rect">
              <a:avLst/>
            </a:prstGeom>
            <a:solidFill>
              <a:schemeClr val="accent5">
                <a:lumMod val="20000"/>
                <a:lumOff val="80000"/>
              </a:schemeClr>
            </a:solidFill>
          </p:spPr>
          <p:txBody>
            <a:bodyPr wrap="none" rtlCol="0">
              <a:spAutoFit/>
            </a:bodyPr>
            <a:lstStyle/>
            <a:p>
              <a:r>
                <a:rPr lang="zh-TW" altLang="en-US" sz="800" dirty="0" smtClean="0">
                  <a:latin typeface="微軟正黑體" panose="020B0604030504040204" pitchFamily="34" charset="-120"/>
                  <a:ea typeface="微軟正黑體" panose="020B0604030504040204" pitchFamily="34" charset="-120"/>
                </a:rPr>
                <a:t>多片</a:t>
              </a:r>
              <a:r>
                <a:rPr lang="en-US" altLang="zh-TW" sz="800" dirty="0" smtClean="0">
                  <a:latin typeface="微軟正黑體" panose="020B0604030504040204" pitchFamily="34" charset="-120"/>
                  <a:ea typeface="微軟正黑體" panose="020B0604030504040204" pitchFamily="34" charset="-120"/>
                </a:rPr>
                <a:t>map</a:t>
              </a:r>
              <a:r>
                <a:rPr lang="zh-TW" altLang="en-US" sz="800" dirty="0" smtClean="0">
                  <a:latin typeface="微軟正黑體" panose="020B0604030504040204" pitchFamily="34" charset="-120"/>
                  <a:ea typeface="微軟正黑體" panose="020B0604030504040204" pitchFamily="34" charset="-120"/>
                </a:rPr>
                <a:t>疊加</a:t>
              </a:r>
              <a:endParaRPr lang="en-US" altLang="zh-TW" sz="800" dirty="0" smtClean="0">
                <a:latin typeface="微軟正黑體" panose="020B0604030504040204" pitchFamily="34" charset="-120"/>
                <a:ea typeface="微軟正黑體" panose="020B0604030504040204" pitchFamily="34" charset="-120"/>
              </a:endParaRPr>
            </a:p>
            <a:p>
              <a:r>
                <a:rPr lang="zh-TW" altLang="en-US" sz="800" dirty="0" smtClean="0">
                  <a:latin typeface="微軟正黑體" panose="020B0604030504040204" pitchFamily="34" charset="-120"/>
                  <a:ea typeface="微軟正黑體" panose="020B0604030504040204" pitchFamily="34" charset="-120"/>
                </a:rPr>
                <a:t>星號重點標記重疊點</a:t>
              </a:r>
              <a:r>
                <a:rPr lang="zh-TW" altLang="en-US" sz="800" dirty="0">
                  <a:latin typeface="微軟正黑體" panose="020B0604030504040204" pitchFamily="34" charset="-120"/>
                  <a:ea typeface="微軟正黑體" panose="020B0604030504040204" pitchFamily="34" charset="-120"/>
                </a:rPr>
                <a:t>位</a:t>
              </a:r>
              <a:endParaRPr lang="en-US" altLang="zh-TW" sz="800" dirty="0" smtClean="0">
                <a:latin typeface="微軟正黑體" panose="020B0604030504040204" pitchFamily="34" charset="-120"/>
                <a:ea typeface="微軟正黑體" panose="020B0604030504040204" pitchFamily="34" charset="-120"/>
              </a:endParaRPr>
            </a:p>
          </p:txBody>
        </p:sp>
        <p:sp>
          <p:nvSpPr>
            <p:cNvPr id="53" name="矩形 52"/>
            <p:cNvSpPr/>
            <p:nvPr/>
          </p:nvSpPr>
          <p:spPr>
            <a:xfrm>
              <a:off x="5706046" y="2512804"/>
              <a:ext cx="1502473" cy="127468"/>
            </a:xfrm>
            <a:prstGeom prst="rect">
              <a:avLst/>
            </a:prstGeom>
            <a:solidFill>
              <a:schemeClr val="accent5">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4" name="文字方塊 53"/>
            <p:cNvSpPr txBox="1"/>
            <p:nvPr/>
          </p:nvSpPr>
          <p:spPr>
            <a:xfrm>
              <a:off x="7101862" y="2429939"/>
              <a:ext cx="1818054" cy="221942"/>
            </a:xfrm>
            <a:prstGeom prst="rect">
              <a:avLst/>
            </a:prstGeom>
            <a:solidFill>
              <a:schemeClr val="accent5">
                <a:lumMod val="20000"/>
                <a:lumOff val="80000"/>
              </a:schemeClr>
            </a:solidFill>
          </p:spPr>
          <p:txBody>
            <a:bodyPr wrap="none" rtlCol="0">
              <a:spAutoFit/>
            </a:bodyPr>
            <a:lstStyle/>
            <a:p>
              <a:r>
                <a:rPr lang="en-US" altLang="zh-TW" sz="800" dirty="0" smtClean="0">
                  <a:latin typeface="微軟正黑體" panose="020B0604030504040204" pitchFamily="34" charset="-120"/>
                  <a:ea typeface="微軟正黑體" panose="020B0604030504040204" pitchFamily="34" charset="-120"/>
                </a:rPr>
                <a:t>Map</a:t>
              </a:r>
              <a:r>
                <a:rPr lang="zh-TW" altLang="en-US" sz="800" dirty="0" smtClean="0">
                  <a:latin typeface="微軟正黑體" panose="020B0604030504040204" pitchFamily="34" charset="-120"/>
                  <a:ea typeface="微軟正黑體" panose="020B0604030504040204" pitchFamily="34" charset="-120"/>
                </a:rPr>
                <a:t>篩選 </a:t>
              </a:r>
              <a:r>
                <a:rPr lang="en-US" altLang="zh-TW" sz="800" dirty="0" smtClean="0">
                  <a:latin typeface="微軟正黑體" panose="020B0604030504040204" pitchFamily="34" charset="-120"/>
                  <a:ea typeface="微軟正黑體" panose="020B0604030504040204" pitchFamily="34" charset="-120"/>
                </a:rPr>
                <a:t>+</a:t>
              </a:r>
              <a:r>
                <a:rPr lang="zh-TW" altLang="en-US" sz="800" dirty="0" smtClean="0">
                  <a:latin typeface="微軟正黑體" panose="020B0604030504040204" pitchFamily="34" charset="-120"/>
                  <a:ea typeface="微軟正黑體" panose="020B0604030504040204" pitchFamily="34" charset="-120"/>
                </a:rPr>
                <a:t> 疊加</a:t>
              </a:r>
              <a:r>
                <a:rPr lang="en-US" altLang="zh-TW" sz="800" dirty="0" smtClean="0">
                  <a:latin typeface="微軟正黑體" panose="020B0604030504040204" pitchFamily="34" charset="-120"/>
                  <a:ea typeface="微軟正黑體" panose="020B0604030504040204" pitchFamily="34" charset="-120"/>
                </a:rPr>
                <a:t>offset</a:t>
              </a:r>
              <a:r>
                <a:rPr lang="zh-TW" altLang="en-US" sz="800" dirty="0" smtClean="0">
                  <a:latin typeface="微軟正黑體" panose="020B0604030504040204" pitchFamily="34" charset="-120"/>
                  <a:ea typeface="微軟正黑體" panose="020B0604030504040204" pitchFamily="34" charset="-120"/>
                </a:rPr>
                <a:t>差值自定義</a:t>
              </a:r>
              <a:endParaRPr lang="en-US" altLang="zh-TW" sz="800" dirty="0" smtClean="0">
                <a:latin typeface="微軟正黑體" panose="020B0604030504040204" pitchFamily="34" charset="-120"/>
                <a:ea typeface="微軟正黑體" panose="020B0604030504040204" pitchFamily="34" charset="-120"/>
              </a:endParaRPr>
            </a:p>
          </p:txBody>
        </p:sp>
        <p:sp>
          <p:nvSpPr>
            <p:cNvPr id="55" name="矩形 54"/>
            <p:cNvSpPr/>
            <p:nvPr/>
          </p:nvSpPr>
          <p:spPr>
            <a:xfrm>
              <a:off x="3971821" y="4136123"/>
              <a:ext cx="714479" cy="113213"/>
            </a:xfrm>
            <a:prstGeom prst="rect">
              <a:avLst/>
            </a:prstGeom>
            <a:solidFill>
              <a:schemeClr val="accent5">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6" name="文字方塊 55"/>
            <p:cNvSpPr txBox="1"/>
            <p:nvPr/>
          </p:nvSpPr>
          <p:spPr>
            <a:xfrm>
              <a:off x="3971821" y="3909012"/>
              <a:ext cx="734513" cy="221942"/>
            </a:xfrm>
            <a:prstGeom prst="rect">
              <a:avLst/>
            </a:prstGeom>
            <a:solidFill>
              <a:schemeClr val="accent5">
                <a:lumMod val="20000"/>
                <a:lumOff val="80000"/>
              </a:schemeClr>
            </a:solidFill>
          </p:spPr>
          <p:txBody>
            <a:bodyPr wrap="none" rtlCol="0">
              <a:spAutoFit/>
            </a:bodyPr>
            <a:lstStyle/>
            <a:p>
              <a:r>
                <a:rPr lang="zh-TW" altLang="en-US" sz="800" dirty="0" smtClean="0">
                  <a:latin typeface="微軟正黑體" panose="020B0604030504040204" pitchFamily="34" charset="-120"/>
                  <a:ea typeface="微軟正黑體" panose="020B0604030504040204" pitchFamily="34" charset="-120"/>
                </a:rPr>
                <a:t>顯示操作區</a:t>
              </a:r>
              <a:endParaRPr lang="en-US" altLang="zh-TW" sz="800" dirty="0" smtClean="0">
                <a:latin typeface="微軟正黑體" panose="020B0604030504040204" pitchFamily="34" charset="-120"/>
                <a:ea typeface="微軟正黑體" panose="020B0604030504040204" pitchFamily="34" charset="-120"/>
              </a:endParaRPr>
            </a:p>
          </p:txBody>
        </p:sp>
      </p:grpSp>
      <p:pic>
        <p:nvPicPr>
          <p:cNvPr id="57" name="圖片 56"/>
          <p:cNvPicPr>
            <a:picLocks noChangeAspect="1"/>
          </p:cNvPicPr>
          <p:nvPr/>
        </p:nvPicPr>
        <p:blipFill>
          <a:blip r:embed="rId6"/>
          <a:stretch>
            <a:fillRect/>
          </a:stretch>
        </p:blipFill>
        <p:spPr>
          <a:xfrm>
            <a:off x="188357" y="3037886"/>
            <a:ext cx="3823314" cy="2010753"/>
          </a:xfrm>
          <a:prstGeom prst="rect">
            <a:avLst/>
          </a:prstGeom>
        </p:spPr>
      </p:pic>
      <p:sp>
        <p:nvSpPr>
          <p:cNvPr id="58" name="向右箭號 57"/>
          <p:cNvSpPr/>
          <p:nvPr/>
        </p:nvSpPr>
        <p:spPr>
          <a:xfrm flipH="1">
            <a:off x="3955841" y="3386907"/>
            <a:ext cx="219500" cy="252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9" name="矩形 58"/>
          <p:cNvSpPr/>
          <p:nvPr/>
        </p:nvSpPr>
        <p:spPr>
          <a:xfrm>
            <a:off x="2461051" y="3662528"/>
            <a:ext cx="1494790" cy="1079567"/>
          </a:xfrm>
          <a:prstGeom prst="rect">
            <a:avLst/>
          </a:prstGeom>
          <a:solidFill>
            <a:schemeClr val="accent4">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60" name="矩形 59"/>
          <p:cNvSpPr/>
          <p:nvPr/>
        </p:nvSpPr>
        <p:spPr>
          <a:xfrm>
            <a:off x="918370" y="4196072"/>
            <a:ext cx="936823" cy="633103"/>
          </a:xfrm>
          <a:prstGeom prst="rect">
            <a:avLst/>
          </a:prstGeom>
          <a:solidFill>
            <a:schemeClr val="accent4">
              <a:lumMod val="20000"/>
              <a:lumOff val="80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61" name="文字方塊 60"/>
          <p:cNvSpPr txBox="1"/>
          <p:nvPr/>
        </p:nvSpPr>
        <p:spPr>
          <a:xfrm>
            <a:off x="730191" y="3967126"/>
            <a:ext cx="1313180" cy="215444"/>
          </a:xfrm>
          <a:prstGeom prst="rect">
            <a:avLst/>
          </a:prstGeom>
          <a:solidFill>
            <a:schemeClr val="accent4"/>
          </a:solidFill>
        </p:spPr>
        <p:txBody>
          <a:bodyPr wrap="none" rtlCol="0">
            <a:spAutoFit/>
          </a:bodyPr>
          <a:lstStyle>
            <a:defPPr>
              <a:defRPr lang="zh-TW"/>
            </a:defPPr>
            <a:lvl1pPr>
              <a:defRPr sz="400">
                <a:latin typeface="+mj-ea"/>
                <a:ea typeface="+mj-ea"/>
              </a:defRPr>
            </a:lvl1pPr>
          </a:lstStyle>
          <a:p>
            <a:r>
              <a:rPr lang="zh-TW" altLang="en-US" sz="800" dirty="0" smtClean="0">
                <a:latin typeface="微軟正黑體" panose="020B0604030504040204" pitchFamily="34" charset="-120"/>
                <a:ea typeface="微軟正黑體" panose="020B0604030504040204" pitchFamily="34" charset="-120"/>
              </a:rPr>
              <a:t>提示對應</a:t>
            </a:r>
            <a:r>
              <a:rPr lang="en-US" altLang="zh-TW" sz="800" dirty="0" smtClean="0">
                <a:latin typeface="微軟正黑體" panose="020B0604030504040204" pitchFamily="34" charset="-120"/>
                <a:ea typeface="微軟正黑體" panose="020B0604030504040204" pitchFamily="34" charset="-120"/>
              </a:rPr>
              <a:t>defect</a:t>
            </a:r>
            <a:r>
              <a:rPr lang="zh-TW" altLang="en-US" sz="800" dirty="0" smtClean="0">
                <a:latin typeface="微軟正黑體" panose="020B0604030504040204" pitchFamily="34" charset="-120"/>
                <a:ea typeface="微軟正黑體" panose="020B0604030504040204" pitchFamily="34" charset="-120"/>
              </a:rPr>
              <a:t>相關資訊</a:t>
            </a:r>
            <a:endParaRPr lang="en-US" altLang="zh-TW" sz="800" dirty="0">
              <a:latin typeface="微軟正黑體" panose="020B0604030504040204" pitchFamily="34" charset="-120"/>
              <a:ea typeface="微軟正黑體" panose="020B0604030504040204" pitchFamily="34" charset="-120"/>
            </a:endParaRPr>
          </a:p>
        </p:txBody>
      </p:sp>
      <p:sp>
        <p:nvSpPr>
          <p:cNvPr id="62" name="文字方塊 61"/>
          <p:cNvSpPr txBox="1"/>
          <p:nvPr/>
        </p:nvSpPr>
        <p:spPr>
          <a:xfrm>
            <a:off x="2397967" y="4721453"/>
            <a:ext cx="1620957" cy="215444"/>
          </a:xfrm>
          <a:prstGeom prst="rect">
            <a:avLst/>
          </a:prstGeom>
          <a:solidFill>
            <a:schemeClr val="accent4"/>
          </a:solidFill>
        </p:spPr>
        <p:txBody>
          <a:bodyPr wrap="none" rtlCol="0">
            <a:spAutoFit/>
          </a:bodyPr>
          <a:lstStyle>
            <a:defPPr>
              <a:defRPr lang="zh-TW"/>
            </a:defPPr>
            <a:lvl1pPr>
              <a:defRPr sz="400">
                <a:latin typeface="+mj-ea"/>
                <a:ea typeface="+mj-ea"/>
              </a:defRPr>
            </a:lvl1pPr>
          </a:lstStyle>
          <a:p>
            <a:r>
              <a:rPr lang="zh-TW" altLang="en-US" sz="800" dirty="0" smtClean="0">
                <a:latin typeface="微軟正黑體" panose="020B0604030504040204" pitchFamily="34" charset="-120"/>
                <a:ea typeface="微軟正黑體" panose="020B0604030504040204" pitchFamily="34" charset="-120"/>
              </a:rPr>
              <a:t>重疊點不同筆量測資料影像對照</a:t>
            </a:r>
            <a:endParaRPr lang="en-US" altLang="zh-TW" sz="800" dirty="0">
              <a:latin typeface="微軟正黑體" panose="020B0604030504040204" pitchFamily="34" charset="-120"/>
              <a:ea typeface="微軟正黑體" panose="020B0604030504040204" pitchFamily="34" charset="-120"/>
            </a:endParaRPr>
          </a:p>
        </p:txBody>
      </p:sp>
      <p:grpSp>
        <p:nvGrpSpPr>
          <p:cNvPr id="63" name="群組 62"/>
          <p:cNvGrpSpPr/>
          <p:nvPr/>
        </p:nvGrpSpPr>
        <p:grpSpPr>
          <a:xfrm rot="10800000">
            <a:off x="2741799" y="592409"/>
            <a:ext cx="1018228" cy="403558"/>
            <a:chOff x="1390249" y="1484680"/>
            <a:chExt cx="1018228" cy="403558"/>
          </a:xfrm>
        </p:grpSpPr>
        <p:sp>
          <p:nvSpPr>
            <p:cNvPr id="64" name="向左箭號圖說文字 63"/>
            <p:cNvSpPr/>
            <p:nvPr/>
          </p:nvSpPr>
          <p:spPr>
            <a:xfrm rot="5400000">
              <a:off x="1694373" y="1224629"/>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p:nvSpPr>
          <p:spPr>
            <a:xfrm flipV="1">
              <a:off x="1390249" y="1623171"/>
              <a:ext cx="1018228" cy="261610"/>
            </a:xfrm>
            <a:prstGeom prst="rect">
              <a:avLst/>
            </a:prstGeom>
          </p:spPr>
          <p:txBody>
            <a:bodyPr wrap="none">
              <a:spAutoFit/>
            </a:bodyPr>
            <a:lstStyle/>
            <a:p>
              <a:pPr algn="ctr"/>
              <a:r>
                <a:rPr lang="en-US" altLang="zh-TW" sz="1100" dirty="0" smtClean="0"/>
                <a:t>Run_info </a:t>
              </a:r>
              <a:r>
                <a:rPr lang="en-US" altLang="zh-TW" sz="1100" dirty="0"/>
                <a:t>API</a:t>
              </a:r>
              <a:endParaRPr lang="zh-TW" altLang="en-US" sz="1100" dirty="0"/>
            </a:p>
          </p:txBody>
        </p:sp>
      </p:grpSp>
      <p:grpSp>
        <p:nvGrpSpPr>
          <p:cNvPr id="66" name="群組 65"/>
          <p:cNvGrpSpPr/>
          <p:nvPr/>
        </p:nvGrpSpPr>
        <p:grpSpPr>
          <a:xfrm rot="10800000">
            <a:off x="6433433" y="3950833"/>
            <a:ext cx="1053494" cy="403558"/>
            <a:chOff x="1372615" y="1484680"/>
            <a:chExt cx="1053494" cy="403558"/>
          </a:xfrm>
        </p:grpSpPr>
        <p:sp>
          <p:nvSpPr>
            <p:cNvPr id="67" name="向左箭號圖說文字 66"/>
            <p:cNvSpPr/>
            <p:nvPr/>
          </p:nvSpPr>
          <p:spPr>
            <a:xfrm rot="5400000">
              <a:off x="1694373" y="1224629"/>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p:nvSpPr>
          <p:spPr>
            <a:xfrm flipV="1">
              <a:off x="1372615" y="1630866"/>
              <a:ext cx="1053494" cy="246221"/>
            </a:xfrm>
            <a:prstGeom prst="rect">
              <a:avLst/>
            </a:prstGeom>
          </p:spPr>
          <p:txBody>
            <a:bodyPr wrap="none">
              <a:spAutoFit/>
            </a:bodyPr>
            <a:lstStyle/>
            <a:p>
              <a:pPr algn="ctr"/>
              <a:r>
                <a:rPr lang="en-US" altLang="zh-TW" sz="1000" dirty="0" err="1" smtClean="0"/>
                <a:t>Defect_map</a:t>
              </a:r>
              <a:r>
                <a:rPr lang="en-US" altLang="zh-TW" sz="1000" dirty="0" smtClean="0"/>
                <a:t> </a:t>
              </a:r>
              <a:r>
                <a:rPr lang="en-US" altLang="zh-TW" sz="1000" dirty="0"/>
                <a:t>API</a:t>
              </a:r>
              <a:endParaRPr lang="zh-TW" altLang="en-US" sz="1000" dirty="0"/>
            </a:p>
          </p:txBody>
        </p:sp>
      </p:grpSp>
      <p:grpSp>
        <p:nvGrpSpPr>
          <p:cNvPr id="69" name="群組 68"/>
          <p:cNvGrpSpPr/>
          <p:nvPr/>
        </p:nvGrpSpPr>
        <p:grpSpPr>
          <a:xfrm rot="10800000">
            <a:off x="1539536" y="3011885"/>
            <a:ext cx="1053494" cy="403558"/>
            <a:chOff x="1372615" y="1484680"/>
            <a:chExt cx="1053494" cy="403558"/>
          </a:xfrm>
        </p:grpSpPr>
        <p:sp>
          <p:nvSpPr>
            <p:cNvPr id="70" name="向左箭號圖說文字 69"/>
            <p:cNvSpPr/>
            <p:nvPr/>
          </p:nvSpPr>
          <p:spPr>
            <a:xfrm rot="5400000">
              <a:off x="1694373" y="1224629"/>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p:nvSpPr>
          <p:spPr>
            <a:xfrm flipV="1">
              <a:off x="1372615" y="1630866"/>
              <a:ext cx="1053494" cy="246221"/>
            </a:xfrm>
            <a:prstGeom prst="rect">
              <a:avLst/>
            </a:prstGeom>
          </p:spPr>
          <p:txBody>
            <a:bodyPr wrap="none">
              <a:spAutoFit/>
            </a:bodyPr>
            <a:lstStyle/>
            <a:p>
              <a:pPr algn="ctr"/>
              <a:r>
                <a:rPr lang="en-US" altLang="zh-TW" sz="1000" dirty="0" err="1" smtClean="0"/>
                <a:t>Defect_map</a:t>
              </a:r>
              <a:r>
                <a:rPr lang="en-US" altLang="zh-TW" sz="1000" dirty="0" smtClean="0"/>
                <a:t> </a:t>
              </a:r>
              <a:r>
                <a:rPr lang="en-US" altLang="zh-TW" sz="1000" dirty="0"/>
                <a:t>API</a:t>
              </a:r>
              <a:endParaRPr lang="zh-TW" altLang="en-US" sz="1000" dirty="0"/>
            </a:p>
          </p:txBody>
        </p:sp>
      </p:grpSp>
    </p:spTree>
    <p:extLst>
      <p:ext uri="{BB962C8B-B14F-4D97-AF65-F5344CB8AC3E}">
        <p14:creationId xmlns:p14="http://schemas.microsoft.com/office/powerpoint/2010/main" val="337027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4330066" y="463161"/>
            <a:ext cx="4471034" cy="4383159"/>
          </a:xfrm>
          <a:prstGeom prst="roundRect">
            <a:avLst>
              <a:gd name="adj" fmla="val 3265"/>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4" name="圓角矩形 3"/>
          <p:cNvSpPr/>
          <p:nvPr/>
        </p:nvSpPr>
        <p:spPr>
          <a:xfrm>
            <a:off x="127421" y="482254"/>
            <a:ext cx="4094388" cy="3104002"/>
          </a:xfrm>
          <a:prstGeom prst="roundRect">
            <a:avLst>
              <a:gd name="adj" fmla="val 4101"/>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182823" y="709441"/>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298796" y="806705"/>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a:t>— </a:t>
            </a:r>
            <a:r>
              <a:rPr lang="en-US" altLang="zh-TW" dirty="0">
                <a:latin typeface="+mn-ea"/>
                <a:cs typeface="Arial" panose="020B0604020202020204" pitchFamily="34" charset="0"/>
              </a:rPr>
              <a:t>PI AOI </a:t>
            </a:r>
            <a:r>
              <a:rPr lang="en-US" altLang="zh-TW" dirty="0" smtClean="0">
                <a:latin typeface="+mn-ea"/>
                <a:cs typeface="Arial" panose="020B0604020202020204" pitchFamily="34" charset="0"/>
              </a:rPr>
              <a:t>Density</a:t>
            </a:r>
            <a:r>
              <a:rPr lang="zh-TW" altLang="en-US" dirty="0">
                <a:latin typeface="+mn-ea"/>
                <a:cs typeface="Arial" panose="020B0604020202020204" pitchFamily="34" charset="0"/>
              </a:rPr>
              <a:t>可視化監控系統</a:t>
            </a:r>
            <a:endParaRPr lang="zh-TW" altLang="zh-TW" dirty="0"/>
          </a:p>
          <a:p>
            <a:endParaRPr lang="zh-TW" altLang="zh-TW" dirty="0"/>
          </a:p>
        </p:txBody>
      </p:sp>
      <p:sp>
        <p:nvSpPr>
          <p:cNvPr id="52" name="椭圆 66"/>
          <p:cNvSpPr/>
          <p:nvPr/>
        </p:nvSpPr>
        <p:spPr bwMode="auto">
          <a:xfrm rot="4723889">
            <a:off x="1857114" y="156760"/>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3" name="组合 67"/>
          <p:cNvGrpSpPr>
            <a:grpSpLocks/>
          </p:cNvGrpSpPr>
          <p:nvPr/>
        </p:nvGrpSpPr>
        <p:grpSpPr bwMode="auto">
          <a:xfrm rot="5400000">
            <a:off x="1651788" y="180017"/>
            <a:ext cx="951398" cy="1215148"/>
            <a:chOff x="1123476" y="1681897"/>
            <a:chExt cx="3206311" cy="2990785"/>
          </a:xfrm>
        </p:grpSpPr>
        <p:grpSp>
          <p:nvGrpSpPr>
            <p:cNvPr id="54" name="组合 68"/>
            <p:cNvGrpSpPr>
              <a:grpSpLocks/>
            </p:cNvGrpSpPr>
            <p:nvPr/>
          </p:nvGrpSpPr>
          <p:grpSpPr bwMode="auto">
            <a:xfrm>
              <a:off x="1123476" y="1763461"/>
              <a:ext cx="2798050" cy="2798050"/>
              <a:chOff x="1123476" y="1763461"/>
              <a:chExt cx="2798050" cy="2798050"/>
            </a:xfrm>
          </p:grpSpPr>
          <p:sp>
            <p:nvSpPr>
              <p:cNvPr id="60" name="弧形 59"/>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1" name="弧形 60"/>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5" name="组合 69"/>
            <p:cNvGrpSpPr>
              <a:grpSpLocks/>
            </p:cNvGrpSpPr>
            <p:nvPr/>
          </p:nvGrpSpPr>
          <p:grpSpPr bwMode="auto">
            <a:xfrm rot="-7200000">
              <a:off x="1273270" y="1616165"/>
              <a:ext cx="2990785" cy="3122249"/>
              <a:chOff x="891209" y="1807143"/>
              <a:chExt cx="2990785" cy="3122249"/>
            </a:xfrm>
          </p:grpSpPr>
          <p:sp>
            <p:nvSpPr>
              <p:cNvPr id="56" name="弧形 55"/>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7" name="弧形 56"/>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64" name="矩形 63"/>
          <p:cNvSpPr/>
          <p:nvPr/>
        </p:nvSpPr>
        <p:spPr>
          <a:xfrm>
            <a:off x="1595089" y="610537"/>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65" name="椭圆 66"/>
          <p:cNvSpPr/>
          <p:nvPr/>
        </p:nvSpPr>
        <p:spPr bwMode="auto">
          <a:xfrm rot="4723889">
            <a:off x="6484424" y="222111"/>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6" name="组合 67"/>
          <p:cNvGrpSpPr>
            <a:grpSpLocks/>
          </p:cNvGrpSpPr>
          <p:nvPr/>
        </p:nvGrpSpPr>
        <p:grpSpPr bwMode="auto">
          <a:xfrm rot="4723889">
            <a:off x="6409454" y="278184"/>
            <a:ext cx="671560" cy="961309"/>
            <a:chOff x="1123476" y="1681897"/>
            <a:chExt cx="3206311" cy="2990785"/>
          </a:xfrm>
        </p:grpSpPr>
        <p:grpSp>
          <p:nvGrpSpPr>
            <p:cNvPr id="67" name="组合 68"/>
            <p:cNvGrpSpPr>
              <a:grpSpLocks/>
            </p:cNvGrpSpPr>
            <p:nvPr/>
          </p:nvGrpSpPr>
          <p:grpSpPr bwMode="auto">
            <a:xfrm>
              <a:off x="1123476" y="1763461"/>
              <a:ext cx="2798050" cy="2798050"/>
              <a:chOff x="1123476" y="1763461"/>
              <a:chExt cx="2798050" cy="2798050"/>
            </a:xfrm>
          </p:grpSpPr>
          <p:sp>
            <p:nvSpPr>
              <p:cNvPr id="73" name="弧形 72"/>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4" name="弧形 73"/>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8" name="组合 69"/>
            <p:cNvGrpSpPr>
              <a:grpSpLocks/>
            </p:cNvGrpSpPr>
            <p:nvPr/>
          </p:nvGrpSpPr>
          <p:grpSpPr bwMode="auto">
            <a:xfrm rot="-7200000">
              <a:off x="1273270" y="1616165"/>
              <a:ext cx="2990785" cy="3122249"/>
              <a:chOff x="891209" y="1807143"/>
              <a:chExt cx="2990785" cy="3122249"/>
            </a:xfrm>
          </p:grpSpPr>
          <p:sp>
            <p:nvSpPr>
              <p:cNvPr id="69" name="弧形 68"/>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0" name="弧形 69"/>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77" name="矩形 76"/>
          <p:cNvSpPr/>
          <p:nvPr/>
        </p:nvSpPr>
        <p:spPr>
          <a:xfrm>
            <a:off x="6243873" y="544607"/>
            <a:ext cx="100272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改善後</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90" name="矩形 89"/>
          <p:cNvSpPr/>
          <p:nvPr/>
        </p:nvSpPr>
        <p:spPr>
          <a:xfrm>
            <a:off x="4923177" y="3774919"/>
            <a:ext cx="3689295" cy="872422"/>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79" name="矩形 178"/>
          <p:cNvSpPr/>
          <p:nvPr/>
        </p:nvSpPr>
        <p:spPr>
          <a:xfrm>
            <a:off x="195859" y="740459"/>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grpSp>
        <p:nvGrpSpPr>
          <p:cNvPr id="91" name="群組 90"/>
          <p:cNvGrpSpPr/>
          <p:nvPr/>
        </p:nvGrpSpPr>
        <p:grpSpPr>
          <a:xfrm>
            <a:off x="4391969" y="3986576"/>
            <a:ext cx="705005" cy="529879"/>
            <a:chOff x="109587" y="3086034"/>
            <a:chExt cx="743568" cy="408164"/>
          </a:xfrm>
          <a:solidFill>
            <a:srgbClr val="005087"/>
          </a:solidFill>
        </p:grpSpPr>
        <p:sp>
          <p:nvSpPr>
            <p:cNvPr id="92" name="圓角矩形 91"/>
            <p:cNvSpPr/>
            <p:nvPr/>
          </p:nvSpPr>
          <p:spPr>
            <a:xfrm>
              <a:off x="175333" y="3086034"/>
              <a:ext cx="640538" cy="408164"/>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3" name="矩形 92">
              <a:extLst>
                <a:ext uri="{FF2B5EF4-FFF2-40B4-BE49-F238E27FC236}">
                  <a16:creationId xmlns:a16="http://schemas.microsoft.com/office/drawing/2014/main" xmlns="" id="{2FB82B3E-7C5A-4E57-B159-B07D5CBA84B6}"/>
                </a:ext>
              </a:extLst>
            </p:cNvPr>
            <p:cNvSpPr/>
            <p:nvPr/>
          </p:nvSpPr>
          <p:spPr>
            <a:xfrm>
              <a:off x="109587" y="3160696"/>
              <a:ext cx="743568" cy="276999"/>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sp>
        <p:nvSpPr>
          <p:cNvPr id="80" name="矩形 79"/>
          <p:cNvSpPr/>
          <p:nvPr/>
        </p:nvSpPr>
        <p:spPr>
          <a:xfrm>
            <a:off x="4603454" y="1034782"/>
            <a:ext cx="4009018" cy="1015663"/>
          </a:xfrm>
          <a:prstGeom prst="rect">
            <a:avLst/>
          </a:prstGeom>
          <a:noFill/>
        </p:spPr>
        <p:txBody>
          <a:bodyPr wrap="square">
            <a:spAutoFit/>
          </a:bodyPr>
          <a:lstStyle/>
          <a:p>
            <a:pPr marL="171450" indent="-171450">
              <a:lnSpc>
                <a:spcPct val="150000"/>
              </a:lnSpc>
              <a:buClr>
                <a:schemeClr val="tx1"/>
              </a:buClr>
              <a:buFont typeface="Wingdings" panose="05000000000000000000" pitchFamily="2" charset="2"/>
              <a:buChar char="ü"/>
            </a:pPr>
            <a:r>
              <a:rPr lang="zh-TW" altLang="en-US" sz="1000" dirty="0" smtClean="0">
                <a:latin typeface="+mn-ea"/>
                <a:ea typeface="+mn-ea"/>
                <a:sym typeface="Wingdings" panose="05000000000000000000" pitchFamily="2" charset="2"/>
              </a:rPr>
              <a:t>建置</a:t>
            </a:r>
            <a:r>
              <a:rPr lang="zh-TW" altLang="en-US" sz="1000" dirty="0" smtClean="0">
                <a:latin typeface="+mn-ea"/>
                <a:ea typeface="+mn-ea"/>
              </a:rPr>
              <a:t>資料庫儲存每日相關資</a:t>
            </a:r>
            <a:r>
              <a:rPr lang="zh-TW" altLang="en-US" sz="1000" dirty="0">
                <a:latin typeface="+mn-ea"/>
                <a:ea typeface="+mn-ea"/>
              </a:rPr>
              <a:t>料</a:t>
            </a:r>
            <a:r>
              <a:rPr lang="zh-TW" altLang="en-US" sz="1000" dirty="0" smtClean="0">
                <a:latin typeface="+mn-ea"/>
                <a:ea typeface="+mn-ea"/>
              </a:rPr>
              <a:t>供歷史回查</a:t>
            </a:r>
            <a:endParaRPr lang="en-US" altLang="zh-TW" sz="1000" dirty="0" smtClean="0">
              <a:latin typeface="+mn-ea"/>
              <a:ea typeface="+mn-ea"/>
            </a:endParaRPr>
          </a:p>
          <a:p>
            <a:pPr marL="171450" indent="-171450">
              <a:lnSpc>
                <a:spcPct val="150000"/>
              </a:lnSpc>
              <a:buClr>
                <a:schemeClr val="tx1"/>
              </a:buClr>
              <a:buFont typeface="Wingdings" panose="05000000000000000000" pitchFamily="2" charset="2"/>
              <a:buChar char="ü"/>
            </a:pPr>
            <a:r>
              <a:rPr lang="zh-TW" altLang="en-US" sz="1000" dirty="0" smtClean="0">
                <a:latin typeface="+mn-ea"/>
                <a:ea typeface="+mn-ea"/>
              </a:rPr>
              <a:t>源頭資料端撈取資料避免資料缺失且提升資料即時性效率</a:t>
            </a:r>
            <a:endParaRPr lang="en-US" altLang="zh-TW" sz="1000" dirty="0" smtClean="0">
              <a:latin typeface="+mn-ea"/>
              <a:ea typeface="+mn-ea"/>
            </a:endParaRPr>
          </a:p>
          <a:p>
            <a:pPr marL="171450" indent="-171450">
              <a:lnSpc>
                <a:spcPct val="150000"/>
              </a:lnSpc>
              <a:buClr>
                <a:schemeClr val="tx1"/>
              </a:buClr>
              <a:buFont typeface="Wingdings" panose="05000000000000000000" pitchFamily="2" charset="2"/>
              <a:buChar char="ü"/>
            </a:pPr>
            <a:r>
              <a:rPr lang="zh-TW" altLang="en-US" sz="1000" dirty="0" smtClean="0">
                <a:latin typeface="+mn-ea"/>
              </a:rPr>
              <a:t>新增</a:t>
            </a:r>
            <a:r>
              <a:rPr lang="zh-TW" altLang="en-US" sz="1000" dirty="0">
                <a:latin typeface="+mn-ea"/>
              </a:rPr>
              <a:t>編輯</a:t>
            </a:r>
            <a:r>
              <a:rPr lang="zh-TW" altLang="en-US" sz="1000" dirty="0" smtClean="0">
                <a:latin typeface="+mn-ea"/>
              </a:rPr>
              <a:t>功能可自主調整</a:t>
            </a:r>
            <a:r>
              <a:rPr lang="en-US" altLang="zh-TW" sz="1000" dirty="0" smtClean="0">
                <a:latin typeface="+mn-ea"/>
              </a:rPr>
              <a:t>spec</a:t>
            </a:r>
            <a:r>
              <a:rPr lang="zh-TW" altLang="en-US" sz="1000" dirty="0" smtClean="0">
                <a:latin typeface="+mn-ea"/>
              </a:rPr>
              <a:t>及</a:t>
            </a:r>
            <a:r>
              <a:rPr lang="en-US" altLang="zh-TW" sz="1000" dirty="0" smtClean="0">
                <a:latin typeface="+mn-ea"/>
              </a:rPr>
              <a:t>comment</a:t>
            </a:r>
            <a:r>
              <a:rPr lang="zh-TW" altLang="en-US" sz="1000" dirty="0" smtClean="0">
                <a:latin typeface="+mn-ea"/>
              </a:rPr>
              <a:t>等</a:t>
            </a:r>
            <a:endParaRPr lang="en-US" altLang="zh-TW" sz="1000" dirty="0" smtClean="0">
              <a:latin typeface="+mn-ea"/>
            </a:endParaRPr>
          </a:p>
          <a:p>
            <a:pPr marL="171450" indent="-171450">
              <a:lnSpc>
                <a:spcPct val="150000"/>
              </a:lnSpc>
              <a:buClr>
                <a:schemeClr val="tx1"/>
              </a:buClr>
              <a:buFont typeface="Wingdings" panose="05000000000000000000" pitchFamily="2" charset="2"/>
              <a:buChar char="ü"/>
            </a:pPr>
            <a:r>
              <a:rPr lang="zh-TW" altLang="en-US" sz="1000" dirty="0" smtClean="0">
                <a:latin typeface="+mn-ea"/>
              </a:rPr>
              <a:t>透過歷史資料計算動態</a:t>
            </a:r>
            <a:r>
              <a:rPr lang="en-US" altLang="zh-TW" sz="1000" dirty="0" smtClean="0">
                <a:latin typeface="+mn-ea"/>
              </a:rPr>
              <a:t>spec</a:t>
            </a:r>
            <a:r>
              <a:rPr lang="zh-TW" altLang="en-US" sz="1000" dirty="0" smtClean="0">
                <a:latin typeface="+mn-ea"/>
              </a:rPr>
              <a:t>及相關統計運</a:t>
            </a:r>
            <a:r>
              <a:rPr lang="zh-TW" altLang="en-US" sz="1000" dirty="0">
                <a:latin typeface="+mn-ea"/>
              </a:rPr>
              <a:t>算</a:t>
            </a:r>
            <a:endParaRPr lang="en-US" altLang="zh-TW" sz="1000" dirty="0" smtClean="0">
              <a:latin typeface="+mn-ea"/>
            </a:endParaRPr>
          </a:p>
        </p:txBody>
      </p:sp>
      <p:sp>
        <p:nvSpPr>
          <p:cNvPr id="82" name="矩形 81"/>
          <p:cNvSpPr/>
          <p:nvPr/>
        </p:nvSpPr>
        <p:spPr>
          <a:xfrm>
            <a:off x="5061623" y="3781363"/>
            <a:ext cx="3550849" cy="984885"/>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tLang="zh-TW" sz="1050" dirty="0" smtClean="0">
                <a:latin typeface="+mn-ea"/>
              </a:rPr>
              <a:t>1.</a:t>
            </a:r>
            <a:r>
              <a:rPr lang="zh-TW" altLang="en-US" sz="1050" dirty="0" smtClean="0">
                <a:latin typeface="+mn-ea"/>
              </a:rPr>
              <a:t> 節省</a:t>
            </a:r>
            <a:r>
              <a:rPr lang="en-US" altLang="zh-TW" sz="1600" b="1" dirty="0">
                <a:solidFill>
                  <a:srgbClr val="FF0000"/>
                </a:solidFill>
                <a:latin typeface="+mn-ea"/>
              </a:rPr>
              <a:t>2~</a:t>
            </a:r>
            <a:r>
              <a:rPr lang="en-US" altLang="zh-TW" sz="1600" b="1" dirty="0" smtClean="0">
                <a:solidFill>
                  <a:srgbClr val="FF0000"/>
                </a:solidFill>
                <a:latin typeface="+mn-ea"/>
              </a:rPr>
              <a:t>6</a:t>
            </a:r>
            <a:r>
              <a:rPr lang="zh-TW" altLang="en-US" sz="1050" dirty="0" smtClean="0">
                <a:latin typeface="+mn-ea"/>
              </a:rPr>
              <a:t>小時</a:t>
            </a:r>
            <a:r>
              <a:rPr lang="en-US" altLang="zh-TW" sz="1050" dirty="0" smtClean="0">
                <a:latin typeface="+mn-ea"/>
              </a:rPr>
              <a:t>(</a:t>
            </a:r>
            <a:r>
              <a:rPr lang="zh-TW" altLang="en-US" sz="1050" dirty="0" smtClean="0">
                <a:latin typeface="+mn-ea"/>
              </a:rPr>
              <a:t>依投入</a:t>
            </a:r>
            <a:r>
              <a:rPr lang="en-US" altLang="zh-TW" sz="1050" dirty="0" smtClean="0">
                <a:latin typeface="+mn-ea"/>
              </a:rPr>
              <a:t>)</a:t>
            </a:r>
            <a:r>
              <a:rPr lang="zh-TW" altLang="en-US" sz="1050" dirty="0" smtClean="0">
                <a:latin typeface="+mn-ea"/>
              </a:rPr>
              <a:t>候貨時間 </a:t>
            </a:r>
            <a:r>
              <a:rPr lang="en-US" altLang="zh-TW" sz="1050" dirty="0" smtClean="0">
                <a:latin typeface="+mn-ea"/>
                <a:sym typeface="Wingdings" panose="05000000000000000000" pitchFamily="2" charset="2"/>
              </a:rPr>
              <a:t></a:t>
            </a:r>
            <a:r>
              <a:rPr lang="zh-TW" altLang="en-US" sz="1050" dirty="0" smtClean="0">
                <a:latin typeface="+mn-ea"/>
                <a:sym typeface="Wingdings" panose="05000000000000000000" pitchFamily="2" charset="2"/>
              </a:rPr>
              <a:t> </a:t>
            </a:r>
            <a:r>
              <a:rPr lang="en-US" altLang="zh-TW" sz="1050" dirty="0" smtClean="0">
                <a:latin typeface="+mn-ea"/>
              </a:rPr>
              <a:t>15</a:t>
            </a:r>
            <a:r>
              <a:rPr lang="zh-TW" altLang="en-US" sz="1050" dirty="0" smtClean="0">
                <a:latin typeface="+mn-ea"/>
              </a:rPr>
              <a:t>分鐘</a:t>
            </a:r>
            <a:endParaRPr lang="en-US" altLang="zh-TW" sz="1050" dirty="0" smtClean="0">
              <a:latin typeface="+mn-ea"/>
            </a:endParaRPr>
          </a:p>
          <a:p>
            <a:r>
              <a:rPr lang="en-US" altLang="zh-TW" sz="1050" dirty="0" smtClean="0">
                <a:latin typeface="+mn-ea"/>
              </a:rPr>
              <a:t>2.</a:t>
            </a:r>
            <a:r>
              <a:rPr lang="zh-TW" altLang="en-US" sz="1050" dirty="0" smtClean="0">
                <a:latin typeface="+mn-ea"/>
              </a:rPr>
              <a:t> 多源頭串接</a:t>
            </a:r>
            <a:r>
              <a:rPr lang="en-US" altLang="zh-TW" sz="1050" dirty="0" smtClean="0">
                <a:latin typeface="+mn-ea"/>
              </a:rPr>
              <a:t>(</a:t>
            </a:r>
            <a:r>
              <a:rPr lang="zh-TW" altLang="en-US" sz="1050" dirty="0" smtClean="0">
                <a:latin typeface="+mn-ea"/>
              </a:rPr>
              <a:t>機台、量測機台產出</a:t>
            </a:r>
            <a:r>
              <a:rPr lang="en-US" altLang="zh-TW" sz="1050" dirty="0" smtClean="0">
                <a:latin typeface="+mn-ea"/>
              </a:rPr>
              <a:t>)</a:t>
            </a:r>
            <a:r>
              <a:rPr lang="zh-TW" altLang="en-US" sz="1050" dirty="0" smtClean="0">
                <a:latin typeface="+mn-ea"/>
              </a:rPr>
              <a:t>，節省資料查找時間即時運算解決資料不準確問題</a:t>
            </a:r>
            <a:endParaRPr lang="en-US" altLang="zh-TW" sz="1050" dirty="0" smtClean="0">
              <a:latin typeface="+mn-ea"/>
            </a:endParaRPr>
          </a:p>
          <a:p>
            <a:r>
              <a:rPr lang="en-US" altLang="zh-TW" sz="1050" dirty="0"/>
              <a:t>3</a:t>
            </a:r>
            <a:r>
              <a:rPr lang="en-US" altLang="zh-TW" sz="1050" dirty="0" smtClean="0"/>
              <a:t>.</a:t>
            </a:r>
            <a:r>
              <a:rPr lang="zh-TW" altLang="en-US" sz="1050" dirty="0" smtClean="0"/>
              <a:t>可</a:t>
            </a:r>
            <a:r>
              <a:rPr lang="zh-TW" altLang="en-US" sz="1050" dirty="0"/>
              <a:t>篩選時段</a:t>
            </a:r>
            <a:r>
              <a:rPr lang="zh-TW" altLang="en-US" sz="1050" dirty="0" smtClean="0"/>
              <a:t>延長，可</a:t>
            </a:r>
            <a:r>
              <a:rPr lang="zh-TW" altLang="en-US" sz="1050" dirty="0"/>
              <a:t>評估</a:t>
            </a:r>
            <a:r>
              <a:rPr lang="en-US" altLang="zh-TW" sz="1050" dirty="0"/>
              <a:t>Baseline </a:t>
            </a:r>
            <a:r>
              <a:rPr lang="zh-TW" altLang="en-US" sz="1050" dirty="0"/>
              <a:t>的變化狀況</a:t>
            </a:r>
            <a:endParaRPr lang="en-US" altLang="zh-TW" sz="1050" dirty="0"/>
          </a:p>
          <a:p>
            <a:pPr algn="ctr"/>
            <a:endParaRPr lang="en-US" altLang="zh-TW" sz="1050" dirty="0" smtClean="0">
              <a:latin typeface="+mn-ea"/>
            </a:endParaRPr>
          </a:p>
        </p:txBody>
      </p:sp>
      <p:sp>
        <p:nvSpPr>
          <p:cNvPr id="46" name="矩形 45"/>
          <p:cNvSpPr/>
          <p:nvPr/>
        </p:nvSpPr>
        <p:spPr>
          <a:xfrm>
            <a:off x="29769" y="3676769"/>
            <a:ext cx="1409105" cy="1169551"/>
          </a:xfrm>
          <a:prstGeom prst="rect">
            <a:avLst/>
          </a:prstGeom>
        </p:spPr>
        <p:txBody>
          <a:bodyPr wrap="square">
            <a:spAutoFit/>
          </a:body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技術對策</a:t>
            </a:r>
            <a:r>
              <a:rPr kumimoji="0" lang="en-US" altLang="zh-TW" sz="1600" b="1" dirty="0">
                <a:solidFill>
                  <a:prstClr val="black"/>
                </a:solidFill>
                <a:latin typeface="微軟正黑體" panose="020B0604030504040204" pitchFamily="34" charset="-120"/>
                <a:ea typeface="微軟正黑體" panose="020B0604030504040204" pitchFamily="34" charset="-120"/>
              </a:rPr>
              <a:t>:</a:t>
            </a:r>
          </a:p>
          <a:p>
            <a:pPr eaLnBrk="1" fontAlgn="auto" hangingPunct="1">
              <a:spcBef>
                <a:spcPts val="0"/>
              </a:spcBef>
              <a:spcAft>
                <a:spcPts val="0"/>
              </a:spcAft>
              <a:defRPr/>
            </a:pPr>
            <a:endParaRPr kumimoji="0" lang="en-US" altLang="zh-TW" sz="1800" b="1" kern="0"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b="1" dirty="0">
              <a:solidFill>
                <a:srgbClr val="0000FF"/>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dirty="0">
              <a:solidFill>
                <a:prstClr val="black">
                  <a:lumMod val="95000"/>
                  <a:lumOff val="5000"/>
                </a:prstClr>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140025" y="3965956"/>
            <a:ext cx="4009018" cy="784830"/>
          </a:xfrm>
          <a:prstGeom prst="rect">
            <a:avLst/>
          </a:prstGeom>
          <a:noFill/>
        </p:spPr>
        <p:txBody>
          <a:bodyPr wrap="square">
            <a:spAutoFit/>
          </a:bodyPr>
          <a:lstStyle/>
          <a:p>
            <a:pPr>
              <a:lnSpc>
                <a:spcPct val="150000"/>
              </a:lnSpc>
              <a:buClr>
                <a:schemeClr val="tx1"/>
              </a:buClr>
            </a:pPr>
            <a:r>
              <a:rPr lang="en-US" altLang="zh-TW" sz="1000" dirty="0" smtClean="0">
                <a:solidFill>
                  <a:srgbClr val="0000FF"/>
                </a:solidFill>
                <a:latin typeface="微軟正黑體" panose="020B0604030504040204" pitchFamily="34" charset="-120"/>
                <a:ea typeface="微軟正黑體" panose="020B0604030504040204" pitchFamily="34" charset="-120"/>
                <a:sym typeface="Wingdings" panose="05000000000000000000" pitchFamily="2" charset="2"/>
              </a:rPr>
              <a:t>Data Fusion</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 ：撈取</a:t>
            </a:r>
            <a:r>
              <a:rPr lang="en-US" altLang="zh-TW" sz="1000" dirty="0">
                <a:latin typeface="微軟正黑體" panose="020B0604030504040204" pitchFamily="34" charset="-120"/>
                <a:ea typeface="微軟正黑體" panose="020B0604030504040204" pitchFamily="34" charset="-120"/>
                <a:sym typeface="Wingdings" panose="05000000000000000000" pitchFamily="2" charset="2"/>
              </a:rPr>
              <a:t>CIM</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資料庫</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資料</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a:p>
            <a:pPr>
              <a:lnSpc>
                <a:spcPct val="150000"/>
              </a:lnSpc>
              <a:buClr>
                <a:schemeClr val="tx1"/>
              </a:buClr>
            </a:pPr>
            <a:r>
              <a:rPr lang="zh-TW" altLang="en-US" sz="1000" dirty="0" smtClean="0">
                <a:solidFill>
                  <a:srgbClr val="0000FF"/>
                </a:solidFill>
                <a:latin typeface="微軟正黑體" panose="020B0604030504040204" pitchFamily="34" charset="-120"/>
                <a:ea typeface="微軟正黑體" panose="020B0604030504040204" pitchFamily="34" charset="-120"/>
              </a:rPr>
              <a:t>資料庫建置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：建置</a:t>
            </a:r>
            <a:r>
              <a:rPr lang="zh-TW" altLang="en-US" sz="1000" dirty="0" smtClean="0">
                <a:latin typeface="微軟正黑體" panose="020B0604030504040204" pitchFamily="34" charset="-120"/>
                <a:ea typeface="微軟正黑體" panose="020B0604030504040204" pitchFamily="34" charset="-120"/>
              </a:rPr>
              <a:t>資料庫儲存每日相關資</a:t>
            </a:r>
            <a:r>
              <a:rPr lang="zh-TW" altLang="en-US" sz="1000" dirty="0">
                <a:latin typeface="微軟正黑體" panose="020B0604030504040204" pitchFamily="34" charset="-120"/>
                <a:ea typeface="微軟正黑體" panose="020B0604030504040204" pitchFamily="34" charset="-120"/>
              </a:rPr>
              <a:t>料</a:t>
            </a:r>
            <a:r>
              <a:rPr lang="zh-TW" altLang="en-US" sz="1000" dirty="0" smtClean="0">
                <a:latin typeface="微軟正黑體" panose="020B0604030504040204" pitchFamily="34" charset="-120"/>
                <a:ea typeface="微軟正黑體" panose="020B0604030504040204" pitchFamily="34" charset="-120"/>
              </a:rPr>
              <a:t>供歷史回查</a:t>
            </a:r>
            <a:endParaRPr lang="en-US" altLang="zh-TW" sz="1000" dirty="0" smtClean="0">
              <a:latin typeface="微軟正黑體" panose="020B0604030504040204" pitchFamily="34" charset="-120"/>
              <a:ea typeface="微軟正黑體" panose="020B0604030504040204" pitchFamily="34" charset="-120"/>
            </a:endParaRPr>
          </a:p>
          <a:p>
            <a:pPr>
              <a:lnSpc>
                <a:spcPct val="150000"/>
              </a:lnSpc>
              <a:buClr>
                <a:schemeClr val="tx1"/>
              </a:buClr>
            </a:pPr>
            <a:r>
              <a:rPr lang="zh-TW" altLang="en-US" sz="1000" dirty="0">
                <a:solidFill>
                  <a:srgbClr val="0000FF"/>
                </a:solidFill>
                <a:latin typeface="微軟正黑體" panose="020B0604030504040204" pitchFamily="34" charset="-120"/>
                <a:ea typeface="微軟正黑體" panose="020B0604030504040204" pitchFamily="34" charset="-120"/>
              </a:rPr>
              <a:t>網站</a:t>
            </a:r>
            <a:r>
              <a:rPr lang="zh-TW" altLang="en-US" sz="1000" dirty="0" smtClean="0">
                <a:solidFill>
                  <a:srgbClr val="0000FF"/>
                </a:solidFill>
                <a:latin typeface="微軟正黑體" panose="020B0604030504040204" pitchFamily="34" charset="-120"/>
                <a:ea typeface="微軟正黑體" panose="020B0604030504040204" pitchFamily="34" charset="-120"/>
              </a:rPr>
              <a:t>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 </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48" name="矩形 47"/>
          <p:cNvSpPr/>
          <p:nvPr/>
        </p:nvSpPr>
        <p:spPr>
          <a:xfrm>
            <a:off x="822508" y="4456024"/>
            <a:ext cx="3464777" cy="400110"/>
          </a:xfrm>
          <a:prstGeom prst="rect">
            <a:avLst/>
          </a:prstGeom>
        </p:spPr>
        <p:txBody>
          <a:bodyPr wrap="square">
            <a:spAutoFit/>
          </a:bodyPr>
          <a:lstStyle/>
          <a:p>
            <a:pPr marL="171450" indent="-171450">
              <a:buFont typeface="Arial" panose="020B0604020202020204" pitchFamily="34" charset="0"/>
              <a:buChar char="•"/>
            </a:pPr>
            <a:r>
              <a:rPr lang="en-US" altLang="zh-TW" sz="1000" dirty="0" smtClean="0">
                <a:latin typeface="微軟正黑體" panose="020B0604030504040204" pitchFamily="34" charset="-120"/>
                <a:ea typeface="微軟正黑體" panose="020B0604030504040204" pitchFamily="34" charset="-120"/>
              </a:rPr>
              <a:t>Fast API</a:t>
            </a:r>
            <a:r>
              <a:rPr lang="zh-TW" altLang="en-US" sz="1000" dirty="0" smtClean="0">
                <a:latin typeface="微軟正黑體" panose="020B0604030504040204" pitchFamily="34" charset="-120"/>
                <a:ea typeface="微軟正黑體" panose="020B0604030504040204" pitchFamily="34" charset="-120"/>
              </a:rPr>
              <a:t>建置後端框架串接資料庫及相關串流功能</a:t>
            </a:r>
          </a:p>
          <a:p>
            <a:pPr marL="171450" indent="-171450">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前端網頁設計及功能開發</a:t>
            </a:r>
            <a:endParaRPr lang="zh-TW" altLang="en-US" sz="1000" dirty="0">
              <a:latin typeface="微軟正黑體" panose="020B0604030504040204" pitchFamily="34" charset="-120"/>
              <a:ea typeface="微軟正黑體" panose="020B0604030504040204" pitchFamily="34" charset="-120"/>
            </a:endParaRPr>
          </a:p>
        </p:txBody>
      </p:sp>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51" name="矩形 50">
            <a:extLst>
              <a:ext uri="{FF2B5EF4-FFF2-40B4-BE49-F238E27FC236}">
                <a16:creationId xmlns:a16="http://schemas.microsoft.com/office/drawing/2014/main" xmlns="" id="{9BE08482-D953-47F4-81A8-BD823C2E476A}"/>
              </a:ext>
            </a:extLst>
          </p:cNvPr>
          <p:cNvSpPr/>
          <p:nvPr/>
        </p:nvSpPr>
        <p:spPr>
          <a:xfrm>
            <a:off x="233605" y="1048160"/>
            <a:ext cx="4220700" cy="106182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altLang="zh-TW" sz="1050" b="1" dirty="0" smtClean="0">
                <a:latin typeface="微軟正黑體" panose="020B0604030504040204" pitchFamily="34" charset="-120"/>
                <a:ea typeface="微軟正黑體" panose="020B0604030504040204" pitchFamily="34" charset="-120"/>
              </a:rPr>
              <a:t>EDA</a:t>
            </a:r>
            <a:r>
              <a:rPr lang="zh-TW" altLang="en-US" sz="1050" b="1" dirty="0" smtClean="0">
                <a:latin typeface="微軟正黑體" panose="020B0604030504040204" pitchFamily="34" charset="-120"/>
                <a:ea typeface="微軟正黑體" panose="020B0604030504040204" pitchFamily="34" charset="-120"/>
              </a:rPr>
              <a:t>介面串接雲端資料之更新時間比實際延遲約</a:t>
            </a:r>
            <a:r>
              <a:rPr lang="en-US" altLang="zh-TW" sz="1050" b="1" dirty="0" smtClean="0">
                <a:latin typeface="微軟正黑體" panose="020B0604030504040204" pitchFamily="34" charset="-120"/>
                <a:ea typeface="微軟正黑體" panose="020B0604030504040204" pitchFamily="34" charset="-120"/>
              </a:rPr>
              <a:t>6</a:t>
            </a:r>
            <a:r>
              <a:rPr lang="zh-TW" altLang="en-US" sz="1050" b="1" dirty="0" smtClean="0">
                <a:latin typeface="微軟正黑體" panose="020B0604030504040204" pitchFamily="34" charset="-120"/>
                <a:ea typeface="微軟正黑體" panose="020B0604030504040204" pitchFamily="34" charset="-120"/>
              </a:rPr>
              <a:t>小時</a:t>
            </a:r>
            <a:endParaRPr lang="en-US" altLang="zh-TW" sz="1050" b="1" dirty="0" smtClean="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050" b="1" dirty="0" smtClean="0">
                <a:latin typeface="微軟正黑體" panose="020B0604030504040204" pitchFamily="34" charset="-120"/>
                <a:ea typeface="微軟正黑體" panose="020B0604030504040204" pitchFamily="34" charset="-120"/>
              </a:rPr>
              <a:t>無法自主調整</a:t>
            </a:r>
            <a:r>
              <a:rPr lang="en-US" altLang="zh-TW" sz="1050" b="1" dirty="0" smtClean="0">
                <a:latin typeface="微軟正黑體" panose="020B0604030504040204" pitchFamily="34" charset="-120"/>
                <a:ea typeface="微軟正黑體" panose="020B0604030504040204" pitchFamily="34" charset="-120"/>
              </a:rPr>
              <a:t>SPEC</a:t>
            </a:r>
            <a:r>
              <a:rPr lang="zh-TW" altLang="en-US" sz="1050" b="1" dirty="0" smtClean="0">
                <a:latin typeface="微軟正黑體" panose="020B0604030504040204" pitchFamily="34" charset="-120"/>
                <a:ea typeface="微軟正黑體" panose="020B0604030504040204" pitchFamily="34" charset="-120"/>
              </a:rPr>
              <a:t> 及缺少</a:t>
            </a:r>
            <a:r>
              <a:rPr lang="en-US" altLang="zh-TW" sz="1050" b="1" dirty="0" smtClean="0">
                <a:latin typeface="微軟正黑體" panose="020B0604030504040204" pitchFamily="34" charset="-120"/>
                <a:ea typeface="微軟正黑體" panose="020B0604030504040204" pitchFamily="34" charset="-120"/>
              </a:rPr>
              <a:t>comment</a:t>
            </a:r>
            <a:r>
              <a:rPr lang="zh-TW" altLang="en-US" sz="1050" b="1" dirty="0" smtClean="0">
                <a:latin typeface="微軟正黑體" panose="020B0604030504040204" pitchFamily="34" charset="-120"/>
                <a:ea typeface="微軟正黑體" panose="020B0604030504040204" pitchFamily="34" charset="-120"/>
              </a:rPr>
              <a:t>功能</a:t>
            </a:r>
            <a:endParaRPr lang="en-US" altLang="zh-TW" sz="1050" b="1" dirty="0" smtClean="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050" b="1" dirty="0" smtClean="0">
                <a:latin typeface="微軟正黑體" panose="020B0604030504040204" pitchFamily="34" charset="-120"/>
                <a:ea typeface="微軟正黑體" panose="020B0604030504040204" pitchFamily="34" charset="-120"/>
              </a:rPr>
              <a:t>報表時間僅顯示來源資料能提供之階段時間無歷史回查</a:t>
            </a:r>
            <a:endParaRPr lang="en-US" altLang="zh-TW" sz="1050" b="1" dirty="0" smtClean="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050" b="1" dirty="0" smtClean="0">
                <a:latin typeface="微軟正黑體" panose="020B0604030504040204" pitchFamily="34" charset="-120"/>
                <a:ea typeface="微軟正黑體" panose="020B0604030504040204" pitchFamily="34" charset="-120"/>
              </a:rPr>
              <a:t>沒有辦法透過系統看到對應</a:t>
            </a:r>
            <a:r>
              <a:rPr lang="en-US" altLang="zh-TW" sz="1050" b="1" dirty="0" smtClean="0">
                <a:latin typeface="微軟正黑體" panose="020B0604030504040204" pitchFamily="34" charset="-120"/>
                <a:ea typeface="微軟正黑體" panose="020B0604030504040204" pitchFamily="34" charset="-120"/>
              </a:rPr>
              <a:t>Defect</a:t>
            </a:r>
            <a:r>
              <a:rPr lang="zh-TW" altLang="en-US" sz="1050" b="1" dirty="0" smtClean="0">
                <a:latin typeface="微軟正黑體" panose="020B0604030504040204" pitchFamily="34" charset="-120"/>
                <a:ea typeface="微軟正黑體" panose="020B0604030504040204" pitchFamily="34" charset="-120"/>
              </a:rPr>
              <a:t>影像</a:t>
            </a:r>
            <a:endParaRPr lang="en-US" altLang="zh-TW" sz="1050" b="1" dirty="0">
              <a:latin typeface="微軟正黑體" panose="020B0604030504040204" pitchFamily="34" charset="-120"/>
              <a:ea typeface="微軟正黑體" panose="020B0604030504040204" pitchFamily="34" charset="-120"/>
            </a:endParaRPr>
          </a:p>
        </p:txBody>
      </p:sp>
      <p:pic>
        <p:nvPicPr>
          <p:cNvPr id="78" name="圖片 77"/>
          <p:cNvPicPr>
            <a:picLocks noChangeAspect="1"/>
          </p:cNvPicPr>
          <p:nvPr/>
        </p:nvPicPr>
        <p:blipFill rotWithShape="1">
          <a:blip r:embed="rId3"/>
          <a:srcRect t="17505"/>
          <a:stretch/>
        </p:blipFill>
        <p:spPr>
          <a:xfrm>
            <a:off x="733725" y="2104002"/>
            <a:ext cx="2691112" cy="1354802"/>
          </a:xfrm>
          <a:prstGeom prst="rect">
            <a:avLst/>
          </a:prstGeom>
        </p:spPr>
      </p:pic>
      <p:pic>
        <p:nvPicPr>
          <p:cNvPr id="2" name="圖片 1"/>
          <p:cNvPicPr>
            <a:picLocks noChangeAspect="1"/>
          </p:cNvPicPr>
          <p:nvPr/>
        </p:nvPicPr>
        <p:blipFill>
          <a:blip r:embed="rId4"/>
          <a:stretch>
            <a:fillRect/>
          </a:stretch>
        </p:blipFill>
        <p:spPr>
          <a:xfrm>
            <a:off x="4710722" y="2050596"/>
            <a:ext cx="3689295" cy="1564026"/>
          </a:xfrm>
          <a:prstGeom prst="rect">
            <a:avLst/>
          </a:prstGeom>
        </p:spPr>
      </p:pic>
    </p:spTree>
    <p:extLst>
      <p:ext uri="{BB962C8B-B14F-4D97-AF65-F5344CB8AC3E}">
        <p14:creationId xmlns:p14="http://schemas.microsoft.com/office/powerpoint/2010/main" val="35721483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8" name="肘形接點 167"/>
          <p:cNvCxnSpPr/>
          <p:nvPr/>
        </p:nvCxnSpPr>
        <p:spPr>
          <a:xfrm rot="5400000">
            <a:off x="907516" y="2519642"/>
            <a:ext cx="648000" cy="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ctrTitle"/>
          </p:nvPr>
        </p:nvSpPr>
        <p:spPr>
          <a:xfrm>
            <a:off x="386220" y="0"/>
            <a:ext cx="8482972" cy="680785"/>
          </a:xfrm>
        </p:spPr>
        <p:txBody>
          <a:bodyPr/>
          <a:lstStyle/>
          <a:p>
            <a:r>
              <a:rPr lang="en-US" altLang="zh-TW" b="1" dirty="0" smtClean="0">
                <a:latin typeface="+mj-ea"/>
              </a:rPr>
              <a:t>ETL &amp; Data Fusion</a:t>
            </a:r>
            <a:endParaRPr lang="zh-TW" altLang="en-US" b="1" dirty="0">
              <a:latin typeface="+mj-ea"/>
            </a:endParaRPr>
          </a:p>
        </p:txBody>
      </p:sp>
      <p:grpSp>
        <p:nvGrpSpPr>
          <p:cNvPr id="16" name="群組 15"/>
          <p:cNvGrpSpPr/>
          <p:nvPr/>
        </p:nvGrpSpPr>
        <p:grpSpPr>
          <a:xfrm>
            <a:off x="1338110" y="758499"/>
            <a:ext cx="968430" cy="235191"/>
            <a:chOff x="812940" y="896259"/>
            <a:chExt cx="775648" cy="235191"/>
          </a:xfrm>
        </p:grpSpPr>
        <p:sp>
          <p:nvSpPr>
            <p:cNvPr id="13" name="流程圖: 資料 12"/>
            <p:cNvSpPr/>
            <p:nvPr/>
          </p:nvSpPr>
          <p:spPr>
            <a:xfrm>
              <a:off x="812940" y="896259"/>
              <a:ext cx="775648" cy="235191"/>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5" name="矩形 14"/>
            <p:cNvSpPr/>
            <p:nvPr/>
          </p:nvSpPr>
          <p:spPr>
            <a:xfrm>
              <a:off x="1040237" y="916006"/>
              <a:ext cx="321057" cy="215444"/>
            </a:xfrm>
            <a:prstGeom prst="rect">
              <a:avLst/>
            </a:prstGeom>
          </p:spPr>
          <p:txBody>
            <a:bodyPr wrap="none">
              <a:spAutoFit/>
            </a:bodyPr>
            <a:lstStyle/>
            <a:p>
              <a:pPr algn="ctr"/>
              <a:r>
                <a:rPr lang="en-US" altLang="zh-TW" sz="800" dirty="0" smtClean="0">
                  <a:solidFill>
                    <a:schemeClr val="bg1"/>
                  </a:solidFill>
                </a:rPr>
                <a:t>Data Integration</a:t>
              </a:r>
              <a:endParaRPr lang="zh-TW" altLang="en-US" sz="800" dirty="0">
                <a:solidFill>
                  <a:schemeClr val="bg1"/>
                </a:solidFill>
              </a:endParaRPr>
            </a:p>
          </p:txBody>
        </p:sp>
      </p:grpSp>
      <p:grpSp>
        <p:nvGrpSpPr>
          <p:cNvPr id="86" name="群組 85"/>
          <p:cNvGrpSpPr/>
          <p:nvPr/>
        </p:nvGrpSpPr>
        <p:grpSpPr>
          <a:xfrm>
            <a:off x="731252" y="1236380"/>
            <a:ext cx="1050289" cy="230832"/>
            <a:chOff x="705311" y="893145"/>
            <a:chExt cx="1175318" cy="261757"/>
          </a:xfrm>
        </p:grpSpPr>
        <p:sp>
          <p:nvSpPr>
            <p:cNvPr id="87" name="流程圖: 資料 82"/>
            <p:cNvSpPr/>
            <p:nvPr/>
          </p:nvSpPr>
          <p:spPr>
            <a:xfrm>
              <a:off x="720295" y="914423"/>
              <a:ext cx="1083318"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88" name="矩形 87"/>
            <p:cNvSpPr/>
            <p:nvPr/>
          </p:nvSpPr>
          <p:spPr>
            <a:xfrm>
              <a:off x="705311" y="893145"/>
              <a:ext cx="1175318" cy="261757"/>
            </a:xfrm>
            <a:prstGeom prst="rect">
              <a:avLst/>
            </a:prstGeom>
          </p:spPr>
          <p:txBody>
            <a:bodyPr wrap="none">
              <a:spAutoFit/>
            </a:bodyPr>
            <a:lstStyle/>
            <a:p>
              <a:pPr algn="ctr"/>
              <a:r>
                <a:rPr lang="en-US" altLang="zh-TW" sz="900" dirty="0" smtClean="0">
                  <a:solidFill>
                    <a:schemeClr val="bg1"/>
                  </a:solidFill>
                </a:rPr>
                <a:t>Clean require keys</a:t>
              </a:r>
              <a:endParaRPr lang="en-US" altLang="zh-TW" sz="900" dirty="0">
                <a:solidFill>
                  <a:schemeClr val="bg1"/>
                </a:solidFill>
              </a:endParaRPr>
            </a:p>
          </p:txBody>
        </p:sp>
      </p:grpSp>
      <p:grpSp>
        <p:nvGrpSpPr>
          <p:cNvPr id="90" name="群組 89"/>
          <p:cNvGrpSpPr/>
          <p:nvPr/>
        </p:nvGrpSpPr>
        <p:grpSpPr>
          <a:xfrm>
            <a:off x="1883875" y="1232654"/>
            <a:ext cx="968076" cy="230832"/>
            <a:chOff x="720295" y="893145"/>
            <a:chExt cx="1083318" cy="261757"/>
          </a:xfrm>
        </p:grpSpPr>
        <p:sp>
          <p:nvSpPr>
            <p:cNvPr id="91" name="流程圖: 資料 82"/>
            <p:cNvSpPr/>
            <p:nvPr/>
          </p:nvSpPr>
          <p:spPr>
            <a:xfrm>
              <a:off x="720295" y="914423"/>
              <a:ext cx="1083318"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92" name="矩形 91"/>
            <p:cNvSpPr/>
            <p:nvPr/>
          </p:nvSpPr>
          <p:spPr>
            <a:xfrm>
              <a:off x="802182" y="893145"/>
              <a:ext cx="981583" cy="261757"/>
            </a:xfrm>
            <a:prstGeom prst="rect">
              <a:avLst/>
            </a:prstGeom>
          </p:spPr>
          <p:txBody>
            <a:bodyPr wrap="none">
              <a:spAutoFit/>
            </a:bodyPr>
            <a:lstStyle/>
            <a:p>
              <a:pPr algn="ctr"/>
              <a:r>
                <a:rPr lang="en-US" altLang="zh-TW" sz="900" dirty="0" smtClean="0">
                  <a:solidFill>
                    <a:schemeClr val="bg1"/>
                  </a:solidFill>
                </a:rPr>
                <a:t>Drive time key</a:t>
              </a:r>
              <a:endParaRPr lang="en-US" altLang="zh-TW" sz="900" dirty="0">
                <a:solidFill>
                  <a:schemeClr val="bg1"/>
                </a:solidFill>
              </a:endParaRPr>
            </a:p>
          </p:txBody>
        </p:sp>
      </p:grpSp>
      <p:grpSp>
        <p:nvGrpSpPr>
          <p:cNvPr id="93" name="群組 92"/>
          <p:cNvGrpSpPr/>
          <p:nvPr/>
        </p:nvGrpSpPr>
        <p:grpSpPr>
          <a:xfrm>
            <a:off x="743035" y="1557933"/>
            <a:ext cx="976963" cy="233768"/>
            <a:chOff x="839940" y="867946"/>
            <a:chExt cx="859497" cy="265087"/>
          </a:xfrm>
        </p:grpSpPr>
        <p:sp>
          <p:nvSpPr>
            <p:cNvPr id="94"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96" name="矩形 95"/>
            <p:cNvSpPr/>
            <p:nvPr/>
          </p:nvSpPr>
          <p:spPr>
            <a:xfrm>
              <a:off x="916876" y="867946"/>
              <a:ext cx="701746" cy="261757"/>
            </a:xfrm>
            <a:prstGeom prst="rect">
              <a:avLst/>
            </a:prstGeom>
          </p:spPr>
          <p:txBody>
            <a:bodyPr wrap="none">
              <a:spAutoFit/>
            </a:bodyPr>
            <a:lstStyle/>
            <a:p>
              <a:pPr algn="ctr"/>
              <a:r>
                <a:rPr lang="en-US" altLang="zh-TW" sz="900" dirty="0" smtClean="0">
                  <a:solidFill>
                    <a:schemeClr val="bg1"/>
                  </a:solidFill>
                </a:rPr>
                <a:t>Grouping</a:t>
              </a:r>
              <a:endParaRPr lang="en-US" altLang="zh-TW" sz="900" dirty="0">
                <a:solidFill>
                  <a:schemeClr val="bg1"/>
                </a:solidFill>
              </a:endParaRPr>
            </a:p>
          </p:txBody>
        </p:sp>
      </p:grpSp>
      <p:grpSp>
        <p:nvGrpSpPr>
          <p:cNvPr id="104" name="群組 103"/>
          <p:cNvGrpSpPr/>
          <p:nvPr/>
        </p:nvGrpSpPr>
        <p:grpSpPr>
          <a:xfrm>
            <a:off x="1879134" y="1550486"/>
            <a:ext cx="976963" cy="233768"/>
            <a:chOff x="839940" y="867946"/>
            <a:chExt cx="859497" cy="265087"/>
          </a:xfrm>
        </p:grpSpPr>
        <p:sp>
          <p:nvSpPr>
            <p:cNvPr id="105"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07" name="矩形 106"/>
            <p:cNvSpPr/>
            <p:nvPr/>
          </p:nvSpPr>
          <p:spPr>
            <a:xfrm>
              <a:off x="931264" y="867946"/>
              <a:ext cx="672978" cy="261758"/>
            </a:xfrm>
            <a:prstGeom prst="rect">
              <a:avLst/>
            </a:prstGeom>
          </p:spPr>
          <p:txBody>
            <a:bodyPr wrap="none">
              <a:spAutoFit/>
            </a:bodyPr>
            <a:lstStyle/>
            <a:p>
              <a:pPr algn="ctr"/>
              <a:r>
                <a:rPr lang="en-US" altLang="zh-TW" sz="900" dirty="0" smtClean="0">
                  <a:solidFill>
                    <a:schemeClr val="bg1"/>
                  </a:solidFill>
                </a:rPr>
                <a:t>Size buckets</a:t>
              </a:r>
              <a:endParaRPr lang="en-US" altLang="zh-TW" sz="900" dirty="0">
                <a:solidFill>
                  <a:schemeClr val="bg1"/>
                </a:solidFill>
              </a:endParaRPr>
            </a:p>
          </p:txBody>
        </p:sp>
      </p:grpSp>
      <p:grpSp>
        <p:nvGrpSpPr>
          <p:cNvPr id="109" name="群組 108"/>
          <p:cNvGrpSpPr/>
          <p:nvPr/>
        </p:nvGrpSpPr>
        <p:grpSpPr>
          <a:xfrm>
            <a:off x="1815871" y="1869760"/>
            <a:ext cx="1088760" cy="233768"/>
            <a:chOff x="788829" y="867946"/>
            <a:chExt cx="957852" cy="265087"/>
          </a:xfrm>
        </p:grpSpPr>
        <p:sp>
          <p:nvSpPr>
            <p:cNvPr id="111"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12" name="矩形 111"/>
            <p:cNvSpPr/>
            <p:nvPr/>
          </p:nvSpPr>
          <p:spPr>
            <a:xfrm>
              <a:off x="788829" y="867946"/>
              <a:ext cx="957852" cy="261758"/>
            </a:xfrm>
            <a:prstGeom prst="rect">
              <a:avLst/>
            </a:prstGeom>
          </p:spPr>
          <p:txBody>
            <a:bodyPr wrap="none">
              <a:spAutoFit/>
            </a:bodyPr>
            <a:lstStyle/>
            <a:p>
              <a:pPr algn="ctr"/>
              <a:r>
                <a:rPr lang="en-US" altLang="zh-TW" sz="900" dirty="0" smtClean="0">
                  <a:solidFill>
                    <a:schemeClr val="bg1"/>
                  </a:solidFill>
                </a:rPr>
                <a:t>Aggregate glass ids</a:t>
              </a:r>
              <a:endParaRPr lang="en-US" altLang="zh-TW" sz="900" dirty="0">
                <a:solidFill>
                  <a:schemeClr val="bg1"/>
                </a:solidFill>
              </a:endParaRPr>
            </a:p>
          </p:txBody>
        </p:sp>
      </p:grpSp>
      <p:grpSp>
        <p:nvGrpSpPr>
          <p:cNvPr id="121" name="群組 120"/>
          <p:cNvGrpSpPr/>
          <p:nvPr/>
        </p:nvGrpSpPr>
        <p:grpSpPr>
          <a:xfrm>
            <a:off x="739421" y="2377279"/>
            <a:ext cx="1069525" cy="233768"/>
            <a:chOff x="797295" y="867946"/>
            <a:chExt cx="940929" cy="265087"/>
          </a:xfrm>
        </p:grpSpPr>
        <p:sp>
          <p:nvSpPr>
            <p:cNvPr id="122"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23" name="矩形 122"/>
            <p:cNvSpPr/>
            <p:nvPr/>
          </p:nvSpPr>
          <p:spPr>
            <a:xfrm>
              <a:off x="797295" y="867946"/>
              <a:ext cx="940929" cy="261758"/>
            </a:xfrm>
            <a:prstGeom prst="rect">
              <a:avLst/>
            </a:prstGeom>
          </p:spPr>
          <p:txBody>
            <a:bodyPr wrap="none">
              <a:spAutoFit/>
            </a:bodyPr>
            <a:lstStyle/>
            <a:p>
              <a:pPr algn="ctr"/>
              <a:r>
                <a:rPr lang="en-US" altLang="zh-TW" sz="900" dirty="0" smtClean="0">
                  <a:solidFill>
                    <a:schemeClr val="bg1"/>
                  </a:solidFill>
                </a:rPr>
                <a:t>Insert edit columns</a:t>
              </a:r>
              <a:endParaRPr lang="en-US" altLang="zh-TW" sz="900" dirty="0">
                <a:solidFill>
                  <a:schemeClr val="bg1"/>
                </a:solidFill>
              </a:endParaRPr>
            </a:p>
          </p:txBody>
        </p:sp>
      </p:grpSp>
      <p:sp>
        <p:nvSpPr>
          <p:cNvPr id="158" name="矩形 157"/>
          <p:cNvSpPr/>
          <p:nvPr/>
        </p:nvSpPr>
        <p:spPr>
          <a:xfrm>
            <a:off x="3090980" y="625403"/>
            <a:ext cx="3327936" cy="1169551"/>
          </a:xfrm>
          <a:prstGeom prst="rect">
            <a:avLst/>
          </a:prstGeom>
        </p:spPr>
        <p:txBody>
          <a:bodyPr wrap="square">
            <a:spAutoFit/>
          </a:bodyPr>
          <a:lstStyle/>
          <a:p>
            <a:pPr marL="228600" indent="-228600">
              <a:buFont typeface="Wingdings" panose="05000000000000000000" pitchFamily="2" charset="2"/>
              <a:buChar char="l"/>
            </a:pPr>
            <a:r>
              <a:rPr lang="en-US" altLang="zh-TW" sz="1000" b="1" dirty="0" smtClean="0"/>
              <a:t>CIM</a:t>
            </a:r>
            <a:r>
              <a:rPr lang="zh-TW" altLang="en-US" sz="1000" b="1" dirty="0" smtClean="0"/>
              <a:t>資料庫</a:t>
            </a:r>
            <a:endParaRPr lang="en-US" altLang="zh-TW" sz="1000" b="1" dirty="0" smtClean="0"/>
          </a:p>
          <a:p>
            <a:pPr marL="571500" lvl="1" indent="-228600">
              <a:buFont typeface="Wingdings" panose="05000000000000000000" pitchFamily="2" charset="2"/>
              <a:buAutoNum type="circleNumWdWhitePlain"/>
            </a:pPr>
            <a:r>
              <a:rPr lang="en-US" altLang="zh-TW" sz="1000" dirty="0" smtClean="0"/>
              <a:t>Fab run</a:t>
            </a:r>
            <a:r>
              <a:rPr lang="zh-TW" altLang="en-US" sz="1000" dirty="0" smtClean="0"/>
              <a:t>貨資訊</a:t>
            </a:r>
            <a:endParaRPr lang="en-US" altLang="zh-TW" sz="1000" dirty="0" smtClean="0"/>
          </a:p>
          <a:p>
            <a:pPr marL="914400" lvl="2" indent="-228600">
              <a:buFont typeface="Arial" panose="020B0604020202020204" pitchFamily="34" charset="0"/>
              <a:buChar char="•"/>
            </a:pPr>
            <a:r>
              <a:rPr lang="en-US" altLang="zh-TW" sz="1000" dirty="0"/>
              <a:t>Summary </a:t>
            </a:r>
            <a:r>
              <a:rPr lang="en-US" altLang="zh-TW" sz="1000" dirty="0" smtClean="0"/>
              <a:t>keys</a:t>
            </a:r>
            <a:endParaRPr lang="en-US" altLang="zh-TW" sz="1000" dirty="0"/>
          </a:p>
          <a:p>
            <a:pPr marL="914400" lvl="2" indent="-228600">
              <a:buFont typeface="Arial" panose="020B0604020202020204" pitchFamily="34" charset="0"/>
              <a:buChar char="•"/>
            </a:pPr>
            <a:r>
              <a:rPr lang="en-US" altLang="zh-TW" sz="1000" dirty="0"/>
              <a:t>Time </a:t>
            </a:r>
            <a:r>
              <a:rPr lang="en-US" altLang="zh-TW" sz="1000" dirty="0" smtClean="0"/>
              <a:t>key: pi_time</a:t>
            </a:r>
            <a:r>
              <a:rPr lang="en-US" altLang="zh-TW" sz="1000" dirty="0"/>
              <a:t>→  pi_hour </a:t>
            </a:r>
          </a:p>
          <a:p>
            <a:pPr marL="914400" lvl="2" indent="-228600">
              <a:buFont typeface="Wingdings" panose="05000000000000000000" pitchFamily="2" charset="2"/>
              <a:buAutoNum type="circleNumWdWhitePlain"/>
            </a:pPr>
            <a:endParaRPr lang="en-US" altLang="zh-TW" sz="1000" dirty="0" smtClean="0"/>
          </a:p>
          <a:p>
            <a:pPr marL="571500" lvl="1" indent="-228600">
              <a:buFont typeface="Wingdings" panose="05000000000000000000" pitchFamily="2" charset="2"/>
              <a:buAutoNum type="circleNumWdWhitePlain"/>
            </a:pPr>
            <a:r>
              <a:rPr lang="en-US" altLang="zh-TW" sz="1000" dirty="0"/>
              <a:t>AIDI</a:t>
            </a:r>
            <a:r>
              <a:rPr lang="zh-TW" altLang="en-US" sz="1000" dirty="0"/>
              <a:t>判片</a:t>
            </a:r>
            <a:r>
              <a:rPr lang="zh-TW" altLang="en-US" sz="1000" dirty="0" smtClean="0"/>
              <a:t>資訊</a:t>
            </a:r>
            <a:r>
              <a:rPr lang="en-US" altLang="zh-TW" sz="1000" dirty="0" smtClean="0"/>
              <a:t>: ai_code_1</a:t>
            </a:r>
          </a:p>
          <a:p>
            <a:pPr marL="571500" lvl="1" indent="-228600">
              <a:buFont typeface="Wingdings" panose="05000000000000000000" pitchFamily="2" charset="2"/>
              <a:buAutoNum type="circleNumWdWhitePlain"/>
            </a:pPr>
            <a:r>
              <a:rPr lang="en-US" altLang="zh-TW" sz="1000" dirty="0" smtClean="0"/>
              <a:t>Defect </a:t>
            </a:r>
            <a:r>
              <a:rPr lang="zh-TW" altLang="en-US" sz="1000" dirty="0" smtClean="0"/>
              <a:t>座標資訊</a:t>
            </a:r>
          </a:p>
        </p:txBody>
      </p:sp>
      <p:cxnSp>
        <p:nvCxnSpPr>
          <p:cNvPr id="159" name="肘形接點 158"/>
          <p:cNvCxnSpPr>
            <a:stCxn id="91" idx="2"/>
            <a:endCxn id="94" idx="1"/>
          </p:cNvCxnSpPr>
          <p:nvPr/>
        </p:nvCxnSpPr>
        <p:spPr>
          <a:xfrm rot="5400000">
            <a:off x="1441589" y="761206"/>
            <a:ext cx="227770" cy="1624878"/>
          </a:xfrm>
          <a:prstGeom prst="bentConnector4">
            <a:avLst>
              <a:gd name="adj1" fmla="val 27132"/>
              <a:gd name="adj2" fmla="val 10862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0" name="肘形接點 159"/>
          <p:cNvCxnSpPr/>
          <p:nvPr/>
        </p:nvCxnSpPr>
        <p:spPr>
          <a:xfrm rot="5400000">
            <a:off x="1446210" y="1091876"/>
            <a:ext cx="227770" cy="1624878"/>
          </a:xfrm>
          <a:prstGeom prst="bentConnector4">
            <a:avLst>
              <a:gd name="adj1" fmla="val 27132"/>
              <a:gd name="adj2" fmla="val 10862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1" name="肘形接點 160"/>
          <p:cNvCxnSpPr/>
          <p:nvPr/>
        </p:nvCxnSpPr>
        <p:spPr>
          <a:xfrm rot="10800000" flipH="1">
            <a:off x="1700056" y="1356709"/>
            <a:ext cx="154661" cy="1818"/>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肘形接點 161"/>
          <p:cNvCxnSpPr/>
          <p:nvPr/>
        </p:nvCxnSpPr>
        <p:spPr>
          <a:xfrm rot="10800000" flipH="1">
            <a:off x="1719306" y="1663398"/>
            <a:ext cx="154661" cy="1818"/>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肘形接點 162"/>
          <p:cNvCxnSpPr/>
          <p:nvPr/>
        </p:nvCxnSpPr>
        <p:spPr>
          <a:xfrm rot="10800000" flipH="1">
            <a:off x="1720110" y="1995736"/>
            <a:ext cx="154661" cy="1818"/>
          </a:xfrm>
          <a:prstGeom prst="bentConnector3">
            <a:avLst>
              <a:gd name="adj1" fmla="val 50000"/>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4" name="圓角矩形 163"/>
          <p:cNvSpPr/>
          <p:nvPr/>
        </p:nvSpPr>
        <p:spPr>
          <a:xfrm>
            <a:off x="670955" y="1164703"/>
            <a:ext cx="2233675" cy="1030939"/>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肘形接點 28"/>
          <p:cNvCxnSpPr/>
          <p:nvPr/>
        </p:nvCxnSpPr>
        <p:spPr>
          <a:xfrm rot="5400000">
            <a:off x="1726617" y="1069819"/>
            <a:ext cx="178507" cy="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nvGrpSpPr>
          <p:cNvPr id="216" name="群組 215"/>
          <p:cNvGrpSpPr/>
          <p:nvPr/>
        </p:nvGrpSpPr>
        <p:grpSpPr>
          <a:xfrm>
            <a:off x="742757" y="1883717"/>
            <a:ext cx="976963" cy="233768"/>
            <a:chOff x="839940" y="867946"/>
            <a:chExt cx="859497" cy="265087"/>
          </a:xfrm>
        </p:grpSpPr>
        <p:sp>
          <p:nvSpPr>
            <p:cNvPr id="221"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32" name="矩形 231"/>
            <p:cNvSpPr/>
            <p:nvPr/>
          </p:nvSpPr>
          <p:spPr>
            <a:xfrm>
              <a:off x="862159" y="867946"/>
              <a:ext cx="811185" cy="261758"/>
            </a:xfrm>
            <a:prstGeom prst="rect">
              <a:avLst/>
            </a:prstGeom>
          </p:spPr>
          <p:txBody>
            <a:bodyPr wrap="none">
              <a:spAutoFit/>
            </a:bodyPr>
            <a:lstStyle/>
            <a:p>
              <a:pPr algn="ctr"/>
              <a:r>
                <a:rPr lang="en-US" altLang="zh-TW" sz="900" dirty="0" smtClean="0">
                  <a:solidFill>
                    <a:schemeClr val="bg1"/>
                  </a:solidFill>
                </a:rPr>
                <a:t>Compute count </a:t>
              </a:r>
              <a:endParaRPr lang="en-US" altLang="zh-TW" sz="900" dirty="0">
                <a:solidFill>
                  <a:schemeClr val="bg1"/>
                </a:solidFill>
              </a:endParaRPr>
            </a:p>
          </p:txBody>
        </p:sp>
      </p:grpSp>
      <p:grpSp>
        <p:nvGrpSpPr>
          <p:cNvPr id="235" name="群組 234"/>
          <p:cNvGrpSpPr/>
          <p:nvPr/>
        </p:nvGrpSpPr>
        <p:grpSpPr>
          <a:xfrm>
            <a:off x="3617363" y="1816109"/>
            <a:ext cx="2336302" cy="2930303"/>
            <a:chOff x="6045163" y="240657"/>
            <a:chExt cx="2598906" cy="3062773"/>
          </a:xfrm>
        </p:grpSpPr>
        <p:grpSp>
          <p:nvGrpSpPr>
            <p:cNvPr id="236" name="群組 235"/>
            <p:cNvGrpSpPr/>
            <p:nvPr/>
          </p:nvGrpSpPr>
          <p:grpSpPr>
            <a:xfrm>
              <a:off x="6045164" y="240657"/>
              <a:ext cx="2501219" cy="3062773"/>
              <a:chOff x="356597" y="1949416"/>
              <a:chExt cx="2182188" cy="2722421"/>
            </a:xfrm>
          </p:grpSpPr>
          <p:pic>
            <p:nvPicPr>
              <p:cNvPr id="243" name="圖片 242"/>
              <p:cNvPicPr>
                <a:picLocks noChangeAspect="1"/>
              </p:cNvPicPr>
              <p:nvPr/>
            </p:nvPicPr>
            <p:blipFill rotWithShape="1">
              <a:blip r:embed="rId3"/>
              <a:srcRect t="3118"/>
              <a:stretch/>
            </p:blipFill>
            <p:spPr>
              <a:xfrm>
                <a:off x="356598" y="1950992"/>
                <a:ext cx="2180544" cy="2720845"/>
              </a:xfrm>
              <a:prstGeom prst="rect">
                <a:avLst/>
              </a:prstGeom>
            </p:spPr>
          </p:pic>
          <p:sp>
            <p:nvSpPr>
              <p:cNvPr id="244" name="矩形 243"/>
              <p:cNvSpPr/>
              <p:nvPr/>
            </p:nvSpPr>
            <p:spPr>
              <a:xfrm>
                <a:off x="358241" y="2511163"/>
                <a:ext cx="2180544" cy="784779"/>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45" name="矩形 244"/>
              <p:cNvSpPr/>
              <p:nvPr/>
            </p:nvSpPr>
            <p:spPr>
              <a:xfrm>
                <a:off x="356598" y="3450671"/>
                <a:ext cx="2180544" cy="429179"/>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46" name="矩形 245"/>
              <p:cNvSpPr/>
              <p:nvPr/>
            </p:nvSpPr>
            <p:spPr>
              <a:xfrm>
                <a:off x="356598" y="3949425"/>
                <a:ext cx="2180544" cy="146326"/>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47" name="矩形 246"/>
              <p:cNvSpPr/>
              <p:nvPr/>
            </p:nvSpPr>
            <p:spPr>
              <a:xfrm>
                <a:off x="356598" y="4164305"/>
                <a:ext cx="2180544" cy="74320"/>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49" name="矩形 248"/>
              <p:cNvSpPr/>
              <p:nvPr/>
            </p:nvSpPr>
            <p:spPr>
              <a:xfrm>
                <a:off x="356598" y="4307179"/>
                <a:ext cx="2180544" cy="361775"/>
              </a:xfrm>
              <a:prstGeom prst="rect">
                <a:avLst/>
              </a:prstGeom>
              <a:solidFill>
                <a:schemeClr val="bg2">
                  <a:lumMod val="65000"/>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50" name="矩形 249"/>
              <p:cNvSpPr/>
              <p:nvPr/>
            </p:nvSpPr>
            <p:spPr>
              <a:xfrm>
                <a:off x="356598" y="1949416"/>
                <a:ext cx="2180544" cy="365688"/>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51" name="矩形 250"/>
              <p:cNvSpPr/>
              <p:nvPr/>
            </p:nvSpPr>
            <p:spPr>
              <a:xfrm>
                <a:off x="356597" y="2309937"/>
                <a:ext cx="2180544" cy="201226"/>
              </a:xfrm>
              <a:prstGeom prst="rect">
                <a:avLst/>
              </a:prstGeom>
              <a:solidFill>
                <a:schemeClr val="accent2">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57" name="矩形 256"/>
              <p:cNvSpPr/>
              <p:nvPr/>
            </p:nvSpPr>
            <p:spPr>
              <a:xfrm>
                <a:off x="356597" y="3375679"/>
                <a:ext cx="2180544" cy="80409"/>
              </a:xfrm>
              <a:prstGeom prst="rect">
                <a:avLst/>
              </a:prstGeom>
              <a:solidFill>
                <a:schemeClr val="accent4">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58" name="矩形 257"/>
              <p:cNvSpPr/>
              <p:nvPr/>
            </p:nvSpPr>
            <p:spPr>
              <a:xfrm>
                <a:off x="356597" y="3299308"/>
                <a:ext cx="2180544" cy="81788"/>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59" name="矩形 258"/>
              <p:cNvSpPr/>
              <p:nvPr/>
            </p:nvSpPr>
            <p:spPr>
              <a:xfrm>
                <a:off x="356597" y="3873923"/>
                <a:ext cx="2180544" cy="80409"/>
              </a:xfrm>
              <a:prstGeom prst="rect">
                <a:avLst/>
              </a:prstGeom>
              <a:solidFill>
                <a:schemeClr val="accent2">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237" name="文字方塊 236"/>
            <p:cNvSpPr txBox="1"/>
            <p:nvPr/>
          </p:nvSpPr>
          <p:spPr>
            <a:xfrm>
              <a:off x="7691492" y="403970"/>
              <a:ext cx="952577" cy="225184"/>
            </a:xfrm>
            <a:prstGeom prst="rect">
              <a:avLst/>
            </a:prstGeom>
            <a:noFill/>
          </p:spPr>
          <p:txBody>
            <a:bodyPr wrap="none" rtlCol="0">
              <a:spAutoFit/>
            </a:bodyPr>
            <a:lstStyle/>
            <a:p>
              <a:r>
                <a:rPr lang="en-US" altLang="zh-TW" sz="800" dirty="0">
                  <a:solidFill>
                    <a:schemeClr val="bg1"/>
                  </a:solidFill>
                  <a:latin typeface="微軟正黑體" panose="020B0604030504040204" pitchFamily="34" charset="-120"/>
                  <a:ea typeface="微軟正黑體" panose="020B0604030504040204" pitchFamily="34" charset="-120"/>
                </a:rPr>
                <a:t>Fab run</a:t>
              </a:r>
              <a:r>
                <a:rPr lang="zh-TW" altLang="en-US" sz="800" dirty="0">
                  <a:solidFill>
                    <a:schemeClr val="bg1"/>
                  </a:solidFill>
                  <a:latin typeface="微軟正黑體" panose="020B0604030504040204" pitchFamily="34" charset="-120"/>
                  <a:ea typeface="微軟正黑體" panose="020B0604030504040204" pitchFamily="34" charset="-120"/>
                </a:rPr>
                <a:t>貨資訊</a:t>
              </a:r>
            </a:p>
          </p:txBody>
        </p:sp>
        <p:sp>
          <p:nvSpPr>
            <p:cNvPr id="238" name="文字方塊 237"/>
            <p:cNvSpPr txBox="1"/>
            <p:nvPr/>
          </p:nvSpPr>
          <p:spPr>
            <a:xfrm>
              <a:off x="7633672" y="676041"/>
              <a:ext cx="909223" cy="215444"/>
            </a:xfrm>
            <a:prstGeom prst="rect">
              <a:avLst/>
            </a:prstGeom>
            <a:noFill/>
          </p:spPr>
          <p:txBody>
            <a:bodyPr wrap="none" rtlCol="0">
              <a:spAutoFit/>
            </a:bodyPr>
            <a:lstStyle/>
            <a:p>
              <a:r>
                <a:rPr lang="zh-TW" altLang="en-US" sz="800" dirty="0" smtClean="0">
                  <a:solidFill>
                    <a:schemeClr val="bg1"/>
                  </a:solidFill>
                  <a:latin typeface="微軟正黑體" panose="020B0604030504040204" pitchFamily="34" charset="-120"/>
                  <a:ea typeface="微軟正黑體" panose="020B0604030504040204" pitchFamily="34" charset="-120"/>
                </a:rPr>
                <a:t>單點</a:t>
              </a:r>
              <a:r>
                <a:rPr lang="en-US" altLang="zh-TW" sz="800" dirty="0" smtClean="0">
                  <a:solidFill>
                    <a:schemeClr val="bg1"/>
                  </a:solidFill>
                  <a:latin typeface="微軟正黑體" panose="020B0604030504040204" pitchFamily="34" charset="-120"/>
                  <a:ea typeface="微軟正黑體" panose="020B0604030504040204" pitchFamily="34" charset="-120"/>
                </a:rPr>
                <a:t>Defect</a:t>
              </a:r>
              <a:r>
                <a:rPr lang="zh-TW" altLang="en-US" sz="800" dirty="0" smtClean="0">
                  <a:solidFill>
                    <a:schemeClr val="bg1"/>
                  </a:solidFill>
                  <a:latin typeface="微軟正黑體" panose="020B0604030504040204" pitchFamily="34" charset="-120"/>
                  <a:ea typeface="微軟正黑體" panose="020B0604030504040204" pitchFamily="34" charset="-120"/>
                </a:rPr>
                <a:t>資訊</a:t>
              </a:r>
              <a:endParaRPr lang="en-US" altLang="zh-TW" sz="800" dirty="0" smtClean="0">
                <a:solidFill>
                  <a:schemeClr val="bg1"/>
                </a:solidFill>
                <a:latin typeface="微軟正黑體" panose="020B0604030504040204" pitchFamily="34" charset="-120"/>
                <a:ea typeface="微軟正黑體" panose="020B0604030504040204" pitchFamily="34" charset="-120"/>
              </a:endParaRPr>
            </a:p>
          </p:txBody>
        </p:sp>
        <p:sp>
          <p:nvSpPr>
            <p:cNvPr id="239" name="文字方塊 238"/>
            <p:cNvSpPr txBox="1"/>
            <p:nvPr/>
          </p:nvSpPr>
          <p:spPr>
            <a:xfrm>
              <a:off x="7930148" y="1512667"/>
              <a:ext cx="622286" cy="215444"/>
            </a:xfrm>
            <a:prstGeom prst="rect">
              <a:avLst/>
            </a:prstGeom>
            <a:noFill/>
          </p:spPr>
          <p:txBody>
            <a:bodyPr wrap="none" rtlCol="0">
              <a:spAutoFit/>
            </a:bodyPr>
            <a:lstStyle/>
            <a:p>
              <a:r>
                <a:rPr lang="en-US" altLang="zh-TW" sz="800" dirty="0" smtClean="0">
                  <a:solidFill>
                    <a:schemeClr val="bg1"/>
                  </a:solidFill>
                  <a:latin typeface="微軟正黑體" panose="020B0604030504040204" pitchFamily="34" charset="-120"/>
                  <a:ea typeface="微軟正黑體" panose="020B0604030504040204" pitchFamily="34" charset="-120"/>
                </a:rPr>
                <a:t>drop</a:t>
              </a:r>
              <a:r>
                <a:rPr lang="zh-TW" altLang="en-US" sz="800" dirty="0" smtClean="0">
                  <a:solidFill>
                    <a:schemeClr val="bg1"/>
                  </a:solidFill>
                  <a:latin typeface="微軟正黑體" panose="020B0604030504040204" pitchFamily="34" charset="-120"/>
                  <a:ea typeface="微軟正黑體" panose="020B0604030504040204" pitchFamily="34" charset="-120"/>
                </a:rPr>
                <a:t>資訊</a:t>
              </a:r>
              <a:endParaRPr lang="en-US" altLang="zh-TW" sz="800" dirty="0" smtClean="0">
                <a:solidFill>
                  <a:schemeClr val="bg1"/>
                </a:solidFill>
                <a:latin typeface="微軟正黑體" panose="020B0604030504040204" pitchFamily="34" charset="-120"/>
                <a:ea typeface="微軟正黑體" panose="020B0604030504040204" pitchFamily="34" charset="-120"/>
              </a:endParaRPr>
            </a:p>
          </p:txBody>
        </p:sp>
        <p:sp>
          <p:nvSpPr>
            <p:cNvPr id="240" name="矩形 239"/>
            <p:cNvSpPr/>
            <p:nvPr/>
          </p:nvSpPr>
          <p:spPr>
            <a:xfrm>
              <a:off x="6045163" y="2802583"/>
              <a:ext cx="2499335" cy="92013"/>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41" name="文字方塊 240"/>
            <p:cNvSpPr txBox="1"/>
            <p:nvPr/>
          </p:nvSpPr>
          <p:spPr>
            <a:xfrm>
              <a:off x="7942670" y="1805236"/>
              <a:ext cx="595035" cy="215444"/>
            </a:xfrm>
            <a:prstGeom prst="rect">
              <a:avLst/>
            </a:prstGeom>
            <a:noFill/>
          </p:spPr>
          <p:txBody>
            <a:bodyPr wrap="none" rtlCol="0">
              <a:spAutoFit/>
            </a:bodyPr>
            <a:lstStyle/>
            <a:p>
              <a:r>
                <a:rPr lang="zh-TW" altLang="en-US" sz="800" dirty="0" smtClean="0">
                  <a:solidFill>
                    <a:schemeClr val="bg1"/>
                  </a:solidFill>
                  <a:latin typeface="微軟正黑體" panose="020B0604030504040204" pitchFamily="34" charset="-120"/>
                  <a:ea typeface="微軟正黑體" panose="020B0604030504040204" pitchFamily="34" charset="-120"/>
                </a:rPr>
                <a:t>二次處理</a:t>
              </a:r>
              <a:endParaRPr lang="en-US" altLang="zh-TW" sz="800" dirty="0" smtClean="0">
                <a:solidFill>
                  <a:schemeClr val="bg1"/>
                </a:solidFill>
                <a:latin typeface="微軟正黑體" panose="020B0604030504040204" pitchFamily="34" charset="-120"/>
                <a:ea typeface="微軟正黑體" panose="020B0604030504040204" pitchFamily="34" charset="-120"/>
              </a:endParaRPr>
            </a:p>
          </p:txBody>
        </p:sp>
        <p:sp>
          <p:nvSpPr>
            <p:cNvPr id="242" name="矩形 241"/>
            <p:cNvSpPr/>
            <p:nvPr/>
          </p:nvSpPr>
          <p:spPr>
            <a:xfrm>
              <a:off x="6051958" y="2653365"/>
              <a:ext cx="2499335" cy="90462"/>
            </a:xfrm>
            <a:prstGeom prst="rect">
              <a:avLst/>
            </a:prstGeom>
            <a:solidFill>
              <a:schemeClr val="accent4">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nvGrpSpPr>
          <p:cNvPr id="262" name="群組 261"/>
          <p:cNvGrpSpPr/>
          <p:nvPr/>
        </p:nvGrpSpPr>
        <p:grpSpPr>
          <a:xfrm>
            <a:off x="6271191" y="1171969"/>
            <a:ext cx="2259571" cy="1138400"/>
            <a:chOff x="3663281" y="2550083"/>
            <a:chExt cx="2259571" cy="1138400"/>
          </a:xfrm>
        </p:grpSpPr>
        <p:pic>
          <p:nvPicPr>
            <p:cNvPr id="263" name="圖片 262"/>
            <p:cNvPicPr>
              <a:picLocks noChangeAspect="1"/>
            </p:cNvPicPr>
            <p:nvPr/>
          </p:nvPicPr>
          <p:blipFill rotWithShape="1">
            <a:blip r:embed="rId4"/>
            <a:srcRect r="19617"/>
            <a:stretch/>
          </p:blipFill>
          <p:spPr>
            <a:xfrm>
              <a:off x="3663281" y="2550083"/>
              <a:ext cx="2252777" cy="1138400"/>
            </a:xfrm>
            <a:prstGeom prst="rect">
              <a:avLst/>
            </a:prstGeom>
          </p:spPr>
        </p:pic>
        <p:sp>
          <p:nvSpPr>
            <p:cNvPr id="264" name="矩形 263"/>
            <p:cNvSpPr/>
            <p:nvPr/>
          </p:nvSpPr>
          <p:spPr>
            <a:xfrm>
              <a:off x="3679147" y="2550083"/>
              <a:ext cx="2224385" cy="599781"/>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65" name="矩形 264"/>
            <p:cNvSpPr/>
            <p:nvPr/>
          </p:nvSpPr>
          <p:spPr>
            <a:xfrm>
              <a:off x="3685941" y="3153049"/>
              <a:ext cx="2217592" cy="435226"/>
            </a:xfrm>
            <a:prstGeom prst="rect">
              <a:avLst/>
            </a:prstGeom>
            <a:solidFill>
              <a:schemeClr val="accent4">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66" name="矩形 265"/>
            <p:cNvSpPr/>
            <p:nvPr/>
          </p:nvSpPr>
          <p:spPr>
            <a:xfrm>
              <a:off x="3692733" y="3583210"/>
              <a:ext cx="2230119" cy="102149"/>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267" name="矩形 266"/>
          <p:cNvSpPr/>
          <p:nvPr/>
        </p:nvSpPr>
        <p:spPr>
          <a:xfrm>
            <a:off x="6134062" y="2380240"/>
            <a:ext cx="2821606" cy="769441"/>
          </a:xfrm>
          <a:prstGeom prst="rect">
            <a:avLst/>
          </a:prstGeom>
        </p:spPr>
        <p:txBody>
          <a:bodyPr wrap="none">
            <a:spAutoFit/>
          </a:bodyPr>
          <a:lstStyle/>
          <a:p>
            <a:pPr marL="171450" indent="-171450">
              <a:buFont typeface="Wingdings" panose="05000000000000000000" pitchFamily="2" charset="2"/>
              <a:buChar char="l"/>
            </a:pPr>
            <a:r>
              <a:rPr lang="en-US" altLang="zh-TW" sz="1100" dirty="0" smtClean="0"/>
              <a:t>Raw Table</a:t>
            </a:r>
          </a:p>
          <a:p>
            <a:pPr marL="171450" indent="-171450">
              <a:buFont typeface="Arial" panose="020B0604020202020204" pitchFamily="34" charset="0"/>
              <a:buChar char="•"/>
            </a:pPr>
            <a:r>
              <a:rPr lang="en-US" altLang="zh-TW" sz="1100" dirty="0" smtClean="0"/>
              <a:t>[</a:t>
            </a:r>
            <a:r>
              <a:rPr lang="en-US" altLang="zh-TW" sz="1100" dirty="0"/>
              <a:t>AOI100|AOI200|AOI300</a:t>
            </a:r>
            <a:r>
              <a:rPr lang="en-US" altLang="zh-TW" sz="1100" dirty="0" smtClean="0"/>
              <a:t>]+’_</a:t>
            </a:r>
            <a:r>
              <a:rPr lang="en-US" altLang="zh-TW" sz="1100" dirty="0"/>
              <a:t>Raw data</a:t>
            </a:r>
            <a:r>
              <a:rPr lang="en-US" altLang="zh-TW" sz="1100" dirty="0" smtClean="0"/>
              <a:t>_’+</a:t>
            </a:r>
          </a:p>
          <a:p>
            <a:r>
              <a:rPr lang="en-US" altLang="zh-TW" sz="1100" dirty="0" smtClean="0"/>
              <a:t>     [</a:t>
            </a:r>
            <a:r>
              <a:rPr lang="en-US" altLang="zh-TW" sz="1100" dirty="0"/>
              <a:t>YYYYMM</a:t>
            </a:r>
            <a:r>
              <a:rPr lang="en-US" altLang="zh-TW" sz="1100" dirty="0" smtClean="0"/>
              <a:t>]+’_’+ [PIX00…]</a:t>
            </a:r>
          </a:p>
          <a:p>
            <a:pPr marL="171450" indent="-171450">
              <a:buFont typeface="Arial" panose="020B0604020202020204" pitchFamily="34" charset="0"/>
              <a:buChar char="•"/>
            </a:pPr>
            <a:r>
              <a:rPr lang="en-US" altLang="zh-TW" sz="1100" dirty="0" smtClean="0"/>
              <a:t>API Router: </a:t>
            </a:r>
            <a:r>
              <a:rPr lang="en-US" altLang="zh-TW" sz="1100" dirty="0"/>
              <a:t>Defect map </a:t>
            </a:r>
            <a:endParaRPr lang="zh-TW" altLang="en-US" sz="1100" dirty="0"/>
          </a:p>
        </p:txBody>
      </p:sp>
      <p:sp>
        <p:nvSpPr>
          <p:cNvPr id="268" name="矩形 267"/>
          <p:cNvSpPr/>
          <p:nvPr/>
        </p:nvSpPr>
        <p:spPr>
          <a:xfrm>
            <a:off x="5956611" y="565118"/>
            <a:ext cx="3021981" cy="769441"/>
          </a:xfrm>
          <a:prstGeom prst="rect">
            <a:avLst/>
          </a:prstGeom>
        </p:spPr>
        <p:txBody>
          <a:bodyPr wrap="none">
            <a:spAutoFit/>
          </a:bodyPr>
          <a:lstStyle/>
          <a:p>
            <a:pPr marL="171450" indent="-171450">
              <a:buFont typeface="Wingdings" panose="05000000000000000000" pitchFamily="2" charset="2"/>
              <a:buChar char="l"/>
            </a:pPr>
            <a:r>
              <a:rPr lang="en-US" altLang="zh-TW" sz="1100" dirty="0" smtClean="0"/>
              <a:t>SUMMARY Table</a:t>
            </a:r>
          </a:p>
          <a:p>
            <a:pPr marL="171450" indent="-171450">
              <a:buFont typeface="Arial" panose="020B0604020202020204" pitchFamily="34" charset="0"/>
              <a:buChar char="•"/>
            </a:pPr>
            <a:r>
              <a:rPr lang="en-US" altLang="zh-TW" sz="1100" dirty="0" smtClean="0"/>
              <a:t>AOI_SUMMARY</a:t>
            </a:r>
            <a:r>
              <a:rPr lang="en-US" altLang="zh-TW" sz="1100" dirty="0"/>
              <a:t>_[AOI100|AOI200|AOI300</a:t>
            </a:r>
            <a:r>
              <a:rPr lang="en-US" altLang="zh-TW" sz="1100" dirty="0" smtClean="0"/>
              <a:t>]</a:t>
            </a:r>
          </a:p>
          <a:p>
            <a:pPr marL="171450" indent="-171450">
              <a:buFont typeface="Arial" panose="020B0604020202020204" pitchFamily="34" charset="0"/>
              <a:buChar char="•"/>
            </a:pPr>
            <a:r>
              <a:rPr lang="en-US" altLang="zh-TW" sz="1100" dirty="0"/>
              <a:t>API </a:t>
            </a:r>
            <a:r>
              <a:rPr lang="en-US" altLang="zh-TW" sz="1100" dirty="0" smtClean="0"/>
              <a:t>Router: run_info </a:t>
            </a:r>
          </a:p>
          <a:p>
            <a:pPr marL="171450" indent="-171450">
              <a:buFont typeface="Arial" panose="020B0604020202020204" pitchFamily="34" charset="0"/>
              <a:buChar char="•"/>
            </a:pPr>
            <a:endParaRPr lang="en-US" altLang="zh-TW" sz="1100" dirty="0"/>
          </a:p>
        </p:txBody>
      </p:sp>
      <p:grpSp>
        <p:nvGrpSpPr>
          <p:cNvPr id="269" name="群組 268"/>
          <p:cNvGrpSpPr/>
          <p:nvPr/>
        </p:nvGrpSpPr>
        <p:grpSpPr>
          <a:xfrm>
            <a:off x="6300643" y="3141385"/>
            <a:ext cx="2252777" cy="979813"/>
            <a:chOff x="6922658" y="3662371"/>
            <a:chExt cx="2252777" cy="979813"/>
          </a:xfrm>
        </p:grpSpPr>
        <p:pic>
          <p:nvPicPr>
            <p:cNvPr id="270" name="圖片 269"/>
            <p:cNvPicPr>
              <a:picLocks noChangeAspect="1"/>
            </p:cNvPicPr>
            <p:nvPr/>
          </p:nvPicPr>
          <p:blipFill rotWithShape="1">
            <a:blip r:embed="rId4"/>
            <a:srcRect r="19617" b="53841"/>
            <a:stretch/>
          </p:blipFill>
          <p:spPr>
            <a:xfrm>
              <a:off x="6922658" y="3662371"/>
              <a:ext cx="2252777" cy="525470"/>
            </a:xfrm>
            <a:prstGeom prst="rect">
              <a:avLst/>
            </a:prstGeom>
          </p:spPr>
        </p:pic>
        <p:sp>
          <p:nvSpPr>
            <p:cNvPr id="271" name="矩形 270"/>
            <p:cNvSpPr/>
            <p:nvPr/>
          </p:nvSpPr>
          <p:spPr>
            <a:xfrm>
              <a:off x="6938524" y="3662372"/>
              <a:ext cx="2224385" cy="525470"/>
            </a:xfrm>
            <a:prstGeom prst="rect">
              <a:avLst/>
            </a:prstGeom>
            <a:solidFill>
              <a:schemeClr val="accent5">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272" name="圖片 271"/>
            <p:cNvPicPr>
              <a:picLocks noChangeAspect="1"/>
            </p:cNvPicPr>
            <p:nvPr/>
          </p:nvPicPr>
          <p:blipFill rotWithShape="1">
            <a:blip r:embed="rId3"/>
            <a:srcRect t="15787" r="9946" b="76575"/>
            <a:stretch/>
          </p:blipFill>
          <p:spPr>
            <a:xfrm>
              <a:off x="6922658" y="4173917"/>
              <a:ext cx="2250740" cy="241300"/>
            </a:xfrm>
            <a:prstGeom prst="rect">
              <a:avLst/>
            </a:prstGeom>
          </p:spPr>
        </p:pic>
        <p:pic>
          <p:nvPicPr>
            <p:cNvPr id="273" name="圖片 272"/>
            <p:cNvPicPr>
              <a:picLocks noChangeAspect="1"/>
            </p:cNvPicPr>
            <p:nvPr/>
          </p:nvPicPr>
          <p:blipFill rotWithShape="1">
            <a:blip r:embed="rId3"/>
            <a:srcRect t="58398" r="10041" b="39091"/>
            <a:stretch/>
          </p:blipFill>
          <p:spPr>
            <a:xfrm>
              <a:off x="6922658" y="4415217"/>
              <a:ext cx="2248359" cy="79329"/>
            </a:xfrm>
            <a:prstGeom prst="rect">
              <a:avLst/>
            </a:prstGeom>
          </p:spPr>
        </p:pic>
        <p:pic>
          <p:nvPicPr>
            <p:cNvPr id="274" name="圖片 273"/>
            <p:cNvPicPr>
              <a:picLocks noChangeAspect="1"/>
            </p:cNvPicPr>
            <p:nvPr/>
          </p:nvPicPr>
          <p:blipFill rotWithShape="1">
            <a:blip r:embed="rId3"/>
            <a:srcRect t="53773" r="10317" b="43452"/>
            <a:stretch/>
          </p:blipFill>
          <p:spPr>
            <a:xfrm>
              <a:off x="6923202" y="4478331"/>
              <a:ext cx="2241465" cy="87653"/>
            </a:xfrm>
            <a:prstGeom prst="rect">
              <a:avLst/>
            </a:prstGeom>
          </p:spPr>
        </p:pic>
        <p:pic>
          <p:nvPicPr>
            <p:cNvPr id="275" name="圖片 274"/>
            <p:cNvPicPr>
              <a:picLocks noChangeAspect="1"/>
            </p:cNvPicPr>
            <p:nvPr/>
          </p:nvPicPr>
          <p:blipFill rotWithShape="1">
            <a:blip r:embed="rId3"/>
            <a:srcRect t="78902" r="10042" b="17974"/>
            <a:stretch/>
          </p:blipFill>
          <p:spPr>
            <a:xfrm>
              <a:off x="6922658" y="4543484"/>
              <a:ext cx="2248359" cy="98700"/>
            </a:xfrm>
            <a:prstGeom prst="rect">
              <a:avLst/>
            </a:prstGeom>
          </p:spPr>
        </p:pic>
        <p:sp>
          <p:nvSpPr>
            <p:cNvPr id="276" name="矩形 275"/>
            <p:cNvSpPr/>
            <p:nvPr/>
          </p:nvSpPr>
          <p:spPr>
            <a:xfrm>
              <a:off x="6938524" y="4157277"/>
              <a:ext cx="2232493" cy="484907"/>
            </a:xfrm>
            <a:prstGeom prst="rect">
              <a:avLst/>
            </a:prstGeom>
            <a:solidFill>
              <a:schemeClr val="accent2">
                <a:alpha val="36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cxnSp>
        <p:nvCxnSpPr>
          <p:cNvPr id="277" name="肘形接點 276"/>
          <p:cNvCxnSpPr>
            <a:stCxn id="278" idx="1"/>
            <a:endCxn id="285" idx="1"/>
          </p:cNvCxnSpPr>
          <p:nvPr/>
        </p:nvCxnSpPr>
        <p:spPr>
          <a:xfrm rot="10800000" flipV="1">
            <a:off x="284363" y="3013792"/>
            <a:ext cx="457922" cy="503776"/>
          </a:xfrm>
          <a:prstGeom prst="bentConnector3">
            <a:avLst>
              <a:gd name="adj1" fmla="val 14992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78" name="流程圖: 決策 277"/>
          <p:cNvSpPr/>
          <p:nvPr/>
        </p:nvSpPr>
        <p:spPr>
          <a:xfrm>
            <a:off x="742285" y="2803693"/>
            <a:ext cx="989136" cy="4201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9" name="矩形 278"/>
          <p:cNvSpPr/>
          <p:nvPr/>
        </p:nvSpPr>
        <p:spPr>
          <a:xfrm>
            <a:off x="854414" y="2859001"/>
            <a:ext cx="763351" cy="307777"/>
          </a:xfrm>
          <a:prstGeom prst="rect">
            <a:avLst/>
          </a:prstGeom>
        </p:spPr>
        <p:txBody>
          <a:bodyPr wrap="none">
            <a:spAutoFit/>
          </a:bodyPr>
          <a:lstStyle/>
          <a:p>
            <a:pPr algn="ctr"/>
            <a:r>
              <a:rPr lang="en-US" altLang="zh-TW" sz="700" dirty="0" smtClean="0">
                <a:solidFill>
                  <a:schemeClr val="bg1"/>
                </a:solidFill>
              </a:rPr>
              <a:t>Summary Table</a:t>
            </a:r>
          </a:p>
          <a:p>
            <a:pPr algn="ctr"/>
            <a:r>
              <a:rPr lang="en-US" altLang="zh-TW" sz="700" dirty="0" smtClean="0">
                <a:solidFill>
                  <a:schemeClr val="bg1"/>
                </a:solidFill>
              </a:rPr>
              <a:t> exists</a:t>
            </a:r>
            <a:endParaRPr lang="en-US" altLang="zh-TW" sz="700" dirty="0">
              <a:solidFill>
                <a:schemeClr val="bg1"/>
              </a:solidFill>
            </a:endParaRPr>
          </a:p>
        </p:txBody>
      </p:sp>
      <p:grpSp>
        <p:nvGrpSpPr>
          <p:cNvPr id="280" name="群組 279"/>
          <p:cNvGrpSpPr/>
          <p:nvPr/>
        </p:nvGrpSpPr>
        <p:grpSpPr>
          <a:xfrm>
            <a:off x="914421" y="3382311"/>
            <a:ext cx="592861" cy="233768"/>
            <a:chOff x="839940" y="867946"/>
            <a:chExt cx="859497" cy="265087"/>
          </a:xfrm>
        </p:grpSpPr>
        <p:sp>
          <p:nvSpPr>
            <p:cNvPr id="281"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82" name="矩形 281"/>
            <p:cNvSpPr/>
            <p:nvPr/>
          </p:nvSpPr>
          <p:spPr>
            <a:xfrm>
              <a:off x="1051143" y="867946"/>
              <a:ext cx="433234" cy="261758"/>
            </a:xfrm>
            <a:prstGeom prst="rect">
              <a:avLst/>
            </a:prstGeom>
          </p:spPr>
          <p:txBody>
            <a:bodyPr wrap="none">
              <a:spAutoFit/>
            </a:bodyPr>
            <a:lstStyle/>
            <a:p>
              <a:pPr algn="ctr"/>
              <a:r>
                <a:rPr lang="en-US" altLang="zh-TW" sz="900" dirty="0" smtClean="0">
                  <a:solidFill>
                    <a:schemeClr val="bg1"/>
                  </a:solidFill>
                </a:rPr>
                <a:t>Upsert</a:t>
              </a:r>
              <a:endParaRPr lang="en-US" altLang="zh-TW" sz="900" dirty="0">
                <a:solidFill>
                  <a:schemeClr val="bg1"/>
                </a:solidFill>
              </a:endParaRPr>
            </a:p>
          </p:txBody>
        </p:sp>
      </p:grpSp>
      <p:sp>
        <p:nvSpPr>
          <p:cNvPr id="283" name="圓柱 282"/>
          <p:cNvSpPr/>
          <p:nvPr/>
        </p:nvSpPr>
        <p:spPr>
          <a:xfrm>
            <a:off x="1390719" y="3858946"/>
            <a:ext cx="773334" cy="242917"/>
          </a:xfrm>
          <a:prstGeom prst="can">
            <a:avLst/>
          </a:prstGeom>
          <a:solidFill>
            <a:schemeClr val="accent1"/>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84" name="群組 283"/>
          <p:cNvGrpSpPr/>
          <p:nvPr/>
        </p:nvGrpSpPr>
        <p:grpSpPr>
          <a:xfrm>
            <a:off x="284363" y="3387971"/>
            <a:ext cx="541323" cy="233768"/>
            <a:chOff x="839940" y="867946"/>
            <a:chExt cx="859497" cy="265087"/>
          </a:xfrm>
        </p:grpSpPr>
        <p:sp>
          <p:nvSpPr>
            <p:cNvPr id="285"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86" name="矩形 285"/>
            <p:cNvSpPr/>
            <p:nvPr/>
          </p:nvSpPr>
          <p:spPr>
            <a:xfrm>
              <a:off x="1051143" y="867946"/>
              <a:ext cx="433234" cy="261758"/>
            </a:xfrm>
            <a:prstGeom prst="rect">
              <a:avLst/>
            </a:prstGeom>
          </p:spPr>
          <p:txBody>
            <a:bodyPr wrap="none">
              <a:spAutoFit/>
            </a:bodyPr>
            <a:lstStyle/>
            <a:p>
              <a:pPr algn="ctr"/>
              <a:r>
                <a:rPr lang="en-US" altLang="zh-TW" sz="900" dirty="0">
                  <a:solidFill>
                    <a:schemeClr val="bg1"/>
                  </a:solidFill>
                </a:rPr>
                <a:t>Create</a:t>
              </a:r>
            </a:p>
          </p:txBody>
        </p:sp>
      </p:grpSp>
      <p:sp>
        <p:nvSpPr>
          <p:cNvPr id="287" name="流程圖: 決策 286"/>
          <p:cNvSpPr/>
          <p:nvPr/>
        </p:nvSpPr>
        <p:spPr>
          <a:xfrm>
            <a:off x="1925810" y="2796527"/>
            <a:ext cx="989136" cy="4201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8" name="矩形 287"/>
          <p:cNvSpPr/>
          <p:nvPr/>
        </p:nvSpPr>
        <p:spPr>
          <a:xfrm>
            <a:off x="2131715" y="2851835"/>
            <a:ext cx="575799" cy="307777"/>
          </a:xfrm>
          <a:prstGeom prst="rect">
            <a:avLst/>
          </a:prstGeom>
        </p:spPr>
        <p:txBody>
          <a:bodyPr wrap="none">
            <a:spAutoFit/>
          </a:bodyPr>
          <a:lstStyle/>
          <a:p>
            <a:pPr algn="ctr"/>
            <a:r>
              <a:rPr lang="en-US" altLang="zh-TW" sz="700" dirty="0" smtClean="0">
                <a:solidFill>
                  <a:schemeClr val="bg1"/>
                </a:solidFill>
              </a:rPr>
              <a:t>Raw Table</a:t>
            </a:r>
          </a:p>
          <a:p>
            <a:pPr algn="ctr"/>
            <a:r>
              <a:rPr lang="en-US" altLang="zh-TW" sz="700" dirty="0" smtClean="0">
                <a:solidFill>
                  <a:schemeClr val="bg1"/>
                </a:solidFill>
              </a:rPr>
              <a:t> exists</a:t>
            </a:r>
            <a:endParaRPr lang="en-US" altLang="zh-TW" sz="700" dirty="0">
              <a:solidFill>
                <a:schemeClr val="bg1"/>
              </a:solidFill>
            </a:endParaRPr>
          </a:p>
        </p:txBody>
      </p:sp>
      <p:cxnSp>
        <p:nvCxnSpPr>
          <p:cNvPr id="289" name="肘形接點 288"/>
          <p:cNvCxnSpPr>
            <a:stCxn id="278" idx="2"/>
          </p:cNvCxnSpPr>
          <p:nvPr/>
        </p:nvCxnSpPr>
        <p:spPr>
          <a:xfrm rot="5400000">
            <a:off x="1136298" y="3319110"/>
            <a:ext cx="195774" cy="5337"/>
          </a:xfrm>
          <a:prstGeom prst="bentConnector3">
            <a:avLst>
              <a:gd name="adj1" fmla="val 50000"/>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290" name="群組 289"/>
          <p:cNvGrpSpPr/>
          <p:nvPr/>
        </p:nvGrpSpPr>
        <p:grpSpPr>
          <a:xfrm>
            <a:off x="2130736" y="3391957"/>
            <a:ext cx="592861" cy="233768"/>
            <a:chOff x="839940" y="867946"/>
            <a:chExt cx="859497" cy="265087"/>
          </a:xfrm>
        </p:grpSpPr>
        <p:sp>
          <p:nvSpPr>
            <p:cNvPr id="291"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92" name="矩形 291"/>
            <p:cNvSpPr/>
            <p:nvPr/>
          </p:nvSpPr>
          <p:spPr>
            <a:xfrm>
              <a:off x="1051143" y="867946"/>
              <a:ext cx="433234" cy="261758"/>
            </a:xfrm>
            <a:prstGeom prst="rect">
              <a:avLst/>
            </a:prstGeom>
          </p:spPr>
          <p:txBody>
            <a:bodyPr wrap="none">
              <a:spAutoFit/>
            </a:bodyPr>
            <a:lstStyle/>
            <a:p>
              <a:pPr algn="ctr"/>
              <a:r>
                <a:rPr lang="en-US" altLang="zh-TW" sz="900" dirty="0" smtClean="0">
                  <a:solidFill>
                    <a:schemeClr val="bg1"/>
                  </a:solidFill>
                </a:rPr>
                <a:t>Upsert</a:t>
              </a:r>
              <a:endParaRPr lang="en-US" altLang="zh-TW" sz="900" dirty="0">
                <a:solidFill>
                  <a:schemeClr val="bg1"/>
                </a:solidFill>
              </a:endParaRPr>
            </a:p>
          </p:txBody>
        </p:sp>
      </p:grpSp>
      <p:grpSp>
        <p:nvGrpSpPr>
          <p:cNvPr id="293" name="群組 292"/>
          <p:cNvGrpSpPr/>
          <p:nvPr/>
        </p:nvGrpSpPr>
        <p:grpSpPr>
          <a:xfrm>
            <a:off x="2898162" y="3382543"/>
            <a:ext cx="541323" cy="233768"/>
            <a:chOff x="839940" y="867946"/>
            <a:chExt cx="859497" cy="265087"/>
          </a:xfrm>
        </p:grpSpPr>
        <p:sp>
          <p:nvSpPr>
            <p:cNvPr id="294"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95" name="矩形 294"/>
            <p:cNvSpPr/>
            <p:nvPr/>
          </p:nvSpPr>
          <p:spPr>
            <a:xfrm>
              <a:off x="1051143" y="867946"/>
              <a:ext cx="433234" cy="261758"/>
            </a:xfrm>
            <a:prstGeom prst="rect">
              <a:avLst/>
            </a:prstGeom>
          </p:spPr>
          <p:txBody>
            <a:bodyPr wrap="none">
              <a:spAutoFit/>
            </a:bodyPr>
            <a:lstStyle/>
            <a:p>
              <a:pPr algn="ctr"/>
              <a:r>
                <a:rPr lang="en-US" altLang="zh-TW" sz="900" dirty="0">
                  <a:solidFill>
                    <a:schemeClr val="bg1"/>
                  </a:solidFill>
                </a:rPr>
                <a:t>Create</a:t>
              </a:r>
            </a:p>
          </p:txBody>
        </p:sp>
      </p:grpSp>
      <p:cxnSp>
        <p:nvCxnSpPr>
          <p:cNvPr id="296" name="肘形接點 295"/>
          <p:cNvCxnSpPr/>
          <p:nvPr/>
        </p:nvCxnSpPr>
        <p:spPr>
          <a:xfrm rot="5400000">
            <a:off x="2318330" y="3319110"/>
            <a:ext cx="195774" cy="5337"/>
          </a:xfrm>
          <a:prstGeom prst="bentConnector3">
            <a:avLst>
              <a:gd name="adj1" fmla="val 50000"/>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7" name="肘形接點 296"/>
          <p:cNvCxnSpPr>
            <a:stCxn id="287" idx="3"/>
            <a:endCxn id="294" idx="0"/>
          </p:cNvCxnSpPr>
          <p:nvPr/>
        </p:nvCxnSpPr>
        <p:spPr>
          <a:xfrm>
            <a:off x="2914946" y="3006626"/>
            <a:ext cx="253878" cy="401343"/>
          </a:xfrm>
          <a:prstGeom prst="bentConnector2">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98" name="圓角矩形 297"/>
          <p:cNvSpPr/>
          <p:nvPr/>
        </p:nvSpPr>
        <p:spPr>
          <a:xfrm>
            <a:off x="167756" y="3319928"/>
            <a:ext cx="1439534" cy="386442"/>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9" name="圓角矩形 298"/>
          <p:cNvSpPr/>
          <p:nvPr/>
        </p:nvSpPr>
        <p:spPr>
          <a:xfrm>
            <a:off x="2071829" y="3319928"/>
            <a:ext cx="1439534" cy="386442"/>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00" name="肘形接點 299"/>
          <p:cNvCxnSpPr>
            <a:stCxn id="298" idx="2"/>
            <a:endCxn id="283" idx="2"/>
          </p:cNvCxnSpPr>
          <p:nvPr/>
        </p:nvCxnSpPr>
        <p:spPr>
          <a:xfrm rot="16200000" flipH="1">
            <a:off x="1002104" y="3591789"/>
            <a:ext cx="274035" cy="503196"/>
          </a:xfrm>
          <a:prstGeom prst="bentConnector2">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01" name="肘形接點 300"/>
          <p:cNvCxnSpPr>
            <a:stCxn id="299" idx="2"/>
            <a:endCxn id="283" idx="4"/>
          </p:cNvCxnSpPr>
          <p:nvPr/>
        </p:nvCxnSpPr>
        <p:spPr>
          <a:xfrm rot="5400000">
            <a:off x="2340808" y="3529616"/>
            <a:ext cx="274035" cy="627543"/>
          </a:xfrm>
          <a:prstGeom prst="bentConnector2">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02" name="肘形接點 301"/>
          <p:cNvCxnSpPr/>
          <p:nvPr/>
        </p:nvCxnSpPr>
        <p:spPr>
          <a:xfrm rot="5400000">
            <a:off x="2089548" y="2496650"/>
            <a:ext cx="648000" cy="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5266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583351" y="56148"/>
            <a:ext cx="2356735" cy="307777"/>
          </a:xfrm>
          <a:prstGeom prst="rect">
            <a:avLst/>
          </a:prstGeom>
        </p:spPr>
        <p:txBody>
          <a:bodyPr wrap="none">
            <a:spAutoFit/>
          </a:bodyPr>
          <a:lstStyle/>
          <a:p>
            <a:r>
              <a:rPr lang="zh-TW" altLang="en-US" dirty="0">
                <a:latin typeface="微軟正黑體" panose="020B0604030504040204" pitchFamily="34" charset="-120"/>
                <a:ea typeface="微軟正黑體" panose="020B0604030504040204" pitchFamily="34" charset="-120"/>
              </a:rPr>
              <a:t>http://10.97.142.217:</a:t>
            </a:r>
            <a:r>
              <a:rPr lang="zh-TW" altLang="en-US" dirty="0" smtClean="0">
                <a:latin typeface="微軟正黑體" panose="020B0604030504040204" pitchFamily="34" charset="-120"/>
                <a:ea typeface="微軟正黑體" panose="020B0604030504040204" pitchFamily="34" charset="-120"/>
              </a:rPr>
              <a:t>820</a:t>
            </a:r>
            <a:r>
              <a:rPr lang="en-US" altLang="zh-TW" dirty="0" smtClean="0">
                <a:latin typeface="微軟正黑體" panose="020B0604030504040204" pitchFamily="34" charset="-120"/>
                <a:ea typeface="微軟正黑體" panose="020B0604030504040204" pitchFamily="34" charset="-120"/>
              </a:rPr>
              <a:t>3</a:t>
            </a:r>
            <a:endParaRPr lang="zh-TW" altLang="en-US" dirty="0">
              <a:latin typeface="微軟正黑體" panose="020B0604030504040204" pitchFamily="34" charset="-120"/>
              <a:ea typeface="微軟正黑體" panose="020B0604030504040204" pitchFamily="34" charset="-120"/>
            </a:endParaRPr>
          </a:p>
        </p:txBody>
      </p:sp>
      <p:sp>
        <p:nvSpPr>
          <p:cNvPr id="30"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4" name="圖片 3"/>
          <p:cNvPicPr>
            <a:picLocks noChangeAspect="1"/>
          </p:cNvPicPr>
          <p:nvPr/>
        </p:nvPicPr>
        <p:blipFill>
          <a:blip r:embed="rId3"/>
          <a:stretch>
            <a:fillRect/>
          </a:stretch>
        </p:blipFill>
        <p:spPr>
          <a:xfrm>
            <a:off x="221845" y="565585"/>
            <a:ext cx="8718241" cy="4291265"/>
          </a:xfrm>
          <a:prstGeom prst="rect">
            <a:avLst/>
          </a:prstGeom>
        </p:spPr>
      </p:pic>
      <p:sp>
        <p:nvSpPr>
          <p:cNvPr id="34" name="矩形 33"/>
          <p:cNvSpPr/>
          <p:nvPr/>
        </p:nvSpPr>
        <p:spPr>
          <a:xfrm>
            <a:off x="221844" y="1288720"/>
            <a:ext cx="7316555" cy="2160079"/>
          </a:xfrm>
          <a:prstGeom prst="rect">
            <a:avLst/>
          </a:prstGeom>
          <a:solidFill>
            <a:srgbClr val="FFFF00">
              <a:alpha val="19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5" name="文字方塊 34"/>
          <p:cNvSpPr txBox="1"/>
          <p:nvPr/>
        </p:nvSpPr>
        <p:spPr>
          <a:xfrm>
            <a:off x="221843" y="2646386"/>
            <a:ext cx="2506958" cy="784830"/>
          </a:xfrm>
          <a:prstGeom prst="rect">
            <a:avLst/>
          </a:prstGeom>
          <a:solidFill>
            <a:schemeClr val="accent3">
              <a:lumMod val="20000"/>
              <a:lumOff val="80000"/>
            </a:schemeClr>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en-US" altLang="zh-TW" sz="900" dirty="0" smtClean="0">
                <a:latin typeface="微軟正黑體" panose="020B0604030504040204" pitchFamily="34" charset="-120"/>
                <a:ea typeface="微軟正黑體" panose="020B0604030504040204" pitchFamily="34" charset="-120"/>
              </a:rPr>
              <a:t>Chart</a:t>
            </a:r>
          </a:p>
          <a:p>
            <a:r>
              <a:rPr lang="zh-TW" altLang="en-US" sz="900" dirty="0" smtClean="0">
                <a:latin typeface="微軟正黑體" panose="020B0604030504040204" pitchFamily="34" charset="-120"/>
                <a:ea typeface="微軟正黑體" panose="020B0604030504040204" pitchFamily="34" charset="-120"/>
              </a:rPr>
              <a:t>依照</a:t>
            </a:r>
            <a:r>
              <a:rPr lang="en-US" altLang="zh-TW" sz="900" dirty="0" smtClean="0">
                <a:latin typeface="微軟正黑體" panose="020B0604030504040204" pitchFamily="34" charset="-120"/>
                <a:ea typeface="微軟正黑體" panose="020B0604030504040204" pitchFamily="34" charset="-120"/>
              </a:rPr>
              <a:t>tab</a:t>
            </a:r>
            <a:r>
              <a:rPr lang="zh-TW" altLang="en-US" sz="900" dirty="0" smtClean="0">
                <a:latin typeface="微軟正黑體" panose="020B0604030504040204" pitchFamily="34" charset="-120"/>
                <a:ea typeface="微軟正黑體" panose="020B0604030504040204" pitchFamily="34" charset="-120"/>
              </a:rPr>
              <a:t>對應篩選資料顯示</a:t>
            </a:r>
            <a:r>
              <a:rPr lang="en-US" altLang="zh-TW" sz="900" dirty="0" smtClean="0">
                <a:latin typeface="微軟正黑體" panose="020B0604030504040204" pitchFamily="34" charset="-120"/>
                <a:ea typeface="微軟正黑體" panose="020B0604030504040204" pitchFamily="34" charset="-120"/>
              </a:rPr>
              <a:t>chart</a:t>
            </a:r>
          </a:p>
          <a:p>
            <a:r>
              <a:rPr lang="zh-TW" altLang="en-US" sz="900" dirty="0" smtClean="0">
                <a:latin typeface="微軟正黑體" panose="020B0604030504040204" pitchFamily="34" charset="-120"/>
                <a:ea typeface="微軟正黑體" panose="020B0604030504040204" pitchFamily="34" charset="-120"/>
              </a:rPr>
              <a:t>藍色柱狀</a:t>
            </a:r>
            <a:r>
              <a:rPr lang="en-US" altLang="zh-TW" sz="900" dirty="0" smtClean="0">
                <a:latin typeface="微軟正黑體" panose="020B0604030504040204" pitchFamily="34" charset="-120"/>
                <a:ea typeface="微軟正黑體" panose="020B0604030504040204" pitchFamily="34" charset="-120"/>
              </a:rPr>
              <a:t>:</a:t>
            </a:r>
            <a:r>
              <a:rPr lang="zh-TW" altLang="en-US" sz="900" dirty="0" smtClean="0">
                <a:latin typeface="微軟正黑體" panose="020B0604030504040204" pitchFamily="34" charset="-120"/>
                <a:ea typeface="微軟正黑體" panose="020B0604030504040204" pitchFamily="34" charset="-120"/>
              </a:rPr>
              <a:t> 單位小時內片數</a:t>
            </a:r>
            <a:endParaRPr lang="en-US" altLang="zh-TW" sz="900" dirty="0" smtClean="0">
              <a:latin typeface="微軟正黑體" panose="020B0604030504040204" pitchFamily="34" charset="-120"/>
              <a:ea typeface="微軟正黑體" panose="020B0604030504040204" pitchFamily="34" charset="-120"/>
            </a:endParaRPr>
          </a:p>
          <a:p>
            <a:r>
              <a:rPr lang="zh-TW" altLang="en-US" sz="900" dirty="0" smtClean="0">
                <a:latin typeface="微軟正黑體" panose="020B0604030504040204" pitchFamily="34" charset="-120"/>
                <a:ea typeface="微軟正黑體" panose="020B0604030504040204" pitchFamily="34" charset="-120"/>
              </a:rPr>
              <a:t>黃色</a:t>
            </a:r>
            <a:r>
              <a:rPr lang="en-US" altLang="zh-TW" sz="900" dirty="0" smtClean="0">
                <a:latin typeface="微軟正黑體" panose="020B0604030504040204" pitchFamily="34" charset="-120"/>
                <a:ea typeface="微軟正黑體" panose="020B0604030504040204" pitchFamily="34" charset="-120"/>
              </a:rPr>
              <a:t>scatter:</a:t>
            </a:r>
            <a:r>
              <a:rPr lang="zh-TW" altLang="en-US" sz="900" dirty="0">
                <a:latin typeface="微軟正黑體" panose="020B0604030504040204" pitchFamily="34" charset="-120"/>
                <a:ea typeface="微軟正黑體" panose="020B0604030504040204" pitchFamily="34" charset="-120"/>
              </a:rPr>
              <a:t> </a:t>
            </a:r>
            <a:r>
              <a:rPr lang="en-US" altLang="zh-TW" sz="900" dirty="0" smtClean="0">
                <a:latin typeface="微軟正黑體" panose="020B0604030504040204" pitchFamily="34" charset="-120"/>
                <a:ea typeface="微軟正黑體" panose="020B0604030504040204" pitchFamily="34" charset="-120"/>
              </a:rPr>
              <a:t>defect</a:t>
            </a:r>
            <a:r>
              <a:rPr lang="zh-TW" altLang="en-US" sz="900" dirty="0">
                <a:latin typeface="微軟正黑體" panose="020B0604030504040204" pitchFamily="34" charset="-120"/>
                <a:ea typeface="微軟正黑體" panose="020B0604030504040204" pitchFamily="34" charset="-120"/>
              </a:rPr>
              <a:t> </a:t>
            </a:r>
            <a:r>
              <a:rPr lang="en-US" altLang="zh-TW" sz="900" dirty="0" smtClean="0">
                <a:latin typeface="微軟正黑體" panose="020B0604030504040204" pitchFamily="34" charset="-120"/>
                <a:ea typeface="微軟正黑體" panose="020B0604030504040204" pitchFamily="34" charset="-120"/>
              </a:rPr>
              <a:t>count/</a:t>
            </a:r>
            <a:r>
              <a:rPr lang="zh-TW" altLang="en-US" sz="900" dirty="0" smtClean="0">
                <a:latin typeface="微軟正黑體" panose="020B0604030504040204" pitchFamily="34" charset="-120"/>
                <a:ea typeface="微軟正黑體" panose="020B0604030504040204" pitchFamily="34" charset="-120"/>
              </a:rPr>
              <a:t>片數</a:t>
            </a:r>
            <a:r>
              <a:rPr lang="en-US" altLang="zh-TW" sz="900" dirty="0" smtClean="0">
                <a:latin typeface="微軟正黑體" panose="020B0604030504040204" pitchFamily="34" charset="-120"/>
                <a:ea typeface="微軟正黑體" panose="020B0604030504040204" pitchFamily="34" charset="-120"/>
              </a:rPr>
              <a:t>/</a:t>
            </a:r>
            <a:r>
              <a:rPr lang="zh-TW" altLang="en-US" sz="900" dirty="0" smtClean="0">
                <a:latin typeface="微軟正黑體" panose="020B0604030504040204" pitchFamily="34" charset="-120"/>
                <a:ea typeface="微軟正黑體" panose="020B0604030504040204" pitchFamily="34" charset="-120"/>
              </a:rPr>
              <a:t>小時</a:t>
            </a:r>
            <a:endParaRPr lang="en-US" altLang="zh-TW" sz="900" dirty="0" smtClean="0">
              <a:latin typeface="微軟正黑體" panose="020B0604030504040204" pitchFamily="34" charset="-120"/>
              <a:ea typeface="微軟正黑體" panose="020B0604030504040204" pitchFamily="34" charset="-120"/>
            </a:endParaRPr>
          </a:p>
          <a:p>
            <a:r>
              <a:rPr lang="zh-TW" altLang="en-US" sz="900" dirty="0">
                <a:latin typeface="微軟正黑體" panose="020B0604030504040204" pitchFamily="34" charset="-120"/>
                <a:ea typeface="微軟正黑體" panose="020B0604030504040204" pitchFamily="34" charset="-120"/>
              </a:rPr>
              <a:t>點</a:t>
            </a:r>
            <a:r>
              <a:rPr lang="zh-TW" altLang="en-US" sz="900" dirty="0" smtClean="0">
                <a:latin typeface="微軟正黑體" panose="020B0604030504040204" pitchFamily="34" charset="-120"/>
                <a:ea typeface="微軟正黑體" panose="020B0604030504040204" pitchFamily="34" charset="-120"/>
              </a:rPr>
              <a:t>擊</a:t>
            </a:r>
            <a:r>
              <a:rPr lang="en-US" altLang="zh-TW" sz="900" dirty="0" smtClean="0">
                <a:latin typeface="微軟正黑體" panose="020B0604030504040204" pitchFamily="34" charset="-120"/>
                <a:ea typeface="微軟正黑體" panose="020B0604030504040204" pitchFamily="34" charset="-120"/>
              </a:rPr>
              <a:t>chart</a:t>
            </a:r>
            <a:r>
              <a:rPr lang="zh-TW" altLang="en-US" sz="900" dirty="0" smtClean="0">
                <a:latin typeface="微軟正黑體" panose="020B0604030504040204" pitchFamily="34" charset="-120"/>
                <a:ea typeface="微軟正黑體" panose="020B0604030504040204" pitchFamily="34" charset="-120"/>
              </a:rPr>
              <a:t>連結</a:t>
            </a:r>
            <a:r>
              <a:rPr lang="en-US" altLang="zh-TW" sz="900" dirty="0" smtClean="0">
                <a:latin typeface="微軟正黑體" panose="020B0604030504040204" pitchFamily="34" charset="-120"/>
                <a:ea typeface="微軟正黑體" panose="020B0604030504040204" pitchFamily="34" charset="-120"/>
              </a:rPr>
              <a:t>table</a:t>
            </a:r>
            <a:r>
              <a:rPr lang="zh-TW" altLang="en-US" sz="900" dirty="0" smtClean="0">
                <a:latin typeface="微軟正黑體" panose="020B0604030504040204" pitchFamily="34" charset="-120"/>
                <a:ea typeface="微軟正黑體" panose="020B0604030504040204" pitchFamily="34" charset="-120"/>
              </a:rPr>
              <a:t>及</a:t>
            </a:r>
            <a:r>
              <a:rPr lang="en-US" altLang="zh-TW" sz="900" dirty="0" smtClean="0">
                <a:latin typeface="微軟正黑體" panose="020B0604030504040204" pitchFamily="34" charset="-120"/>
                <a:ea typeface="微軟正黑體" panose="020B0604030504040204" pitchFamily="34" charset="-120"/>
              </a:rPr>
              <a:t>defect</a:t>
            </a:r>
            <a:r>
              <a:rPr lang="zh-TW" altLang="en-US" sz="900" dirty="0" smtClean="0">
                <a:latin typeface="微軟正黑體" panose="020B0604030504040204" pitchFamily="34" charset="-120"/>
                <a:ea typeface="微軟正黑體" panose="020B0604030504040204" pitchFamily="34" charset="-120"/>
              </a:rPr>
              <a:t> </a:t>
            </a:r>
            <a:r>
              <a:rPr lang="en-US" altLang="zh-TW" sz="900" dirty="0" smtClean="0">
                <a:latin typeface="微軟正黑體" panose="020B0604030504040204" pitchFamily="34" charset="-120"/>
                <a:ea typeface="微軟正黑體" panose="020B0604030504040204" pitchFamily="34" charset="-120"/>
              </a:rPr>
              <a:t>map</a:t>
            </a:r>
            <a:r>
              <a:rPr lang="zh-TW" altLang="en-US" sz="900" dirty="0" smtClean="0">
                <a:latin typeface="微軟正黑體" panose="020B0604030504040204" pitchFamily="34" charset="-120"/>
                <a:ea typeface="微軟正黑體" panose="020B0604030504040204" pitchFamily="34" charset="-120"/>
              </a:rPr>
              <a:t>功能區域</a:t>
            </a:r>
            <a:endParaRPr lang="zh-TW" altLang="en-US" sz="900" dirty="0">
              <a:latin typeface="微軟正黑體" panose="020B0604030504040204" pitchFamily="34" charset="-120"/>
              <a:ea typeface="微軟正黑體" panose="020B0604030504040204" pitchFamily="34" charset="-120"/>
            </a:endParaRPr>
          </a:p>
        </p:txBody>
      </p:sp>
      <p:sp>
        <p:nvSpPr>
          <p:cNvPr id="39" name="矩形 38"/>
          <p:cNvSpPr/>
          <p:nvPr/>
        </p:nvSpPr>
        <p:spPr>
          <a:xfrm>
            <a:off x="221845" y="3506400"/>
            <a:ext cx="3234155" cy="1300065"/>
          </a:xfrm>
          <a:prstGeom prst="rect">
            <a:avLst/>
          </a:prstGeom>
          <a:solidFill>
            <a:schemeClr val="accent5">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7" name="文字方塊 36"/>
          <p:cNvSpPr txBox="1"/>
          <p:nvPr/>
        </p:nvSpPr>
        <p:spPr>
          <a:xfrm>
            <a:off x="221844" y="4349019"/>
            <a:ext cx="2506958" cy="507831"/>
          </a:xfrm>
          <a:prstGeom prst="rect">
            <a:avLst/>
          </a:prstGeom>
          <a:solidFill>
            <a:schemeClr val="accent5"/>
          </a:solidFill>
          <a:ln>
            <a:noFill/>
          </a:ln>
        </p:spPr>
        <p:txBody>
          <a:bodyPr wrap="square" rtlCol="0">
            <a:spAutoFit/>
          </a:bodyPr>
          <a:lstStyle>
            <a:defPPr>
              <a:defRPr lang="en-US"/>
            </a:defPPr>
            <a:lvl1pPr>
              <a:defRPr sz="900">
                <a:latin typeface="微軟正黑體" panose="020B0604030504040204" pitchFamily="34" charset="-120"/>
                <a:ea typeface="微軟正黑體" panose="020B0604030504040204" pitchFamily="34" charset="-120"/>
              </a:defRPr>
            </a:lvl1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en-US" altLang="zh-TW" dirty="0"/>
              <a:t>Defect density</a:t>
            </a:r>
            <a:r>
              <a:rPr lang="zh-TW" altLang="en-US" dirty="0"/>
              <a:t>相關資料表</a:t>
            </a:r>
            <a:endParaRPr lang="en-US" altLang="zh-TW" dirty="0"/>
          </a:p>
          <a:p>
            <a:r>
              <a:rPr lang="zh-TW" altLang="en-US" dirty="0"/>
              <a:t>預設顯示</a:t>
            </a:r>
            <a:r>
              <a:rPr lang="en-US" altLang="zh-TW" dirty="0"/>
              <a:t>chart</a:t>
            </a:r>
            <a:r>
              <a:rPr lang="zh-TW" altLang="en-US" dirty="0"/>
              <a:t>全部資料</a:t>
            </a:r>
            <a:endParaRPr lang="en-US" altLang="zh-TW" dirty="0"/>
          </a:p>
          <a:p>
            <a:r>
              <a:rPr lang="zh-TW" altLang="en-US" dirty="0" smtClean="0"/>
              <a:t>觸發後顯示</a:t>
            </a:r>
            <a:r>
              <a:rPr lang="zh-TW" altLang="en-US" dirty="0"/>
              <a:t>對應</a:t>
            </a:r>
            <a:r>
              <a:rPr lang="en-US" altLang="zh-TW" dirty="0"/>
              <a:t>glass</a:t>
            </a:r>
            <a:r>
              <a:rPr lang="zh-TW" altLang="en-US" dirty="0"/>
              <a:t> </a:t>
            </a:r>
            <a:r>
              <a:rPr lang="en-US" altLang="zh-TW" dirty="0"/>
              <a:t>group </a:t>
            </a:r>
            <a:r>
              <a:rPr lang="zh-TW" altLang="en-US" dirty="0"/>
              <a:t>資料</a:t>
            </a:r>
          </a:p>
        </p:txBody>
      </p:sp>
      <p:sp>
        <p:nvSpPr>
          <p:cNvPr id="42" name="矩形 41"/>
          <p:cNvSpPr/>
          <p:nvPr/>
        </p:nvSpPr>
        <p:spPr>
          <a:xfrm>
            <a:off x="4580966" y="3506400"/>
            <a:ext cx="4270956" cy="1300065"/>
          </a:xfrm>
          <a:prstGeom prst="rect">
            <a:avLst/>
          </a:prstGeom>
          <a:solidFill>
            <a:schemeClr val="accent5">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3" name="文字方塊 42"/>
          <p:cNvSpPr txBox="1"/>
          <p:nvPr/>
        </p:nvSpPr>
        <p:spPr>
          <a:xfrm>
            <a:off x="7429334" y="3535043"/>
            <a:ext cx="1395035" cy="230832"/>
          </a:xfrm>
          <a:prstGeom prst="rect">
            <a:avLst/>
          </a:prstGeom>
          <a:solidFill>
            <a:schemeClr val="accent5">
              <a:lumMod val="60000"/>
              <a:lumOff val="40000"/>
            </a:schemeClr>
          </a:solidFill>
          <a:ln>
            <a:noFill/>
          </a:ln>
        </p:spPr>
        <p:txBody>
          <a:bodyPr wrap="square" rtlCol="0">
            <a:spAutoFit/>
          </a:bodyPr>
          <a:lstStyle>
            <a:defPPr>
              <a:defRPr lang="en-US"/>
            </a:defPPr>
            <a:lvl1pPr>
              <a:defRPr sz="900">
                <a:latin typeface="微軟正黑體" panose="020B0604030504040204" pitchFamily="34" charset="-120"/>
                <a:ea typeface="微軟正黑體" panose="020B0604030504040204" pitchFamily="34" charset="-120"/>
              </a:defRPr>
            </a:lvl1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dirty="0" smtClean="0"/>
              <a:t>觸發後顯示</a:t>
            </a:r>
            <a:r>
              <a:rPr lang="en-US" altLang="zh-TW" dirty="0" smtClean="0"/>
              <a:t>Defect</a:t>
            </a:r>
            <a:r>
              <a:rPr lang="zh-TW" altLang="en-US" dirty="0" smtClean="0"/>
              <a:t> 分布</a:t>
            </a:r>
            <a:endParaRPr lang="zh-TW" altLang="en-US" dirty="0"/>
          </a:p>
        </p:txBody>
      </p:sp>
      <p:pic>
        <p:nvPicPr>
          <p:cNvPr id="5" name="圖片 4"/>
          <p:cNvPicPr>
            <a:picLocks noChangeAspect="1"/>
          </p:cNvPicPr>
          <p:nvPr/>
        </p:nvPicPr>
        <p:blipFill>
          <a:blip r:embed="rId4"/>
          <a:stretch>
            <a:fillRect/>
          </a:stretch>
        </p:blipFill>
        <p:spPr>
          <a:xfrm>
            <a:off x="2937602" y="2134162"/>
            <a:ext cx="1555199" cy="1176498"/>
          </a:xfrm>
          <a:prstGeom prst="rect">
            <a:avLst/>
          </a:prstGeom>
        </p:spPr>
      </p:pic>
      <p:pic>
        <p:nvPicPr>
          <p:cNvPr id="7" name="圖片 6"/>
          <p:cNvPicPr>
            <a:picLocks noChangeAspect="1"/>
          </p:cNvPicPr>
          <p:nvPr/>
        </p:nvPicPr>
        <p:blipFill>
          <a:blip r:embed="rId5"/>
          <a:stretch>
            <a:fillRect/>
          </a:stretch>
        </p:blipFill>
        <p:spPr>
          <a:xfrm>
            <a:off x="5939482" y="4052095"/>
            <a:ext cx="3197833" cy="1028242"/>
          </a:xfrm>
          <a:prstGeom prst="rect">
            <a:avLst/>
          </a:prstGeom>
          <a:ln w="28575">
            <a:solidFill>
              <a:schemeClr val="accent5">
                <a:lumMod val="20000"/>
                <a:lumOff val="80000"/>
              </a:schemeClr>
            </a:solidFill>
          </a:ln>
        </p:spPr>
      </p:pic>
      <p:sp>
        <p:nvSpPr>
          <p:cNvPr id="46" name="圓角矩形 45"/>
          <p:cNvSpPr/>
          <p:nvPr/>
        </p:nvSpPr>
        <p:spPr>
          <a:xfrm>
            <a:off x="6858000" y="592132"/>
            <a:ext cx="836532" cy="234591"/>
          </a:xfrm>
          <a:prstGeom prst="round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7" name="直線單箭頭接點 46"/>
          <p:cNvCxnSpPr/>
          <p:nvPr/>
        </p:nvCxnSpPr>
        <p:spPr>
          <a:xfrm>
            <a:off x="1000800" y="2193123"/>
            <a:ext cx="1918722" cy="267332"/>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p:nvPr/>
        </p:nvCxnSpPr>
        <p:spPr>
          <a:xfrm flipH="1">
            <a:off x="2937601" y="3068391"/>
            <a:ext cx="251999" cy="84240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a:off x="3207680" y="2984368"/>
            <a:ext cx="2749081" cy="1171734"/>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3474079" y="3506400"/>
            <a:ext cx="1018721" cy="1300065"/>
          </a:xfrm>
          <a:prstGeom prst="rect">
            <a:avLst/>
          </a:prstGeom>
          <a:solidFill>
            <a:schemeClr val="accent6">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a:blip r:embed="rId6"/>
          <a:stretch>
            <a:fillRect/>
          </a:stretch>
        </p:blipFill>
        <p:spPr>
          <a:xfrm>
            <a:off x="2486473" y="3912930"/>
            <a:ext cx="1406254" cy="1125003"/>
          </a:xfrm>
          <a:prstGeom prst="rect">
            <a:avLst/>
          </a:prstGeom>
          <a:ln w="19050">
            <a:solidFill>
              <a:schemeClr val="accent5"/>
            </a:solidFill>
          </a:ln>
        </p:spPr>
      </p:pic>
      <p:cxnSp>
        <p:nvCxnSpPr>
          <p:cNvPr id="60" name="直線接點 59"/>
          <p:cNvCxnSpPr/>
          <p:nvPr/>
        </p:nvCxnSpPr>
        <p:spPr>
          <a:xfrm flipH="1">
            <a:off x="2937601" y="3506400"/>
            <a:ext cx="536478" cy="4043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接點 60"/>
          <p:cNvCxnSpPr/>
          <p:nvPr/>
        </p:nvCxnSpPr>
        <p:spPr>
          <a:xfrm flipH="1">
            <a:off x="3892728" y="4770299"/>
            <a:ext cx="513672" cy="31003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圓角矩形 64"/>
          <p:cNvSpPr/>
          <p:nvPr/>
        </p:nvSpPr>
        <p:spPr>
          <a:xfrm>
            <a:off x="6483546" y="1320800"/>
            <a:ext cx="1015804" cy="190500"/>
          </a:xfrm>
          <a:prstGeom prst="round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圓角矩形 65"/>
          <p:cNvSpPr/>
          <p:nvPr/>
        </p:nvSpPr>
        <p:spPr>
          <a:xfrm>
            <a:off x="7711199" y="626033"/>
            <a:ext cx="768432" cy="190500"/>
          </a:xfrm>
          <a:prstGeom prst="round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7" name="直線單箭頭接點 66"/>
          <p:cNvCxnSpPr>
            <a:stCxn id="65" idx="0"/>
          </p:cNvCxnSpPr>
          <p:nvPr/>
        </p:nvCxnSpPr>
        <p:spPr>
          <a:xfrm flipV="1">
            <a:off x="6991448" y="826723"/>
            <a:ext cx="1100992" cy="494077"/>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0" name="文字方塊 69"/>
          <p:cNvSpPr txBox="1"/>
          <p:nvPr/>
        </p:nvSpPr>
        <p:spPr>
          <a:xfrm>
            <a:off x="5595292" y="1577290"/>
            <a:ext cx="1898204" cy="230832"/>
          </a:xfrm>
          <a:prstGeom prst="rect">
            <a:avLst/>
          </a:prstGeom>
          <a:solidFill>
            <a:schemeClr val="accent3">
              <a:lumMod val="20000"/>
              <a:lumOff val="80000"/>
            </a:schemeClr>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900" dirty="0" smtClean="0">
                <a:latin typeface="微軟正黑體" panose="020B0604030504040204" pitchFamily="34" charset="-120"/>
                <a:ea typeface="微軟正黑體" panose="020B0604030504040204" pitchFamily="34" charset="-120"/>
              </a:rPr>
              <a:t>於</a:t>
            </a:r>
            <a:r>
              <a:rPr lang="en-US" altLang="zh-TW" sz="900" dirty="0" smtClean="0">
                <a:latin typeface="微軟正黑體" panose="020B0604030504040204" pitchFamily="34" charset="-120"/>
                <a:ea typeface="微軟正黑體" panose="020B0604030504040204" pitchFamily="34" charset="-120"/>
              </a:rPr>
              <a:t>Chart</a:t>
            </a:r>
            <a:r>
              <a:rPr lang="zh-TW" altLang="en-US" sz="900" dirty="0" smtClean="0">
                <a:latin typeface="微軟正黑體" panose="020B0604030504040204" pitchFamily="34" charset="-120"/>
                <a:ea typeface="微軟正黑體" panose="020B0604030504040204" pitchFamily="34" charset="-120"/>
              </a:rPr>
              <a:t>可切換兩套</a:t>
            </a:r>
            <a:r>
              <a:rPr lang="en-US" altLang="zh-TW" sz="900" dirty="0" smtClean="0">
                <a:latin typeface="微軟正黑體" panose="020B0604030504040204" pitchFamily="34" charset="-120"/>
                <a:ea typeface="微軟正黑體" panose="020B0604030504040204" pitchFamily="34" charset="-120"/>
              </a:rPr>
              <a:t>spec</a:t>
            </a:r>
            <a:r>
              <a:rPr lang="zh-TW" altLang="en-US" sz="900" dirty="0" smtClean="0">
                <a:latin typeface="微軟正黑體" panose="020B0604030504040204" pitchFamily="34" charset="-120"/>
                <a:ea typeface="微軟正黑體" panose="020B0604030504040204" pitchFamily="34" charset="-120"/>
              </a:rPr>
              <a:t>卡控方式</a:t>
            </a:r>
            <a:endParaRPr lang="zh-TW" altLang="en-US" sz="900" dirty="0">
              <a:latin typeface="微軟正黑體" panose="020B0604030504040204" pitchFamily="34" charset="-120"/>
              <a:ea typeface="微軟正黑體" panose="020B0604030504040204" pitchFamily="34" charset="-120"/>
            </a:endParaRPr>
          </a:p>
        </p:txBody>
      </p:sp>
      <p:sp>
        <p:nvSpPr>
          <p:cNvPr id="71" name="文字方塊 70"/>
          <p:cNvSpPr txBox="1"/>
          <p:nvPr/>
        </p:nvSpPr>
        <p:spPr>
          <a:xfrm>
            <a:off x="7429333" y="946858"/>
            <a:ext cx="1609367" cy="230832"/>
          </a:xfrm>
          <a:prstGeom prst="rect">
            <a:avLst/>
          </a:prstGeom>
          <a:solidFill>
            <a:schemeClr val="accent4">
              <a:lumMod val="20000"/>
              <a:lumOff val="80000"/>
            </a:schemeClr>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en-US" altLang="zh-TW" sz="900" dirty="0" smtClean="0">
                <a:latin typeface="微軟正黑體" panose="020B0604030504040204" pitchFamily="34" charset="-120"/>
                <a:ea typeface="微軟正黑體" panose="020B0604030504040204" pitchFamily="34" charset="-120"/>
              </a:rPr>
              <a:t>Spec</a:t>
            </a:r>
            <a:r>
              <a:rPr lang="zh-TW" altLang="en-US" sz="900" dirty="0" smtClean="0">
                <a:latin typeface="微軟正黑體" panose="020B0604030504040204" pitchFamily="34" charset="-120"/>
                <a:ea typeface="微軟正黑體" panose="020B0604030504040204" pitchFamily="34" charset="-120"/>
              </a:rPr>
              <a:t>相關</a:t>
            </a:r>
            <a:r>
              <a:rPr lang="en-US" altLang="zh-TW" sz="900" dirty="0" smtClean="0">
                <a:latin typeface="微軟正黑體" panose="020B0604030504040204" pitchFamily="34" charset="-120"/>
                <a:ea typeface="微軟正黑體" panose="020B0604030504040204" pitchFamily="34" charset="-120"/>
              </a:rPr>
              <a:t>tab</a:t>
            </a:r>
            <a:r>
              <a:rPr lang="zh-TW" altLang="en-US" sz="900" dirty="0" smtClean="0">
                <a:latin typeface="微軟正黑體" panose="020B0604030504040204" pitchFamily="34" charset="-120"/>
                <a:ea typeface="微軟正黑體" panose="020B0604030504040204" pitchFamily="34" charset="-120"/>
              </a:rPr>
              <a:t>可查看及編輯</a:t>
            </a:r>
            <a:endParaRPr lang="zh-TW" altLang="en-US" sz="9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6880549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8" name="圖片 7"/>
          <p:cNvPicPr>
            <a:picLocks noChangeAspect="1"/>
          </p:cNvPicPr>
          <p:nvPr/>
        </p:nvPicPr>
        <p:blipFill>
          <a:blip r:embed="rId3"/>
          <a:stretch>
            <a:fillRect/>
          </a:stretch>
        </p:blipFill>
        <p:spPr>
          <a:xfrm>
            <a:off x="4688965" y="674305"/>
            <a:ext cx="4162840" cy="1483565"/>
          </a:xfrm>
          <a:prstGeom prst="rect">
            <a:avLst/>
          </a:prstGeom>
          <a:ln w="28575">
            <a:solidFill>
              <a:schemeClr val="accent5"/>
            </a:solidFill>
          </a:ln>
        </p:spPr>
      </p:pic>
      <p:pic>
        <p:nvPicPr>
          <p:cNvPr id="9" name="圖片 8"/>
          <p:cNvPicPr>
            <a:picLocks noChangeAspect="1"/>
          </p:cNvPicPr>
          <p:nvPr/>
        </p:nvPicPr>
        <p:blipFill>
          <a:blip r:embed="rId4"/>
          <a:stretch>
            <a:fillRect/>
          </a:stretch>
        </p:blipFill>
        <p:spPr>
          <a:xfrm>
            <a:off x="4701716" y="2206999"/>
            <a:ext cx="4167476" cy="1508419"/>
          </a:xfrm>
          <a:prstGeom prst="rect">
            <a:avLst/>
          </a:prstGeom>
          <a:ln w="28575">
            <a:solidFill>
              <a:schemeClr val="accent4"/>
            </a:solidFill>
          </a:ln>
        </p:spPr>
      </p:pic>
      <p:pic>
        <p:nvPicPr>
          <p:cNvPr id="10" name="圖片 9"/>
          <p:cNvPicPr>
            <a:picLocks noChangeAspect="1"/>
          </p:cNvPicPr>
          <p:nvPr/>
        </p:nvPicPr>
        <p:blipFill>
          <a:blip r:embed="rId5"/>
          <a:stretch>
            <a:fillRect/>
          </a:stretch>
        </p:blipFill>
        <p:spPr>
          <a:xfrm>
            <a:off x="3975754" y="3949442"/>
            <a:ext cx="2906950" cy="1194058"/>
          </a:xfrm>
          <a:prstGeom prst="rect">
            <a:avLst/>
          </a:prstGeom>
          <a:ln w="19050">
            <a:solidFill>
              <a:schemeClr val="accent4"/>
            </a:solidFill>
          </a:ln>
        </p:spPr>
      </p:pic>
      <p:pic>
        <p:nvPicPr>
          <p:cNvPr id="11" name="圖片 10"/>
          <p:cNvPicPr>
            <a:picLocks noChangeAspect="1"/>
          </p:cNvPicPr>
          <p:nvPr/>
        </p:nvPicPr>
        <p:blipFill>
          <a:blip r:embed="rId6"/>
          <a:stretch>
            <a:fillRect/>
          </a:stretch>
        </p:blipFill>
        <p:spPr>
          <a:xfrm>
            <a:off x="3975754" y="3772938"/>
            <a:ext cx="4910452" cy="370776"/>
          </a:xfrm>
          <a:prstGeom prst="rect">
            <a:avLst/>
          </a:prstGeom>
          <a:ln w="19050">
            <a:solidFill>
              <a:schemeClr val="accent4"/>
            </a:solidFill>
          </a:ln>
        </p:spPr>
      </p:pic>
      <p:pic>
        <p:nvPicPr>
          <p:cNvPr id="12" name="圖片 11"/>
          <p:cNvPicPr>
            <a:picLocks noChangeAspect="1"/>
          </p:cNvPicPr>
          <p:nvPr/>
        </p:nvPicPr>
        <p:blipFill>
          <a:blip r:embed="rId7"/>
          <a:stretch>
            <a:fillRect/>
          </a:stretch>
        </p:blipFill>
        <p:spPr>
          <a:xfrm>
            <a:off x="6338805" y="4154280"/>
            <a:ext cx="2547401" cy="978653"/>
          </a:xfrm>
          <a:prstGeom prst="rect">
            <a:avLst/>
          </a:prstGeom>
          <a:ln w="19050">
            <a:solidFill>
              <a:schemeClr val="accent4"/>
            </a:solidFill>
          </a:ln>
        </p:spPr>
      </p:pic>
      <p:grpSp>
        <p:nvGrpSpPr>
          <p:cNvPr id="29" name="群組 28"/>
          <p:cNvGrpSpPr/>
          <p:nvPr/>
        </p:nvGrpSpPr>
        <p:grpSpPr>
          <a:xfrm>
            <a:off x="237355" y="610596"/>
            <a:ext cx="3650584" cy="4456045"/>
            <a:chOff x="195556" y="695137"/>
            <a:chExt cx="3468086" cy="4041998"/>
          </a:xfrm>
        </p:grpSpPr>
        <p:pic>
          <p:nvPicPr>
            <p:cNvPr id="26" name="圖片 25"/>
            <p:cNvPicPr>
              <a:picLocks noChangeAspect="1"/>
            </p:cNvPicPr>
            <p:nvPr/>
          </p:nvPicPr>
          <p:blipFill>
            <a:blip r:embed="rId8"/>
            <a:stretch>
              <a:fillRect/>
            </a:stretch>
          </p:blipFill>
          <p:spPr>
            <a:xfrm>
              <a:off x="195556" y="695137"/>
              <a:ext cx="3462828" cy="4041998"/>
            </a:xfrm>
            <a:prstGeom prst="rect">
              <a:avLst/>
            </a:prstGeom>
            <a:ln w="28575">
              <a:solidFill>
                <a:schemeClr val="accent3"/>
              </a:solidFill>
            </a:ln>
          </p:spPr>
        </p:pic>
        <p:sp>
          <p:nvSpPr>
            <p:cNvPr id="13" name="文字方塊 12"/>
            <p:cNvSpPr txBox="1"/>
            <p:nvPr/>
          </p:nvSpPr>
          <p:spPr>
            <a:xfrm>
              <a:off x="2743208" y="1778600"/>
              <a:ext cx="915176"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en-US" altLang="zh-TW" sz="1050" dirty="0" smtClean="0">
                  <a:solidFill>
                    <a:schemeClr val="bg1"/>
                  </a:solidFill>
                  <a:latin typeface="微軟正黑體" panose="020B0604030504040204" pitchFamily="34" charset="-120"/>
                  <a:ea typeface="微軟正黑體" panose="020B0604030504040204" pitchFamily="34" charset="-120"/>
                </a:rPr>
                <a:t>By Month</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5" name="文字方塊 14"/>
            <p:cNvSpPr txBox="1"/>
            <p:nvPr/>
          </p:nvSpPr>
          <p:spPr>
            <a:xfrm>
              <a:off x="2120135" y="717094"/>
              <a:ext cx="1543507"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趨勢分析</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月</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週</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天</a:t>
              </a:r>
              <a:r>
                <a:rPr lang="en-US" altLang="zh-TW" sz="1050" dirty="0" smtClean="0">
                  <a:solidFill>
                    <a:schemeClr val="bg1"/>
                  </a:solidFill>
                  <a:latin typeface="微軟正黑體" panose="020B0604030504040204" pitchFamily="34" charset="-120"/>
                  <a:ea typeface="微軟正黑體" panose="020B0604030504040204" pitchFamily="34" charset="-120"/>
                </a:rPr>
                <a:t>)</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6" name="文字方塊 15"/>
            <p:cNvSpPr txBox="1"/>
            <p:nvPr/>
          </p:nvSpPr>
          <p:spPr>
            <a:xfrm>
              <a:off x="2737170" y="3194110"/>
              <a:ext cx="915176"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en-US" altLang="zh-TW" sz="1050" dirty="0" smtClean="0">
                  <a:solidFill>
                    <a:schemeClr val="bg1"/>
                  </a:solidFill>
                  <a:latin typeface="微軟正黑體" panose="020B0604030504040204" pitchFamily="34" charset="-120"/>
                  <a:ea typeface="微軟正黑體" panose="020B0604030504040204" pitchFamily="34" charset="-120"/>
                </a:rPr>
                <a:t>By Week</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7" name="文字方塊 16"/>
            <p:cNvSpPr txBox="1"/>
            <p:nvPr/>
          </p:nvSpPr>
          <p:spPr>
            <a:xfrm>
              <a:off x="2748466" y="4482662"/>
              <a:ext cx="915176"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en-US" altLang="zh-TW" sz="1050" dirty="0" smtClean="0">
                  <a:solidFill>
                    <a:schemeClr val="bg1"/>
                  </a:solidFill>
                  <a:latin typeface="微軟正黑體" panose="020B0604030504040204" pitchFamily="34" charset="-120"/>
                  <a:ea typeface="微軟正黑體" panose="020B0604030504040204" pitchFamily="34" charset="-120"/>
                </a:rPr>
                <a:t>By Day</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grpSp>
      <p:sp>
        <p:nvSpPr>
          <p:cNvPr id="18" name="文字方塊 17"/>
          <p:cNvSpPr txBox="1"/>
          <p:nvPr/>
        </p:nvSpPr>
        <p:spPr>
          <a:xfrm>
            <a:off x="7521153" y="656203"/>
            <a:ext cx="133934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每日動態</a:t>
            </a:r>
            <a:r>
              <a:rPr lang="en-US" altLang="zh-TW" sz="1050" dirty="0" smtClean="0">
                <a:solidFill>
                  <a:schemeClr val="bg1"/>
                </a:solidFill>
                <a:latin typeface="微軟正黑體" panose="020B0604030504040204" pitchFamily="34" charset="-120"/>
                <a:ea typeface="微軟正黑體" panose="020B0604030504040204" pitchFamily="34" charset="-120"/>
              </a:rPr>
              <a:t>spec</a:t>
            </a:r>
            <a:r>
              <a:rPr lang="zh-TW" altLang="en-US" sz="1050" dirty="0" smtClean="0">
                <a:solidFill>
                  <a:schemeClr val="bg1"/>
                </a:solidFill>
                <a:latin typeface="微軟正黑體" panose="020B0604030504040204" pitchFamily="34" charset="-120"/>
                <a:ea typeface="微軟正黑體" panose="020B0604030504040204" pitchFamily="34" charset="-120"/>
              </a:rPr>
              <a:t>詳情</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9" name="文字方塊 18"/>
          <p:cNvSpPr txBox="1"/>
          <p:nvPr/>
        </p:nvSpPr>
        <p:spPr>
          <a:xfrm>
            <a:off x="7642717" y="2191641"/>
            <a:ext cx="122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預設</a:t>
            </a:r>
            <a:r>
              <a:rPr lang="en-US" altLang="zh-TW" sz="1050" dirty="0" smtClean="0">
                <a:solidFill>
                  <a:schemeClr val="bg1"/>
                </a:solidFill>
                <a:latin typeface="微軟正黑體" panose="020B0604030504040204" pitchFamily="34" charset="-120"/>
                <a:ea typeface="微軟正黑體" panose="020B0604030504040204" pitchFamily="34" charset="-120"/>
              </a:rPr>
              <a:t>spec</a:t>
            </a:r>
            <a:r>
              <a:rPr lang="zh-TW" altLang="en-US" sz="1050" dirty="0" smtClean="0">
                <a:solidFill>
                  <a:schemeClr val="bg1"/>
                </a:solidFill>
                <a:latin typeface="微軟正黑體" panose="020B0604030504040204" pitchFamily="34" charset="-120"/>
                <a:ea typeface="微軟正黑體" panose="020B0604030504040204" pitchFamily="34" charset="-120"/>
              </a:rPr>
              <a:t>資料表</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0" name="文字方塊 19"/>
          <p:cNvSpPr txBox="1"/>
          <p:nvPr/>
        </p:nvSpPr>
        <p:spPr>
          <a:xfrm>
            <a:off x="8291010" y="3755143"/>
            <a:ext cx="58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新增</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1" name="文字方塊 20"/>
          <p:cNvSpPr txBox="1"/>
          <p:nvPr/>
        </p:nvSpPr>
        <p:spPr>
          <a:xfrm>
            <a:off x="5752330" y="4879017"/>
            <a:ext cx="58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修改</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2" name="文字方塊 21"/>
          <p:cNvSpPr txBox="1"/>
          <p:nvPr/>
        </p:nvSpPr>
        <p:spPr>
          <a:xfrm>
            <a:off x="8310247" y="4868969"/>
            <a:ext cx="58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刪除</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grpSp>
        <p:nvGrpSpPr>
          <p:cNvPr id="36" name="群組 35"/>
          <p:cNvGrpSpPr/>
          <p:nvPr/>
        </p:nvGrpSpPr>
        <p:grpSpPr>
          <a:xfrm>
            <a:off x="3248419" y="207038"/>
            <a:ext cx="926947" cy="403558"/>
            <a:chOff x="1431035" y="1612165"/>
            <a:chExt cx="926947" cy="403558"/>
          </a:xfrm>
        </p:grpSpPr>
        <p:sp>
          <p:nvSpPr>
            <p:cNvPr id="34" name="向左箭號圖說文字 33"/>
            <p:cNvSpPr/>
            <p:nvPr/>
          </p:nvSpPr>
          <p:spPr>
            <a:xfrm rot="16200000" flipV="1">
              <a:off x="1691086" y="1352114"/>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p:nvSpPr>
          <p:spPr>
            <a:xfrm>
              <a:off x="1440744" y="1623171"/>
              <a:ext cx="917238" cy="261610"/>
            </a:xfrm>
            <a:prstGeom prst="rect">
              <a:avLst/>
            </a:prstGeom>
          </p:spPr>
          <p:txBody>
            <a:bodyPr wrap="none">
              <a:spAutoFit/>
            </a:bodyPr>
            <a:lstStyle/>
            <a:p>
              <a:pPr algn="ctr"/>
              <a:r>
                <a:rPr lang="en-US" altLang="zh-TW" sz="1100" dirty="0"/>
                <a:t>Analyze API</a:t>
              </a:r>
              <a:endParaRPr lang="zh-TW" altLang="en-US" sz="1100" dirty="0"/>
            </a:p>
          </p:txBody>
        </p:sp>
      </p:grpSp>
      <p:grpSp>
        <p:nvGrpSpPr>
          <p:cNvPr id="43" name="群組 42"/>
          <p:cNvGrpSpPr/>
          <p:nvPr/>
        </p:nvGrpSpPr>
        <p:grpSpPr>
          <a:xfrm>
            <a:off x="6045567" y="211175"/>
            <a:ext cx="923659" cy="403558"/>
            <a:chOff x="1435765" y="1620001"/>
            <a:chExt cx="923659" cy="403558"/>
          </a:xfrm>
        </p:grpSpPr>
        <p:sp>
          <p:nvSpPr>
            <p:cNvPr id="44" name="向左箭號圖說文字 43"/>
            <p:cNvSpPr/>
            <p:nvPr/>
          </p:nvSpPr>
          <p:spPr>
            <a:xfrm rot="16200000" flipV="1">
              <a:off x="1695816" y="1359950"/>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5" name="矩形 44"/>
            <p:cNvSpPr/>
            <p:nvPr/>
          </p:nvSpPr>
          <p:spPr>
            <a:xfrm>
              <a:off x="1506466" y="1623171"/>
              <a:ext cx="785793" cy="261610"/>
            </a:xfrm>
            <a:prstGeom prst="rect">
              <a:avLst/>
            </a:prstGeom>
          </p:spPr>
          <p:txBody>
            <a:bodyPr wrap="none">
              <a:spAutoFit/>
            </a:bodyPr>
            <a:lstStyle/>
            <a:p>
              <a:pPr algn="ctr"/>
              <a:r>
                <a:rPr lang="en-US" altLang="zh-TW" sz="1100" dirty="0" smtClean="0"/>
                <a:t>SPEC </a:t>
              </a:r>
              <a:r>
                <a:rPr lang="en-US" altLang="zh-TW" sz="1100" dirty="0"/>
                <a:t>API</a:t>
              </a:r>
              <a:endParaRPr lang="zh-TW" altLang="en-US" sz="1100" dirty="0"/>
            </a:p>
          </p:txBody>
        </p:sp>
      </p:grpSp>
    </p:spTree>
    <p:extLst>
      <p:ext uri="{BB962C8B-B14F-4D97-AF65-F5344CB8AC3E}">
        <p14:creationId xmlns:p14="http://schemas.microsoft.com/office/powerpoint/2010/main" val="1912046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4330066" y="463161"/>
            <a:ext cx="4471034" cy="4383159"/>
          </a:xfrm>
          <a:prstGeom prst="roundRect">
            <a:avLst>
              <a:gd name="adj" fmla="val 3265"/>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4" name="圓角矩形 3"/>
          <p:cNvSpPr/>
          <p:nvPr/>
        </p:nvSpPr>
        <p:spPr>
          <a:xfrm>
            <a:off x="127421" y="482254"/>
            <a:ext cx="4094388" cy="4364066"/>
          </a:xfrm>
          <a:prstGeom prst="roundRect">
            <a:avLst>
              <a:gd name="adj" fmla="val 4101"/>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182823" y="709441"/>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298796" y="806705"/>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a:t>— </a:t>
            </a:r>
            <a:r>
              <a:rPr lang="en-US" altLang="zh-TW" dirty="0">
                <a:latin typeface="+mn-ea"/>
                <a:cs typeface="Arial" panose="020B0604020202020204" pitchFamily="34" charset="0"/>
              </a:rPr>
              <a:t>PI AOI Inspection</a:t>
            </a:r>
            <a:r>
              <a:rPr lang="zh-TW" altLang="en-US" dirty="0">
                <a:latin typeface="+mn-ea"/>
                <a:cs typeface="Arial" panose="020B0604020202020204" pitchFamily="34" charset="0"/>
              </a:rPr>
              <a:t>可視化監控系統</a:t>
            </a:r>
            <a:endParaRPr lang="zh-TW" altLang="zh-TW" dirty="0"/>
          </a:p>
        </p:txBody>
      </p:sp>
      <p:sp>
        <p:nvSpPr>
          <p:cNvPr id="52" name="椭圆 66"/>
          <p:cNvSpPr/>
          <p:nvPr/>
        </p:nvSpPr>
        <p:spPr bwMode="auto">
          <a:xfrm rot="4723889">
            <a:off x="1857114" y="156760"/>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3" name="组合 67"/>
          <p:cNvGrpSpPr>
            <a:grpSpLocks/>
          </p:cNvGrpSpPr>
          <p:nvPr/>
        </p:nvGrpSpPr>
        <p:grpSpPr bwMode="auto">
          <a:xfrm rot="5400000">
            <a:off x="1651788" y="180017"/>
            <a:ext cx="951398" cy="1215148"/>
            <a:chOff x="1123476" y="1681897"/>
            <a:chExt cx="3206311" cy="2990785"/>
          </a:xfrm>
        </p:grpSpPr>
        <p:grpSp>
          <p:nvGrpSpPr>
            <p:cNvPr id="54" name="组合 68"/>
            <p:cNvGrpSpPr>
              <a:grpSpLocks/>
            </p:cNvGrpSpPr>
            <p:nvPr/>
          </p:nvGrpSpPr>
          <p:grpSpPr bwMode="auto">
            <a:xfrm>
              <a:off x="1123476" y="1763461"/>
              <a:ext cx="2798050" cy="2798050"/>
              <a:chOff x="1123476" y="1763461"/>
              <a:chExt cx="2798050" cy="2798050"/>
            </a:xfrm>
          </p:grpSpPr>
          <p:sp>
            <p:nvSpPr>
              <p:cNvPr id="60" name="弧形 59"/>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1" name="弧形 60"/>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5" name="组合 69"/>
            <p:cNvGrpSpPr>
              <a:grpSpLocks/>
            </p:cNvGrpSpPr>
            <p:nvPr/>
          </p:nvGrpSpPr>
          <p:grpSpPr bwMode="auto">
            <a:xfrm rot="-7200000">
              <a:off x="1273270" y="1616165"/>
              <a:ext cx="2990785" cy="3122249"/>
              <a:chOff x="891209" y="1807143"/>
              <a:chExt cx="2990785" cy="3122249"/>
            </a:xfrm>
          </p:grpSpPr>
          <p:sp>
            <p:nvSpPr>
              <p:cNvPr id="56" name="弧形 55"/>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7" name="弧形 56"/>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64" name="矩形 63"/>
          <p:cNvSpPr/>
          <p:nvPr/>
        </p:nvSpPr>
        <p:spPr>
          <a:xfrm>
            <a:off x="1595089" y="610537"/>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65" name="椭圆 66"/>
          <p:cNvSpPr/>
          <p:nvPr/>
        </p:nvSpPr>
        <p:spPr bwMode="auto">
          <a:xfrm rot="4723889">
            <a:off x="6484424" y="222111"/>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6" name="组合 67"/>
          <p:cNvGrpSpPr>
            <a:grpSpLocks/>
          </p:cNvGrpSpPr>
          <p:nvPr/>
        </p:nvGrpSpPr>
        <p:grpSpPr bwMode="auto">
          <a:xfrm rot="4723889">
            <a:off x="6409454" y="278184"/>
            <a:ext cx="671560" cy="961309"/>
            <a:chOff x="1123476" y="1681897"/>
            <a:chExt cx="3206311" cy="2990785"/>
          </a:xfrm>
        </p:grpSpPr>
        <p:grpSp>
          <p:nvGrpSpPr>
            <p:cNvPr id="67" name="组合 68"/>
            <p:cNvGrpSpPr>
              <a:grpSpLocks/>
            </p:cNvGrpSpPr>
            <p:nvPr/>
          </p:nvGrpSpPr>
          <p:grpSpPr bwMode="auto">
            <a:xfrm>
              <a:off x="1123476" y="1763461"/>
              <a:ext cx="2798050" cy="2798050"/>
              <a:chOff x="1123476" y="1763461"/>
              <a:chExt cx="2798050" cy="2798050"/>
            </a:xfrm>
          </p:grpSpPr>
          <p:sp>
            <p:nvSpPr>
              <p:cNvPr id="73" name="弧形 72"/>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4" name="弧形 73"/>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8" name="组合 69"/>
            <p:cNvGrpSpPr>
              <a:grpSpLocks/>
            </p:cNvGrpSpPr>
            <p:nvPr/>
          </p:nvGrpSpPr>
          <p:grpSpPr bwMode="auto">
            <a:xfrm rot="-7200000">
              <a:off x="1273270" y="1616165"/>
              <a:ext cx="2990785" cy="3122249"/>
              <a:chOff x="891209" y="1807143"/>
              <a:chExt cx="2990785" cy="3122249"/>
            </a:xfrm>
          </p:grpSpPr>
          <p:sp>
            <p:nvSpPr>
              <p:cNvPr id="69" name="弧形 68"/>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0" name="弧形 69"/>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77" name="矩形 76"/>
          <p:cNvSpPr/>
          <p:nvPr/>
        </p:nvSpPr>
        <p:spPr>
          <a:xfrm>
            <a:off x="6243873" y="544607"/>
            <a:ext cx="100272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改善後</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79" name="矩形 78">
            <a:extLst>
              <a:ext uri="{FF2B5EF4-FFF2-40B4-BE49-F238E27FC236}">
                <a16:creationId xmlns:a16="http://schemas.microsoft.com/office/drawing/2014/main" xmlns="" id="{9BE08482-D953-47F4-81A8-BD823C2E476A}"/>
              </a:ext>
            </a:extLst>
          </p:cNvPr>
          <p:cNvSpPr/>
          <p:nvPr/>
        </p:nvSpPr>
        <p:spPr>
          <a:xfrm>
            <a:off x="202624" y="1145692"/>
            <a:ext cx="4006209" cy="1246495"/>
          </a:xfrm>
          <a:prstGeom prst="rect">
            <a:avLst/>
          </a:prstGeom>
          <a:noFill/>
        </p:spPr>
        <p:txBody>
          <a:bodyPr wrap="square">
            <a:spAutoFit/>
          </a:bodyPr>
          <a:lstStyle/>
          <a:p>
            <a:pPr marL="171450" lvl="0" indent="-171450">
              <a:lnSpc>
                <a:spcPct val="150000"/>
              </a:lnSpc>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缺乏即時性</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報表最新時間與</a:t>
            </a:r>
            <a:r>
              <a:rPr lang="en-US" altLang="zh-TW" sz="1000" dirty="0">
                <a:latin typeface="微軟正黑體" panose="020B0604030504040204" pitchFamily="34" charset="-120"/>
                <a:ea typeface="微軟正黑體" panose="020B0604030504040204" pitchFamily="34" charset="-120"/>
              </a:rPr>
              <a:t>PI</a:t>
            </a:r>
            <a:r>
              <a:rPr lang="zh-TW" altLang="en-US" sz="1000" dirty="0">
                <a:latin typeface="微軟正黑體" panose="020B0604030504040204" pitchFamily="34" charset="-120"/>
                <a:ea typeface="微軟正黑體" panose="020B0604030504040204" pitchFamily="34" charset="-120"/>
              </a:rPr>
              <a:t>時間差距約</a:t>
            </a:r>
            <a:r>
              <a:rPr lang="en-US" altLang="zh-TW" sz="1000" dirty="0">
                <a:latin typeface="微軟正黑體" panose="020B0604030504040204" pitchFamily="34" charset="-120"/>
                <a:ea typeface="微軟正黑體" panose="020B0604030504040204" pitchFamily="34" charset="-120"/>
              </a:rPr>
              <a:t>6</a:t>
            </a:r>
            <a:r>
              <a:rPr lang="zh-TW" altLang="en-US" sz="1000" dirty="0">
                <a:latin typeface="微軟正黑體" panose="020B0604030504040204" pitchFamily="34" charset="-120"/>
                <a:ea typeface="微軟正黑體" panose="020B0604030504040204" pitchFamily="34" charset="-120"/>
              </a:rPr>
              <a:t>小時，候貨時間拉長</a:t>
            </a:r>
          </a:p>
          <a:p>
            <a:pPr marL="171450" lvl="0" indent="-171450">
              <a:lnSpc>
                <a:spcPct val="150000"/>
              </a:lnSpc>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無法及時運算</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為預先設置條件計算，篩選後部分資料為錯誤資訊</a:t>
            </a:r>
          </a:p>
          <a:p>
            <a:pPr marL="171450" lvl="0" indent="-171450">
              <a:lnSpc>
                <a:spcPct val="150000"/>
              </a:lnSpc>
              <a:buFont typeface="Arial" panose="020B0604020202020204" pitchFamily="34" charset="0"/>
              <a:buChar char="•"/>
            </a:pPr>
            <a:r>
              <a:rPr lang="en-US" altLang="zh-TW" sz="1000" dirty="0">
                <a:latin typeface="微軟正黑體" panose="020B0604030504040204" pitchFamily="34" charset="-120"/>
                <a:ea typeface="微軟正黑體" panose="020B0604030504040204" pitchFamily="34" charset="-120"/>
              </a:rPr>
              <a:t>spec</a:t>
            </a:r>
            <a:r>
              <a:rPr lang="zh-TW" altLang="en-US" sz="1000" dirty="0">
                <a:latin typeface="微軟正黑體" panose="020B0604030504040204" pitchFamily="34" charset="-120"/>
                <a:ea typeface="微軟正黑體" panose="020B0604030504040204" pitchFamily="34" charset="-120"/>
              </a:rPr>
              <a:t>無法自主修改</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由後端開發人員設定，無法自主修改</a:t>
            </a:r>
          </a:p>
          <a:p>
            <a:pPr marL="171450" lvl="0" indent="-171450">
              <a:lnSpc>
                <a:spcPct val="150000"/>
              </a:lnSpc>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無長期資料儲存，只能查詢短期內</a:t>
            </a:r>
            <a:r>
              <a:rPr lang="zh-TW" altLang="en-US" sz="1000" dirty="0" smtClean="0">
                <a:latin typeface="微軟正黑體" panose="020B0604030504040204" pitchFamily="34" charset="-120"/>
                <a:ea typeface="微軟正黑體" panose="020B0604030504040204" pitchFamily="34" charset="-120"/>
              </a:rPr>
              <a:t>資料</a:t>
            </a:r>
            <a:endParaRPr lang="en-US" altLang="zh-TW" sz="1000" dirty="0" smtClean="0">
              <a:latin typeface="微軟正黑體" panose="020B0604030504040204" pitchFamily="34" charset="-120"/>
              <a:ea typeface="微軟正黑體" panose="020B0604030504040204" pitchFamily="34" charset="-120"/>
            </a:endParaRPr>
          </a:p>
          <a:p>
            <a:pPr marL="171450" lvl="0" indent="-171450">
              <a:lnSpc>
                <a:spcPct val="150000"/>
              </a:lnSpc>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影像資訊需去別的儲存端點依照</a:t>
            </a:r>
            <a:r>
              <a:rPr lang="en-US" altLang="zh-TW" sz="1000" dirty="0" smtClean="0">
                <a:latin typeface="微軟正黑體" panose="020B0604030504040204" pitchFamily="34" charset="-120"/>
                <a:ea typeface="微軟正黑體" panose="020B0604030504040204" pitchFamily="34" charset="-120"/>
              </a:rPr>
              <a:t>run</a:t>
            </a:r>
            <a:r>
              <a:rPr lang="zh-TW" altLang="en-US" sz="1000" dirty="0">
                <a:latin typeface="微軟正黑體" panose="020B0604030504040204" pitchFamily="34" charset="-120"/>
                <a:ea typeface="微軟正黑體" panose="020B0604030504040204" pitchFamily="34" charset="-120"/>
              </a:rPr>
              <a:t>貨</a:t>
            </a:r>
            <a:r>
              <a:rPr lang="zh-TW" altLang="en-US" sz="1000" dirty="0" smtClean="0">
                <a:latin typeface="微軟正黑體" panose="020B0604030504040204" pitchFamily="34" charset="-120"/>
                <a:ea typeface="微軟正黑體" panose="020B0604030504040204" pitchFamily="34" charset="-120"/>
              </a:rPr>
              <a:t>資訊查</a:t>
            </a:r>
            <a:r>
              <a:rPr lang="zh-TW" altLang="en-US" sz="1000" dirty="0">
                <a:latin typeface="微軟正黑體" panose="020B0604030504040204" pitchFamily="34" charset="-120"/>
                <a:ea typeface="微軟正黑體" panose="020B0604030504040204" pitchFamily="34" charset="-120"/>
              </a:rPr>
              <a:t>找</a:t>
            </a:r>
          </a:p>
        </p:txBody>
      </p:sp>
      <p:sp>
        <p:nvSpPr>
          <p:cNvPr id="90" name="矩形 89"/>
          <p:cNvSpPr/>
          <p:nvPr/>
        </p:nvSpPr>
        <p:spPr>
          <a:xfrm>
            <a:off x="4923177" y="3774919"/>
            <a:ext cx="3689295" cy="872422"/>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79" name="矩形 178"/>
          <p:cNvSpPr/>
          <p:nvPr/>
        </p:nvSpPr>
        <p:spPr>
          <a:xfrm>
            <a:off x="195859" y="740459"/>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grpSp>
        <p:nvGrpSpPr>
          <p:cNvPr id="91" name="群組 90"/>
          <p:cNvGrpSpPr/>
          <p:nvPr/>
        </p:nvGrpSpPr>
        <p:grpSpPr>
          <a:xfrm>
            <a:off x="4394365" y="3645806"/>
            <a:ext cx="705005" cy="387365"/>
            <a:chOff x="123817" y="3086036"/>
            <a:chExt cx="743568" cy="298386"/>
          </a:xfrm>
          <a:solidFill>
            <a:srgbClr val="005087"/>
          </a:solidFill>
        </p:grpSpPr>
        <p:sp>
          <p:nvSpPr>
            <p:cNvPr id="92" name="圓角矩形 91"/>
            <p:cNvSpPr/>
            <p:nvPr/>
          </p:nvSpPr>
          <p:spPr>
            <a:xfrm>
              <a:off x="175333" y="3086036"/>
              <a:ext cx="640538" cy="248768"/>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3" name="矩形 92">
              <a:extLst>
                <a:ext uri="{FF2B5EF4-FFF2-40B4-BE49-F238E27FC236}">
                  <a16:creationId xmlns:a16="http://schemas.microsoft.com/office/drawing/2014/main" xmlns="" id="{2FB82B3E-7C5A-4E57-B159-B07D5CBA84B6}"/>
                </a:ext>
              </a:extLst>
            </p:cNvPr>
            <p:cNvSpPr/>
            <p:nvPr/>
          </p:nvSpPr>
          <p:spPr>
            <a:xfrm>
              <a:off x="123817" y="3107423"/>
              <a:ext cx="743568" cy="276999"/>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pic>
        <p:nvPicPr>
          <p:cNvPr id="78" name="圖片 77"/>
          <p:cNvPicPr>
            <a:picLocks noChangeAspect="1"/>
          </p:cNvPicPr>
          <p:nvPr/>
        </p:nvPicPr>
        <p:blipFill>
          <a:blip r:embed="rId3"/>
          <a:stretch>
            <a:fillRect/>
          </a:stretch>
        </p:blipFill>
        <p:spPr>
          <a:xfrm>
            <a:off x="515358" y="2487725"/>
            <a:ext cx="3413625" cy="2263057"/>
          </a:xfrm>
          <a:prstGeom prst="rect">
            <a:avLst/>
          </a:prstGeom>
        </p:spPr>
      </p:pic>
      <p:sp>
        <p:nvSpPr>
          <p:cNvPr id="80" name="矩形 79"/>
          <p:cNvSpPr/>
          <p:nvPr/>
        </p:nvSpPr>
        <p:spPr>
          <a:xfrm>
            <a:off x="4603454" y="1152351"/>
            <a:ext cx="4009018" cy="784830"/>
          </a:xfrm>
          <a:prstGeom prst="rect">
            <a:avLst/>
          </a:prstGeom>
          <a:noFill/>
        </p:spPr>
        <p:txBody>
          <a:bodyPr wrap="square">
            <a:spAutoFit/>
          </a:bodyPr>
          <a:lstStyle/>
          <a:p>
            <a:pPr>
              <a:lnSpc>
                <a:spcPct val="150000"/>
              </a:lnSpc>
              <a:buClr>
                <a:schemeClr val="tx1"/>
              </a:buClr>
            </a:pPr>
            <a:r>
              <a:rPr lang="en-US" altLang="zh-TW" sz="1000" dirty="0" smtClean="0">
                <a:solidFill>
                  <a:srgbClr val="0000FF"/>
                </a:solidFill>
                <a:latin typeface="+mn-ea"/>
                <a:ea typeface="+mn-ea"/>
                <a:sym typeface="Wingdings" panose="05000000000000000000" pitchFamily="2" charset="2"/>
              </a:rPr>
              <a:t>Data Fusion</a:t>
            </a:r>
            <a:r>
              <a:rPr lang="zh-TW" altLang="en-US" sz="1000" dirty="0">
                <a:latin typeface="+mn-ea"/>
                <a:ea typeface="+mn-ea"/>
                <a:sym typeface="Wingdings" panose="05000000000000000000" pitchFamily="2" charset="2"/>
              </a:rPr>
              <a:t> </a:t>
            </a:r>
            <a:r>
              <a:rPr lang="zh-TW" altLang="en-US" sz="1000" dirty="0" smtClean="0">
                <a:latin typeface="+mn-ea"/>
                <a:ea typeface="+mn-ea"/>
                <a:sym typeface="Wingdings" panose="05000000000000000000" pitchFamily="2" charset="2"/>
              </a:rPr>
              <a:t>：</a:t>
            </a:r>
            <a:r>
              <a:rPr lang="en-US" altLang="zh-TW" sz="1000" dirty="0" smtClean="0">
                <a:latin typeface="+mn-ea"/>
                <a:ea typeface="+mn-ea"/>
                <a:sym typeface="Wingdings" panose="05000000000000000000" pitchFamily="2" charset="2"/>
              </a:rPr>
              <a:t>Data</a:t>
            </a:r>
            <a:r>
              <a:rPr lang="zh-TW" altLang="en-US" sz="1000" dirty="0" smtClean="0">
                <a:latin typeface="+mn-ea"/>
                <a:ea typeface="+mn-ea"/>
                <a:sym typeface="Wingdings" panose="05000000000000000000" pitchFamily="2" charset="2"/>
              </a:rPr>
              <a:t> </a:t>
            </a:r>
            <a:r>
              <a:rPr lang="en-US" altLang="zh-TW" sz="1000" dirty="0" smtClean="0">
                <a:latin typeface="+mn-ea"/>
                <a:ea typeface="+mn-ea"/>
                <a:sym typeface="Wingdings" panose="05000000000000000000" pitchFamily="2" charset="2"/>
              </a:rPr>
              <a:t>Mall</a:t>
            </a:r>
            <a:r>
              <a:rPr lang="zh-TW" altLang="en-US" sz="1000" dirty="0" smtClean="0">
                <a:latin typeface="+mn-ea"/>
                <a:ea typeface="+mn-ea"/>
                <a:sym typeface="Wingdings" panose="05000000000000000000" pitchFamily="2" charset="2"/>
              </a:rPr>
              <a:t>資料提取</a:t>
            </a:r>
            <a:r>
              <a:rPr lang="en-US" altLang="zh-TW" sz="1000" dirty="0" smtClean="0">
                <a:latin typeface="+mn-ea"/>
                <a:ea typeface="+mn-ea"/>
                <a:sym typeface="Wingdings" panose="05000000000000000000" pitchFamily="2" charset="2"/>
              </a:rPr>
              <a:t>&amp;</a:t>
            </a:r>
            <a:r>
              <a:rPr lang="zh-TW" altLang="en-US" sz="1000" dirty="0" smtClean="0">
                <a:latin typeface="+mn-ea"/>
                <a:ea typeface="+mn-ea"/>
                <a:sym typeface="Wingdings" panose="05000000000000000000" pitchFamily="2" charset="2"/>
              </a:rPr>
              <a:t>清理</a:t>
            </a:r>
            <a:r>
              <a:rPr lang="en-US" altLang="zh-TW" sz="1000" dirty="0" smtClean="0">
                <a:latin typeface="+mn-ea"/>
                <a:ea typeface="+mn-ea"/>
                <a:sym typeface="Wingdings" panose="05000000000000000000" pitchFamily="2" charset="2"/>
              </a:rPr>
              <a:t>&amp;</a:t>
            </a:r>
            <a:r>
              <a:rPr lang="zh-TW" altLang="en-US" sz="1000" dirty="0" smtClean="0">
                <a:latin typeface="+mn-ea"/>
                <a:ea typeface="+mn-ea"/>
                <a:sym typeface="Wingdings" panose="05000000000000000000" pitchFamily="2" charset="2"/>
              </a:rPr>
              <a:t>串接</a:t>
            </a:r>
            <a:endParaRPr lang="en-US" altLang="zh-TW" sz="1000" dirty="0" smtClean="0">
              <a:latin typeface="+mn-ea"/>
              <a:ea typeface="+mn-ea"/>
              <a:sym typeface="Wingdings" panose="05000000000000000000" pitchFamily="2" charset="2"/>
            </a:endParaRPr>
          </a:p>
          <a:p>
            <a:pPr>
              <a:lnSpc>
                <a:spcPct val="150000"/>
              </a:lnSpc>
              <a:buClr>
                <a:schemeClr val="tx1"/>
              </a:buClr>
            </a:pPr>
            <a:r>
              <a:rPr lang="zh-TW" altLang="en-US" sz="1000" dirty="0" smtClean="0">
                <a:solidFill>
                  <a:srgbClr val="0000FF"/>
                </a:solidFill>
                <a:latin typeface="+mn-ea"/>
                <a:ea typeface="+mn-ea"/>
              </a:rPr>
              <a:t>資料庫建置</a:t>
            </a:r>
            <a:r>
              <a:rPr lang="zh-TW" altLang="en-US" sz="1000" dirty="0" smtClean="0">
                <a:latin typeface="+mn-ea"/>
                <a:ea typeface="+mn-ea"/>
                <a:sym typeface="Wingdings" panose="05000000000000000000" pitchFamily="2" charset="2"/>
              </a:rPr>
              <a:t>：建置</a:t>
            </a:r>
            <a:r>
              <a:rPr lang="zh-TW" altLang="en-US" sz="1000" dirty="0" smtClean="0">
                <a:latin typeface="+mn-ea"/>
                <a:ea typeface="+mn-ea"/>
              </a:rPr>
              <a:t>資料庫儲存每日相關資</a:t>
            </a:r>
            <a:r>
              <a:rPr lang="zh-TW" altLang="en-US" sz="1000" dirty="0">
                <a:latin typeface="+mn-ea"/>
                <a:ea typeface="+mn-ea"/>
              </a:rPr>
              <a:t>料</a:t>
            </a:r>
            <a:r>
              <a:rPr lang="zh-TW" altLang="en-US" sz="1000" dirty="0" smtClean="0">
                <a:latin typeface="+mn-ea"/>
                <a:ea typeface="+mn-ea"/>
              </a:rPr>
              <a:t>供歷史回查</a:t>
            </a:r>
            <a:endParaRPr lang="en-US" altLang="zh-TW" sz="1000" dirty="0" smtClean="0">
              <a:latin typeface="+mn-ea"/>
              <a:ea typeface="+mn-ea"/>
            </a:endParaRPr>
          </a:p>
          <a:p>
            <a:pPr>
              <a:lnSpc>
                <a:spcPct val="150000"/>
              </a:lnSpc>
              <a:buClr>
                <a:schemeClr val="tx1"/>
              </a:buClr>
            </a:pPr>
            <a:r>
              <a:rPr lang="zh-TW" altLang="en-US" sz="1000" dirty="0">
                <a:solidFill>
                  <a:srgbClr val="0000FF"/>
                </a:solidFill>
                <a:latin typeface="+mn-ea"/>
                <a:ea typeface="+mn-ea"/>
              </a:rPr>
              <a:t>網站</a:t>
            </a:r>
            <a:r>
              <a:rPr lang="zh-TW" altLang="en-US" sz="1000" dirty="0" smtClean="0">
                <a:solidFill>
                  <a:srgbClr val="0000FF"/>
                </a:solidFill>
                <a:latin typeface="+mn-ea"/>
                <a:ea typeface="+mn-ea"/>
              </a:rPr>
              <a:t>建置</a:t>
            </a:r>
            <a:r>
              <a:rPr lang="zh-TW" altLang="en-US" sz="1000" dirty="0" smtClean="0">
                <a:latin typeface="+mn-ea"/>
                <a:ea typeface="+mn-ea"/>
                <a:sym typeface="Wingdings" panose="05000000000000000000" pitchFamily="2" charset="2"/>
              </a:rPr>
              <a:t>： </a:t>
            </a:r>
            <a:endParaRPr lang="en-US" altLang="zh-TW" sz="1000" dirty="0" smtClean="0">
              <a:latin typeface="+mn-ea"/>
              <a:ea typeface="+mn-ea"/>
              <a:sym typeface="Wingdings" panose="05000000000000000000" pitchFamily="2" charset="2"/>
            </a:endParaRPr>
          </a:p>
        </p:txBody>
      </p:sp>
      <p:pic>
        <p:nvPicPr>
          <p:cNvPr id="81" name="圖片 80"/>
          <p:cNvPicPr>
            <a:picLocks noChangeAspect="1"/>
          </p:cNvPicPr>
          <p:nvPr/>
        </p:nvPicPr>
        <p:blipFill>
          <a:blip r:embed="rId4"/>
          <a:stretch>
            <a:fillRect/>
          </a:stretch>
        </p:blipFill>
        <p:spPr>
          <a:xfrm>
            <a:off x="4631588" y="1937181"/>
            <a:ext cx="3697103" cy="1638759"/>
          </a:xfrm>
          <a:prstGeom prst="rect">
            <a:avLst/>
          </a:prstGeom>
        </p:spPr>
      </p:pic>
      <p:sp>
        <p:nvSpPr>
          <p:cNvPr id="44" name="矩形 43"/>
          <p:cNvSpPr/>
          <p:nvPr/>
        </p:nvSpPr>
        <p:spPr>
          <a:xfrm>
            <a:off x="4905243" y="3882028"/>
            <a:ext cx="3707229" cy="931024"/>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tLang="zh-TW" sz="1000" dirty="0" smtClean="0">
                <a:latin typeface="+mn-ea"/>
              </a:rPr>
              <a:t>1.</a:t>
            </a:r>
            <a:r>
              <a:rPr lang="zh-TW" altLang="en-US" sz="1000" dirty="0">
                <a:latin typeface="+mn-ea"/>
              </a:rPr>
              <a:t>節省</a:t>
            </a:r>
            <a:r>
              <a:rPr lang="en-US" altLang="zh-TW" sz="1400" b="1" dirty="0">
                <a:solidFill>
                  <a:srgbClr val="FF0000"/>
                </a:solidFill>
                <a:latin typeface="+mn-ea"/>
              </a:rPr>
              <a:t>2~6</a:t>
            </a:r>
            <a:r>
              <a:rPr lang="zh-TW" altLang="en-US" sz="1000" dirty="0" smtClean="0">
                <a:latin typeface="+mn-ea"/>
              </a:rPr>
              <a:t>小時資料延遲時間</a:t>
            </a:r>
            <a:r>
              <a:rPr lang="en-US" altLang="zh-TW" sz="1000" dirty="0" smtClean="0">
                <a:latin typeface="+mn-ea"/>
                <a:sym typeface="Wingdings" panose="05000000000000000000" pitchFamily="2" charset="2"/>
              </a:rPr>
              <a:t></a:t>
            </a:r>
            <a:r>
              <a:rPr lang="en-US" altLang="zh-TW" sz="1000" dirty="0" smtClean="0">
                <a:latin typeface="+mn-ea"/>
              </a:rPr>
              <a:t>15</a:t>
            </a:r>
            <a:r>
              <a:rPr lang="zh-TW" altLang="en-US" sz="1000" dirty="0" smtClean="0">
                <a:latin typeface="+mn-ea"/>
              </a:rPr>
              <a:t>分鐘，大幅提升資料即時性</a:t>
            </a:r>
            <a:endParaRPr lang="en-US" altLang="zh-TW" sz="1000" dirty="0" smtClean="0">
              <a:latin typeface="+mn-ea"/>
            </a:endParaRPr>
          </a:p>
          <a:p>
            <a:r>
              <a:rPr lang="en-US" altLang="zh-TW" sz="1000" dirty="0" smtClean="0">
                <a:latin typeface="+mn-ea"/>
              </a:rPr>
              <a:t>2.</a:t>
            </a:r>
            <a:r>
              <a:rPr lang="zh-TW" altLang="en-US" sz="1000" dirty="0" smtClean="0">
                <a:latin typeface="+mn-ea"/>
              </a:rPr>
              <a:t> 可</a:t>
            </a:r>
            <a:r>
              <a:rPr lang="zh-TW" altLang="en-US" sz="1000" dirty="0">
                <a:latin typeface="+mn-ea"/>
              </a:rPr>
              <a:t>將異常 </a:t>
            </a:r>
            <a:r>
              <a:rPr lang="en-US" altLang="zh-TW" sz="1000" dirty="0">
                <a:latin typeface="+mn-ea"/>
              </a:rPr>
              <a:t>Risk </a:t>
            </a:r>
            <a:r>
              <a:rPr lang="zh-TW" altLang="en-US" sz="1000" dirty="0">
                <a:latin typeface="+mn-ea"/>
              </a:rPr>
              <a:t>區間由</a:t>
            </a:r>
            <a:r>
              <a:rPr lang="en-US" altLang="zh-TW" sz="1000" dirty="0" smtClean="0">
                <a:latin typeface="+mn-ea"/>
              </a:rPr>
              <a:t>150~390</a:t>
            </a:r>
            <a:r>
              <a:rPr lang="zh-TW" altLang="en-US" sz="1000" dirty="0" smtClean="0">
                <a:latin typeface="+mn-ea"/>
              </a:rPr>
              <a:t> </a:t>
            </a:r>
            <a:r>
              <a:rPr lang="en-US" altLang="zh-TW" sz="1000" dirty="0" smtClean="0">
                <a:latin typeface="+mn-ea"/>
              </a:rPr>
              <a:t>Sheets</a:t>
            </a:r>
            <a:r>
              <a:rPr lang="zh-TW" altLang="en-US" sz="1000" dirty="0" smtClean="0">
                <a:latin typeface="+mn-ea"/>
              </a:rPr>
              <a:t>，縮短</a:t>
            </a:r>
            <a:r>
              <a:rPr lang="zh-TW" altLang="en-US" sz="1000" dirty="0" smtClean="0">
                <a:latin typeface="+mn-ea"/>
              </a:rPr>
              <a:t>為</a:t>
            </a:r>
            <a:r>
              <a:rPr lang="en-US" altLang="zh-TW" sz="1000" b="1" dirty="0" smtClean="0">
                <a:solidFill>
                  <a:srgbClr val="FF0000"/>
                </a:solidFill>
                <a:latin typeface="+mn-ea"/>
              </a:rPr>
              <a:t>30</a:t>
            </a:r>
            <a:r>
              <a:rPr lang="zh-TW" altLang="en-US" sz="1000" b="1" dirty="0" smtClean="0">
                <a:solidFill>
                  <a:srgbClr val="FF0000"/>
                </a:solidFill>
                <a:latin typeface="+mn-ea"/>
              </a:rPr>
              <a:t> </a:t>
            </a:r>
            <a:r>
              <a:rPr lang="en-US" altLang="zh-TW" sz="1000" b="1" dirty="0" smtClean="0">
                <a:solidFill>
                  <a:srgbClr val="FF0000"/>
                </a:solidFill>
                <a:latin typeface="+mn-ea"/>
              </a:rPr>
              <a:t>Sheets</a:t>
            </a:r>
            <a:r>
              <a:rPr lang="zh-TW" altLang="en-US" sz="1000" dirty="0" smtClean="0">
                <a:latin typeface="+mn-ea"/>
              </a:rPr>
              <a:t>，</a:t>
            </a:r>
            <a:r>
              <a:rPr lang="zh-TW" altLang="en-US" sz="1000" dirty="0" smtClean="0">
                <a:latin typeface="+mn-ea"/>
              </a:rPr>
              <a:t>節省</a:t>
            </a:r>
            <a:r>
              <a:rPr lang="en-US" altLang="zh-TW" sz="1000" dirty="0" smtClean="0">
                <a:latin typeface="+mn-ea"/>
              </a:rPr>
              <a:t>CHIP</a:t>
            </a:r>
            <a:r>
              <a:rPr lang="zh-TW" altLang="en-US" sz="1000" dirty="0" smtClean="0">
                <a:latin typeface="+mn-ea"/>
              </a:rPr>
              <a:t>報廢</a:t>
            </a:r>
            <a:endParaRPr lang="en-US" altLang="zh-TW" sz="1000" dirty="0" smtClean="0">
              <a:latin typeface="+mn-ea"/>
            </a:endParaRPr>
          </a:p>
          <a:p>
            <a:r>
              <a:rPr lang="en-US" altLang="zh-TW" sz="1000" dirty="0">
                <a:latin typeface="+mn-ea"/>
              </a:rPr>
              <a:t>3.</a:t>
            </a:r>
            <a:r>
              <a:rPr lang="zh-TW" altLang="en-US" sz="1000" dirty="0">
                <a:latin typeface="+mn-ea"/>
              </a:rPr>
              <a:t>可篩選時段延長，可評估</a:t>
            </a:r>
            <a:r>
              <a:rPr lang="en-US" altLang="zh-TW" sz="1000" dirty="0">
                <a:latin typeface="+mn-ea"/>
              </a:rPr>
              <a:t>Baseline </a:t>
            </a:r>
            <a:r>
              <a:rPr lang="zh-TW" altLang="en-US" sz="1000" dirty="0">
                <a:latin typeface="+mn-ea"/>
              </a:rPr>
              <a:t>的變化狀況</a:t>
            </a:r>
            <a:endParaRPr lang="en-US" altLang="zh-TW" sz="1000" dirty="0">
              <a:latin typeface="+mn-ea"/>
            </a:endParaRPr>
          </a:p>
          <a:p>
            <a:endParaRPr lang="en-US" altLang="zh-TW" sz="1000" dirty="0" smtClean="0">
              <a:latin typeface="+mn-ea"/>
            </a:endParaRPr>
          </a:p>
        </p:txBody>
      </p:sp>
    </p:spTree>
    <p:extLst>
      <p:ext uri="{BB962C8B-B14F-4D97-AF65-F5344CB8AC3E}">
        <p14:creationId xmlns:p14="http://schemas.microsoft.com/office/powerpoint/2010/main" val="13577347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4" name="肘形接點 233"/>
          <p:cNvCxnSpPr>
            <a:stCxn id="20" idx="3"/>
            <a:endCxn id="219" idx="5"/>
          </p:cNvCxnSpPr>
          <p:nvPr/>
        </p:nvCxnSpPr>
        <p:spPr>
          <a:xfrm rot="16200000" flipH="1">
            <a:off x="5617697" y="1494220"/>
            <a:ext cx="1634252" cy="3699994"/>
          </a:xfrm>
          <a:prstGeom prst="bentConnector4">
            <a:avLst>
              <a:gd name="adj1" fmla="val 18363"/>
              <a:gd name="adj2" fmla="val 108085"/>
            </a:avLst>
          </a:prstGeom>
          <a:ln w="19050">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 name="肘形接點 101"/>
          <p:cNvCxnSpPr>
            <a:stCxn id="20" idx="3"/>
            <a:endCxn id="69" idx="5"/>
          </p:cNvCxnSpPr>
          <p:nvPr/>
        </p:nvCxnSpPr>
        <p:spPr>
          <a:xfrm rot="16200000" flipH="1">
            <a:off x="4601875" y="2510041"/>
            <a:ext cx="1928968" cy="1963067"/>
          </a:xfrm>
          <a:prstGeom prst="bentConnector4">
            <a:avLst>
              <a:gd name="adj1" fmla="val 16121"/>
              <a:gd name="adj2" fmla="val 131459"/>
            </a:avLst>
          </a:prstGeom>
          <a:ln w="19050">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7" name="肘形接點 206"/>
          <p:cNvCxnSpPr/>
          <p:nvPr/>
        </p:nvCxnSpPr>
        <p:spPr>
          <a:xfrm rot="16200000" flipH="1">
            <a:off x="-558414" y="2832505"/>
            <a:ext cx="2556000" cy="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3" name="矩形 202"/>
          <p:cNvSpPr/>
          <p:nvPr/>
        </p:nvSpPr>
        <p:spPr>
          <a:xfrm>
            <a:off x="56601" y="1189329"/>
            <a:ext cx="3261070" cy="35441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p:nvPr>
        </p:nvSpPr>
        <p:spPr>
          <a:xfrm>
            <a:off x="386220" y="0"/>
            <a:ext cx="8482972" cy="680785"/>
          </a:xfrm>
        </p:spPr>
        <p:txBody>
          <a:bodyPr/>
          <a:lstStyle/>
          <a:p>
            <a:r>
              <a:rPr lang="en-US" altLang="zh-TW" b="1" dirty="0" smtClean="0">
                <a:latin typeface="+mj-ea"/>
              </a:rPr>
              <a:t>ETL &amp; Data Fusion</a:t>
            </a:r>
            <a:endParaRPr lang="zh-TW" altLang="en-US" b="1" dirty="0">
              <a:latin typeface="+mj-ea"/>
            </a:endParaRPr>
          </a:p>
        </p:txBody>
      </p:sp>
      <p:sp>
        <p:nvSpPr>
          <p:cNvPr id="14" name="矩形 13"/>
          <p:cNvSpPr/>
          <p:nvPr/>
        </p:nvSpPr>
        <p:spPr>
          <a:xfrm>
            <a:off x="0" y="726697"/>
            <a:ext cx="952505" cy="307777"/>
          </a:xfrm>
          <a:prstGeom prst="rect">
            <a:avLst/>
          </a:prstGeom>
        </p:spPr>
        <p:txBody>
          <a:bodyPr wrap="none">
            <a:spAutoFit/>
          </a:bodyPr>
          <a:lstStyle/>
          <a:p>
            <a:r>
              <a:rPr lang="en-US" altLang="zh-TW" sz="1400" u="sng" dirty="0"/>
              <a:t>Data mall </a:t>
            </a:r>
            <a:endParaRPr lang="zh-TW" altLang="en-US" u="sng" dirty="0"/>
          </a:p>
        </p:txBody>
      </p:sp>
      <p:grpSp>
        <p:nvGrpSpPr>
          <p:cNvPr id="16" name="群組 15"/>
          <p:cNvGrpSpPr/>
          <p:nvPr/>
        </p:nvGrpSpPr>
        <p:grpSpPr>
          <a:xfrm>
            <a:off x="1773288" y="615105"/>
            <a:ext cx="962520" cy="386299"/>
            <a:chOff x="812940" y="830579"/>
            <a:chExt cx="962520" cy="386299"/>
          </a:xfrm>
        </p:grpSpPr>
        <p:sp>
          <p:nvSpPr>
            <p:cNvPr id="13" name="流程圖: 資料 12"/>
            <p:cNvSpPr/>
            <p:nvPr/>
          </p:nvSpPr>
          <p:spPr>
            <a:xfrm>
              <a:off x="812940" y="830579"/>
              <a:ext cx="962520" cy="38629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5" name="矩形 14"/>
            <p:cNvSpPr/>
            <p:nvPr/>
          </p:nvSpPr>
          <p:spPr>
            <a:xfrm>
              <a:off x="913293" y="870339"/>
              <a:ext cx="813043" cy="338554"/>
            </a:xfrm>
            <a:prstGeom prst="rect">
              <a:avLst/>
            </a:prstGeom>
          </p:spPr>
          <p:txBody>
            <a:bodyPr wrap="none">
              <a:spAutoFit/>
            </a:bodyPr>
            <a:lstStyle/>
            <a:p>
              <a:pPr algn="ctr"/>
              <a:r>
                <a:rPr lang="zh-TW" altLang="en-US" sz="800" dirty="0" smtClean="0">
                  <a:solidFill>
                    <a:schemeClr val="bg1"/>
                  </a:solidFill>
                </a:rPr>
                <a:t>單片</a:t>
              </a:r>
              <a:r>
                <a:rPr lang="en-US" altLang="zh-TW" sz="800" dirty="0" smtClean="0">
                  <a:solidFill>
                    <a:schemeClr val="bg1"/>
                  </a:solidFill>
                </a:rPr>
                <a:t>Glass Info</a:t>
              </a:r>
            </a:p>
            <a:p>
              <a:pPr algn="ctr"/>
              <a:r>
                <a:rPr lang="zh-TW" altLang="en-US" sz="800" dirty="0" smtClean="0">
                  <a:solidFill>
                    <a:schemeClr val="bg1"/>
                  </a:solidFill>
                </a:rPr>
                <a:t> </a:t>
              </a:r>
              <a:r>
                <a:rPr lang="en-US" altLang="zh-TW" sz="800" dirty="0" smtClean="0">
                  <a:solidFill>
                    <a:schemeClr val="bg1"/>
                  </a:solidFill>
                </a:rPr>
                <a:t>AP</a:t>
              </a:r>
              <a:r>
                <a:rPr lang="en-US" altLang="zh-TW" sz="800" dirty="0">
                  <a:solidFill>
                    <a:schemeClr val="bg1"/>
                  </a:solidFill>
                </a:rPr>
                <a:t>I</a:t>
              </a:r>
              <a:endParaRPr lang="zh-TW" altLang="en-US" sz="800" dirty="0">
                <a:solidFill>
                  <a:schemeClr val="bg1"/>
                </a:solidFill>
              </a:endParaRPr>
            </a:p>
          </p:txBody>
        </p:sp>
      </p:grpSp>
      <p:grpSp>
        <p:nvGrpSpPr>
          <p:cNvPr id="17" name="群組 16"/>
          <p:cNvGrpSpPr/>
          <p:nvPr/>
        </p:nvGrpSpPr>
        <p:grpSpPr>
          <a:xfrm>
            <a:off x="5613062" y="673855"/>
            <a:ext cx="962520" cy="386299"/>
            <a:chOff x="812940" y="830579"/>
            <a:chExt cx="962520" cy="386299"/>
          </a:xfrm>
        </p:grpSpPr>
        <p:sp>
          <p:nvSpPr>
            <p:cNvPr id="18" name="流程圖: 資料 17"/>
            <p:cNvSpPr/>
            <p:nvPr/>
          </p:nvSpPr>
          <p:spPr>
            <a:xfrm>
              <a:off x="812940" y="830579"/>
              <a:ext cx="962520" cy="38629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9" name="矩形 18"/>
            <p:cNvSpPr/>
            <p:nvPr/>
          </p:nvSpPr>
          <p:spPr>
            <a:xfrm>
              <a:off x="887712" y="870811"/>
              <a:ext cx="845103" cy="338554"/>
            </a:xfrm>
            <a:prstGeom prst="rect">
              <a:avLst/>
            </a:prstGeom>
          </p:spPr>
          <p:txBody>
            <a:bodyPr wrap="none">
              <a:spAutoFit/>
            </a:bodyPr>
            <a:lstStyle/>
            <a:p>
              <a:pPr algn="ctr"/>
              <a:r>
                <a:rPr lang="en-US" altLang="zh-TW" sz="800" dirty="0" smtClean="0">
                  <a:solidFill>
                    <a:schemeClr val="bg1"/>
                  </a:solidFill>
                </a:rPr>
                <a:t>Defect</a:t>
              </a:r>
              <a:r>
                <a:rPr lang="zh-TW" altLang="en-US" sz="800" dirty="0" smtClean="0">
                  <a:solidFill>
                    <a:schemeClr val="bg1"/>
                  </a:solidFill>
                </a:rPr>
                <a:t> </a:t>
              </a:r>
              <a:r>
                <a:rPr lang="en-US" altLang="zh-TW" sz="800" dirty="0" smtClean="0">
                  <a:solidFill>
                    <a:schemeClr val="bg1"/>
                  </a:solidFill>
                </a:rPr>
                <a:t>Position</a:t>
              </a:r>
              <a:r>
                <a:rPr lang="zh-TW" altLang="en-US" sz="800" dirty="0" smtClean="0">
                  <a:solidFill>
                    <a:schemeClr val="bg1"/>
                  </a:solidFill>
                </a:rPr>
                <a:t> </a:t>
              </a:r>
              <a:endParaRPr lang="en-US" altLang="zh-TW" sz="800" dirty="0" smtClean="0">
                <a:solidFill>
                  <a:schemeClr val="bg1"/>
                </a:solidFill>
              </a:endParaRPr>
            </a:p>
            <a:p>
              <a:pPr algn="ctr"/>
              <a:r>
                <a:rPr lang="en-US" altLang="zh-TW" sz="800" dirty="0" smtClean="0">
                  <a:solidFill>
                    <a:schemeClr val="bg1"/>
                  </a:solidFill>
                </a:rPr>
                <a:t>API</a:t>
              </a:r>
              <a:endParaRPr lang="zh-TW" altLang="en-US" sz="800" dirty="0">
                <a:solidFill>
                  <a:schemeClr val="bg1"/>
                </a:solidFill>
              </a:endParaRPr>
            </a:p>
          </p:txBody>
        </p:sp>
      </p:grpSp>
      <p:sp>
        <p:nvSpPr>
          <p:cNvPr id="20" name="圓柱 19"/>
          <p:cNvSpPr/>
          <p:nvPr/>
        </p:nvSpPr>
        <p:spPr>
          <a:xfrm>
            <a:off x="4209450" y="2041115"/>
            <a:ext cx="750751" cy="485976"/>
          </a:xfrm>
          <a:prstGeom prst="can">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 name="肘形接點 21"/>
          <p:cNvCxnSpPr>
            <a:stCxn id="15" idx="3"/>
            <a:endCxn id="20" idx="1"/>
          </p:cNvCxnSpPr>
          <p:nvPr/>
        </p:nvCxnSpPr>
        <p:spPr>
          <a:xfrm>
            <a:off x="2686684" y="824142"/>
            <a:ext cx="1898142" cy="1216973"/>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肘形接點 22"/>
          <p:cNvCxnSpPr/>
          <p:nvPr/>
        </p:nvCxnSpPr>
        <p:spPr>
          <a:xfrm rot="10800000" flipV="1">
            <a:off x="4584826" y="807590"/>
            <a:ext cx="1124488" cy="1224000"/>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224442" y="3845847"/>
            <a:ext cx="1984839" cy="769441"/>
          </a:xfrm>
          <a:prstGeom prst="rect">
            <a:avLst/>
          </a:prstGeom>
        </p:spPr>
        <p:txBody>
          <a:bodyPr wrap="none">
            <a:spAutoFit/>
          </a:bodyPr>
          <a:lstStyle/>
          <a:p>
            <a:r>
              <a:rPr lang="en-US" altLang="zh-TW" sz="1100" b="1" dirty="0" smtClean="0"/>
              <a:t>Insert(Non-calculation Fields)</a:t>
            </a:r>
          </a:p>
          <a:p>
            <a:pPr marL="171450" indent="-171450">
              <a:buFont typeface="Arial" panose="020B0604020202020204" pitchFamily="34" charset="0"/>
              <a:buChar char="•"/>
            </a:pPr>
            <a:r>
              <a:rPr lang="en-US" altLang="zh-TW" sz="1100" dirty="0" smtClean="0">
                <a:solidFill>
                  <a:schemeClr val="accent6"/>
                </a:solidFill>
              </a:rPr>
              <a:t>comment </a:t>
            </a:r>
          </a:p>
          <a:p>
            <a:pPr marL="171450" indent="-171450">
              <a:buFont typeface="Arial" panose="020B0604020202020204" pitchFamily="34" charset="0"/>
              <a:buChar char="•"/>
            </a:pPr>
            <a:r>
              <a:rPr lang="en-US" altLang="zh-TW" sz="1100" dirty="0" smtClean="0">
                <a:solidFill>
                  <a:schemeClr val="accent6"/>
                </a:solidFill>
              </a:rPr>
              <a:t>editor </a:t>
            </a:r>
            <a:endParaRPr lang="en-US" altLang="zh-TW" sz="1100" dirty="0">
              <a:solidFill>
                <a:schemeClr val="accent6"/>
              </a:solidFill>
            </a:endParaRPr>
          </a:p>
          <a:p>
            <a:pPr marL="171450" indent="-171450">
              <a:buFont typeface="Arial" panose="020B0604020202020204" pitchFamily="34" charset="0"/>
              <a:buChar char="•"/>
            </a:pPr>
            <a:r>
              <a:rPr lang="en-US" altLang="zh-TW" sz="1100" dirty="0" smtClean="0">
                <a:solidFill>
                  <a:schemeClr val="accent6"/>
                </a:solidFill>
              </a:rPr>
              <a:t>modify time</a:t>
            </a:r>
          </a:p>
        </p:txBody>
      </p:sp>
      <p:sp>
        <p:nvSpPr>
          <p:cNvPr id="31" name="矩形 30"/>
          <p:cNvSpPr/>
          <p:nvPr/>
        </p:nvSpPr>
        <p:spPr>
          <a:xfrm>
            <a:off x="6568024" y="729441"/>
            <a:ext cx="1795684" cy="261610"/>
          </a:xfrm>
          <a:prstGeom prst="rect">
            <a:avLst/>
          </a:prstGeom>
        </p:spPr>
        <p:txBody>
          <a:bodyPr wrap="none">
            <a:spAutoFit/>
          </a:bodyPr>
          <a:lstStyle/>
          <a:p>
            <a:pPr marL="171450" indent="-171450">
              <a:buFont typeface="Arial" panose="020B0604020202020204" pitchFamily="34" charset="0"/>
              <a:buChar char="•"/>
            </a:pPr>
            <a:r>
              <a:rPr lang="en-US" altLang="zh-TW" sz="1100" dirty="0"/>
              <a:t>Inspection_raw_yyyymm</a:t>
            </a:r>
            <a:endParaRPr lang="zh-TW" altLang="en-US" sz="1100" dirty="0"/>
          </a:p>
        </p:txBody>
      </p:sp>
      <p:grpSp>
        <p:nvGrpSpPr>
          <p:cNvPr id="41" name="群組 40"/>
          <p:cNvGrpSpPr/>
          <p:nvPr/>
        </p:nvGrpSpPr>
        <p:grpSpPr>
          <a:xfrm>
            <a:off x="5542734" y="1573220"/>
            <a:ext cx="1030999" cy="338554"/>
            <a:chOff x="3682265" y="2690984"/>
            <a:chExt cx="1030999" cy="338554"/>
          </a:xfrm>
        </p:grpSpPr>
        <p:sp>
          <p:nvSpPr>
            <p:cNvPr id="39" name="矩形 38"/>
            <p:cNvSpPr/>
            <p:nvPr/>
          </p:nvSpPr>
          <p:spPr>
            <a:xfrm>
              <a:off x="3682265" y="2690984"/>
              <a:ext cx="1030999" cy="327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p:cNvSpPr/>
            <p:nvPr/>
          </p:nvSpPr>
          <p:spPr>
            <a:xfrm>
              <a:off x="3830571" y="2690984"/>
              <a:ext cx="689612" cy="338554"/>
            </a:xfrm>
            <a:prstGeom prst="rect">
              <a:avLst/>
            </a:prstGeom>
          </p:spPr>
          <p:txBody>
            <a:bodyPr wrap="none">
              <a:spAutoFit/>
            </a:bodyPr>
            <a:lstStyle/>
            <a:p>
              <a:pPr algn="ctr"/>
              <a:r>
                <a:rPr lang="en-US" altLang="zh-TW" sz="800" dirty="0" smtClean="0">
                  <a:solidFill>
                    <a:schemeClr val="bg1"/>
                  </a:solidFill>
                </a:rPr>
                <a:t>Default </a:t>
              </a:r>
            </a:p>
            <a:p>
              <a:pPr algn="ctr"/>
              <a:r>
                <a:rPr lang="en-US" altLang="zh-TW" sz="800" dirty="0" smtClean="0">
                  <a:solidFill>
                    <a:schemeClr val="bg1"/>
                  </a:solidFill>
                </a:rPr>
                <a:t>SPEC Table</a:t>
              </a:r>
              <a:endParaRPr lang="zh-TW" altLang="en-US" sz="800" dirty="0">
                <a:solidFill>
                  <a:schemeClr val="bg1"/>
                </a:solidFill>
              </a:endParaRPr>
            </a:p>
          </p:txBody>
        </p:sp>
      </p:grpSp>
      <p:grpSp>
        <p:nvGrpSpPr>
          <p:cNvPr id="45" name="群組 44"/>
          <p:cNvGrpSpPr/>
          <p:nvPr/>
        </p:nvGrpSpPr>
        <p:grpSpPr>
          <a:xfrm>
            <a:off x="5519513" y="2085520"/>
            <a:ext cx="1030999" cy="338554"/>
            <a:chOff x="3682265" y="2690984"/>
            <a:chExt cx="1030999" cy="338554"/>
          </a:xfrm>
        </p:grpSpPr>
        <p:sp>
          <p:nvSpPr>
            <p:cNvPr id="46" name="矩形 45"/>
            <p:cNvSpPr/>
            <p:nvPr/>
          </p:nvSpPr>
          <p:spPr>
            <a:xfrm>
              <a:off x="3682265" y="2690984"/>
              <a:ext cx="1030999" cy="327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p:cNvSpPr/>
            <p:nvPr/>
          </p:nvSpPr>
          <p:spPr>
            <a:xfrm>
              <a:off x="3830571" y="2690984"/>
              <a:ext cx="689612" cy="338554"/>
            </a:xfrm>
            <a:prstGeom prst="rect">
              <a:avLst/>
            </a:prstGeom>
          </p:spPr>
          <p:txBody>
            <a:bodyPr wrap="none">
              <a:spAutoFit/>
            </a:bodyPr>
            <a:lstStyle/>
            <a:p>
              <a:pPr algn="ctr"/>
              <a:r>
                <a:rPr lang="en-US" altLang="zh-TW" sz="800" dirty="0" smtClean="0">
                  <a:solidFill>
                    <a:schemeClr val="bg1"/>
                  </a:solidFill>
                </a:rPr>
                <a:t>Dynamic </a:t>
              </a:r>
            </a:p>
            <a:p>
              <a:pPr algn="ctr"/>
              <a:r>
                <a:rPr lang="en-US" altLang="zh-TW" sz="800" dirty="0" smtClean="0">
                  <a:solidFill>
                    <a:schemeClr val="bg1"/>
                  </a:solidFill>
                </a:rPr>
                <a:t>SPEC Table</a:t>
              </a:r>
              <a:endParaRPr lang="zh-TW" altLang="en-US" sz="800" dirty="0">
                <a:solidFill>
                  <a:schemeClr val="bg1"/>
                </a:solidFill>
              </a:endParaRPr>
            </a:p>
          </p:txBody>
        </p:sp>
      </p:grpSp>
      <p:cxnSp>
        <p:nvCxnSpPr>
          <p:cNvPr id="52" name="肘形接點 51"/>
          <p:cNvCxnSpPr>
            <a:stCxn id="39" idx="1"/>
            <a:endCxn id="20" idx="4"/>
          </p:cNvCxnSpPr>
          <p:nvPr/>
        </p:nvCxnSpPr>
        <p:spPr>
          <a:xfrm rot="10800000" flipV="1">
            <a:off x="4960202" y="1737049"/>
            <a:ext cx="582533" cy="547053"/>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5450766" y="1159229"/>
            <a:ext cx="973343" cy="300082"/>
          </a:xfrm>
          <a:prstGeom prst="rect">
            <a:avLst/>
          </a:prstGeom>
        </p:spPr>
        <p:txBody>
          <a:bodyPr wrap="none">
            <a:spAutoFit/>
          </a:bodyPr>
          <a:lstStyle/>
          <a:p>
            <a:r>
              <a:rPr lang="en-US" altLang="zh-TW" u="sng" dirty="0" smtClean="0"/>
              <a:t>SPEC Info.</a:t>
            </a:r>
            <a:endParaRPr lang="zh-TW" altLang="en-US" u="sng" dirty="0"/>
          </a:p>
        </p:txBody>
      </p:sp>
      <p:sp>
        <p:nvSpPr>
          <p:cNvPr id="61" name="矩形 60"/>
          <p:cNvSpPr/>
          <p:nvPr/>
        </p:nvSpPr>
        <p:spPr>
          <a:xfrm>
            <a:off x="6044618" y="2498646"/>
            <a:ext cx="877877" cy="307777"/>
          </a:xfrm>
          <a:prstGeom prst="rect">
            <a:avLst/>
          </a:prstGeom>
        </p:spPr>
        <p:txBody>
          <a:bodyPr wrap="square">
            <a:spAutoFit/>
          </a:bodyPr>
          <a:lstStyle/>
          <a:p>
            <a:r>
              <a:rPr lang="en-US" altLang="zh-TW" sz="1400" u="sng" dirty="0" smtClean="0"/>
              <a:t>Fast API </a:t>
            </a:r>
            <a:endParaRPr lang="zh-TW" altLang="en-US" u="sng" dirty="0"/>
          </a:p>
        </p:txBody>
      </p:sp>
      <p:grpSp>
        <p:nvGrpSpPr>
          <p:cNvPr id="62" name="群組 61"/>
          <p:cNvGrpSpPr/>
          <p:nvPr/>
        </p:nvGrpSpPr>
        <p:grpSpPr>
          <a:xfrm>
            <a:off x="4166422" y="3123106"/>
            <a:ext cx="705600" cy="295200"/>
            <a:chOff x="893679" y="806612"/>
            <a:chExt cx="820015" cy="445728"/>
          </a:xfrm>
        </p:grpSpPr>
        <p:sp>
          <p:nvSpPr>
            <p:cNvPr id="63" name="流程圖: 資料 62"/>
            <p:cNvSpPr/>
            <p:nvPr/>
          </p:nvSpPr>
          <p:spPr>
            <a:xfrm>
              <a:off x="893679" y="806612"/>
              <a:ext cx="820015" cy="445728"/>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64" name="矩形 63"/>
            <p:cNvSpPr/>
            <p:nvPr/>
          </p:nvSpPr>
          <p:spPr>
            <a:xfrm>
              <a:off x="1015733" y="859689"/>
              <a:ext cx="603050" cy="215444"/>
            </a:xfrm>
            <a:prstGeom prst="rect">
              <a:avLst/>
            </a:prstGeom>
          </p:spPr>
          <p:txBody>
            <a:bodyPr wrap="none">
              <a:spAutoFit/>
            </a:bodyPr>
            <a:lstStyle/>
            <a:p>
              <a:pPr algn="ctr"/>
              <a:r>
                <a:rPr lang="en-US" altLang="zh-TW" sz="800" dirty="0" smtClean="0">
                  <a:solidFill>
                    <a:schemeClr val="bg1"/>
                  </a:solidFill>
                </a:rPr>
                <a:t>Reset </a:t>
              </a:r>
              <a:r>
                <a:rPr lang="en-US" altLang="zh-TW" sz="800" dirty="0">
                  <a:solidFill>
                    <a:schemeClr val="bg1"/>
                  </a:solidFill>
                </a:rPr>
                <a:t>API</a:t>
              </a:r>
              <a:endParaRPr lang="zh-TW" altLang="en-US" sz="800" dirty="0">
                <a:solidFill>
                  <a:schemeClr val="bg1"/>
                </a:solidFill>
              </a:endParaRPr>
            </a:p>
          </p:txBody>
        </p:sp>
      </p:grpSp>
      <p:grpSp>
        <p:nvGrpSpPr>
          <p:cNvPr id="65" name="群組 64"/>
          <p:cNvGrpSpPr/>
          <p:nvPr/>
        </p:nvGrpSpPr>
        <p:grpSpPr>
          <a:xfrm>
            <a:off x="5905384" y="3149566"/>
            <a:ext cx="705600" cy="295200"/>
            <a:chOff x="889452" y="819612"/>
            <a:chExt cx="830494" cy="415003"/>
          </a:xfrm>
        </p:grpSpPr>
        <p:sp>
          <p:nvSpPr>
            <p:cNvPr id="66" name="流程圖: 資料 65"/>
            <p:cNvSpPr/>
            <p:nvPr/>
          </p:nvSpPr>
          <p:spPr>
            <a:xfrm>
              <a:off x="889452" y="819612"/>
              <a:ext cx="830494" cy="41500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67" name="矩形 66"/>
            <p:cNvSpPr/>
            <p:nvPr/>
          </p:nvSpPr>
          <p:spPr>
            <a:xfrm>
              <a:off x="996339" y="883216"/>
              <a:ext cx="646332" cy="215444"/>
            </a:xfrm>
            <a:prstGeom prst="rect">
              <a:avLst/>
            </a:prstGeom>
          </p:spPr>
          <p:txBody>
            <a:bodyPr wrap="none">
              <a:spAutoFit/>
            </a:bodyPr>
            <a:lstStyle/>
            <a:p>
              <a:pPr algn="ctr"/>
              <a:r>
                <a:rPr lang="en-US" altLang="zh-TW" sz="800" dirty="0" smtClean="0">
                  <a:solidFill>
                    <a:schemeClr val="bg1"/>
                  </a:solidFill>
                </a:rPr>
                <a:t>Defect API</a:t>
              </a:r>
              <a:endParaRPr lang="zh-TW" altLang="en-US" sz="800" dirty="0">
                <a:solidFill>
                  <a:schemeClr val="bg1"/>
                </a:solidFill>
              </a:endParaRPr>
            </a:p>
          </p:txBody>
        </p:sp>
      </p:grpSp>
      <p:sp>
        <p:nvSpPr>
          <p:cNvPr id="74" name="矩形 73"/>
          <p:cNvSpPr/>
          <p:nvPr/>
        </p:nvSpPr>
        <p:spPr>
          <a:xfrm>
            <a:off x="3704930" y="3401607"/>
            <a:ext cx="1624163" cy="1107996"/>
          </a:xfrm>
          <a:prstGeom prst="rect">
            <a:avLst/>
          </a:prstGeom>
        </p:spPr>
        <p:txBody>
          <a:bodyPr wrap="none">
            <a:spAutoFit/>
          </a:bodyPr>
          <a:lstStyle/>
          <a:p>
            <a:pPr marL="171450" indent="-171450">
              <a:buFont typeface="Arial" panose="020B0604020202020204" pitchFamily="34" charset="0"/>
              <a:buChar char="•"/>
            </a:pPr>
            <a:r>
              <a:rPr lang="en-US" altLang="zh-TW" sz="1100" b="1" dirty="0" smtClean="0"/>
              <a:t>Inspection_summary</a:t>
            </a:r>
          </a:p>
          <a:p>
            <a:pPr marL="571500" lvl="1" indent="-228600">
              <a:buFont typeface="Wingdings" panose="05000000000000000000" pitchFamily="2" charset="2"/>
              <a:buAutoNum type="circleNumWdWhitePlain"/>
            </a:pPr>
            <a:r>
              <a:rPr lang="en-US" altLang="zh-TW" sz="1100" dirty="0" smtClean="0"/>
              <a:t>Chart Data </a:t>
            </a:r>
          </a:p>
          <a:p>
            <a:pPr marL="571500" lvl="1" indent="-228600">
              <a:buFont typeface="Wingdings" panose="05000000000000000000" pitchFamily="2" charset="2"/>
              <a:buAutoNum type="circleNumWdWhitePlain"/>
            </a:pPr>
            <a:r>
              <a:rPr lang="en-US" altLang="zh-TW" sz="1100" dirty="0" smtClean="0"/>
              <a:t>Table Data</a:t>
            </a:r>
          </a:p>
          <a:p>
            <a:pPr marL="171450" indent="-171450">
              <a:buFont typeface="Arial" panose="020B0604020202020204" pitchFamily="34" charset="0"/>
              <a:buChar char="•"/>
            </a:pPr>
            <a:r>
              <a:rPr lang="en-US" altLang="zh-TW" sz="1100" b="1" dirty="0" smtClean="0"/>
              <a:t>Reset Web Config</a:t>
            </a:r>
          </a:p>
          <a:p>
            <a:pPr marL="171450" indent="-171450">
              <a:buFont typeface="Arial" panose="020B0604020202020204" pitchFamily="34" charset="0"/>
              <a:buChar char="•"/>
            </a:pPr>
            <a:r>
              <a:rPr lang="en-US" altLang="zh-TW" sz="1100" b="1" dirty="0" smtClean="0"/>
              <a:t>Default SPEC</a:t>
            </a:r>
          </a:p>
          <a:p>
            <a:pPr marL="171450" indent="-171450">
              <a:buFont typeface="Arial" panose="020B0604020202020204" pitchFamily="34" charset="0"/>
              <a:buChar char="•"/>
            </a:pPr>
            <a:r>
              <a:rPr lang="en-US" altLang="zh-TW" sz="1100" b="1" dirty="0" smtClean="0"/>
              <a:t>Analyze SPEC </a:t>
            </a:r>
          </a:p>
        </p:txBody>
      </p:sp>
      <p:sp>
        <p:nvSpPr>
          <p:cNvPr id="75" name="矩形 74"/>
          <p:cNvSpPr/>
          <p:nvPr/>
        </p:nvSpPr>
        <p:spPr>
          <a:xfrm>
            <a:off x="5295978" y="3391902"/>
            <a:ext cx="1949573" cy="769441"/>
          </a:xfrm>
          <a:prstGeom prst="rect">
            <a:avLst/>
          </a:prstGeom>
        </p:spPr>
        <p:txBody>
          <a:bodyPr wrap="none">
            <a:spAutoFit/>
          </a:bodyPr>
          <a:lstStyle/>
          <a:p>
            <a:pPr marL="171450" indent="-171450">
              <a:buFont typeface="Arial" panose="020B0604020202020204" pitchFamily="34" charset="0"/>
              <a:buChar char="•"/>
            </a:pPr>
            <a:r>
              <a:rPr lang="en-US" altLang="zh-TW" sz="1100" b="1" dirty="0" smtClean="0"/>
              <a:t>Inspection_raw_yyyymm</a:t>
            </a:r>
          </a:p>
          <a:p>
            <a:pPr marL="571500" lvl="1" indent="-228600">
              <a:buFont typeface="Wingdings" panose="05000000000000000000" pitchFamily="2" charset="2"/>
              <a:buAutoNum type="circleNumWdWhitePlain"/>
            </a:pPr>
            <a:r>
              <a:rPr lang="en-US" altLang="zh-TW" sz="1100" dirty="0" smtClean="0"/>
              <a:t>Defect statistics info.</a:t>
            </a:r>
          </a:p>
          <a:p>
            <a:pPr marL="571500" lvl="1" indent="-228600">
              <a:buFont typeface="Wingdings" panose="05000000000000000000" pitchFamily="2" charset="2"/>
              <a:buAutoNum type="circleNumWdWhitePlain"/>
            </a:pPr>
            <a:r>
              <a:rPr lang="en-US" altLang="zh-TW" sz="1100" dirty="0" smtClean="0"/>
              <a:t> axis info.</a:t>
            </a:r>
          </a:p>
          <a:p>
            <a:pPr marL="571500" lvl="1" indent="-228600">
              <a:buFont typeface="Wingdings" panose="05000000000000000000" pitchFamily="2" charset="2"/>
              <a:buAutoNum type="circleNumWdWhitePlain"/>
            </a:pPr>
            <a:r>
              <a:rPr lang="en-US" altLang="zh-TW" sz="1100" dirty="0"/>
              <a:t>Image URL Info</a:t>
            </a:r>
            <a:r>
              <a:rPr lang="en-US" altLang="zh-TW" sz="1100" dirty="0" smtClean="0"/>
              <a:t>.</a:t>
            </a:r>
            <a:endParaRPr lang="en-US" altLang="zh-TW" sz="1100" dirty="0"/>
          </a:p>
        </p:txBody>
      </p:sp>
      <p:sp>
        <p:nvSpPr>
          <p:cNvPr id="79" name="矩形 78"/>
          <p:cNvSpPr/>
          <p:nvPr/>
        </p:nvSpPr>
        <p:spPr>
          <a:xfrm>
            <a:off x="7270797" y="3426927"/>
            <a:ext cx="2080778" cy="430887"/>
          </a:xfrm>
          <a:prstGeom prst="rect">
            <a:avLst/>
          </a:prstGeom>
        </p:spPr>
        <p:txBody>
          <a:bodyPr wrap="square">
            <a:spAutoFit/>
          </a:bodyPr>
          <a:lstStyle/>
          <a:p>
            <a:pPr marL="171450" indent="-171450">
              <a:buFont typeface="Arial" panose="020B0604020202020204" pitchFamily="34" charset="0"/>
              <a:buChar char="•"/>
            </a:pPr>
            <a:r>
              <a:rPr lang="en-US" altLang="zh-TW" sz="1100" b="1" dirty="0"/>
              <a:t>Dynamic </a:t>
            </a:r>
            <a:r>
              <a:rPr lang="en-US" altLang="zh-TW" sz="1100" b="1" dirty="0" smtClean="0"/>
              <a:t>SPEC</a:t>
            </a:r>
            <a:r>
              <a:rPr lang="zh-TW" altLang="en-US" sz="1100" b="1" dirty="0" smtClean="0"/>
              <a:t>    </a:t>
            </a:r>
            <a:r>
              <a:rPr lang="en-US" altLang="zh-TW" sz="800" b="1" dirty="0" smtClean="0"/>
              <a:t>(Read only) </a:t>
            </a:r>
          </a:p>
          <a:p>
            <a:pPr marL="171450" indent="-171450">
              <a:buFont typeface="Arial" panose="020B0604020202020204" pitchFamily="34" charset="0"/>
              <a:buChar char="•"/>
            </a:pPr>
            <a:r>
              <a:rPr lang="en-US" altLang="zh-TW" sz="1100" b="1" dirty="0" smtClean="0">
                <a:solidFill>
                  <a:schemeClr val="accent6"/>
                </a:solidFill>
              </a:rPr>
              <a:t>Default SPEC</a:t>
            </a:r>
            <a:r>
              <a:rPr lang="zh-TW" altLang="en-US" sz="1100" b="1" dirty="0" smtClean="0">
                <a:solidFill>
                  <a:schemeClr val="accent6"/>
                </a:solidFill>
              </a:rPr>
              <a:t>       </a:t>
            </a:r>
            <a:r>
              <a:rPr lang="en-US" altLang="zh-TW" sz="800" b="1" dirty="0" smtClean="0">
                <a:solidFill>
                  <a:schemeClr val="accent6"/>
                </a:solidFill>
              </a:rPr>
              <a:t>(R/W)</a:t>
            </a:r>
            <a:endParaRPr lang="en-US" altLang="zh-TW" sz="800" b="1" dirty="0">
              <a:solidFill>
                <a:schemeClr val="accent6"/>
              </a:solidFill>
            </a:endParaRPr>
          </a:p>
        </p:txBody>
      </p:sp>
      <p:sp>
        <p:nvSpPr>
          <p:cNvPr id="80" name="矩形 79"/>
          <p:cNvSpPr/>
          <p:nvPr/>
        </p:nvSpPr>
        <p:spPr>
          <a:xfrm>
            <a:off x="5279204" y="4658962"/>
            <a:ext cx="2073003" cy="430887"/>
          </a:xfrm>
          <a:prstGeom prst="rect">
            <a:avLst/>
          </a:prstGeom>
        </p:spPr>
        <p:txBody>
          <a:bodyPr wrap="none">
            <a:spAutoFit/>
          </a:bodyPr>
          <a:lstStyle/>
          <a:p>
            <a:pPr marL="171450" indent="-171450">
              <a:buFont typeface="Arial" panose="020B0604020202020204" pitchFamily="34" charset="0"/>
              <a:buChar char="•"/>
            </a:pPr>
            <a:r>
              <a:rPr lang="en-US" altLang="zh-TW" sz="1100" b="1" dirty="0" smtClean="0"/>
              <a:t>Inspection_summary</a:t>
            </a:r>
          </a:p>
          <a:p>
            <a:pPr marL="571500" lvl="1" indent="-228600">
              <a:buFont typeface="Wingdings" panose="05000000000000000000" pitchFamily="2" charset="2"/>
              <a:buAutoNum type="circleNumWdWhitePlain"/>
            </a:pPr>
            <a:r>
              <a:rPr lang="en-US" altLang="zh-TW" sz="1100" dirty="0" smtClean="0"/>
              <a:t>By month / week / Day</a:t>
            </a:r>
            <a:endParaRPr lang="en-US" altLang="zh-TW" sz="1100" dirty="0"/>
          </a:p>
        </p:txBody>
      </p:sp>
      <p:grpSp>
        <p:nvGrpSpPr>
          <p:cNvPr id="82" name="群組 81"/>
          <p:cNvGrpSpPr/>
          <p:nvPr/>
        </p:nvGrpSpPr>
        <p:grpSpPr>
          <a:xfrm>
            <a:off x="335554" y="3889316"/>
            <a:ext cx="880369" cy="230832"/>
            <a:chOff x="800385" y="893146"/>
            <a:chExt cx="985170" cy="261757"/>
          </a:xfrm>
        </p:grpSpPr>
        <p:sp>
          <p:nvSpPr>
            <p:cNvPr id="83"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84" name="矩形 83"/>
            <p:cNvSpPr/>
            <p:nvPr/>
          </p:nvSpPr>
          <p:spPr>
            <a:xfrm>
              <a:off x="800385" y="893146"/>
              <a:ext cx="985170" cy="261757"/>
            </a:xfrm>
            <a:prstGeom prst="rect">
              <a:avLst/>
            </a:prstGeom>
          </p:spPr>
          <p:txBody>
            <a:bodyPr wrap="none">
              <a:spAutoFit/>
            </a:bodyPr>
            <a:lstStyle/>
            <a:p>
              <a:pPr algn="ctr"/>
              <a:r>
                <a:rPr lang="en-US" altLang="zh-TW" sz="900" dirty="0">
                  <a:solidFill>
                    <a:schemeClr val="bg1"/>
                  </a:solidFill>
                </a:rPr>
                <a:t>Editable Fields</a:t>
              </a:r>
            </a:p>
          </p:txBody>
        </p:sp>
      </p:grpSp>
      <p:cxnSp>
        <p:nvCxnSpPr>
          <p:cNvPr id="95" name="肘形接點 94"/>
          <p:cNvCxnSpPr>
            <a:stCxn id="20" idx="3"/>
            <a:endCxn id="63" idx="1"/>
          </p:cNvCxnSpPr>
          <p:nvPr/>
        </p:nvCxnSpPr>
        <p:spPr>
          <a:xfrm rot="5400000">
            <a:off x="4254017" y="2792296"/>
            <a:ext cx="596015" cy="65604"/>
          </a:xfrm>
          <a:prstGeom prst="bentConnector3">
            <a:avLst>
              <a:gd name="adj1" fmla="val 52130"/>
            </a:avLst>
          </a:prstGeom>
          <a:ln w="19050">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肘形接點 98"/>
          <p:cNvCxnSpPr>
            <a:stCxn id="20" idx="3"/>
            <a:endCxn id="66" idx="1"/>
          </p:cNvCxnSpPr>
          <p:nvPr/>
        </p:nvCxnSpPr>
        <p:spPr>
          <a:xfrm rot="16200000" flipH="1">
            <a:off x="5110268" y="2001649"/>
            <a:ext cx="622475" cy="1673358"/>
          </a:xfrm>
          <a:prstGeom prst="bentConnector3">
            <a:avLst>
              <a:gd name="adj1" fmla="val 50000"/>
            </a:avLst>
          </a:prstGeom>
          <a:ln w="19050">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 name="肘形接點 105"/>
          <p:cNvCxnSpPr>
            <a:stCxn id="20" idx="3"/>
            <a:endCxn id="72" idx="0"/>
          </p:cNvCxnSpPr>
          <p:nvPr/>
        </p:nvCxnSpPr>
        <p:spPr>
          <a:xfrm rot="16200000" flipH="1">
            <a:off x="6028618" y="1083298"/>
            <a:ext cx="619469" cy="3507053"/>
          </a:xfrm>
          <a:prstGeom prst="bentConnector3">
            <a:avLst>
              <a:gd name="adj1" fmla="val 48847"/>
            </a:avLst>
          </a:prstGeom>
          <a:ln w="19050">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1120603" y="1338735"/>
            <a:ext cx="2056973" cy="384721"/>
          </a:xfrm>
          <a:prstGeom prst="rect">
            <a:avLst/>
          </a:prstGeom>
        </p:spPr>
        <p:txBody>
          <a:bodyPr wrap="none">
            <a:spAutoFit/>
          </a:bodyPr>
          <a:lstStyle/>
          <a:p>
            <a:r>
              <a:rPr lang="en-US" altLang="zh-TW" sz="1100" b="1" dirty="0"/>
              <a:t>Generate </a:t>
            </a:r>
            <a:r>
              <a:rPr lang="en-US" altLang="zh-TW" sz="1100" b="1" dirty="0" smtClean="0"/>
              <a:t>pi_hour</a:t>
            </a:r>
          </a:p>
          <a:p>
            <a:r>
              <a:rPr lang="en-US" altLang="zh-TW" sz="800" dirty="0" smtClean="0"/>
              <a:t>(</a:t>
            </a:r>
            <a:r>
              <a:rPr lang="en-US" altLang="zh-TW" sz="800" dirty="0"/>
              <a:t>SCAN_ENDTIME → YYYY-MM-DD HH)</a:t>
            </a:r>
            <a:endParaRPr lang="en-US" altLang="zh-TW" sz="800" dirty="0" smtClean="0"/>
          </a:p>
        </p:txBody>
      </p:sp>
      <p:grpSp>
        <p:nvGrpSpPr>
          <p:cNvPr id="113" name="群組 112"/>
          <p:cNvGrpSpPr/>
          <p:nvPr/>
        </p:nvGrpSpPr>
        <p:grpSpPr>
          <a:xfrm>
            <a:off x="244135" y="1388262"/>
            <a:ext cx="950902" cy="230832"/>
            <a:chOff x="737638" y="901234"/>
            <a:chExt cx="1064099" cy="261757"/>
          </a:xfrm>
        </p:grpSpPr>
        <p:sp>
          <p:nvSpPr>
            <p:cNvPr id="114" name="流程圖: 資料 82"/>
            <p:cNvSpPr/>
            <p:nvPr/>
          </p:nvSpPr>
          <p:spPr>
            <a:xfrm>
              <a:off x="839940" y="916723"/>
              <a:ext cx="859497" cy="236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15" name="矩形 114"/>
            <p:cNvSpPr/>
            <p:nvPr/>
          </p:nvSpPr>
          <p:spPr>
            <a:xfrm>
              <a:off x="737638" y="901234"/>
              <a:ext cx="1064099" cy="261757"/>
            </a:xfrm>
            <a:prstGeom prst="rect">
              <a:avLst/>
            </a:prstGeom>
          </p:spPr>
          <p:txBody>
            <a:bodyPr wrap="none">
              <a:spAutoFit/>
            </a:bodyPr>
            <a:lstStyle/>
            <a:p>
              <a:pPr algn="ctr"/>
              <a:r>
                <a:rPr lang="en-US" altLang="zh-TW" sz="900" dirty="0" smtClean="0">
                  <a:solidFill>
                    <a:schemeClr val="bg1"/>
                  </a:solidFill>
                </a:rPr>
                <a:t>Time Alignment</a:t>
              </a:r>
              <a:endParaRPr lang="en-US" altLang="zh-TW" sz="900" dirty="0">
                <a:solidFill>
                  <a:schemeClr val="bg1"/>
                </a:solidFill>
              </a:endParaRPr>
            </a:p>
          </p:txBody>
        </p:sp>
      </p:grpSp>
      <p:sp>
        <p:nvSpPr>
          <p:cNvPr id="136" name="矩形 135"/>
          <p:cNvSpPr/>
          <p:nvPr/>
        </p:nvSpPr>
        <p:spPr>
          <a:xfrm>
            <a:off x="1223782" y="1811434"/>
            <a:ext cx="865943" cy="938719"/>
          </a:xfrm>
          <a:prstGeom prst="rect">
            <a:avLst/>
          </a:prstGeom>
        </p:spPr>
        <p:txBody>
          <a:bodyPr wrap="none">
            <a:spAutoFit/>
          </a:bodyPr>
          <a:lstStyle/>
          <a:p>
            <a:r>
              <a:rPr lang="en-US" altLang="zh-TW" sz="1100" b="1" dirty="0"/>
              <a:t>Group </a:t>
            </a:r>
            <a:r>
              <a:rPr lang="en-US" altLang="zh-TW" sz="1100" b="1" dirty="0" smtClean="0"/>
              <a:t>by</a:t>
            </a:r>
          </a:p>
          <a:p>
            <a:pPr marL="171450" indent="-171450">
              <a:buFont typeface="Arial" panose="020B0604020202020204" pitchFamily="34" charset="0"/>
              <a:buChar char="•"/>
            </a:pPr>
            <a:r>
              <a:rPr lang="en-US" altLang="zh-TW" sz="1100" b="1" dirty="0" smtClean="0"/>
              <a:t> </a:t>
            </a:r>
            <a:r>
              <a:rPr lang="en-US" altLang="zh-TW" sz="1100" dirty="0"/>
              <a:t>pi_hour </a:t>
            </a:r>
            <a:endParaRPr lang="en-US" altLang="zh-TW" sz="1100" dirty="0" smtClean="0"/>
          </a:p>
          <a:p>
            <a:pPr marL="171450" indent="-171450">
              <a:buFont typeface="Arial" panose="020B0604020202020204" pitchFamily="34" charset="0"/>
              <a:buChar char="•"/>
            </a:pPr>
            <a:r>
              <a:rPr lang="en-US" altLang="zh-TW" sz="1100" dirty="0" smtClean="0"/>
              <a:t>TOOL</a:t>
            </a:r>
          </a:p>
          <a:p>
            <a:pPr marL="171450" indent="-171450">
              <a:buFont typeface="Arial" panose="020B0604020202020204" pitchFamily="34" charset="0"/>
              <a:buChar char="•"/>
            </a:pPr>
            <a:r>
              <a:rPr lang="en-US" altLang="zh-TW" sz="1100" dirty="0" smtClean="0"/>
              <a:t>MODEL</a:t>
            </a:r>
          </a:p>
          <a:p>
            <a:pPr marL="171450" indent="-171450">
              <a:buFont typeface="Arial" panose="020B0604020202020204" pitchFamily="34" charset="0"/>
              <a:buChar char="•"/>
            </a:pPr>
            <a:r>
              <a:rPr lang="en-US" altLang="zh-TW" sz="1100" dirty="0" smtClean="0"/>
              <a:t>TYPE</a:t>
            </a:r>
          </a:p>
        </p:txBody>
      </p:sp>
      <p:grpSp>
        <p:nvGrpSpPr>
          <p:cNvPr id="137" name="群組 136"/>
          <p:cNvGrpSpPr/>
          <p:nvPr/>
        </p:nvGrpSpPr>
        <p:grpSpPr>
          <a:xfrm>
            <a:off x="326382" y="1861743"/>
            <a:ext cx="768065" cy="230832"/>
            <a:chOff x="839940" y="893145"/>
            <a:chExt cx="859497" cy="261757"/>
          </a:xfrm>
        </p:grpSpPr>
        <p:sp>
          <p:nvSpPr>
            <p:cNvPr id="138"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39" name="矩形 138"/>
            <p:cNvSpPr/>
            <p:nvPr/>
          </p:nvSpPr>
          <p:spPr>
            <a:xfrm>
              <a:off x="942096" y="893145"/>
              <a:ext cx="701746" cy="261757"/>
            </a:xfrm>
            <a:prstGeom prst="rect">
              <a:avLst/>
            </a:prstGeom>
          </p:spPr>
          <p:txBody>
            <a:bodyPr wrap="none">
              <a:spAutoFit/>
            </a:bodyPr>
            <a:lstStyle/>
            <a:p>
              <a:pPr algn="ctr"/>
              <a:r>
                <a:rPr lang="en-US" altLang="zh-TW" sz="900" dirty="0" smtClean="0">
                  <a:solidFill>
                    <a:schemeClr val="bg1"/>
                  </a:solidFill>
                </a:rPr>
                <a:t>Grouping</a:t>
              </a:r>
              <a:endParaRPr lang="en-US" altLang="zh-TW" sz="900" dirty="0">
                <a:solidFill>
                  <a:schemeClr val="bg1"/>
                </a:solidFill>
              </a:endParaRPr>
            </a:p>
          </p:txBody>
        </p:sp>
      </p:grpSp>
      <p:grpSp>
        <p:nvGrpSpPr>
          <p:cNvPr id="140" name="群組 139"/>
          <p:cNvGrpSpPr/>
          <p:nvPr/>
        </p:nvGrpSpPr>
        <p:grpSpPr>
          <a:xfrm>
            <a:off x="348643" y="2836401"/>
            <a:ext cx="785710" cy="230832"/>
            <a:chOff x="839940" y="893145"/>
            <a:chExt cx="879243" cy="261757"/>
          </a:xfrm>
        </p:grpSpPr>
        <p:sp>
          <p:nvSpPr>
            <p:cNvPr id="141"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42" name="矩形 141"/>
            <p:cNvSpPr/>
            <p:nvPr/>
          </p:nvSpPr>
          <p:spPr>
            <a:xfrm>
              <a:off x="866756" y="893145"/>
              <a:ext cx="852427" cy="261757"/>
            </a:xfrm>
            <a:prstGeom prst="rect">
              <a:avLst/>
            </a:prstGeom>
          </p:spPr>
          <p:txBody>
            <a:bodyPr wrap="none">
              <a:spAutoFit/>
            </a:bodyPr>
            <a:lstStyle/>
            <a:p>
              <a:pPr algn="ctr"/>
              <a:r>
                <a:rPr lang="en-US" altLang="zh-TW" sz="900" dirty="0">
                  <a:solidFill>
                    <a:schemeClr val="bg1"/>
                  </a:solidFill>
                </a:rPr>
                <a:t>Aggregation</a:t>
              </a:r>
            </a:p>
          </p:txBody>
        </p:sp>
      </p:grpSp>
      <p:sp>
        <p:nvSpPr>
          <p:cNvPr id="143" name="矩形 142"/>
          <p:cNvSpPr/>
          <p:nvPr/>
        </p:nvSpPr>
        <p:spPr>
          <a:xfrm>
            <a:off x="1233181" y="2807696"/>
            <a:ext cx="1771639" cy="938719"/>
          </a:xfrm>
          <a:prstGeom prst="rect">
            <a:avLst/>
          </a:prstGeom>
        </p:spPr>
        <p:txBody>
          <a:bodyPr wrap="none">
            <a:spAutoFit/>
          </a:bodyPr>
          <a:lstStyle/>
          <a:p>
            <a:r>
              <a:rPr lang="en-US" altLang="zh-TW" sz="1100" b="1" dirty="0" smtClean="0"/>
              <a:t>Generate</a:t>
            </a:r>
          </a:p>
          <a:p>
            <a:pPr marL="171450" indent="-171450">
              <a:buFont typeface="Arial" panose="020B0604020202020204" pitchFamily="34" charset="0"/>
              <a:buChar char="•"/>
            </a:pPr>
            <a:r>
              <a:rPr lang="zh-TW" altLang="en-US" sz="1100" dirty="0" smtClean="0"/>
              <a:t>maingroup</a:t>
            </a:r>
            <a:r>
              <a:rPr lang="zh-TW" altLang="en-US" sz="1100" dirty="0"/>
              <a:t>_glass_count</a:t>
            </a:r>
          </a:p>
          <a:p>
            <a:pPr marL="171450" indent="-171450">
              <a:buFont typeface="Arial" panose="020B0604020202020204" pitchFamily="34" charset="0"/>
              <a:buChar char="•"/>
            </a:pPr>
            <a:r>
              <a:rPr lang="zh-TW" altLang="en-US" sz="1100" dirty="0" smtClean="0"/>
              <a:t>maingroup</a:t>
            </a:r>
            <a:r>
              <a:rPr lang="zh-TW" altLang="en-US" sz="1100" dirty="0"/>
              <a:t>_defect_count</a:t>
            </a:r>
          </a:p>
          <a:p>
            <a:pPr marL="171450" indent="-171450">
              <a:buFont typeface="Arial" panose="020B0604020202020204" pitchFamily="34" charset="0"/>
              <a:buChar char="•"/>
            </a:pPr>
            <a:r>
              <a:rPr lang="zh-TW" altLang="en-US" sz="1100" dirty="0" smtClean="0"/>
              <a:t>defect</a:t>
            </a:r>
            <a:r>
              <a:rPr lang="zh-TW" altLang="en-US" sz="1100" dirty="0"/>
              <a:t>_code_glass_count</a:t>
            </a:r>
          </a:p>
          <a:p>
            <a:pPr marL="171450" indent="-171450">
              <a:buFont typeface="Arial" panose="020B0604020202020204" pitchFamily="34" charset="0"/>
              <a:buChar char="•"/>
            </a:pPr>
            <a:r>
              <a:rPr lang="en-US" altLang="zh-TW" sz="1100" dirty="0" smtClean="0"/>
              <a:t>defect size: </a:t>
            </a:r>
            <a:r>
              <a:rPr lang="zh-TW" altLang="en-US" sz="1100" dirty="0" smtClean="0"/>
              <a:t>S </a:t>
            </a:r>
            <a:r>
              <a:rPr lang="zh-TW" altLang="en-US" sz="1100" dirty="0"/>
              <a:t>/ M / L / O</a:t>
            </a:r>
          </a:p>
        </p:txBody>
      </p:sp>
      <p:sp>
        <p:nvSpPr>
          <p:cNvPr id="194" name="矩形 193"/>
          <p:cNvSpPr/>
          <p:nvPr/>
        </p:nvSpPr>
        <p:spPr>
          <a:xfrm>
            <a:off x="2535594" y="873858"/>
            <a:ext cx="2106667" cy="261610"/>
          </a:xfrm>
          <a:prstGeom prst="rect">
            <a:avLst/>
          </a:prstGeom>
        </p:spPr>
        <p:txBody>
          <a:bodyPr wrap="none">
            <a:spAutoFit/>
          </a:bodyPr>
          <a:lstStyle/>
          <a:p>
            <a:pPr marL="171450" indent="-171450">
              <a:buFont typeface="Arial" panose="020B0604020202020204" pitchFamily="34" charset="0"/>
              <a:buChar char="•"/>
            </a:pPr>
            <a:r>
              <a:rPr lang="en-US" altLang="zh-TW" sz="1100" dirty="0" smtClean="0"/>
              <a:t>Inspection_summary_yyyymm</a:t>
            </a:r>
            <a:endParaRPr lang="zh-TW" altLang="en-US" sz="1100" dirty="0"/>
          </a:p>
        </p:txBody>
      </p:sp>
      <p:cxnSp>
        <p:nvCxnSpPr>
          <p:cNvPr id="204" name="肘形接點 203"/>
          <p:cNvCxnSpPr/>
          <p:nvPr/>
        </p:nvCxnSpPr>
        <p:spPr>
          <a:xfrm rot="16200000" flipH="1">
            <a:off x="2176219" y="1108463"/>
            <a:ext cx="154661" cy="1818"/>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0" name="矩形 209"/>
          <p:cNvSpPr/>
          <p:nvPr/>
        </p:nvSpPr>
        <p:spPr>
          <a:xfrm>
            <a:off x="6294693" y="2853671"/>
            <a:ext cx="603050" cy="215444"/>
          </a:xfrm>
          <a:prstGeom prst="rect">
            <a:avLst/>
          </a:prstGeom>
        </p:spPr>
        <p:txBody>
          <a:bodyPr wrap="none">
            <a:spAutoFit/>
          </a:bodyPr>
          <a:lstStyle/>
          <a:p>
            <a:r>
              <a:rPr lang="en-US" altLang="zh-TW" sz="800" dirty="0" smtClean="0"/>
              <a:t>Read only</a:t>
            </a:r>
            <a:endParaRPr lang="en-US" altLang="zh-TW" sz="800" dirty="0"/>
          </a:p>
        </p:txBody>
      </p:sp>
      <p:sp>
        <p:nvSpPr>
          <p:cNvPr id="211" name="矩形 210"/>
          <p:cNvSpPr/>
          <p:nvPr/>
        </p:nvSpPr>
        <p:spPr>
          <a:xfrm>
            <a:off x="6582158" y="4484871"/>
            <a:ext cx="603050" cy="215444"/>
          </a:xfrm>
          <a:prstGeom prst="rect">
            <a:avLst/>
          </a:prstGeom>
        </p:spPr>
        <p:txBody>
          <a:bodyPr wrap="none">
            <a:spAutoFit/>
          </a:bodyPr>
          <a:lstStyle/>
          <a:p>
            <a:r>
              <a:rPr lang="en-US" altLang="zh-TW" sz="800" dirty="0" smtClean="0"/>
              <a:t>Read only</a:t>
            </a:r>
            <a:endParaRPr lang="en-US" altLang="zh-TW" sz="800" dirty="0"/>
          </a:p>
        </p:txBody>
      </p:sp>
      <p:sp>
        <p:nvSpPr>
          <p:cNvPr id="212" name="矩形 211"/>
          <p:cNvSpPr/>
          <p:nvPr/>
        </p:nvSpPr>
        <p:spPr>
          <a:xfrm>
            <a:off x="8063117" y="2876427"/>
            <a:ext cx="603050" cy="215444"/>
          </a:xfrm>
          <a:prstGeom prst="rect">
            <a:avLst/>
          </a:prstGeom>
        </p:spPr>
        <p:txBody>
          <a:bodyPr wrap="none">
            <a:spAutoFit/>
          </a:bodyPr>
          <a:lstStyle/>
          <a:p>
            <a:r>
              <a:rPr lang="en-US" altLang="zh-TW" sz="800" dirty="0"/>
              <a:t>Read only</a:t>
            </a:r>
          </a:p>
        </p:txBody>
      </p:sp>
      <p:sp>
        <p:nvSpPr>
          <p:cNvPr id="217" name="矩形 216"/>
          <p:cNvSpPr/>
          <p:nvPr/>
        </p:nvSpPr>
        <p:spPr>
          <a:xfrm>
            <a:off x="4550756" y="2839182"/>
            <a:ext cx="603050" cy="215444"/>
          </a:xfrm>
          <a:prstGeom prst="rect">
            <a:avLst/>
          </a:prstGeom>
        </p:spPr>
        <p:txBody>
          <a:bodyPr wrap="none">
            <a:spAutoFit/>
          </a:bodyPr>
          <a:lstStyle/>
          <a:p>
            <a:r>
              <a:rPr lang="en-US" altLang="zh-TW" sz="800" dirty="0" smtClean="0"/>
              <a:t>Read only</a:t>
            </a:r>
            <a:endParaRPr lang="en-US" altLang="zh-TW" sz="800" dirty="0"/>
          </a:p>
        </p:txBody>
      </p:sp>
      <p:grpSp>
        <p:nvGrpSpPr>
          <p:cNvPr id="218" name="群組 217"/>
          <p:cNvGrpSpPr/>
          <p:nvPr/>
        </p:nvGrpSpPr>
        <p:grpSpPr>
          <a:xfrm>
            <a:off x="7649780" y="4013743"/>
            <a:ext cx="705600" cy="295200"/>
            <a:chOff x="812940" y="830579"/>
            <a:chExt cx="705600" cy="295200"/>
          </a:xfrm>
        </p:grpSpPr>
        <p:sp>
          <p:nvSpPr>
            <p:cNvPr id="219" name="流程圖: 資料 218"/>
            <p:cNvSpPr/>
            <p:nvPr/>
          </p:nvSpPr>
          <p:spPr>
            <a:xfrm>
              <a:off x="812940" y="830579"/>
              <a:ext cx="705600" cy="2952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20" name="矩形 219"/>
            <p:cNvSpPr/>
            <p:nvPr/>
          </p:nvSpPr>
          <p:spPr>
            <a:xfrm>
              <a:off x="812940" y="861901"/>
              <a:ext cx="670376" cy="215444"/>
            </a:xfrm>
            <a:prstGeom prst="rect">
              <a:avLst/>
            </a:prstGeom>
          </p:spPr>
          <p:txBody>
            <a:bodyPr wrap="none">
              <a:spAutoFit/>
            </a:bodyPr>
            <a:lstStyle/>
            <a:p>
              <a:pPr algn="ctr"/>
              <a:r>
                <a:rPr lang="en-US" altLang="zh-TW" sz="800" dirty="0" smtClean="0">
                  <a:solidFill>
                    <a:schemeClr val="bg1"/>
                  </a:solidFill>
                </a:rPr>
                <a:t>Update API</a:t>
              </a:r>
              <a:endParaRPr lang="zh-TW" altLang="en-US" sz="800" dirty="0">
                <a:solidFill>
                  <a:schemeClr val="bg1"/>
                </a:solidFill>
              </a:endParaRPr>
            </a:p>
          </p:txBody>
        </p:sp>
      </p:grpSp>
      <p:grpSp>
        <p:nvGrpSpPr>
          <p:cNvPr id="224" name="群組 223"/>
          <p:cNvGrpSpPr/>
          <p:nvPr/>
        </p:nvGrpSpPr>
        <p:grpSpPr>
          <a:xfrm>
            <a:off x="5790504" y="4307261"/>
            <a:ext cx="841543" cy="297596"/>
            <a:chOff x="7490490" y="4094445"/>
            <a:chExt cx="962520" cy="386299"/>
          </a:xfrm>
        </p:grpSpPr>
        <p:grpSp>
          <p:nvGrpSpPr>
            <p:cNvPr id="68" name="群組 67"/>
            <p:cNvGrpSpPr/>
            <p:nvPr/>
          </p:nvGrpSpPr>
          <p:grpSpPr>
            <a:xfrm>
              <a:off x="7490490" y="4094445"/>
              <a:ext cx="962520" cy="386299"/>
              <a:chOff x="812940" y="830579"/>
              <a:chExt cx="962520" cy="386299"/>
            </a:xfrm>
          </p:grpSpPr>
          <p:sp>
            <p:nvSpPr>
              <p:cNvPr id="69" name="流程圖: 資料 68"/>
              <p:cNvSpPr/>
              <p:nvPr/>
            </p:nvSpPr>
            <p:spPr>
              <a:xfrm>
                <a:off x="812940" y="830579"/>
                <a:ext cx="962520" cy="38629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70" name="矩形 69"/>
              <p:cNvSpPr/>
              <p:nvPr/>
            </p:nvSpPr>
            <p:spPr>
              <a:xfrm>
                <a:off x="1200836" y="916006"/>
                <a:ext cx="184731" cy="215444"/>
              </a:xfrm>
              <a:prstGeom prst="rect">
                <a:avLst/>
              </a:prstGeom>
            </p:spPr>
            <p:txBody>
              <a:bodyPr wrap="none">
                <a:spAutoFit/>
              </a:bodyPr>
              <a:lstStyle/>
              <a:p>
                <a:pPr algn="ctr"/>
                <a:endParaRPr lang="zh-TW" altLang="en-US" sz="800" dirty="0">
                  <a:solidFill>
                    <a:schemeClr val="bg1"/>
                  </a:solidFill>
                </a:endParaRPr>
              </a:p>
            </p:txBody>
          </p:sp>
        </p:grpSp>
        <p:sp>
          <p:nvSpPr>
            <p:cNvPr id="222" name="矩形 221"/>
            <p:cNvSpPr/>
            <p:nvPr/>
          </p:nvSpPr>
          <p:spPr>
            <a:xfrm>
              <a:off x="7611503" y="4131015"/>
              <a:ext cx="715261" cy="215444"/>
            </a:xfrm>
            <a:prstGeom prst="rect">
              <a:avLst/>
            </a:prstGeom>
          </p:spPr>
          <p:txBody>
            <a:bodyPr wrap="none">
              <a:spAutoFit/>
            </a:bodyPr>
            <a:lstStyle/>
            <a:p>
              <a:pPr algn="ctr"/>
              <a:r>
                <a:rPr lang="en-US" altLang="zh-TW" sz="800" dirty="0" smtClean="0">
                  <a:solidFill>
                    <a:schemeClr val="bg1"/>
                  </a:solidFill>
                </a:rPr>
                <a:t>Analyze </a:t>
              </a:r>
              <a:r>
                <a:rPr lang="en-US" altLang="zh-TW" sz="800" dirty="0">
                  <a:solidFill>
                    <a:schemeClr val="bg1"/>
                  </a:solidFill>
                </a:rPr>
                <a:t>API</a:t>
              </a:r>
              <a:endParaRPr lang="zh-TW" altLang="en-US" sz="800" dirty="0">
                <a:solidFill>
                  <a:schemeClr val="bg1"/>
                </a:solidFill>
              </a:endParaRPr>
            </a:p>
          </p:txBody>
        </p:sp>
      </p:grpSp>
      <p:grpSp>
        <p:nvGrpSpPr>
          <p:cNvPr id="225" name="群組 224"/>
          <p:cNvGrpSpPr/>
          <p:nvPr/>
        </p:nvGrpSpPr>
        <p:grpSpPr>
          <a:xfrm>
            <a:off x="7515259" y="3146560"/>
            <a:ext cx="974642" cy="294648"/>
            <a:chOff x="7270797" y="3114130"/>
            <a:chExt cx="1327696" cy="386299"/>
          </a:xfrm>
        </p:grpSpPr>
        <p:grpSp>
          <p:nvGrpSpPr>
            <p:cNvPr id="71" name="群組 70"/>
            <p:cNvGrpSpPr/>
            <p:nvPr/>
          </p:nvGrpSpPr>
          <p:grpSpPr>
            <a:xfrm>
              <a:off x="7270797" y="3114130"/>
              <a:ext cx="1327696" cy="386299"/>
              <a:chOff x="863422" y="923150"/>
              <a:chExt cx="1327696" cy="386299"/>
            </a:xfrm>
          </p:grpSpPr>
          <p:sp>
            <p:nvSpPr>
              <p:cNvPr id="72" name="流程圖: 資料 71"/>
              <p:cNvSpPr/>
              <p:nvPr/>
            </p:nvSpPr>
            <p:spPr>
              <a:xfrm>
                <a:off x="1071404" y="923150"/>
                <a:ext cx="962520" cy="38629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73" name="矩形 72"/>
              <p:cNvSpPr/>
              <p:nvPr/>
            </p:nvSpPr>
            <p:spPr>
              <a:xfrm>
                <a:off x="863422" y="937030"/>
                <a:ext cx="1327696" cy="215444"/>
              </a:xfrm>
              <a:prstGeom prst="rect">
                <a:avLst/>
              </a:prstGeom>
            </p:spPr>
            <p:txBody>
              <a:bodyPr wrap="square">
                <a:spAutoFit/>
              </a:bodyPr>
              <a:lstStyle/>
              <a:p>
                <a:pPr algn="ctr"/>
                <a:endParaRPr lang="zh-TW" altLang="en-US" sz="800" dirty="0">
                  <a:solidFill>
                    <a:schemeClr val="bg1"/>
                  </a:solidFill>
                </a:endParaRPr>
              </a:p>
            </p:txBody>
          </p:sp>
        </p:grpSp>
        <p:sp>
          <p:nvSpPr>
            <p:cNvPr id="223" name="矩形 222"/>
            <p:cNvSpPr/>
            <p:nvPr/>
          </p:nvSpPr>
          <p:spPr>
            <a:xfrm>
              <a:off x="7665065" y="3179108"/>
              <a:ext cx="622286" cy="215444"/>
            </a:xfrm>
            <a:prstGeom prst="rect">
              <a:avLst/>
            </a:prstGeom>
          </p:spPr>
          <p:txBody>
            <a:bodyPr wrap="none">
              <a:spAutoFit/>
            </a:bodyPr>
            <a:lstStyle/>
            <a:p>
              <a:pPr algn="ctr"/>
              <a:r>
                <a:rPr lang="en-US" altLang="zh-TW" sz="800" dirty="0">
                  <a:solidFill>
                    <a:schemeClr val="bg1"/>
                  </a:solidFill>
                </a:rPr>
                <a:t>SPEC API</a:t>
              </a:r>
              <a:endParaRPr lang="zh-TW" altLang="en-US" sz="800" dirty="0">
                <a:solidFill>
                  <a:schemeClr val="bg1"/>
                </a:solidFill>
              </a:endParaRPr>
            </a:p>
          </p:txBody>
        </p:sp>
      </p:grpSp>
      <p:sp>
        <p:nvSpPr>
          <p:cNvPr id="231" name="矩形 230"/>
          <p:cNvSpPr/>
          <p:nvPr/>
        </p:nvSpPr>
        <p:spPr>
          <a:xfrm>
            <a:off x="7352207" y="4377571"/>
            <a:ext cx="1624163" cy="261610"/>
          </a:xfrm>
          <a:prstGeom prst="rect">
            <a:avLst/>
          </a:prstGeom>
        </p:spPr>
        <p:txBody>
          <a:bodyPr wrap="none">
            <a:spAutoFit/>
          </a:bodyPr>
          <a:lstStyle/>
          <a:p>
            <a:pPr marL="171450" indent="-171450">
              <a:buFont typeface="Arial" panose="020B0604020202020204" pitchFamily="34" charset="0"/>
              <a:buChar char="•"/>
            </a:pPr>
            <a:r>
              <a:rPr lang="en-US" altLang="zh-TW" sz="1100" b="1" dirty="0" smtClean="0">
                <a:solidFill>
                  <a:schemeClr val="accent6"/>
                </a:solidFill>
              </a:rPr>
              <a:t>Inspection_summary</a:t>
            </a:r>
          </a:p>
        </p:txBody>
      </p:sp>
      <p:sp>
        <p:nvSpPr>
          <p:cNvPr id="248" name="矩形 247"/>
          <p:cNvSpPr/>
          <p:nvPr/>
        </p:nvSpPr>
        <p:spPr>
          <a:xfrm>
            <a:off x="8287537" y="3960477"/>
            <a:ext cx="378630" cy="215444"/>
          </a:xfrm>
          <a:prstGeom prst="rect">
            <a:avLst/>
          </a:prstGeom>
        </p:spPr>
        <p:txBody>
          <a:bodyPr wrap="none">
            <a:spAutoFit/>
          </a:bodyPr>
          <a:lstStyle/>
          <a:p>
            <a:r>
              <a:rPr lang="en-US" altLang="zh-TW" sz="800" dirty="0" smtClean="0"/>
              <a:t>R/W</a:t>
            </a:r>
            <a:endParaRPr lang="en-US" altLang="zh-TW" sz="800" dirty="0"/>
          </a:p>
        </p:txBody>
      </p:sp>
      <p:cxnSp>
        <p:nvCxnSpPr>
          <p:cNvPr id="252" name="肘形接點 251"/>
          <p:cNvCxnSpPr/>
          <p:nvPr/>
        </p:nvCxnSpPr>
        <p:spPr>
          <a:xfrm rot="10800000">
            <a:off x="6582158" y="2259666"/>
            <a:ext cx="582092" cy="0"/>
          </a:xfrm>
          <a:prstGeom prst="bentConnector3">
            <a:avLst>
              <a:gd name="adj1" fmla="val 50000"/>
            </a:avLst>
          </a:prstGeom>
          <a:ln w="19050">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53" name="群組 252"/>
          <p:cNvGrpSpPr/>
          <p:nvPr/>
        </p:nvGrpSpPr>
        <p:grpSpPr>
          <a:xfrm>
            <a:off x="7185208" y="2106165"/>
            <a:ext cx="1030999" cy="338554"/>
            <a:chOff x="3682265" y="2690984"/>
            <a:chExt cx="1030999" cy="338554"/>
          </a:xfrm>
        </p:grpSpPr>
        <p:sp>
          <p:nvSpPr>
            <p:cNvPr id="254" name="矩形 253"/>
            <p:cNvSpPr/>
            <p:nvPr/>
          </p:nvSpPr>
          <p:spPr>
            <a:xfrm>
              <a:off x="3682265" y="2690984"/>
              <a:ext cx="1030999" cy="327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5" name="矩形 254"/>
            <p:cNvSpPr/>
            <p:nvPr/>
          </p:nvSpPr>
          <p:spPr>
            <a:xfrm>
              <a:off x="3812882" y="2690984"/>
              <a:ext cx="769763" cy="338554"/>
            </a:xfrm>
            <a:prstGeom prst="rect">
              <a:avLst/>
            </a:prstGeom>
          </p:spPr>
          <p:txBody>
            <a:bodyPr wrap="none">
              <a:spAutoFit/>
            </a:bodyPr>
            <a:lstStyle/>
            <a:p>
              <a:pPr algn="ctr"/>
              <a:r>
                <a:rPr lang="en-US" altLang="zh-TW" sz="800" dirty="0" smtClean="0">
                  <a:solidFill>
                    <a:schemeClr val="bg1"/>
                  </a:solidFill>
                </a:rPr>
                <a:t>Dynamic </a:t>
              </a:r>
            </a:p>
            <a:p>
              <a:pPr algn="ctr"/>
              <a:r>
                <a:rPr lang="en-US" altLang="zh-TW" sz="800" dirty="0" smtClean="0">
                  <a:solidFill>
                    <a:schemeClr val="bg1"/>
                  </a:solidFill>
                </a:rPr>
                <a:t>SPEC Process</a:t>
              </a:r>
              <a:endParaRPr lang="zh-TW" altLang="en-US" sz="800" dirty="0">
                <a:solidFill>
                  <a:schemeClr val="bg1"/>
                </a:solidFill>
              </a:endParaRPr>
            </a:p>
          </p:txBody>
        </p:sp>
      </p:grpSp>
      <p:cxnSp>
        <p:nvCxnSpPr>
          <p:cNvPr id="256" name="肘形接點 255"/>
          <p:cNvCxnSpPr>
            <a:stCxn id="46" idx="1"/>
            <a:endCxn id="20" idx="4"/>
          </p:cNvCxnSpPr>
          <p:nvPr/>
        </p:nvCxnSpPr>
        <p:spPr>
          <a:xfrm rot="10800000" flipV="1">
            <a:off x="4960201" y="2284101"/>
            <a:ext cx="559312" cy="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31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線單箭頭接點 10"/>
          <p:cNvCxnSpPr>
            <a:stCxn id="51" idx="3"/>
            <a:endCxn id="97" idx="1"/>
          </p:cNvCxnSpPr>
          <p:nvPr/>
        </p:nvCxnSpPr>
        <p:spPr>
          <a:xfrm>
            <a:off x="969693" y="1011795"/>
            <a:ext cx="0" cy="35601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ctrTitle"/>
          </p:nvPr>
        </p:nvSpPr>
        <p:spPr>
          <a:xfrm>
            <a:off x="386220" y="0"/>
            <a:ext cx="8482972" cy="680785"/>
          </a:xfrm>
        </p:spPr>
        <p:txBody>
          <a:bodyPr>
            <a:normAutofit/>
          </a:bodyPr>
          <a:lstStyle/>
          <a:p>
            <a:r>
              <a:rPr lang="en-US" altLang="zh-TW" b="1" dirty="0">
                <a:latin typeface="+mj-ea"/>
              </a:rPr>
              <a:t>Dynamic </a:t>
            </a:r>
            <a:r>
              <a:rPr lang="en-US" altLang="zh-TW" b="1" dirty="0" smtClean="0">
                <a:latin typeface="+mj-ea"/>
              </a:rPr>
              <a:t>SPEC(ETL &amp; Aggregation)</a:t>
            </a:r>
            <a:endParaRPr lang="zh-TW" altLang="en-US" b="1" dirty="0">
              <a:latin typeface="+mj-ea"/>
            </a:endParaRPr>
          </a:p>
        </p:txBody>
      </p:sp>
      <p:sp>
        <p:nvSpPr>
          <p:cNvPr id="51" name="圓柱 50"/>
          <p:cNvSpPr/>
          <p:nvPr/>
        </p:nvSpPr>
        <p:spPr>
          <a:xfrm>
            <a:off x="583026" y="768878"/>
            <a:ext cx="773334" cy="242917"/>
          </a:xfrm>
          <a:prstGeom prst="can">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 name="群組 3"/>
          <p:cNvGrpSpPr/>
          <p:nvPr/>
        </p:nvGrpSpPr>
        <p:grpSpPr>
          <a:xfrm>
            <a:off x="495095" y="1339593"/>
            <a:ext cx="1147615" cy="369332"/>
            <a:chOff x="279519" y="1683658"/>
            <a:chExt cx="1147615" cy="369332"/>
          </a:xfrm>
        </p:grpSpPr>
        <p:sp>
          <p:nvSpPr>
            <p:cNvPr id="54" name="流程圖: 資料 82"/>
            <p:cNvSpPr/>
            <p:nvPr/>
          </p:nvSpPr>
          <p:spPr>
            <a:xfrm>
              <a:off x="279519" y="1683658"/>
              <a:ext cx="1147615" cy="320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56" name="矩形 55"/>
            <p:cNvSpPr/>
            <p:nvPr/>
          </p:nvSpPr>
          <p:spPr>
            <a:xfrm>
              <a:off x="329230" y="1683658"/>
              <a:ext cx="1008240" cy="369332"/>
            </a:xfrm>
            <a:prstGeom prst="rect">
              <a:avLst/>
            </a:prstGeom>
          </p:spPr>
          <p:txBody>
            <a:bodyPr wrap="square">
              <a:spAutoFit/>
            </a:bodyPr>
            <a:lstStyle/>
            <a:p>
              <a:pPr algn="ctr"/>
              <a:r>
                <a:rPr lang="en-US" altLang="zh-TW" sz="900" dirty="0">
                  <a:solidFill>
                    <a:schemeClr val="bg1"/>
                  </a:solidFill>
                </a:rPr>
                <a:t>Window &amp; Table Discovery</a:t>
              </a:r>
            </a:p>
          </p:txBody>
        </p:sp>
      </p:grpSp>
      <p:grpSp>
        <p:nvGrpSpPr>
          <p:cNvPr id="57" name="群組 56"/>
          <p:cNvGrpSpPr/>
          <p:nvPr/>
        </p:nvGrpSpPr>
        <p:grpSpPr>
          <a:xfrm>
            <a:off x="429558" y="1832233"/>
            <a:ext cx="1256490" cy="320401"/>
            <a:chOff x="225081" y="1683658"/>
            <a:chExt cx="1256490" cy="320401"/>
          </a:xfrm>
        </p:grpSpPr>
        <p:sp>
          <p:nvSpPr>
            <p:cNvPr id="58" name="流程圖: 資料 82"/>
            <p:cNvSpPr/>
            <p:nvPr/>
          </p:nvSpPr>
          <p:spPr>
            <a:xfrm>
              <a:off x="279519" y="1683658"/>
              <a:ext cx="1147615" cy="320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59" name="矩形 58"/>
            <p:cNvSpPr/>
            <p:nvPr/>
          </p:nvSpPr>
          <p:spPr>
            <a:xfrm>
              <a:off x="225081" y="1728442"/>
              <a:ext cx="1256490" cy="230832"/>
            </a:xfrm>
            <a:prstGeom prst="rect">
              <a:avLst/>
            </a:prstGeom>
          </p:spPr>
          <p:txBody>
            <a:bodyPr wrap="square">
              <a:spAutoFit/>
            </a:bodyPr>
            <a:lstStyle/>
            <a:p>
              <a:pPr algn="ctr"/>
              <a:r>
                <a:rPr lang="en-US" altLang="zh-TW" sz="900" dirty="0">
                  <a:solidFill>
                    <a:schemeClr val="bg1"/>
                  </a:solidFill>
                </a:rPr>
                <a:t>SQL Fetch &amp; Cleaning</a:t>
              </a:r>
            </a:p>
          </p:txBody>
        </p:sp>
      </p:grpSp>
      <p:grpSp>
        <p:nvGrpSpPr>
          <p:cNvPr id="76" name="群組 75"/>
          <p:cNvGrpSpPr/>
          <p:nvPr/>
        </p:nvGrpSpPr>
        <p:grpSpPr>
          <a:xfrm>
            <a:off x="386268" y="3010697"/>
            <a:ext cx="1333788" cy="369332"/>
            <a:chOff x="186432" y="1659192"/>
            <a:chExt cx="1333788" cy="369332"/>
          </a:xfrm>
        </p:grpSpPr>
        <p:sp>
          <p:nvSpPr>
            <p:cNvPr id="77" name="流程圖: 資料 82"/>
            <p:cNvSpPr/>
            <p:nvPr/>
          </p:nvSpPr>
          <p:spPr>
            <a:xfrm>
              <a:off x="279519" y="1683658"/>
              <a:ext cx="1147615" cy="320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78" name="矩形 77"/>
            <p:cNvSpPr/>
            <p:nvPr/>
          </p:nvSpPr>
          <p:spPr>
            <a:xfrm>
              <a:off x="186432" y="1659192"/>
              <a:ext cx="1333788" cy="369332"/>
            </a:xfrm>
            <a:prstGeom prst="rect">
              <a:avLst/>
            </a:prstGeom>
          </p:spPr>
          <p:txBody>
            <a:bodyPr wrap="square">
              <a:spAutoFit/>
            </a:bodyPr>
            <a:lstStyle/>
            <a:p>
              <a:pPr algn="ctr"/>
              <a:r>
                <a:rPr lang="en-US" altLang="zh-TW" sz="900" dirty="0">
                  <a:solidFill>
                    <a:schemeClr val="bg1"/>
                  </a:solidFill>
                </a:rPr>
                <a:t>Dynamic SPEC Aggregation </a:t>
              </a:r>
              <a:r>
                <a:rPr lang="en-US" altLang="zh-TW" sz="900" dirty="0" smtClean="0">
                  <a:solidFill>
                    <a:schemeClr val="bg1"/>
                  </a:solidFill>
                </a:rPr>
                <a:t>(Streaming</a:t>
              </a:r>
              <a:r>
                <a:rPr lang="en-US" altLang="zh-TW" sz="900" dirty="0">
                  <a:solidFill>
                    <a:schemeClr val="bg1"/>
                  </a:solidFill>
                </a:rPr>
                <a:t>)</a:t>
              </a:r>
            </a:p>
          </p:txBody>
        </p:sp>
      </p:grpSp>
      <p:sp>
        <p:nvSpPr>
          <p:cNvPr id="85" name="矩形 84"/>
          <p:cNvSpPr/>
          <p:nvPr/>
        </p:nvSpPr>
        <p:spPr>
          <a:xfrm>
            <a:off x="1818749" y="732641"/>
            <a:ext cx="1964531" cy="430887"/>
          </a:xfrm>
          <a:prstGeom prst="rect">
            <a:avLst/>
          </a:prstGeom>
        </p:spPr>
        <p:txBody>
          <a:bodyPr wrap="square">
            <a:spAutoFit/>
          </a:bodyPr>
          <a:lstStyle/>
          <a:p>
            <a:r>
              <a:rPr lang="en-US" altLang="zh-TW" sz="1100" dirty="0" smtClean="0"/>
              <a:t>Inspection_raw_yyyymm</a:t>
            </a:r>
          </a:p>
          <a:p>
            <a:pPr algn="r"/>
            <a:r>
              <a:rPr lang="en-US" altLang="zh-TW" sz="1100" dirty="0"/>
              <a:t>	</a:t>
            </a:r>
            <a:r>
              <a:rPr lang="en-US" altLang="zh-TW" sz="1100" dirty="0" smtClean="0"/>
              <a:t>(Read only)</a:t>
            </a:r>
            <a:endParaRPr lang="zh-TW" altLang="en-US" sz="1100" dirty="0"/>
          </a:p>
        </p:txBody>
      </p:sp>
      <p:sp>
        <p:nvSpPr>
          <p:cNvPr id="5" name="矩形 4"/>
          <p:cNvSpPr/>
          <p:nvPr/>
        </p:nvSpPr>
        <p:spPr>
          <a:xfrm>
            <a:off x="1862087" y="1278038"/>
            <a:ext cx="2791956" cy="430887"/>
          </a:xfrm>
          <a:prstGeom prst="rect">
            <a:avLst/>
          </a:prstGeom>
        </p:spPr>
        <p:txBody>
          <a:bodyPr wrap="square">
            <a:spAutoFit/>
          </a:bodyPr>
          <a:lstStyle/>
          <a:p>
            <a:r>
              <a:rPr lang="en-US" altLang="zh-TW" sz="1050" dirty="0"/>
              <a:t>cutoff: 07:30 Asia/Taipei</a:t>
            </a:r>
          </a:p>
          <a:p>
            <a:r>
              <a:rPr lang="en-US" altLang="zh-TW" sz="1050" dirty="0" smtClean="0"/>
              <a:t>months_for_window </a:t>
            </a:r>
            <a:r>
              <a:rPr lang="en-US" altLang="zh-TW" sz="1050" dirty="0"/>
              <a:t>→ </a:t>
            </a:r>
            <a:r>
              <a:rPr lang="en-US" altLang="zh-TW" sz="1050" dirty="0" smtClean="0"/>
              <a:t>list_inspecion_tables</a:t>
            </a:r>
            <a:endParaRPr lang="en-US" altLang="zh-TW" sz="1050" dirty="0"/>
          </a:p>
        </p:txBody>
      </p:sp>
      <p:sp>
        <p:nvSpPr>
          <p:cNvPr id="86" name="矩形 85"/>
          <p:cNvSpPr/>
          <p:nvPr/>
        </p:nvSpPr>
        <p:spPr>
          <a:xfrm>
            <a:off x="1887103" y="1776542"/>
            <a:ext cx="2248815" cy="415498"/>
          </a:xfrm>
          <a:prstGeom prst="rect">
            <a:avLst/>
          </a:prstGeom>
        </p:spPr>
        <p:txBody>
          <a:bodyPr wrap="square">
            <a:spAutoFit/>
          </a:bodyPr>
          <a:lstStyle/>
          <a:p>
            <a:r>
              <a:rPr lang="en-US" altLang="zh-TW" sz="1050" dirty="0"/>
              <a:t>filter pi_time ∈ [start, end)</a:t>
            </a:r>
          </a:p>
          <a:p>
            <a:r>
              <a:rPr lang="en-US" altLang="zh-TW" sz="1050" dirty="0" smtClean="0"/>
              <a:t>defect_size </a:t>
            </a:r>
            <a:r>
              <a:rPr lang="en-US" altLang="zh-TW" sz="1050" dirty="0"/>
              <a:t>→ size_bucket (S/M/L/O)</a:t>
            </a:r>
          </a:p>
        </p:txBody>
      </p:sp>
      <p:grpSp>
        <p:nvGrpSpPr>
          <p:cNvPr id="90" name="群組 89"/>
          <p:cNvGrpSpPr/>
          <p:nvPr/>
        </p:nvGrpSpPr>
        <p:grpSpPr>
          <a:xfrm>
            <a:off x="386220" y="2369657"/>
            <a:ext cx="1256490" cy="369332"/>
            <a:chOff x="195569" y="1659192"/>
            <a:chExt cx="1256490" cy="369332"/>
          </a:xfrm>
        </p:grpSpPr>
        <p:sp>
          <p:nvSpPr>
            <p:cNvPr id="91" name="流程圖: 資料 82"/>
            <p:cNvSpPr/>
            <p:nvPr/>
          </p:nvSpPr>
          <p:spPr>
            <a:xfrm>
              <a:off x="279519" y="1683658"/>
              <a:ext cx="1147615" cy="320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92" name="矩形 91"/>
            <p:cNvSpPr/>
            <p:nvPr/>
          </p:nvSpPr>
          <p:spPr>
            <a:xfrm>
              <a:off x="195569" y="1659192"/>
              <a:ext cx="1256490" cy="369332"/>
            </a:xfrm>
            <a:prstGeom prst="rect">
              <a:avLst/>
            </a:prstGeom>
          </p:spPr>
          <p:txBody>
            <a:bodyPr wrap="square">
              <a:spAutoFit/>
            </a:bodyPr>
            <a:lstStyle/>
            <a:p>
              <a:pPr algn="ctr"/>
              <a:r>
                <a:rPr lang="en-US" altLang="zh-TW" sz="900" dirty="0">
                  <a:solidFill>
                    <a:schemeClr val="bg1"/>
                  </a:solidFill>
                </a:rPr>
                <a:t>De-duplicate Measurements</a:t>
              </a:r>
            </a:p>
          </p:txBody>
        </p:sp>
      </p:grpSp>
      <p:sp>
        <p:nvSpPr>
          <p:cNvPr id="93" name="矩形 92"/>
          <p:cNvSpPr/>
          <p:nvPr/>
        </p:nvSpPr>
        <p:spPr>
          <a:xfrm>
            <a:off x="1893707" y="2338333"/>
            <a:ext cx="2403336" cy="415498"/>
          </a:xfrm>
          <a:prstGeom prst="rect">
            <a:avLst/>
          </a:prstGeom>
        </p:spPr>
        <p:txBody>
          <a:bodyPr wrap="square">
            <a:spAutoFit/>
          </a:bodyPr>
          <a:lstStyle/>
          <a:p>
            <a:r>
              <a:rPr lang="en-US" altLang="zh-TW" sz="1050" dirty="0"/>
              <a:t>keep latest pi_time per</a:t>
            </a:r>
          </a:p>
          <a:p>
            <a:r>
              <a:rPr lang="en-US" altLang="zh-TW" sz="1050" dirty="0"/>
              <a:t>line_id + </a:t>
            </a:r>
            <a:r>
              <a:rPr lang="en-US" altLang="zh-TW" sz="1050" dirty="0" smtClean="0"/>
              <a:t>model + glass_type + glass_id</a:t>
            </a:r>
            <a:endParaRPr lang="en-US" altLang="zh-TW" sz="1050" dirty="0"/>
          </a:p>
        </p:txBody>
      </p:sp>
      <p:sp>
        <p:nvSpPr>
          <p:cNvPr id="6" name="矩形 5"/>
          <p:cNvSpPr/>
          <p:nvPr/>
        </p:nvSpPr>
        <p:spPr>
          <a:xfrm>
            <a:off x="1862087" y="2900124"/>
            <a:ext cx="2624909" cy="1546577"/>
          </a:xfrm>
          <a:prstGeom prst="rect">
            <a:avLst/>
          </a:prstGeom>
        </p:spPr>
        <p:txBody>
          <a:bodyPr wrap="square">
            <a:spAutoFit/>
          </a:bodyPr>
          <a:lstStyle/>
          <a:p>
            <a:r>
              <a:rPr lang="zh-TW" altLang="en-US" sz="1050" dirty="0"/>
              <a:t>Group by:</a:t>
            </a:r>
          </a:p>
          <a:p>
            <a:pPr marL="171450" indent="-171450">
              <a:buFont typeface="Arial" panose="020B0604020202020204" pitchFamily="34" charset="0"/>
              <a:buChar char="•"/>
            </a:pPr>
            <a:r>
              <a:rPr lang="en-US" altLang="zh-TW" sz="1050" dirty="0" smtClean="0"/>
              <a:t>line</a:t>
            </a:r>
            <a:r>
              <a:rPr lang="zh-TW" altLang="en-US" sz="1050" dirty="0" smtClean="0"/>
              <a:t>_id, model</a:t>
            </a:r>
            <a:endParaRPr lang="zh-TW" altLang="en-US" sz="1050" dirty="0"/>
          </a:p>
          <a:p>
            <a:pPr marL="171450" indent="-171450">
              <a:buFont typeface="Arial" panose="020B0604020202020204" pitchFamily="34" charset="0"/>
              <a:buChar char="•"/>
            </a:pPr>
            <a:r>
              <a:rPr lang="en-US" altLang="zh-TW" sz="1050" dirty="0" smtClean="0"/>
              <a:t>Glass</a:t>
            </a:r>
            <a:r>
              <a:rPr lang="zh-TW" altLang="en-US" sz="1050" dirty="0" smtClean="0"/>
              <a:t>_type </a:t>
            </a:r>
            <a:r>
              <a:rPr lang="zh-TW" altLang="en-US" sz="1050" dirty="0"/>
              <a:t>(CF/TFT) + </a:t>
            </a:r>
            <a:r>
              <a:rPr lang="zh-TW" altLang="en-US" sz="1050" dirty="0" smtClean="0"/>
              <a:t>ALL</a:t>
            </a:r>
            <a:endParaRPr lang="en-US" altLang="zh-TW" sz="1050" dirty="0" smtClean="0"/>
          </a:p>
          <a:p>
            <a:pPr marL="171450" indent="-171450">
              <a:buFont typeface="Arial" panose="020B0604020202020204" pitchFamily="34" charset="0"/>
              <a:buChar char="•"/>
            </a:pPr>
            <a:r>
              <a:rPr lang="en-US" altLang="zh-TW" sz="1050" dirty="0" smtClean="0"/>
              <a:t>Defect_size</a:t>
            </a:r>
            <a:r>
              <a:rPr lang="zh-TW" altLang="en-US" sz="1050" dirty="0" smtClean="0"/>
              <a:t>(</a:t>
            </a:r>
            <a:r>
              <a:rPr lang="zh-TW" altLang="en-US" sz="1050" dirty="0"/>
              <a:t>S/M/L/O + combos</a:t>
            </a:r>
            <a:r>
              <a:rPr lang="zh-TW" altLang="en-US" sz="1050" dirty="0" smtClean="0"/>
              <a:t>)</a:t>
            </a:r>
            <a:endParaRPr lang="en-US" altLang="zh-TW" sz="1050" dirty="0" smtClean="0"/>
          </a:p>
          <a:p>
            <a:r>
              <a:rPr lang="zh-TW" altLang="en-US" sz="1050" dirty="0"/>
              <a:t>Metrics:</a:t>
            </a:r>
          </a:p>
          <a:p>
            <a:pPr marL="171450" indent="-171450">
              <a:buFont typeface="Arial" panose="020B0604020202020204" pitchFamily="34" charset="0"/>
              <a:buChar char="•"/>
            </a:pPr>
            <a:r>
              <a:rPr lang="zh-TW" altLang="en-US" sz="1050" dirty="0"/>
              <a:t>density, outlier removal (x &gt; 3×density)</a:t>
            </a:r>
          </a:p>
          <a:p>
            <a:pPr marL="171450" indent="-171450">
              <a:buFont typeface="Arial" panose="020B0604020202020204" pitchFamily="34" charset="0"/>
              <a:buChar char="•"/>
            </a:pPr>
            <a:r>
              <a:rPr lang="zh-TW" altLang="en-US" sz="1050" dirty="0"/>
              <a:t>std (implicit zeros)</a:t>
            </a:r>
          </a:p>
          <a:p>
            <a:pPr marL="171450" indent="-171450">
              <a:buFont typeface="Arial" panose="020B0604020202020204" pitchFamily="34" charset="0"/>
              <a:buChar char="•"/>
            </a:pPr>
            <a:r>
              <a:rPr lang="zh-TW" altLang="en-US" sz="1050" dirty="0"/>
              <a:t>OOC = mean + 3σ, OOS = mean + 6σ</a:t>
            </a:r>
          </a:p>
          <a:p>
            <a:endParaRPr lang="zh-TW" altLang="en-US" sz="1050" dirty="0"/>
          </a:p>
        </p:txBody>
      </p:sp>
      <p:sp>
        <p:nvSpPr>
          <p:cNvPr id="97" name="圓柱 96"/>
          <p:cNvSpPr/>
          <p:nvPr/>
        </p:nvSpPr>
        <p:spPr>
          <a:xfrm>
            <a:off x="583026" y="4571964"/>
            <a:ext cx="773334" cy="242917"/>
          </a:xfrm>
          <a:prstGeom prst="can">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p:nvSpPr>
        <p:spPr>
          <a:xfrm>
            <a:off x="1818749" y="4545259"/>
            <a:ext cx="1818126" cy="430887"/>
          </a:xfrm>
          <a:prstGeom prst="rect">
            <a:avLst/>
          </a:prstGeom>
        </p:spPr>
        <p:txBody>
          <a:bodyPr wrap="none">
            <a:spAutoFit/>
          </a:bodyPr>
          <a:lstStyle/>
          <a:p>
            <a:r>
              <a:rPr lang="en-US" altLang="zh-TW" sz="1100" dirty="0" smtClean="0"/>
              <a:t>Inspection_dynamic_spec</a:t>
            </a:r>
          </a:p>
          <a:p>
            <a:pPr algn="r"/>
            <a:r>
              <a:rPr lang="en-US" altLang="zh-TW" sz="1100" dirty="0"/>
              <a:t>	</a:t>
            </a:r>
            <a:r>
              <a:rPr lang="en-US" altLang="zh-TW" sz="1100" dirty="0" smtClean="0"/>
              <a:t>(R/W)</a:t>
            </a:r>
            <a:endParaRPr lang="zh-TW" altLang="en-US" sz="1100" dirty="0"/>
          </a:p>
        </p:txBody>
      </p:sp>
      <p:sp>
        <p:nvSpPr>
          <p:cNvPr id="101" name="矩形 100"/>
          <p:cNvSpPr/>
          <p:nvPr/>
        </p:nvSpPr>
        <p:spPr>
          <a:xfrm>
            <a:off x="4830082" y="1466597"/>
            <a:ext cx="3934090" cy="430887"/>
          </a:xfrm>
          <a:prstGeom prst="rect">
            <a:avLst/>
          </a:prstGeom>
        </p:spPr>
        <p:txBody>
          <a:bodyPr wrap="none">
            <a:spAutoFit/>
          </a:bodyPr>
          <a:lstStyle/>
          <a:p>
            <a:r>
              <a:rPr lang="zh-TW" altLang="en-US" sz="1100" dirty="0" smtClean="0"/>
              <a:t>分割時間</a:t>
            </a:r>
            <a:r>
              <a:rPr lang="zh-TW" altLang="en-US" sz="1100" dirty="0"/>
              <a:t>戳</a:t>
            </a:r>
            <a:endParaRPr lang="en-US" altLang="zh-TW" sz="1100" dirty="0" smtClean="0"/>
          </a:p>
          <a:p>
            <a:pPr marL="171450" indent="-171450">
              <a:buFont typeface="Arial" panose="020B0604020202020204" pitchFamily="34" charset="0"/>
              <a:buChar char="•"/>
            </a:pPr>
            <a:r>
              <a:rPr lang="zh-TW" altLang="en-US" sz="1100" dirty="0" smtClean="0"/>
              <a:t>切割</a:t>
            </a:r>
            <a:r>
              <a:rPr lang="en-US" altLang="zh-TW" sz="1100" dirty="0" smtClean="0"/>
              <a:t>SCAN_ENDTIME </a:t>
            </a:r>
            <a:r>
              <a:rPr lang="en-US" altLang="zh-TW" sz="1100" dirty="0"/>
              <a:t>→ YYYY-MM-DD </a:t>
            </a:r>
            <a:r>
              <a:rPr lang="en-US" altLang="zh-TW" sz="1100" dirty="0" smtClean="0"/>
              <a:t>HH(</a:t>
            </a:r>
            <a:r>
              <a:rPr lang="zh-TW" altLang="en-US" sz="1100" dirty="0" smtClean="0"/>
              <a:t>工程部需求</a:t>
            </a:r>
            <a:r>
              <a:rPr lang="en-US" altLang="zh-TW" sz="1100" dirty="0" smtClean="0"/>
              <a:t>)</a:t>
            </a:r>
            <a:endParaRPr lang="en-US" altLang="zh-TW" sz="1100" dirty="0"/>
          </a:p>
        </p:txBody>
      </p:sp>
      <p:sp>
        <p:nvSpPr>
          <p:cNvPr id="104" name="矩形 103"/>
          <p:cNvSpPr/>
          <p:nvPr/>
        </p:nvSpPr>
        <p:spPr>
          <a:xfrm>
            <a:off x="4830082" y="2872047"/>
            <a:ext cx="1854995" cy="769441"/>
          </a:xfrm>
          <a:prstGeom prst="rect">
            <a:avLst/>
          </a:prstGeom>
        </p:spPr>
        <p:txBody>
          <a:bodyPr wrap="none">
            <a:spAutoFit/>
          </a:bodyPr>
          <a:lstStyle/>
          <a:p>
            <a:r>
              <a:rPr lang="zh-TW" altLang="en-US" sz="1100" dirty="0" smtClean="0"/>
              <a:t>分群</a:t>
            </a:r>
            <a:r>
              <a:rPr lang="en-US" altLang="zh-TW" sz="1100" dirty="0" smtClean="0"/>
              <a:t>&amp;</a:t>
            </a:r>
            <a:r>
              <a:rPr lang="zh-TW" altLang="en-US" sz="1100" dirty="0" smtClean="0"/>
              <a:t>組合</a:t>
            </a:r>
            <a:endParaRPr lang="en-US" altLang="zh-TW" sz="1100" dirty="0"/>
          </a:p>
          <a:p>
            <a:pPr marL="171450" indent="-171450">
              <a:buFont typeface="Arial" panose="020B0604020202020204" pitchFamily="34" charset="0"/>
              <a:buChar char="•"/>
            </a:pPr>
            <a:r>
              <a:rPr lang="en-US" altLang="zh-TW" sz="1100" dirty="0"/>
              <a:t>line</a:t>
            </a:r>
            <a:r>
              <a:rPr lang="zh-TW" altLang="en-US" sz="1100" dirty="0"/>
              <a:t>_id, </a:t>
            </a:r>
            <a:r>
              <a:rPr lang="zh-TW" altLang="en-US" sz="1100" dirty="0" smtClean="0"/>
              <a:t>model</a:t>
            </a:r>
            <a:endParaRPr lang="en-US" altLang="zh-TW" sz="1100" dirty="0" smtClean="0"/>
          </a:p>
          <a:p>
            <a:pPr marL="171450" indent="-171450">
              <a:buFont typeface="Arial" panose="020B0604020202020204" pitchFamily="34" charset="0"/>
              <a:buChar char="•"/>
            </a:pPr>
            <a:r>
              <a:rPr lang="en-US" altLang="zh-TW" sz="1100" dirty="0" smtClean="0"/>
              <a:t>glass_type(</a:t>
            </a:r>
            <a:r>
              <a:rPr lang="zh-TW" altLang="en-US" sz="1100" dirty="0"/>
              <a:t>各</a:t>
            </a:r>
            <a:r>
              <a:rPr lang="zh-TW" altLang="en-US" sz="1100" dirty="0" smtClean="0"/>
              <a:t>別及整體</a:t>
            </a:r>
            <a:r>
              <a:rPr lang="en-US" altLang="zh-TW" sz="1100" dirty="0" smtClean="0"/>
              <a:t>)</a:t>
            </a:r>
            <a:r>
              <a:rPr lang="en-US" altLang="zh-TW" sz="1100" dirty="0"/>
              <a:t> </a:t>
            </a:r>
            <a:endParaRPr lang="en-US" altLang="zh-TW" sz="1100" dirty="0" smtClean="0"/>
          </a:p>
          <a:p>
            <a:pPr marL="171450" indent="-171450">
              <a:buFont typeface="Arial" panose="020B0604020202020204" pitchFamily="34" charset="0"/>
              <a:buChar char="•"/>
            </a:pPr>
            <a:r>
              <a:rPr lang="en-US" altLang="zh-TW" sz="1100" dirty="0" smtClean="0"/>
              <a:t>Defect_size</a:t>
            </a:r>
            <a:r>
              <a:rPr lang="en-US" altLang="zh-TW" sz="1100" dirty="0"/>
              <a:t>(</a:t>
            </a:r>
            <a:r>
              <a:rPr lang="zh-TW" altLang="en-US" sz="1100" dirty="0"/>
              <a:t>各別</a:t>
            </a:r>
            <a:r>
              <a:rPr lang="zh-TW" altLang="en-US" sz="1100" dirty="0" smtClean="0"/>
              <a:t>及組</a:t>
            </a:r>
            <a:r>
              <a:rPr lang="zh-TW" altLang="en-US" sz="1100" dirty="0"/>
              <a:t>合</a:t>
            </a:r>
            <a:r>
              <a:rPr lang="en-US" altLang="zh-TW" sz="1100" dirty="0" smtClean="0"/>
              <a:t>) </a:t>
            </a:r>
            <a:endParaRPr lang="en-US" altLang="zh-TW" sz="1100" dirty="0"/>
          </a:p>
        </p:txBody>
      </p:sp>
      <p:sp>
        <p:nvSpPr>
          <p:cNvPr id="25" name="矩形 24"/>
          <p:cNvSpPr/>
          <p:nvPr/>
        </p:nvSpPr>
        <p:spPr>
          <a:xfrm>
            <a:off x="4830082" y="3706885"/>
            <a:ext cx="3329758" cy="1107996"/>
          </a:xfrm>
          <a:prstGeom prst="rect">
            <a:avLst/>
          </a:prstGeom>
        </p:spPr>
        <p:txBody>
          <a:bodyPr wrap="none">
            <a:spAutoFit/>
          </a:bodyPr>
          <a:lstStyle/>
          <a:p>
            <a:r>
              <a:rPr lang="zh-TW" altLang="en-US" sz="1100" dirty="0"/>
              <a:t>統計與管制邏輯：</a:t>
            </a:r>
          </a:p>
          <a:p>
            <a:pPr marL="171450" indent="-171450">
              <a:buFont typeface="Arial" panose="020B0604020202020204" pitchFamily="34" charset="0"/>
              <a:buChar char="•"/>
            </a:pPr>
            <a:r>
              <a:rPr lang="zh-TW" altLang="en-US" sz="1100" dirty="0"/>
              <a:t>依群組</a:t>
            </a:r>
            <a:r>
              <a:rPr lang="zh-TW" altLang="en-US" sz="1100" dirty="0" smtClean="0"/>
              <a:t>計算</a:t>
            </a:r>
            <a:r>
              <a:rPr lang="en-US" altLang="zh-TW" sz="1100" dirty="0" smtClean="0"/>
              <a:t>defect density</a:t>
            </a:r>
            <a:endParaRPr lang="zh-TW" altLang="en-US" sz="1100" dirty="0"/>
          </a:p>
          <a:p>
            <a:pPr marL="171450" indent="-171450">
              <a:buFont typeface="Arial" panose="020B0604020202020204" pitchFamily="34" charset="0"/>
              <a:buChar char="•"/>
            </a:pPr>
            <a:r>
              <a:rPr lang="zh-TW" altLang="en-US" sz="1100" dirty="0" smtClean="0"/>
              <a:t>異常</a:t>
            </a:r>
            <a:r>
              <a:rPr lang="en-US" altLang="zh-TW" sz="1100" dirty="0" smtClean="0"/>
              <a:t>glass</a:t>
            </a:r>
            <a:r>
              <a:rPr lang="zh-TW" altLang="en-US" sz="1100" dirty="0" smtClean="0"/>
              <a:t>判定條件：單片</a:t>
            </a:r>
            <a:r>
              <a:rPr lang="en-US" altLang="zh-TW" sz="1100" dirty="0" smtClean="0"/>
              <a:t>defect count &gt;</a:t>
            </a:r>
            <a:r>
              <a:rPr lang="zh-TW" altLang="en-US" sz="1100" dirty="0" smtClean="0"/>
              <a:t> 3</a:t>
            </a:r>
            <a:r>
              <a:rPr lang="zh-TW" altLang="en-US" sz="1100" dirty="0"/>
              <a:t>×densit</a:t>
            </a:r>
            <a:r>
              <a:rPr lang="zh-TW" altLang="en-US" sz="1100" dirty="0" smtClean="0"/>
              <a:t>y</a:t>
            </a:r>
            <a:endParaRPr lang="en-US" altLang="zh-TW" sz="1100" dirty="0" smtClean="0"/>
          </a:p>
          <a:p>
            <a:pPr marL="171450" indent="-171450">
              <a:buFont typeface="Arial" panose="020B0604020202020204" pitchFamily="34" charset="0"/>
              <a:buChar char="•"/>
            </a:pPr>
            <a:r>
              <a:rPr lang="zh-TW" altLang="en-US" sz="1100" dirty="0" smtClean="0"/>
              <a:t>標準</a:t>
            </a:r>
            <a:r>
              <a:rPr lang="zh-TW" altLang="en-US" sz="1100" dirty="0"/>
              <a:t>差計算</a:t>
            </a:r>
            <a:r>
              <a:rPr lang="zh-TW" altLang="en-US" sz="1100" dirty="0" smtClean="0"/>
              <a:t>包含</a:t>
            </a:r>
            <a:r>
              <a:rPr lang="en-US" altLang="zh-TW" sz="1100" dirty="0" smtClean="0"/>
              <a:t>0 defect glass</a:t>
            </a:r>
          </a:p>
          <a:p>
            <a:pPr marL="171450" indent="-171450">
              <a:buFont typeface="Arial" panose="020B0604020202020204" pitchFamily="34" charset="0"/>
              <a:buChar char="•"/>
            </a:pPr>
            <a:r>
              <a:rPr lang="zh-TW" altLang="en-US" sz="1100" dirty="0" smtClean="0"/>
              <a:t>依據</a:t>
            </a:r>
            <a:r>
              <a:rPr lang="zh-TW" altLang="en-US" sz="1100" dirty="0"/>
              <a:t>平均值與標準差動態產生 </a:t>
            </a:r>
            <a:r>
              <a:rPr lang="en-US" altLang="zh-TW" sz="1100" dirty="0" smtClean="0"/>
              <a:t>OOC</a:t>
            </a:r>
            <a:r>
              <a:rPr lang="zh-TW" altLang="en-US" sz="1100" dirty="0" smtClean="0"/>
              <a:t> </a:t>
            </a:r>
            <a:r>
              <a:rPr lang="en-US" altLang="zh-TW" sz="1100" dirty="0" smtClean="0"/>
              <a:t>/ OOS</a:t>
            </a:r>
            <a:endParaRPr lang="en-US" altLang="zh-TW" sz="1100" dirty="0"/>
          </a:p>
          <a:p>
            <a:pPr marL="171450" indent="-171450">
              <a:buFont typeface="Arial" panose="020B0604020202020204" pitchFamily="34" charset="0"/>
              <a:buChar char="•"/>
            </a:pPr>
            <a:endParaRPr lang="zh-TW" altLang="en-US" sz="1100" dirty="0"/>
          </a:p>
        </p:txBody>
      </p:sp>
    </p:spTree>
    <p:extLst>
      <p:ext uri="{BB962C8B-B14F-4D97-AF65-F5344CB8AC3E}">
        <p14:creationId xmlns:p14="http://schemas.microsoft.com/office/powerpoint/2010/main" val="1426929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latin typeface="+mj-ea"/>
              </a:rPr>
              <a:t>系統</a:t>
            </a:r>
            <a:r>
              <a:rPr lang="zh-TW" altLang="en-US" b="1" dirty="0">
                <a:latin typeface="+mj-ea"/>
              </a:rPr>
              <a:t>功能</a:t>
            </a:r>
          </a:p>
        </p:txBody>
      </p:sp>
      <p:grpSp>
        <p:nvGrpSpPr>
          <p:cNvPr id="13" name="群組 12"/>
          <p:cNvGrpSpPr/>
          <p:nvPr/>
        </p:nvGrpSpPr>
        <p:grpSpPr>
          <a:xfrm>
            <a:off x="198841" y="680785"/>
            <a:ext cx="8670351" cy="3967520"/>
            <a:chOff x="188356" y="421601"/>
            <a:chExt cx="8860184" cy="4310057"/>
          </a:xfrm>
        </p:grpSpPr>
        <p:pic>
          <p:nvPicPr>
            <p:cNvPr id="3" name="圖片 2"/>
            <p:cNvPicPr>
              <a:picLocks noChangeAspect="1"/>
            </p:cNvPicPr>
            <p:nvPr/>
          </p:nvPicPr>
          <p:blipFill>
            <a:blip r:embed="rId3"/>
            <a:stretch>
              <a:fillRect/>
            </a:stretch>
          </p:blipFill>
          <p:spPr>
            <a:xfrm>
              <a:off x="188357" y="791158"/>
              <a:ext cx="8860183" cy="3940500"/>
            </a:xfrm>
            <a:prstGeom prst="rect">
              <a:avLst/>
            </a:prstGeom>
          </p:spPr>
        </p:pic>
        <p:sp>
          <p:nvSpPr>
            <p:cNvPr id="4" name="矩形 3"/>
            <p:cNvSpPr/>
            <p:nvPr/>
          </p:nvSpPr>
          <p:spPr>
            <a:xfrm>
              <a:off x="188357" y="1050098"/>
              <a:ext cx="7453092" cy="2093151"/>
            </a:xfrm>
            <a:prstGeom prst="rect">
              <a:avLst/>
            </a:prstGeom>
            <a:solidFill>
              <a:schemeClr val="accent3">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188358" y="1050099"/>
              <a:ext cx="5082142"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顯示</a:t>
              </a:r>
              <a:r>
                <a:rPr lang="en-US" altLang="zh-TW" sz="1050" dirty="0">
                  <a:solidFill>
                    <a:schemeClr val="bg1"/>
                  </a:solidFill>
                  <a:latin typeface="微軟正黑體" panose="020B0604030504040204" pitchFamily="34" charset="-120"/>
                  <a:ea typeface="微軟正黑體" panose="020B0604030504040204" pitchFamily="34" charset="-120"/>
                </a:rPr>
                <a:t>3</a:t>
              </a:r>
              <a:r>
                <a:rPr lang="zh-TW" altLang="en-US" sz="1050" dirty="0" smtClean="0">
                  <a:solidFill>
                    <a:schemeClr val="bg1"/>
                  </a:solidFill>
                  <a:latin typeface="微軟正黑體" panose="020B0604030504040204" pitchFamily="34" charset="-120"/>
                  <a:ea typeface="微軟正黑體" panose="020B0604030504040204" pitchFamily="34" charset="-120"/>
                </a:rPr>
                <a:t>天內</a:t>
              </a:r>
              <a:r>
                <a:rPr lang="en-US" altLang="zh-TW" sz="1050" dirty="0" smtClean="0">
                  <a:solidFill>
                    <a:schemeClr val="bg1"/>
                  </a:solidFill>
                  <a:latin typeface="微軟正黑體" panose="020B0604030504040204" pitchFamily="34" charset="-120"/>
                  <a:ea typeface="微軟正黑體" panose="020B0604030504040204" pitchFamily="34" charset="-120"/>
                </a:rPr>
                <a:t>BY Line </a:t>
              </a:r>
              <a:r>
                <a:rPr lang="zh-TW" altLang="en-US" sz="1050" dirty="0" smtClean="0">
                  <a:solidFill>
                    <a:schemeClr val="bg1"/>
                  </a:solidFill>
                  <a:latin typeface="微軟正黑體" panose="020B0604030504040204" pitchFamily="34" charset="-120"/>
                  <a:ea typeface="微軟正黑體" panose="020B0604030504040204" pitchFamily="34" charset="-120"/>
                </a:rPr>
                <a:t>、</a:t>
              </a:r>
              <a:r>
                <a:rPr lang="en-US" altLang="zh-TW" sz="1050" dirty="0" smtClean="0">
                  <a:solidFill>
                    <a:schemeClr val="bg1"/>
                  </a:solidFill>
                  <a:latin typeface="微軟正黑體" panose="020B0604030504040204" pitchFamily="34" charset="-120"/>
                  <a:ea typeface="微軟正黑體" panose="020B0604030504040204" pitchFamily="34" charset="-120"/>
                </a:rPr>
                <a:t> Model</a:t>
              </a:r>
              <a:r>
                <a:rPr lang="zh-TW" altLang="en-US" sz="1050" dirty="0" smtClean="0">
                  <a:solidFill>
                    <a:schemeClr val="bg1"/>
                  </a:solidFill>
                  <a:latin typeface="微軟正黑體" panose="020B0604030504040204" pitchFamily="34" charset="-120"/>
                  <a:ea typeface="微軟正黑體" panose="020B0604030504040204" pitchFamily="34" charset="-120"/>
                </a:rPr>
                <a:t>、</a:t>
              </a:r>
              <a:r>
                <a:rPr lang="en-US" altLang="zh-TW" sz="1050" dirty="0" smtClean="0">
                  <a:solidFill>
                    <a:schemeClr val="bg1"/>
                  </a:solidFill>
                  <a:latin typeface="微軟正黑體" panose="020B0604030504040204" pitchFamily="34" charset="-120"/>
                  <a:ea typeface="微軟正黑體" panose="020B0604030504040204" pitchFamily="34" charset="-120"/>
                </a:rPr>
                <a:t>glass type(TFT,CF)</a:t>
              </a:r>
              <a:r>
                <a:rPr lang="zh-TW" altLang="en-US" sz="1050" dirty="0" smtClean="0">
                  <a:solidFill>
                    <a:schemeClr val="bg1"/>
                  </a:solidFill>
                  <a:latin typeface="微軟正黑體" panose="020B0604030504040204" pitchFamily="34" charset="-120"/>
                  <a:ea typeface="微軟正黑體" panose="020B0604030504040204" pitchFamily="34" charset="-120"/>
                </a:rPr>
                <a:t>對應每小時的</a:t>
              </a:r>
              <a:r>
                <a:rPr lang="en-US" altLang="zh-TW" sz="1050" dirty="0" smtClean="0">
                  <a:solidFill>
                    <a:schemeClr val="bg1"/>
                  </a:solidFill>
                  <a:latin typeface="微軟正黑體" panose="020B0604030504040204" pitchFamily="34" charset="-120"/>
                  <a:ea typeface="微軟正黑體" panose="020B0604030504040204" pitchFamily="34" charset="-120"/>
                </a:rPr>
                <a:t>defect</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density</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6" name="矩形 5"/>
            <p:cNvSpPr/>
            <p:nvPr/>
          </p:nvSpPr>
          <p:spPr>
            <a:xfrm>
              <a:off x="188357" y="3257549"/>
              <a:ext cx="2746069" cy="1474109"/>
            </a:xfrm>
            <a:prstGeom prst="rect">
              <a:avLst/>
            </a:prstGeom>
            <a:solidFill>
              <a:schemeClr val="accent3">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 name="文字方塊 6"/>
            <p:cNvSpPr txBox="1"/>
            <p:nvPr/>
          </p:nvSpPr>
          <p:spPr>
            <a:xfrm>
              <a:off x="188356" y="3275231"/>
              <a:ext cx="1206102"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en-US" altLang="zh-TW" sz="1050" dirty="0" smtClean="0">
                  <a:solidFill>
                    <a:schemeClr val="bg1"/>
                  </a:solidFill>
                  <a:latin typeface="微軟正黑體" panose="020B0604030504040204" pitchFamily="34" charset="-120"/>
                  <a:ea typeface="微軟正黑體" panose="020B0604030504040204" pitchFamily="34" charset="-120"/>
                </a:rPr>
                <a:t>Chart</a:t>
              </a:r>
              <a:r>
                <a:rPr lang="zh-TW" altLang="en-US" sz="1050" dirty="0" smtClean="0">
                  <a:solidFill>
                    <a:schemeClr val="bg1"/>
                  </a:solidFill>
                  <a:latin typeface="微軟正黑體" panose="020B0604030504040204" pitchFamily="34" charset="-120"/>
                  <a:ea typeface="微軟正黑體" panose="020B0604030504040204" pitchFamily="34" charset="-120"/>
                </a:rPr>
                <a:t>資料總表</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8" name="矩形 7"/>
            <p:cNvSpPr/>
            <p:nvPr/>
          </p:nvSpPr>
          <p:spPr>
            <a:xfrm>
              <a:off x="4618448" y="3257548"/>
              <a:ext cx="4373152" cy="1474109"/>
            </a:xfrm>
            <a:prstGeom prst="rect">
              <a:avLst/>
            </a:prstGeom>
            <a:solidFill>
              <a:schemeClr val="accent4">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 name="文字方塊 8"/>
            <p:cNvSpPr txBox="1"/>
            <p:nvPr/>
          </p:nvSpPr>
          <p:spPr>
            <a:xfrm>
              <a:off x="7194770" y="3218791"/>
              <a:ext cx="1814293"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顯示特定資料之</a:t>
              </a:r>
              <a:r>
                <a:rPr lang="en-US" altLang="zh-TW" sz="1050" dirty="0" smtClean="0">
                  <a:solidFill>
                    <a:schemeClr val="bg1"/>
                  </a:solidFill>
                  <a:latin typeface="微軟正黑體" panose="020B0604030504040204" pitchFamily="34" charset="-120"/>
                  <a:ea typeface="微軟正黑體" panose="020B0604030504040204" pitchFamily="34" charset="-120"/>
                </a:rPr>
                <a:t>defect</a:t>
              </a:r>
              <a:r>
                <a:rPr lang="zh-TW" altLang="en-US" sz="1050" dirty="0" smtClean="0">
                  <a:solidFill>
                    <a:schemeClr val="bg1"/>
                  </a:solidFill>
                  <a:latin typeface="微軟正黑體" panose="020B0604030504040204" pitchFamily="34" charset="-120"/>
                  <a:ea typeface="微軟正黑體" panose="020B0604030504040204" pitchFamily="34" charset="-120"/>
                </a:rPr>
                <a:t>分布</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1" name="文字方塊 10"/>
            <p:cNvSpPr txBox="1"/>
            <p:nvPr/>
          </p:nvSpPr>
          <p:spPr>
            <a:xfrm>
              <a:off x="7768350" y="2438895"/>
              <a:ext cx="7755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篩選區域</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pic>
          <p:nvPicPr>
            <p:cNvPr id="12" name="圖片 11"/>
            <p:cNvPicPr>
              <a:picLocks noChangeAspect="1"/>
            </p:cNvPicPr>
            <p:nvPr/>
          </p:nvPicPr>
          <p:blipFill>
            <a:blip r:embed="rId4"/>
            <a:stretch>
              <a:fillRect/>
            </a:stretch>
          </p:blipFill>
          <p:spPr>
            <a:xfrm>
              <a:off x="188356" y="421601"/>
              <a:ext cx="8860184" cy="451081"/>
            </a:xfrm>
            <a:prstGeom prst="rect">
              <a:avLst/>
            </a:prstGeom>
          </p:spPr>
        </p:pic>
      </p:grpSp>
      <p:pic>
        <p:nvPicPr>
          <p:cNvPr id="14" name="圖片 13"/>
          <p:cNvPicPr>
            <a:picLocks noChangeAspect="1"/>
          </p:cNvPicPr>
          <p:nvPr/>
        </p:nvPicPr>
        <p:blipFill>
          <a:blip r:embed="rId5"/>
          <a:stretch>
            <a:fillRect/>
          </a:stretch>
        </p:blipFill>
        <p:spPr>
          <a:xfrm>
            <a:off x="3259373" y="3727551"/>
            <a:ext cx="1251186" cy="1388932"/>
          </a:xfrm>
          <a:prstGeom prst="rect">
            <a:avLst/>
          </a:prstGeom>
          <a:ln w="19050">
            <a:solidFill>
              <a:schemeClr val="accent5"/>
            </a:solidFill>
            <a:prstDash val="sysDot"/>
          </a:ln>
        </p:spPr>
      </p:pic>
      <p:pic>
        <p:nvPicPr>
          <p:cNvPr id="15" name="圖片 14"/>
          <p:cNvPicPr>
            <a:picLocks noChangeAspect="1"/>
          </p:cNvPicPr>
          <p:nvPr/>
        </p:nvPicPr>
        <p:blipFill>
          <a:blip r:embed="rId6"/>
          <a:stretch>
            <a:fillRect/>
          </a:stretch>
        </p:blipFill>
        <p:spPr>
          <a:xfrm>
            <a:off x="4538595" y="3727551"/>
            <a:ext cx="4605405" cy="1388932"/>
          </a:xfrm>
          <a:prstGeom prst="rect">
            <a:avLst/>
          </a:prstGeom>
          <a:ln w="19050">
            <a:solidFill>
              <a:schemeClr val="accent4"/>
            </a:solidFill>
            <a:prstDash val="sysDot"/>
          </a:ln>
        </p:spPr>
      </p:pic>
      <p:sp>
        <p:nvSpPr>
          <p:cNvPr id="27" name="矩形 26"/>
          <p:cNvSpPr/>
          <p:nvPr/>
        </p:nvSpPr>
        <p:spPr>
          <a:xfrm>
            <a:off x="2886075" y="3289590"/>
            <a:ext cx="361508" cy="1356956"/>
          </a:xfrm>
          <a:prstGeom prst="rect">
            <a:avLst/>
          </a:prstGeom>
          <a:solidFill>
            <a:schemeClr val="accent5">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29" name="直線單箭頭接點 28"/>
          <p:cNvCxnSpPr/>
          <p:nvPr/>
        </p:nvCxnSpPr>
        <p:spPr>
          <a:xfrm>
            <a:off x="2985695" y="3974128"/>
            <a:ext cx="381442" cy="183392"/>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5124270" y="3676645"/>
            <a:ext cx="381442" cy="183392"/>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 name="爆炸 1 30"/>
          <p:cNvSpPr/>
          <p:nvPr/>
        </p:nvSpPr>
        <p:spPr>
          <a:xfrm>
            <a:off x="3116714" y="2189720"/>
            <a:ext cx="390525" cy="879820"/>
          </a:xfrm>
          <a:prstGeom prst="irregularSeal1">
            <a:avLst/>
          </a:prstGeom>
          <a:solidFill>
            <a:srgbClr val="FF0000">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2" name="直線單箭頭接點 31"/>
          <p:cNvCxnSpPr>
            <a:endCxn id="27" idx="0"/>
          </p:cNvCxnSpPr>
          <p:nvPr/>
        </p:nvCxnSpPr>
        <p:spPr>
          <a:xfrm flipH="1">
            <a:off x="3066829" y="3036141"/>
            <a:ext cx="245147" cy="253449"/>
          </a:xfrm>
          <a:prstGeom prst="straightConnector1">
            <a:avLst/>
          </a:prstGeom>
          <a:ln w="28575">
            <a:solidFill>
              <a:schemeClr val="bg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a:off x="3311976" y="3059409"/>
            <a:ext cx="1973367" cy="226250"/>
          </a:xfrm>
          <a:prstGeom prst="straightConnector1">
            <a:avLst/>
          </a:prstGeom>
          <a:ln w="28575">
            <a:solidFill>
              <a:schemeClr val="bg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9" name="群組 38"/>
          <p:cNvGrpSpPr/>
          <p:nvPr/>
        </p:nvGrpSpPr>
        <p:grpSpPr>
          <a:xfrm rot="10800000">
            <a:off x="4072186" y="855774"/>
            <a:ext cx="923659" cy="403558"/>
            <a:chOff x="1434322" y="1484680"/>
            <a:chExt cx="923659" cy="403558"/>
          </a:xfrm>
        </p:grpSpPr>
        <p:sp>
          <p:nvSpPr>
            <p:cNvPr id="40" name="向左箭號圖說文字 39"/>
            <p:cNvSpPr/>
            <p:nvPr/>
          </p:nvSpPr>
          <p:spPr>
            <a:xfrm rot="5400000">
              <a:off x="1694373" y="1224629"/>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矩形 40"/>
            <p:cNvSpPr/>
            <p:nvPr/>
          </p:nvSpPr>
          <p:spPr>
            <a:xfrm flipV="1">
              <a:off x="1519291" y="1623171"/>
              <a:ext cx="760144" cy="261610"/>
            </a:xfrm>
            <a:prstGeom prst="rect">
              <a:avLst/>
            </a:prstGeom>
          </p:spPr>
          <p:txBody>
            <a:bodyPr wrap="none">
              <a:spAutoFit/>
            </a:bodyPr>
            <a:lstStyle/>
            <a:p>
              <a:pPr algn="ctr"/>
              <a:r>
                <a:rPr lang="en-US" altLang="zh-TW" sz="1100" dirty="0" smtClean="0"/>
                <a:t>Reset </a:t>
              </a:r>
              <a:r>
                <a:rPr lang="en-US" altLang="zh-TW" sz="1100" dirty="0"/>
                <a:t>API</a:t>
              </a:r>
              <a:endParaRPr lang="zh-TW" altLang="en-US" sz="1100" dirty="0"/>
            </a:p>
          </p:txBody>
        </p:sp>
      </p:grpSp>
      <p:grpSp>
        <p:nvGrpSpPr>
          <p:cNvPr id="43" name="群組 42"/>
          <p:cNvGrpSpPr/>
          <p:nvPr/>
        </p:nvGrpSpPr>
        <p:grpSpPr>
          <a:xfrm>
            <a:off x="4078297" y="3218141"/>
            <a:ext cx="923659" cy="403558"/>
            <a:chOff x="1437460" y="1613145"/>
            <a:chExt cx="923659" cy="403558"/>
          </a:xfrm>
        </p:grpSpPr>
        <p:sp>
          <p:nvSpPr>
            <p:cNvPr id="44" name="向左箭號圖說文字 43"/>
            <p:cNvSpPr/>
            <p:nvPr/>
          </p:nvSpPr>
          <p:spPr>
            <a:xfrm rot="16200000" flipV="1">
              <a:off x="1697511" y="1353094"/>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5" name="矩形 44"/>
            <p:cNvSpPr/>
            <p:nvPr/>
          </p:nvSpPr>
          <p:spPr>
            <a:xfrm>
              <a:off x="1488034" y="1623171"/>
              <a:ext cx="822661" cy="261610"/>
            </a:xfrm>
            <a:prstGeom prst="rect">
              <a:avLst/>
            </a:prstGeom>
          </p:spPr>
          <p:txBody>
            <a:bodyPr wrap="none">
              <a:spAutoFit/>
            </a:bodyPr>
            <a:lstStyle/>
            <a:p>
              <a:pPr algn="ctr"/>
              <a:r>
                <a:rPr lang="en-US" altLang="zh-TW" sz="1100" dirty="0" smtClean="0"/>
                <a:t>Defect API</a:t>
              </a:r>
              <a:endParaRPr lang="zh-TW" altLang="en-US" sz="1100" dirty="0"/>
            </a:p>
          </p:txBody>
        </p:sp>
      </p:grpSp>
    </p:spTree>
    <p:extLst>
      <p:ext uri="{BB962C8B-B14F-4D97-AF65-F5344CB8AC3E}">
        <p14:creationId xmlns:p14="http://schemas.microsoft.com/office/powerpoint/2010/main" val="1865823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8" name="圖片 7"/>
          <p:cNvPicPr>
            <a:picLocks noChangeAspect="1"/>
          </p:cNvPicPr>
          <p:nvPr/>
        </p:nvPicPr>
        <p:blipFill>
          <a:blip r:embed="rId3"/>
          <a:stretch>
            <a:fillRect/>
          </a:stretch>
        </p:blipFill>
        <p:spPr>
          <a:xfrm>
            <a:off x="4688965" y="674305"/>
            <a:ext cx="4162840" cy="1483565"/>
          </a:xfrm>
          <a:prstGeom prst="rect">
            <a:avLst/>
          </a:prstGeom>
          <a:ln w="28575">
            <a:solidFill>
              <a:schemeClr val="accent5"/>
            </a:solidFill>
          </a:ln>
        </p:spPr>
      </p:pic>
      <p:pic>
        <p:nvPicPr>
          <p:cNvPr id="9" name="圖片 8"/>
          <p:cNvPicPr>
            <a:picLocks noChangeAspect="1"/>
          </p:cNvPicPr>
          <p:nvPr/>
        </p:nvPicPr>
        <p:blipFill>
          <a:blip r:embed="rId4"/>
          <a:stretch>
            <a:fillRect/>
          </a:stretch>
        </p:blipFill>
        <p:spPr>
          <a:xfrm>
            <a:off x="4701716" y="2206999"/>
            <a:ext cx="4167476" cy="1508419"/>
          </a:xfrm>
          <a:prstGeom prst="rect">
            <a:avLst/>
          </a:prstGeom>
          <a:ln w="28575">
            <a:solidFill>
              <a:schemeClr val="accent4"/>
            </a:solidFill>
          </a:ln>
        </p:spPr>
      </p:pic>
      <p:pic>
        <p:nvPicPr>
          <p:cNvPr id="10" name="圖片 9"/>
          <p:cNvPicPr>
            <a:picLocks noChangeAspect="1"/>
          </p:cNvPicPr>
          <p:nvPr/>
        </p:nvPicPr>
        <p:blipFill>
          <a:blip r:embed="rId5"/>
          <a:stretch>
            <a:fillRect/>
          </a:stretch>
        </p:blipFill>
        <p:spPr>
          <a:xfrm>
            <a:off x="3975754" y="3949442"/>
            <a:ext cx="2906950" cy="1194058"/>
          </a:xfrm>
          <a:prstGeom prst="rect">
            <a:avLst/>
          </a:prstGeom>
          <a:ln w="19050">
            <a:solidFill>
              <a:schemeClr val="accent4"/>
            </a:solidFill>
          </a:ln>
        </p:spPr>
      </p:pic>
      <p:pic>
        <p:nvPicPr>
          <p:cNvPr id="11" name="圖片 10"/>
          <p:cNvPicPr>
            <a:picLocks noChangeAspect="1"/>
          </p:cNvPicPr>
          <p:nvPr/>
        </p:nvPicPr>
        <p:blipFill>
          <a:blip r:embed="rId6"/>
          <a:stretch>
            <a:fillRect/>
          </a:stretch>
        </p:blipFill>
        <p:spPr>
          <a:xfrm>
            <a:off x="3975754" y="3772938"/>
            <a:ext cx="4910452" cy="370776"/>
          </a:xfrm>
          <a:prstGeom prst="rect">
            <a:avLst/>
          </a:prstGeom>
          <a:ln w="19050">
            <a:solidFill>
              <a:schemeClr val="accent4"/>
            </a:solidFill>
          </a:ln>
        </p:spPr>
      </p:pic>
      <p:pic>
        <p:nvPicPr>
          <p:cNvPr id="12" name="圖片 11"/>
          <p:cNvPicPr>
            <a:picLocks noChangeAspect="1"/>
          </p:cNvPicPr>
          <p:nvPr/>
        </p:nvPicPr>
        <p:blipFill>
          <a:blip r:embed="rId7"/>
          <a:stretch>
            <a:fillRect/>
          </a:stretch>
        </p:blipFill>
        <p:spPr>
          <a:xfrm>
            <a:off x="6338805" y="4154280"/>
            <a:ext cx="2547401" cy="978653"/>
          </a:xfrm>
          <a:prstGeom prst="rect">
            <a:avLst/>
          </a:prstGeom>
          <a:ln w="19050">
            <a:solidFill>
              <a:schemeClr val="accent4"/>
            </a:solidFill>
          </a:ln>
        </p:spPr>
      </p:pic>
      <p:grpSp>
        <p:nvGrpSpPr>
          <p:cNvPr id="29" name="群組 28"/>
          <p:cNvGrpSpPr/>
          <p:nvPr/>
        </p:nvGrpSpPr>
        <p:grpSpPr>
          <a:xfrm>
            <a:off x="422103" y="1197698"/>
            <a:ext cx="3468086" cy="4041998"/>
            <a:chOff x="195556" y="695137"/>
            <a:chExt cx="3468086" cy="4041998"/>
          </a:xfrm>
        </p:grpSpPr>
        <p:pic>
          <p:nvPicPr>
            <p:cNvPr id="26" name="圖片 25"/>
            <p:cNvPicPr>
              <a:picLocks noChangeAspect="1"/>
            </p:cNvPicPr>
            <p:nvPr/>
          </p:nvPicPr>
          <p:blipFill>
            <a:blip r:embed="rId8"/>
            <a:stretch>
              <a:fillRect/>
            </a:stretch>
          </p:blipFill>
          <p:spPr>
            <a:xfrm>
              <a:off x="195556" y="695137"/>
              <a:ext cx="3462828" cy="4041998"/>
            </a:xfrm>
            <a:prstGeom prst="rect">
              <a:avLst/>
            </a:prstGeom>
            <a:ln w="28575">
              <a:solidFill>
                <a:schemeClr val="accent3"/>
              </a:solidFill>
            </a:ln>
          </p:spPr>
        </p:pic>
        <p:sp>
          <p:nvSpPr>
            <p:cNvPr id="13" name="文字方塊 12"/>
            <p:cNvSpPr txBox="1"/>
            <p:nvPr/>
          </p:nvSpPr>
          <p:spPr>
            <a:xfrm>
              <a:off x="2743208" y="1778600"/>
              <a:ext cx="915176"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en-US" altLang="zh-TW" sz="1050" dirty="0" smtClean="0">
                  <a:solidFill>
                    <a:schemeClr val="bg1"/>
                  </a:solidFill>
                  <a:latin typeface="微軟正黑體" panose="020B0604030504040204" pitchFamily="34" charset="-120"/>
                  <a:ea typeface="微軟正黑體" panose="020B0604030504040204" pitchFamily="34" charset="-120"/>
                </a:rPr>
                <a:t>By Month</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5" name="文字方塊 14"/>
            <p:cNvSpPr txBox="1"/>
            <p:nvPr/>
          </p:nvSpPr>
          <p:spPr>
            <a:xfrm>
              <a:off x="2120135" y="717094"/>
              <a:ext cx="1543507"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趨勢分析</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月</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週</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天</a:t>
              </a:r>
              <a:r>
                <a:rPr lang="en-US" altLang="zh-TW" sz="1050" dirty="0" smtClean="0">
                  <a:solidFill>
                    <a:schemeClr val="bg1"/>
                  </a:solidFill>
                  <a:latin typeface="微軟正黑體" panose="020B0604030504040204" pitchFamily="34" charset="-120"/>
                  <a:ea typeface="微軟正黑體" panose="020B0604030504040204" pitchFamily="34" charset="-120"/>
                </a:rPr>
                <a:t>)</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6" name="文字方塊 15"/>
            <p:cNvSpPr txBox="1"/>
            <p:nvPr/>
          </p:nvSpPr>
          <p:spPr>
            <a:xfrm>
              <a:off x="2737170" y="3194110"/>
              <a:ext cx="915176"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en-US" altLang="zh-TW" sz="1050" dirty="0" smtClean="0">
                  <a:solidFill>
                    <a:schemeClr val="bg1"/>
                  </a:solidFill>
                  <a:latin typeface="微軟正黑體" panose="020B0604030504040204" pitchFamily="34" charset="-120"/>
                  <a:ea typeface="微軟正黑體" panose="020B0604030504040204" pitchFamily="34" charset="-120"/>
                </a:rPr>
                <a:t>By Week</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7" name="文字方塊 16"/>
            <p:cNvSpPr txBox="1"/>
            <p:nvPr/>
          </p:nvSpPr>
          <p:spPr>
            <a:xfrm>
              <a:off x="2748466" y="4482662"/>
              <a:ext cx="915176"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en-US" altLang="zh-TW" sz="1050" dirty="0" smtClean="0">
                  <a:solidFill>
                    <a:schemeClr val="bg1"/>
                  </a:solidFill>
                  <a:latin typeface="微軟正黑體" panose="020B0604030504040204" pitchFamily="34" charset="-120"/>
                  <a:ea typeface="微軟正黑體" panose="020B0604030504040204" pitchFamily="34" charset="-120"/>
                </a:rPr>
                <a:t>By Day</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grpSp>
      <p:sp>
        <p:nvSpPr>
          <p:cNvPr id="18" name="文字方塊 17"/>
          <p:cNvSpPr txBox="1"/>
          <p:nvPr/>
        </p:nvSpPr>
        <p:spPr>
          <a:xfrm>
            <a:off x="7521153" y="656203"/>
            <a:ext cx="133934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每日動態</a:t>
            </a:r>
            <a:r>
              <a:rPr lang="en-US" altLang="zh-TW" sz="1050" dirty="0" smtClean="0">
                <a:solidFill>
                  <a:schemeClr val="bg1"/>
                </a:solidFill>
                <a:latin typeface="微軟正黑體" panose="020B0604030504040204" pitchFamily="34" charset="-120"/>
                <a:ea typeface="微軟正黑體" panose="020B0604030504040204" pitchFamily="34" charset="-120"/>
              </a:rPr>
              <a:t>spec</a:t>
            </a:r>
            <a:r>
              <a:rPr lang="zh-TW" altLang="en-US" sz="1050" dirty="0" smtClean="0">
                <a:solidFill>
                  <a:schemeClr val="bg1"/>
                </a:solidFill>
                <a:latin typeface="微軟正黑體" panose="020B0604030504040204" pitchFamily="34" charset="-120"/>
                <a:ea typeface="微軟正黑體" panose="020B0604030504040204" pitchFamily="34" charset="-120"/>
              </a:rPr>
              <a:t>詳情</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19" name="文字方塊 18"/>
          <p:cNvSpPr txBox="1"/>
          <p:nvPr/>
        </p:nvSpPr>
        <p:spPr>
          <a:xfrm>
            <a:off x="7642717" y="2191641"/>
            <a:ext cx="122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預設</a:t>
            </a:r>
            <a:r>
              <a:rPr lang="en-US" altLang="zh-TW" sz="1050" dirty="0" smtClean="0">
                <a:solidFill>
                  <a:schemeClr val="bg1"/>
                </a:solidFill>
                <a:latin typeface="微軟正黑體" panose="020B0604030504040204" pitchFamily="34" charset="-120"/>
                <a:ea typeface="微軟正黑體" panose="020B0604030504040204" pitchFamily="34" charset="-120"/>
              </a:rPr>
              <a:t>spec</a:t>
            </a:r>
            <a:r>
              <a:rPr lang="zh-TW" altLang="en-US" sz="1050" dirty="0" smtClean="0">
                <a:solidFill>
                  <a:schemeClr val="bg1"/>
                </a:solidFill>
                <a:latin typeface="微軟正黑體" panose="020B0604030504040204" pitchFamily="34" charset="-120"/>
                <a:ea typeface="微軟正黑體" panose="020B0604030504040204" pitchFamily="34" charset="-120"/>
              </a:rPr>
              <a:t>資料表</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0" name="文字方塊 19"/>
          <p:cNvSpPr txBox="1"/>
          <p:nvPr/>
        </p:nvSpPr>
        <p:spPr>
          <a:xfrm>
            <a:off x="8291010" y="3755143"/>
            <a:ext cx="58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新增</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1" name="文字方塊 20"/>
          <p:cNvSpPr txBox="1"/>
          <p:nvPr/>
        </p:nvSpPr>
        <p:spPr>
          <a:xfrm>
            <a:off x="5752330" y="4879017"/>
            <a:ext cx="58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修改</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2" name="文字方塊 21"/>
          <p:cNvSpPr txBox="1"/>
          <p:nvPr/>
        </p:nvSpPr>
        <p:spPr>
          <a:xfrm>
            <a:off x="8310247" y="4868969"/>
            <a:ext cx="586475"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pPr algn="ctr"/>
            <a:r>
              <a:rPr lang="zh-TW" altLang="en-US" sz="1050" dirty="0" smtClean="0">
                <a:solidFill>
                  <a:schemeClr val="bg1"/>
                </a:solidFill>
                <a:latin typeface="微軟正黑體" panose="020B0604030504040204" pitchFamily="34" charset="-120"/>
                <a:ea typeface="微軟正黑體" panose="020B0604030504040204" pitchFamily="34" charset="-120"/>
              </a:rPr>
              <a:t>刪除</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grpSp>
        <p:nvGrpSpPr>
          <p:cNvPr id="47" name="群組 46"/>
          <p:cNvGrpSpPr/>
          <p:nvPr/>
        </p:nvGrpSpPr>
        <p:grpSpPr>
          <a:xfrm>
            <a:off x="369126" y="515978"/>
            <a:ext cx="2407056" cy="501320"/>
            <a:chOff x="221844" y="516913"/>
            <a:chExt cx="2772162" cy="485843"/>
          </a:xfrm>
        </p:grpSpPr>
        <p:pic>
          <p:nvPicPr>
            <p:cNvPr id="28" name="圖片 27"/>
            <p:cNvPicPr>
              <a:picLocks noChangeAspect="1"/>
            </p:cNvPicPr>
            <p:nvPr/>
          </p:nvPicPr>
          <p:blipFill>
            <a:blip r:embed="rId9"/>
            <a:stretch>
              <a:fillRect/>
            </a:stretch>
          </p:blipFill>
          <p:spPr>
            <a:xfrm>
              <a:off x="221844" y="516913"/>
              <a:ext cx="2772162" cy="485843"/>
            </a:xfrm>
            <a:prstGeom prst="rect">
              <a:avLst/>
            </a:prstGeom>
          </p:spPr>
        </p:pic>
        <p:sp>
          <p:nvSpPr>
            <p:cNvPr id="30" name="圓角矩形 29"/>
            <p:cNvSpPr/>
            <p:nvPr/>
          </p:nvSpPr>
          <p:spPr>
            <a:xfrm>
              <a:off x="221844" y="601188"/>
              <a:ext cx="662076" cy="237326"/>
            </a:xfrm>
            <a:prstGeom prst="round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圓角矩形 31"/>
            <p:cNvSpPr/>
            <p:nvPr/>
          </p:nvSpPr>
          <p:spPr>
            <a:xfrm>
              <a:off x="963243" y="593335"/>
              <a:ext cx="662076" cy="237326"/>
            </a:xfrm>
            <a:prstGeom prst="round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圓角矩形 32"/>
            <p:cNvSpPr/>
            <p:nvPr/>
          </p:nvSpPr>
          <p:spPr>
            <a:xfrm>
              <a:off x="1714993" y="593335"/>
              <a:ext cx="952913" cy="237326"/>
            </a:xfrm>
            <a:prstGeom prst="round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6" name="群組 35"/>
          <p:cNvGrpSpPr/>
          <p:nvPr/>
        </p:nvGrpSpPr>
        <p:grpSpPr>
          <a:xfrm>
            <a:off x="2939367" y="783162"/>
            <a:ext cx="926947" cy="403558"/>
            <a:chOff x="1431035" y="1612165"/>
            <a:chExt cx="926947" cy="403558"/>
          </a:xfrm>
        </p:grpSpPr>
        <p:sp>
          <p:nvSpPr>
            <p:cNvPr id="34" name="向左箭號圖說文字 33"/>
            <p:cNvSpPr/>
            <p:nvPr/>
          </p:nvSpPr>
          <p:spPr>
            <a:xfrm rot="16200000" flipV="1">
              <a:off x="1691086" y="1352114"/>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p:nvSpPr>
          <p:spPr>
            <a:xfrm>
              <a:off x="1440744" y="1623171"/>
              <a:ext cx="917238" cy="261610"/>
            </a:xfrm>
            <a:prstGeom prst="rect">
              <a:avLst/>
            </a:prstGeom>
          </p:spPr>
          <p:txBody>
            <a:bodyPr wrap="none">
              <a:spAutoFit/>
            </a:bodyPr>
            <a:lstStyle/>
            <a:p>
              <a:pPr algn="ctr"/>
              <a:r>
                <a:rPr lang="en-US" altLang="zh-TW" sz="1100" dirty="0"/>
                <a:t>Analyze API</a:t>
              </a:r>
              <a:endParaRPr lang="zh-TW" altLang="en-US" sz="1100" dirty="0"/>
            </a:p>
          </p:txBody>
        </p:sp>
      </p:grpSp>
      <p:grpSp>
        <p:nvGrpSpPr>
          <p:cNvPr id="43" name="群組 42"/>
          <p:cNvGrpSpPr/>
          <p:nvPr/>
        </p:nvGrpSpPr>
        <p:grpSpPr>
          <a:xfrm>
            <a:off x="6045567" y="211175"/>
            <a:ext cx="923659" cy="403558"/>
            <a:chOff x="1435765" y="1620001"/>
            <a:chExt cx="923659" cy="403558"/>
          </a:xfrm>
        </p:grpSpPr>
        <p:sp>
          <p:nvSpPr>
            <p:cNvPr id="44" name="向左箭號圖說文字 43"/>
            <p:cNvSpPr/>
            <p:nvPr/>
          </p:nvSpPr>
          <p:spPr>
            <a:xfrm rot="16200000" flipV="1">
              <a:off x="1695816" y="1359950"/>
              <a:ext cx="403558" cy="923659"/>
            </a:xfrm>
            <a:prstGeom prst="leftArrowCallout">
              <a:avLst>
                <a:gd name="adj1" fmla="val 25000"/>
                <a:gd name="adj2" fmla="val 3879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5" name="矩形 44"/>
            <p:cNvSpPr/>
            <p:nvPr/>
          </p:nvSpPr>
          <p:spPr>
            <a:xfrm>
              <a:off x="1506466" y="1623171"/>
              <a:ext cx="785793" cy="261610"/>
            </a:xfrm>
            <a:prstGeom prst="rect">
              <a:avLst/>
            </a:prstGeom>
          </p:spPr>
          <p:txBody>
            <a:bodyPr wrap="none">
              <a:spAutoFit/>
            </a:bodyPr>
            <a:lstStyle/>
            <a:p>
              <a:pPr algn="ctr"/>
              <a:r>
                <a:rPr lang="en-US" altLang="zh-TW" sz="1100" dirty="0" smtClean="0"/>
                <a:t>SPEC </a:t>
              </a:r>
              <a:r>
                <a:rPr lang="en-US" altLang="zh-TW" sz="1100" dirty="0"/>
                <a:t>API</a:t>
              </a:r>
              <a:endParaRPr lang="zh-TW" altLang="en-US" sz="1100" dirty="0"/>
            </a:p>
          </p:txBody>
        </p:sp>
      </p:grpSp>
    </p:spTree>
    <p:extLst>
      <p:ext uri="{BB962C8B-B14F-4D97-AF65-F5344CB8AC3E}">
        <p14:creationId xmlns:p14="http://schemas.microsoft.com/office/powerpoint/2010/main" val="3337274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4330066" y="463161"/>
            <a:ext cx="4471034" cy="4383159"/>
          </a:xfrm>
          <a:prstGeom prst="roundRect">
            <a:avLst>
              <a:gd name="adj" fmla="val 3265"/>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4" name="圓角矩形 3"/>
          <p:cNvSpPr/>
          <p:nvPr/>
        </p:nvSpPr>
        <p:spPr>
          <a:xfrm>
            <a:off x="127421" y="482254"/>
            <a:ext cx="4094388" cy="3104002"/>
          </a:xfrm>
          <a:prstGeom prst="roundRect">
            <a:avLst>
              <a:gd name="adj" fmla="val 4101"/>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182823" y="709441"/>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298796" y="806705"/>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a:t>— </a:t>
            </a:r>
            <a:r>
              <a:rPr lang="en-US" altLang="zh-TW" dirty="0">
                <a:latin typeface="+mn-ea"/>
                <a:cs typeface="Arial" panose="020B0604020202020204" pitchFamily="34" charset="0"/>
              </a:rPr>
              <a:t>PI AOI </a:t>
            </a:r>
            <a:r>
              <a:rPr lang="en-US" altLang="zh-TW" dirty="0" smtClean="0">
                <a:latin typeface="+mn-ea"/>
                <a:cs typeface="Arial" panose="020B0604020202020204" pitchFamily="34" charset="0"/>
              </a:rPr>
              <a:t>CAPA</a:t>
            </a:r>
            <a:r>
              <a:rPr lang="zh-TW" altLang="en-US" dirty="0" smtClean="0">
                <a:latin typeface="+mn-ea"/>
                <a:cs typeface="Arial" panose="020B0604020202020204" pitchFamily="34" charset="0"/>
              </a:rPr>
              <a:t>可視化監控系統</a:t>
            </a:r>
            <a:endParaRPr lang="zh-TW" altLang="zh-TW" dirty="0"/>
          </a:p>
        </p:txBody>
      </p:sp>
      <p:sp>
        <p:nvSpPr>
          <p:cNvPr id="52" name="椭圆 66"/>
          <p:cNvSpPr/>
          <p:nvPr/>
        </p:nvSpPr>
        <p:spPr bwMode="auto">
          <a:xfrm rot="4723889">
            <a:off x="1857114" y="156760"/>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3" name="组合 67"/>
          <p:cNvGrpSpPr>
            <a:grpSpLocks/>
          </p:cNvGrpSpPr>
          <p:nvPr/>
        </p:nvGrpSpPr>
        <p:grpSpPr bwMode="auto">
          <a:xfrm rot="5400000">
            <a:off x="1651788" y="180017"/>
            <a:ext cx="951398" cy="1215148"/>
            <a:chOff x="1123476" y="1681897"/>
            <a:chExt cx="3206311" cy="2990785"/>
          </a:xfrm>
        </p:grpSpPr>
        <p:grpSp>
          <p:nvGrpSpPr>
            <p:cNvPr id="54" name="组合 68"/>
            <p:cNvGrpSpPr>
              <a:grpSpLocks/>
            </p:cNvGrpSpPr>
            <p:nvPr/>
          </p:nvGrpSpPr>
          <p:grpSpPr bwMode="auto">
            <a:xfrm>
              <a:off x="1123476" y="1763461"/>
              <a:ext cx="2798050" cy="2798050"/>
              <a:chOff x="1123476" y="1763461"/>
              <a:chExt cx="2798050" cy="2798050"/>
            </a:xfrm>
          </p:grpSpPr>
          <p:sp>
            <p:nvSpPr>
              <p:cNvPr id="60" name="弧形 59"/>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1" name="弧形 60"/>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5" name="组合 69"/>
            <p:cNvGrpSpPr>
              <a:grpSpLocks/>
            </p:cNvGrpSpPr>
            <p:nvPr/>
          </p:nvGrpSpPr>
          <p:grpSpPr bwMode="auto">
            <a:xfrm rot="-7200000">
              <a:off x="1273270" y="1616165"/>
              <a:ext cx="2990785" cy="3122249"/>
              <a:chOff x="891209" y="1807143"/>
              <a:chExt cx="2990785" cy="3122249"/>
            </a:xfrm>
          </p:grpSpPr>
          <p:sp>
            <p:nvSpPr>
              <p:cNvPr id="56" name="弧形 55"/>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7" name="弧形 56"/>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64" name="矩形 63"/>
          <p:cNvSpPr/>
          <p:nvPr/>
        </p:nvSpPr>
        <p:spPr>
          <a:xfrm>
            <a:off x="1595089" y="610537"/>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65" name="椭圆 66"/>
          <p:cNvSpPr/>
          <p:nvPr/>
        </p:nvSpPr>
        <p:spPr bwMode="auto">
          <a:xfrm rot="4723889">
            <a:off x="6484424" y="222111"/>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6" name="组合 67"/>
          <p:cNvGrpSpPr>
            <a:grpSpLocks/>
          </p:cNvGrpSpPr>
          <p:nvPr/>
        </p:nvGrpSpPr>
        <p:grpSpPr bwMode="auto">
          <a:xfrm rot="4723889">
            <a:off x="6409454" y="278184"/>
            <a:ext cx="671560" cy="961309"/>
            <a:chOff x="1123476" y="1681897"/>
            <a:chExt cx="3206311" cy="2990785"/>
          </a:xfrm>
        </p:grpSpPr>
        <p:grpSp>
          <p:nvGrpSpPr>
            <p:cNvPr id="67" name="组合 68"/>
            <p:cNvGrpSpPr>
              <a:grpSpLocks/>
            </p:cNvGrpSpPr>
            <p:nvPr/>
          </p:nvGrpSpPr>
          <p:grpSpPr bwMode="auto">
            <a:xfrm>
              <a:off x="1123476" y="1763461"/>
              <a:ext cx="2798050" cy="2798050"/>
              <a:chOff x="1123476" y="1763461"/>
              <a:chExt cx="2798050" cy="2798050"/>
            </a:xfrm>
          </p:grpSpPr>
          <p:sp>
            <p:nvSpPr>
              <p:cNvPr id="73" name="弧形 72"/>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4" name="弧形 73"/>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8" name="组合 69"/>
            <p:cNvGrpSpPr>
              <a:grpSpLocks/>
            </p:cNvGrpSpPr>
            <p:nvPr/>
          </p:nvGrpSpPr>
          <p:grpSpPr bwMode="auto">
            <a:xfrm rot="-7200000">
              <a:off x="1273270" y="1616165"/>
              <a:ext cx="2990785" cy="3122249"/>
              <a:chOff x="891209" y="1807143"/>
              <a:chExt cx="2990785" cy="3122249"/>
            </a:xfrm>
          </p:grpSpPr>
          <p:sp>
            <p:nvSpPr>
              <p:cNvPr id="69" name="弧形 68"/>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0" name="弧形 69"/>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77" name="矩形 76"/>
          <p:cNvSpPr/>
          <p:nvPr/>
        </p:nvSpPr>
        <p:spPr>
          <a:xfrm>
            <a:off x="6243873" y="544607"/>
            <a:ext cx="100272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改善後</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179" name="矩形 178"/>
          <p:cNvSpPr/>
          <p:nvPr/>
        </p:nvSpPr>
        <p:spPr>
          <a:xfrm>
            <a:off x="195859" y="740459"/>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sp>
        <p:nvSpPr>
          <p:cNvPr id="80" name="矩形 79"/>
          <p:cNvSpPr/>
          <p:nvPr/>
        </p:nvSpPr>
        <p:spPr>
          <a:xfrm>
            <a:off x="4603454" y="1034782"/>
            <a:ext cx="4009018" cy="784830"/>
          </a:xfrm>
          <a:prstGeom prst="rect">
            <a:avLst/>
          </a:prstGeom>
          <a:noFill/>
        </p:spPr>
        <p:txBody>
          <a:bodyPr wrap="square">
            <a:spAutoFit/>
          </a:bodyPr>
          <a:lstStyle/>
          <a:p>
            <a:pPr marL="171450" indent="-171450">
              <a:lnSpc>
                <a:spcPct val="150000"/>
              </a:lnSpc>
              <a:buClr>
                <a:schemeClr val="tx1"/>
              </a:buClr>
              <a:buFont typeface="Wingdings" panose="05000000000000000000" pitchFamily="2" charset="2"/>
              <a:buChar char="ü"/>
            </a:pPr>
            <a:r>
              <a:rPr lang="zh-TW" altLang="en-US" sz="1000" dirty="0" smtClean="0">
                <a:latin typeface="+mn-ea"/>
                <a:ea typeface="+mn-ea"/>
                <a:sym typeface="Wingdings" panose="05000000000000000000" pitchFamily="2" charset="2"/>
              </a:rPr>
              <a:t>建置</a:t>
            </a:r>
            <a:r>
              <a:rPr lang="zh-TW" altLang="en-US" sz="1000" dirty="0" smtClean="0">
                <a:latin typeface="+mn-ea"/>
                <a:ea typeface="+mn-ea"/>
              </a:rPr>
              <a:t>資料庫儲存每日相關資</a:t>
            </a:r>
            <a:r>
              <a:rPr lang="zh-TW" altLang="en-US" sz="1000" dirty="0">
                <a:latin typeface="+mn-ea"/>
                <a:ea typeface="+mn-ea"/>
              </a:rPr>
              <a:t>料</a:t>
            </a:r>
            <a:r>
              <a:rPr lang="zh-TW" altLang="en-US" sz="1000" dirty="0" smtClean="0">
                <a:latin typeface="+mn-ea"/>
                <a:ea typeface="+mn-ea"/>
              </a:rPr>
              <a:t>供歷史回查</a:t>
            </a:r>
            <a:endParaRPr lang="en-US" altLang="zh-TW" sz="1000" dirty="0" smtClean="0">
              <a:latin typeface="+mn-ea"/>
              <a:ea typeface="+mn-ea"/>
            </a:endParaRPr>
          </a:p>
          <a:p>
            <a:pPr marL="171450" indent="-171450">
              <a:lnSpc>
                <a:spcPct val="150000"/>
              </a:lnSpc>
              <a:buClr>
                <a:schemeClr val="tx1"/>
              </a:buClr>
              <a:buFont typeface="Wingdings" panose="05000000000000000000" pitchFamily="2" charset="2"/>
              <a:buChar char="ü"/>
            </a:pPr>
            <a:r>
              <a:rPr lang="zh-TW" altLang="en-US" sz="1000" dirty="0" smtClean="0">
                <a:latin typeface="+mn-ea"/>
                <a:ea typeface="+mn-ea"/>
              </a:rPr>
              <a:t>源頭資料端撈取資料避免資料缺失且提升資料即時性效率</a:t>
            </a:r>
            <a:endParaRPr lang="en-US" altLang="zh-TW" sz="1000" dirty="0" smtClean="0">
              <a:latin typeface="+mn-ea"/>
              <a:ea typeface="+mn-ea"/>
            </a:endParaRPr>
          </a:p>
          <a:p>
            <a:pPr marL="171450" indent="-171450">
              <a:lnSpc>
                <a:spcPct val="150000"/>
              </a:lnSpc>
              <a:buClr>
                <a:schemeClr val="tx1"/>
              </a:buClr>
              <a:buFont typeface="Wingdings" panose="05000000000000000000" pitchFamily="2" charset="2"/>
              <a:buChar char="ü"/>
            </a:pPr>
            <a:r>
              <a:rPr lang="zh-TW" altLang="en-US" sz="1000" dirty="0" smtClean="0">
                <a:latin typeface="+mn-ea"/>
              </a:rPr>
              <a:t>新增</a:t>
            </a:r>
            <a:r>
              <a:rPr lang="zh-TW" altLang="en-US" sz="1000" dirty="0">
                <a:latin typeface="+mn-ea"/>
              </a:rPr>
              <a:t>編輯</a:t>
            </a:r>
            <a:r>
              <a:rPr lang="zh-TW" altLang="en-US" sz="1000" dirty="0" smtClean="0">
                <a:latin typeface="+mn-ea"/>
              </a:rPr>
              <a:t>功能可自主調整</a:t>
            </a:r>
            <a:r>
              <a:rPr lang="en-US" altLang="zh-TW" sz="1000" dirty="0" smtClean="0">
                <a:latin typeface="+mn-ea"/>
              </a:rPr>
              <a:t>target</a:t>
            </a:r>
            <a:r>
              <a:rPr lang="zh-TW" altLang="en-US" sz="1000" dirty="0" smtClean="0">
                <a:latin typeface="+mn-ea"/>
              </a:rPr>
              <a:t>、</a:t>
            </a:r>
            <a:r>
              <a:rPr lang="en-US" altLang="zh-TW" sz="1000" dirty="0" smtClean="0">
                <a:latin typeface="+mn-ea"/>
              </a:rPr>
              <a:t>spec</a:t>
            </a:r>
            <a:r>
              <a:rPr lang="zh-TW" altLang="en-US" sz="1000" dirty="0" smtClean="0">
                <a:latin typeface="+mn-ea"/>
              </a:rPr>
              <a:t>及</a:t>
            </a:r>
            <a:r>
              <a:rPr lang="en-US" altLang="zh-TW" sz="1000" dirty="0" smtClean="0">
                <a:latin typeface="+mn-ea"/>
              </a:rPr>
              <a:t>comment</a:t>
            </a:r>
            <a:r>
              <a:rPr lang="zh-TW" altLang="en-US" sz="1000" dirty="0" smtClean="0">
                <a:latin typeface="+mn-ea"/>
              </a:rPr>
              <a:t>等</a:t>
            </a:r>
            <a:endParaRPr lang="en-US" altLang="zh-TW" sz="1000" dirty="0" smtClean="0">
              <a:latin typeface="+mn-ea"/>
            </a:endParaRPr>
          </a:p>
        </p:txBody>
      </p:sp>
      <p:sp>
        <p:nvSpPr>
          <p:cNvPr id="44" name="矩形 43">
            <a:extLst>
              <a:ext uri="{FF2B5EF4-FFF2-40B4-BE49-F238E27FC236}">
                <a16:creationId xmlns="" xmlns:a16="http://schemas.microsoft.com/office/drawing/2014/main" id="{9BE08482-D953-47F4-81A8-BD823C2E476A}"/>
              </a:ext>
            </a:extLst>
          </p:cNvPr>
          <p:cNvSpPr/>
          <p:nvPr/>
        </p:nvSpPr>
        <p:spPr>
          <a:xfrm>
            <a:off x="242188" y="1137210"/>
            <a:ext cx="4006209" cy="1015663"/>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TW" altLang="en-US" sz="1000" b="1" dirty="0" smtClean="0">
                <a:latin typeface="微軟正黑體" panose="020B0604030504040204" pitchFamily="34" charset="-120"/>
                <a:ea typeface="微軟正黑體" panose="020B0604030504040204" pitchFamily="34" charset="-120"/>
              </a:rPr>
              <a:t>原</a:t>
            </a:r>
            <a:r>
              <a:rPr lang="en-US" altLang="zh-TW" sz="1000" b="1" dirty="0" smtClean="0">
                <a:latin typeface="微軟正黑體" panose="020B0604030504040204" pitchFamily="34" charset="-120"/>
                <a:ea typeface="微軟正黑體" panose="020B0604030504040204" pitchFamily="34" charset="-120"/>
              </a:rPr>
              <a:t>EDA</a:t>
            </a:r>
            <a:r>
              <a:rPr lang="zh-TW" altLang="en-US" sz="1000" b="1" dirty="0" smtClean="0">
                <a:latin typeface="微軟正黑體" panose="020B0604030504040204" pitchFamily="34" charset="-120"/>
                <a:ea typeface="微軟正黑體" panose="020B0604030504040204" pitchFamily="34" charset="-120"/>
              </a:rPr>
              <a:t>報表資料源資料漏失</a:t>
            </a:r>
            <a:endParaRPr lang="en-US" altLang="zh-TW" sz="1000" b="1"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000" b="1" dirty="0" smtClean="0">
                <a:latin typeface="微軟正黑體" panose="020B0604030504040204" pitchFamily="34" charset="-120"/>
                <a:ea typeface="微軟正黑體" panose="020B0604030504040204" pitchFamily="34" charset="-120"/>
              </a:rPr>
              <a:t>BY </a:t>
            </a:r>
            <a:r>
              <a:rPr lang="zh-TW" altLang="en-US" sz="1000" b="1" dirty="0" smtClean="0">
                <a:latin typeface="微軟正黑體" panose="020B0604030504040204" pitchFamily="34" charset="-120"/>
                <a:ea typeface="微軟正黑體" panose="020B0604030504040204" pitchFamily="34" charset="-120"/>
              </a:rPr>
              <a:t>機台目標</a:t>
            </a:r>
            <a:r>
              <a:rPr lang="en-US" altLang="zh-TW" sz="1000" b="1" dirty="0" smtClean="0">
                <a:latin typeface="微軟正黑體" panose="020B0604030504040204" pitchFamily="34" charset="-120"/>
                <a:ea typeface="微軟正黑體" panose="020B0604030504040204" pitchFamily="34" charset="-120"/>
              </a:rPr>
              <a:t>CAPA</a:t>
            </a:r>
            <a:r>
              <a:rPr lang="zh-TW" altLang="en-US" sz="1000" b="1" dirty="0" smtClean="0">
                <a:latin typeface="微軟正黑體" panose="020B0604030504040204" pitchFamily="34" charset="-120"/>
                <a:ea typeface="微軟正黑體" panose="020B0604030504040204" pitchFamily="34" charset="-120"/>
              </a:rPr>
              <a:t>修改須經由系統</a:t>
            </a:r>
            <a:r>
              <a:rPr lang="en-US" altLang="zh-TW" sz="1000" b="1" dirty="0" smtClean="0">
                <a:latin typeface="微軟正黑體" panose="020B0604030504040204" pitchFamily="34" charset="-120"/>
                <a:ea typeface="微軟正黑體" panose="020B0604030504040204" pitchFamily="34" charset="-120"/>
              </a:rPr>
              <a:t>Owner</a:t>
            </a:r>
            <a:r>
              <a:rPr lang="zh-TW" altLang="en-US" sz="1000" b="1" dirty="0" smtClean="0">
                <a:latin typeface="微軟正黑體" panose="020B0604030504040204" pitchFamily="34" charset="-120"/>
                <a:ea typeface="微軟正黑體" panose="020B0604030504040204" pitchFamily="34" charset="-120"/>
              </a:rPr>
              <a:t>修改無法自主變更</a:t>
            </a:r>
            <a:endParaRPr lang="en-US" altLang="zh-TW" sz="1000" b="1" dirty="0" smtClean="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000" b="1" dirty="0" smtClean="0">
                <a:latin typeface="微軟正黑體" panose="020B0604030504040204" pitchFamily="34" charset="-120"/>
                <a:ea typeface="微軟正黑體" panose="020B0604030504040204" pitchFamily="34" charset="-120"/>
              </a:rPr>
              <a:t>工程師無法針對特定資料下</a:t>
            </a:r>
            <a:r>
              <a:rPr lang="en-US" altLang="zh-TW" sz="1000" b="1" dirty="0" smtClean="0">
                <a:latin typeface="微軟正黑體" panose="020B0604030504040204" pitchFamily="34" charset="-120"/>
                <a:ea typeface="微軟正黑體" panose="020B0604030504040204" pitchFamily="34" charset="-120"/>
              </a:rPr>
              <a:t>comment</a:t>
            </a:r>
          </a:p>
          <a:p>
            <a:pPr marL="171450" indent="-171450">
              <a:lnSpc>
                <a:spcPct val="150000"/>
              </a:lnSpc>
              <a:buFont typeface="Arial" panose="020B0604020202020204" pitchFamily="34" charset="0"/>
              <a:buChar char="•"/>
            </a:pPr>
            <a:r>
              <a:rPr lang="zh-TW" altLang="en-US" sz="1000" b="1" dirty="0" smtClean="0">
                <a:latin typeface="微軟正黑體" panose="020B0604030504040204" pitchFamily="34" charset="-120"/>
                <a:ea typeface="微軟正黑體" panose="020B0604030504040204" pitchFamily="34" charset="-120"/>
              </a:rPr>
              <a:t>無歷史資料儲存無法查詢過往資</a:t>
            </a:r>
            <a:r>
              <a:rPr lang="zh-TW" altLang="en-US" sz="1000" b="1" dirty="0">
                <a:latin typeface="微軟正黑體" panose="020B0604030504040204" pitchFamily="34" charset="-120"/>
                <a:ea typeface="微軟正黑體" panose="020B0604030504040204" pitchFamily="34" charset="-120"/>
              </a:rPr>
              <a:t>料</a:t>
            </a:r>
            <a:endParaRPr lang="en-US" altLang="zh-TW" sz="1000" b="1" dirty="0" smtClean="0">
              <a:latin typeface="微軟正黑體" panose="020B0604030504040204" pitchFamily="34" charset="-120"/>
              <a:ea typeface="微軟正黑體" panose="020B0604030504040204" pitchFamily="34" charset="-120"/>
            </a:endParaRPr>
          </a:p>
        </p:txBody>
      </p:sp>
      <p:pic>
        <p:nvPicPr>
          <p:cNvPr id="45" name="圖片 44"/>
          <p:cNvPicPr>
            <a:picLocks noChangeAspect="1"/>
          </p:cNvPicPr>
          <p:nvPr/>
        </p:nvPicPr>
        <p:blipFill>
          <a:blip r:embed="rId3"/>
          <a:stretch>
            <a:fillRect/>
          </a:stretch>
        </p:blipFill>
        <p:spPr>
          <a:xfrm>
            <a:off x="620007" y="2185045"/>
            <a:ext cx="2844305" cy="1229643"/>
          </a:xfrm>
          <a:prstGeom prst="rect">
            <a:avLst/>
          </a:prstGeom>
        </p:spPr>
      </p:pic>
      <p:sp>
        <p:nvSpPr>
          <p:cNvPr id="46" name="矩形 45"/>
          <p:cNvSpPr/>
          <p:nvPr/>
        </p:nvSpPr>
        <p:spPr>
          <a:xfrm>
            <a:off x="29769" y="3676769"/>
            <a:ext cx="1409105" cy="1169551"/>
          </a:xfrm>
          <a:prstGeom prst="rect">
            <a:avLst/>
          </a:prstGeom>
        </p:spPr>
        <p:txBody>
          <a:bodyPr wrap="square">
            <a:spAutoFit/>
          </a:body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技術對策</a:t>
            </a:r>
            <a:r>
              <a:rPr kumimoji="0" lang="en-US" altLang="zh-TW" sz="1600" b="1" dirty="0">
                <a:solidFill>
                  <a:prstClr val="black"/>
                </a:solidFill>
                <a:latin typeface="微軟正黑體" panose="020B0604030504040204" pitchFamily="34" charset="-120"/>
                <a:ea typeface="微軟正黑體" panose="020B0604030504040204" pitchFamily="34" charset="-120"/>
              </a:rPr>
              <a:t>:</a:t>
            </a:r>
          </a:p>
          <a:p>
            <a:pPr eaLnBrk="1" fontAlgn="auto" hangingPunct="1">
              <a:spcBef>
                <a:spcPts val="0"/>
              </a:spcBef>
              <a:spcAft>
                <a:spcPts val="0"/>
              </a:spcAft>
              <a:defRPr/>
            </a:pPr>
            <a:endParaRPr kumimoji="0" lang="en-US" altLang="zh-TW" sz="1800" b="1" kern="0"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b="1" dirty="0">
              <a:solidFill>
                <a:srgbClr val="0000FF"/>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dirty="0">
              <a:solidFill>
                <a:prstClr val="black">
                  <a:lumMod val="95000"/>
                  <a:lumOff val="5000"/>
                </a:prstClr>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140025" y="3965956"/>
            <a:ext cx="4009018" cy="784830"/>
          </a:xfrm>
          <a:prstGeom prst="rect">
            <a:avLst/>
          </a:prstGeom>
          <a:noFill/>
        </p:spPr>
        <p:txBody>
          <a:bodyPr wrap="square">
            <a:spAutoFit/>
          </a:bodyPr>
          <a:lstStyle/>
          <a:p>
            <a:pPr>
              <a:lnSpc>
                <a:spcPct val="150000"/>
              </a:lnSpc>
              <a:buClr>
                <a:schemeClr val="tx1"/>
              </a:buClr>
            </a:pPr>
            <a:r>
              <a:rPr lang="en-US" altLang="zh-TW" sz="1000" dirty="0" smtClean="0">
                <a:solidFill>
                  <a:srgbClr val="0000FF"/>
                </a:solidFill>
                <a:latin typeface="微軟正黑體" panose="020B0604030504040204" pitchFamily="34" charset="-120"/>
                <a:ea typeface="微軟正黑體" panose="020B0604030504040204" pitchFamily="34" charset="-120"/>
                <a:sym typeface="Wingdings" panose="05000000000000000000" pitchFamily="2" charset="2"/>
              </a:rPr>
              <a:t>Data Fusion</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 ：撈取</a:t>
            </a:r>
            <a:r>
              <a:rPr lang="en-US" altLang="zh-TW" sz="1000" dirty="0">
                <a:latin typeface="微軟正黑體" panose="020B0604030504040204" pitchFamily="34" charset="-120"/>
                <a:ea typeface="微軟正黑體" panose="020B0604030504040204" pitchFamily="34" charset="-120"/>
                <a:sym typeface="Wingdings" panose="05000000000000000000" pitchFamily="2" charset="2"/>
              </a:rPr>
              <a:t>CIM</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資料庫資料</a:t>
            </a:r>
            <a:r>
              <a:rPr lang="en-US" altLang="zh-TW" sz="1000" dirty="0">
                <a:latin typeface="微軟正黑體" panose="020B0604030504040204" pitchFamily="34" charset="-120"/>
                <a:ea typeface="微軟正黑體" panose="020B0604030504040204" pitchFamily="34" charset="-120"/>
                <a:sym typeface="Wingdings" panose="05000000000000000000" pitchFamily="2" charset="2"/>
              </a:rPr>
              <a:t>&amp;</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爬取</a:t>
            </a:r>
            <a:r>
              <a:rPr lang="en-US" altLang="zh-TW" sz="1000" dirty="0">
                <a:latin typeface="微軟正黑體" panose="020B0604030504040204" pitchFamily="34" charset="-120"/>
                <a:ea typeface="微軟正黑體" panose="020B0604030504040204" pitchFamily="34" charset="-120"/>
                <a:sym typeface="Wingdings" panose="05000000000000000000" pitchFamily="2" charset="2"/>
              </a:rPr>
              <a:t>KLS-YMS</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網頁資料</a:t>
            </a:r>
            <a:endParaRPr lang="en-US" altLang="zh-TW" sz="1000" dirty="0">
              <a:latin typeface="微軟正黑體" panose="020B0604030504040204" pitchFamily="34" charset="-120"/>
              <a:ea typeface="微軟正黑體" panose="020B0604030504040204" pitchFamily="34" charset="-120"/>
              <a:sym typeface="Wingdings" panose="05000000000000000000" pitchFamily="2" charset="2"/>
            </a:endParaRPr>
          </a:p>
          <a:p>
            <a:pPr>
              <a:lnSpc>
                <a:spcPct val="150000"/>
              </a:lnSpc>
              <a:buClr>
                <a:schemeClr val="tx1"/>
              </a:buClr>
            </a:pPr>
            <a:r>
              <a:rPr lang="zh-TW" altLang="en-US" sz="1000" dirty="0" smtClean="0">
                <a:solidFill>
                  <a:srgbClr val="0000FF"/>
                </a:solidFill>
                <a:latin typeface="微軟正黑體" panose="020B0604030504040204" pitchFamily="34" charset="-120"/>
                <a:ea typeface="微軟正黑體" panose="020B0604030504040204" pitchFamily="34" charset="-120"/>
              </a:rPr>
              <a:t>資料庫建置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：建置</a:t>
            </a:r>
            <a:r>
              <a:rPr lang="zh-TW" altLang="en-US" sz="1000" dirty="0" smtClean="0">
                <a:latin typeface="微軟正黑體" panose="020B0604030504040204" pitchFamily="34" charset="-120"/>
                <a:ea typeface="微軟正黑體" panose="020B0604030504040204" pitchFamily="34" charset="-120"/>
              </a:rPr>
              <a:t>資料庫儲存每日相關資</a:t>
            </a:r>
            <a:r>
              <a:rPr lang="zh-TW" altLang="en-US" sz="1000" dirty="0">
                <a:latin typeface="微軟正黑體" panose="020B0604030504040204" pitchFamily="34" charset="-120"/>
                <a:ea typeface="微軟正黑體" panose="020B0604030504040204" pitchFamily="34" charset="-120"/>
              </a:rPr>
              <a:t>料</a:t>
            </a:r>
            <a:r>
              <a:rPr lang="zh-TW" altLang="en-US" sz="1000" dirty="0" smtClean="0">
                <a:latin typeface="微軟正黑體" panose="020B0604030504040204" pitchFamily="34" charset="-120"/>
                <a:ea typeface="微軟正黑體" panose="020B0604030504040204" pitchFamily="34" charset="-120"/>
              </a:rPr>
              <a:t>供歷史回查</a:t>
            </a:r>
            <a:endParaRPr lang="en-US" altLang="zh-TW" sz="1000" dirty="0" smtClean="0">
              <a:latin typeface="微軟正黑體" panose="020B0604030504040204" pitchFamily="34" charset="-120"/>
              <a:ea typeface="微軟正黑體" panose="020B0604030504040204" pitchFamily="34" charset="-120"/>
            </a:endParaRPr>
          </a:p>
          <a:p>
            <a:pPr>
              <a:lnSpc>
                <a:spcPct val="150000"/>
              </a:lnSpc>
              <a:buClr>
                <a:schemeClr val="tx1"/>
              </a:buClr>
            </a:pPr>
            <a:r>
              <a:rPr lang="zh-TW" altLang="en-US" sz="1000" dirty="0">
                <a:solidFill>
                  <a:srgbClr val="0000FF"/>
                </a:solidFill>
                <a:latin typeface="微軟正黑體" panose="020B0604030504040204" pitchFamily="34" charset="-120"/>
                <a:ea typeface="微軟正黑體" panose="020B0604030504040204" pitchFamily="34" charset="-120"/>
              </a:rPr>
              <a:t>網站</a:t>
            </a:r>
            <a:r>
              <a:rPr lang="zh-TW" altLang="en-US" sz="1000" dirty="0" smtClean="0">
                <a:solidFill>
                  <a:srgbClr val="0000FF"/>
                </a:solidFill>
                <a:latin typeface="微軟正黑體" panose="020B0604030504040204" pitchFamily="34" charset="-120"/>
                <a:ea typeface="微軟正黑體" panose="020B0604030504040204" pitchFamily="34" charset="-120"/>
              </a:rPr>
              <a:t>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 </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48" name="矩形 47"/>
          <p:cNvSpPr/>
          <p:nvPr/>
        </p:nvSpPr>
        <p:spPr>
          <a:xfrm>
            <a:off x="822508" y="4456024"/>
            <a:ext cx="3464777" cy="400110"/>
          </a:xfrm>
          <a:prstGeom prst="rect">
            <a:avLst/>
          </a:prstGeom>
        </p:spPr>
        <p:txBody>
          <a:bodyPr wrap="square">
            <a:spAutoFit/>
          </a:bodyPr>
          <a:lstStyle/>
          <a:p>
            <a:pPr marL="171450" indent="-171450">
              <a:buFont typeface="Arial" panose="020B0604020202020204" pitchFamily="34" charset="0"/>
              <a:buChar char="•"/>
            </a:pPr>
            <a:r>
              <a:rPr lang="en-US" altLang="zh-TW" sz="1000" dirty="0" smtClean="0">
                <a:latin typeface="微軟正黑體" panose="020B0604030504040204" pitchFamily="34" charset="-120"/>
                <a:ea typeface="微軟正黑體" panose="020B0604030504040204" pitchFamily="34" charset="-120"/>
              </a:rPr>
              <a:t>Fast API</a:t>
            </a:r>
            <a:r>
              <a:rPr lang="zh-TW" altLang="en-US" sz="1000" dirty="0" smtClean="0">
                <a:latin typeface="微軟正黑體" panose="020B0604030504040204" pitchFamily="34" charset="-120"/>
                <a:ea typeface="微軟正黑體" panose="020B0604030504040204" pitchFamily="34" charset="-120"/>
              </a:rPr>
              <a:t>建置後端框架串接資料庫及相關串流功能</a:t>
            </a:r>
          </a:p>
          <a:p>
            <a:pPr marL="171450" indent="-171450">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前端網頁設計及功能開發</a:t>
            </a:r>
            <a:endParaRPr lang="zh-TW" altLang="en-US" sz="1000" dirty="0">
              <a:latin typeface="微軟正黑體" panose="020B0604030504040204" pitchFamily="34" charset="-120"/>
              <a:ea typeface="微軟正黑體" panose="020B0604030504040204" pitchFamily="34" charset="-120"/>
            </a:endParaRPr>
          </a:p>
        </p:txBody>
      </p:sp>
      <p:pic>
        <p:nvPicPr>
          <p:cNvPr id="49" name="圖片 48"/>
          <p:cNvPicPr>
            <a:picLocks noChangeAspect="1"/>
          </p:cNvPicPr>
          <p:nvPr/>
        </p:nvPicPr>
        <p:blipFill>
          <a:blip r:embed="rId4"/>
          <a:stretch>
            <a:fillRect/>
          </a:stretch>
        </p:blipFill>
        <p:spPr>
          <a:xfrm>
            <a:off x="4603454" y="1846164"/>
            <a:ext cx="3921720" cy="1706928"/>
          </a:xfrm>
          <a:prstGeom prst="rect">
            <a:avLst/>
          </a:prstGeom>
        </p:spPr>
      </p:pic>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78" name="矩形 77"/>
          <p:cNvSpPr/>
          <p:nvPr/>
        </p:nvSpPr>
        <p:spPr>
          <a:xfrm>
            <a:off x="4924354" y="3826351"/>
            <a:ext cx="3689295" cy="872422"/>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79" name="群組 78"/>
          <p:cNvGrpSpPr/>
          <p:nvPr/>
        </p:nvGrpSpPr>
        <p:grpSpPr>
          <a:xfrm>
            <a:off x="4395542" y="3697238"/>
            <a:ext cx="705005" cy="387365"/>
            <a:chOff x="123817" y="3086036"/>
            <a:chExt cx="743568" cy="298386"/>
          </a:xfrm>
          <a:solidFill>
            <a:srgbClr val="005087"/>
          </a:solidFill>
        </p:grpSpPr>
        <p:sp>
          <p:nvSpPr>
            <p:cNvPr id="81" name="圓角矩形 80"/>
            <p:cNvSpPr/>
            <p:nvPr/>
          </p:nvSpPr>
          <p:spPr>
            <a:xfrm>
              <a:off x="175333" y="3086036"/>
              <a:ext cx="640538" cy="248768"/>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82" name="矩形 81">
              <a:extLst>
                <a:ext uri="{FF2B5EF4-FFF2-40B4-BE49-F238E27FC236}">
                  <a16:creationId xmlns:a16="http://schemas.microsoft.com/office/drawing/2014/main" xmlns="" id="{2FB82B3E-7C5A-4E57-B159-B07D5CBA84B6}"/>
                </a:ext>
              </a:extLst>
            </p:cNvPr>
            <p:cNvSpPr/>
            <p:nvPr/>
          </p:nvSpPr>
          <p:spPr>
            <a:xfrm>
              <a:off x="123817" y="3107423"/>
              <a:ext cx="743568" cy="276999"/>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sp>
        <p:nvSpPr>
          <p:cNvPr id="83" name="矩形 82"/>
          <p:cNvSpPr/>
          <p:nvPr/>
        </p:nvSpPr>
        <p:spPr>
          <a:xfrm>
            <a:off x="4915386" y="3975805"/>
            <a:ext cx="3707229" cy="630942"/>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tLang="zh-TW" sz="1000" dirty="0" smtClean="0">
                <a:latin typeface="+mn-ea"/>
              </a:rPr>
              <a:t>1.</a:t>
            </a:r>
            <a:r>
              <a:rPr lang="zh-TW" altLang="en-US" sz="1000" dirty="0">
                <a:latin typeface="+mn-ea"/>
              </a:rPr>
              <a:t>節省</a:t>
            </a:r>
            <a:r>
              <a:rPr lang="en-US" altLang="zh-TW" sz="1400" b="1" dirty="0">
                <a:solidFill>
                  <a:srgbClr val="FF0000"/>
                </a:solidFill>
                <a:latin typeface="+mn-ea"/>
              </a:rPr>
              <a:t>2~6</a:t>
            </a:r>
            <a:r>
              <a:rPr lang="zh-TW" altLang="en-US" sz="1000" dirty="0" smtClean="0">
                <a:latin typeface="+mn-ea"/>
              </a:rPr>
              <a:t>小時資料延遲時間</a:t>
            </a:r>
            <a:r>
              <a:rPr lang="en-US" altLang="zh-TW" sz="1000" dirty="0" smtClean="0">
                <a:latin typeface="+mn-ea"/>
                <a:sym typeface="Wingdings" panose="05000000000000000000" pitchFamily="2" charset="2"/>
              </a:rPr>
              <a:t></a:t>
            </a:r>
            <a:r>
              <a:rPr lang="en-US" altLang="zh-TW" sz="1000" dirty="0" smtClean="0">
                <a:latin typeface="+mn-ea"/>
              </a:rPr>
              <a:t>15</a:t>
            </a:r>
            <a:r>
              <a:rPr lang="zh-TW" altLang="en-US" sz="1000" dirty="0" smtClean="0">
                <a:latin typeface="+mn-ea"/>
              </a:rPr>
              <a:t>分鐘，大幅提升資料即時性</a:t>
            </a:r>
            <a:endParaRPr lang="en-US" altLang="zh-TW" sz="1000" dirty="0" smtClean="0">
              <a:latin typeface="+mn-ea"/>
            </a:endParaRPr>
          </a:p>
          <a:p>
            <a:r>
              <a:rPr lang="en-US" altLang="zh-TW" sz="1000" dirty="0">
                <a:latin typeface="+mn-ea"/>
              </a:rPr>
              <a:t>2.</a:t>
            </a:r>
            <a:r>
              <a:rPr lang="zh-TW" altLang="en-US" sz="1000" dirty="0">
                <a:latin typeface="+mn-ea"/>
              </a:rPr>
              <a:t> 多源頭串接</a:t>
            </a:r>
            <a:r>
              <a:rPr lang="en-US" altLang="zh-TW" sz="1000" dirty="0">
                <a:latin typeface="+mn-ea"/>
              </a:rPr>
              <a:t>(</a:t>
            </a:r>
            <a:r>
              <a:rPr lang="zh-TW" altLang="en-US" sz="1000" dirty="0">
                <a:latin typeface="+mn-ea"/>
              </a:rPr>
              <a:t>機台、量測機台產出</a:t>
            </a:r>
            <a:r>
              <a:rPr lang="en-US" altLang="zh-TW" sz="1000" dirty="0">
                <a:latin typeface="+mn-ea"/>
              </a:rPr>
              <a:t>)</a:t>
            </a:r>
            <a:r>
              <a:rPr lang="zh-TW" altLang="en-US" sz="1000" dirty="0">
                <a:latin typeface="+mn-ea"/>
              </a:rPr>
              <a:t>，節省資料查找時間</a:t>
            </a:r>
            <a:r>
              <a:rPr lang="zh-TW" altLang="en-US" sz="1000" dirty="0" smtClean="0">
                <a:latin typeface="+mn-ea"/>
              </a:rPr>
              <a:t>，解決</a:t>
            </a:r>
            <a:r>
              <a:rPr lang="zh-TW" altLang="en-US" sz="1000" dirty="0">
                <a:latin typeface="+mn-ea"/>
              </a:rPr>
              <a:t>機台資料缺少問題</a:t>
            </a:r>
            <a:endParaRPr lang="en-US" altLang="zh-TW" sz="1000" dirty="0">
              <a:latin typeface="+mn-ea"/>
            </a:endParaRPr>
          </a:p>
        </p:txBody>
      </p:sp>
    </p:spTree>
    <p:extLst>
      <p:ext uri="{BB962C8B-B14F-4D97-AF65-F5344CB8AC3E}">
        <p14:creationId xmlns:p14="http://schemas.microsoft.com/office/powerpoint/2010/main" val="30355939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1143018" y="3645601"/>
            <a:ext cx="8066202" cy="142330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1" name="肘形接點 270"/>
          <p:cNvCxnSpPr/>
          <p:nvPr/>
        </p:nvCxnSpPr>
        <p:spPr>
          <a:xfrm rot="16200000" flipH="1">
            <a:off x="-1308202" y="2748447"/>
            <a:ext cx="3636000" cy="0"/>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ctrTitle"/>
          </p:nvPr>
        </p:nvSpPr>
        <p:spPr>
          <a:xfrm>
            <a:off x="386220" y="0"/>
            <a:ext cx="8482972" cy="680785"/>
          </a:xfrm>
        </p:spPr>
        <p:txBody>
          <a:bodyPr/>
          <a:lstStyle/>
          <a:p>
            <a:r>
              <a:rPr lang="en-US" altLang="zh-TW" b="1" dirty="0" smtClean="0">
                <a:latin typeface="+mj-ea"/>
              </a:rPr>
              <a:t>ETL &amp; Data Fusion</a:t>
            </a:r>
            <a:endParaRPr lang="zh-TW" altLang="en-US" b="1" dirty="0">
              <a:latin typeface="+mj-ea"/>
            </a:endParaRPr>
          </a:p>
        </p:txBody>
      </p:sp>
      <p:sp>
        <p:nvSpPr>
          <p:cNvPr id="14" name="矩形 13"/>
          <p:cNvSpPr/>
          <p:nvPr/>
        </p:nvSpPr>
        <p:spPr>
          <a:xfrm>
            <a:off x="75324" y="668882"/>
            <a:ext cx="895869" cy="253916"/>
          </a:xfrm>
          <a:prstGeom prst="rect">
            <a:avLst/>
          </a:prstGeom>
          <a:solidFill>
            <a:schemeClr val="accent1"/>
          </a:solidFill>
          <a:scene3d>
            <a:camera prst="orthographicFront"/>
            <a:lightRig rig="threePt" dir="t"/>
          </a:scene3d>
          <a:sp3d>
            <a:bevelT prst="relaxedInset"/>
          </a:sp3d>
        </p:spPr>
        <p:txBody>
          <a:bodyPr wrap="square">
            <a:spAutoFit/>
          </a:bodyPr>
          <a:lstStyle/>
          <a:p>
            <a:pPr algn="ctr"/>
            <a:r>
              <a:rPr lang="zh-TW" altLang="en-US" sz="1050" b="1" dirty="0" smtClean="0">
                <a:solidFill>
                  <a:schemeClr val="bg2"/>
                </a:solidFill>
              </a:rPr>
              <a:t>量測機</a:t>
            </a:r>
            <a:r>
              <a:rPr lang="zh-TW" altLang="en-US" sz="1050" b="1" dirty="0">
                <a:solidFill>
                  <a:schemeClr val="bg2"/>
                </a:solidFill>
              </a:rPr>
              <a:t>台</a:t>
            </a:r>
          </a:p>
        </p:txBody>
      </p:sp>
      <p:cxnSp>
        <p:nvCxnSpPr>
          <p:cNvPr id="23" name="肘形接點 22"/>
          <p:cNvCxnSpPr>
            <a:stCxn id="100" idx="4"/>
          </p:cNvCxnSpPr>
          <p:nvPr/>
        </p:nvCxnSpPr>
        <p:spPr>
          <a:xfrm rot="16200000" flipH="1">
            <a:off x="2814729" y="864948"/>
            <a:ext cx="264538" cy="1299397"/>
          </a:xfrm>
          <a:prstGeom prst="bentConnector2">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a:off x="1671695" y="603139"/>
            <a:ext cx="752129" cy="300082"/>
          </a:xfrm>
          <a:prstGeom prst="rect">
            <a:avLst/>
          </a:prstGeom>
        </p:spPr>
        <p:txBody>
          <a:bodyPr wrap="none">
            <a:spAutoFit/>
          </a:bodyPr>
          <a:lstStyle/>
          <a:p>
            <a:r>
              <a:rPr lang="en-US" altLang="zh-TW" u="sng" dirty="0" smtClean="0"/>
              <a:t>AOI100</a:t>
            </a:r>
            <a:endParaRPr lang="zh-TW" altLang="en-US" u="sng" dirty="0"/>
          </a:p>
        </p:txBody>
      </p:sp>
      <p:sp>
        <p:nvSpPr>
          <p:cNvPr id="89" name="矩形 88"/>
          <p:cNvSpPr/>
          <p:nvPr/>
        </p:nvSpPr>
        <p:spPr>
          <a:xfrm>
            <a:off x="6976142" y="596032"/>
            <a:ext cx="752129" cy="300082"/>
          </a:xfrm>
          <a:prstGeom prst="rect">
            <a:avLst/>
          </a:prstGeom>
        </p:spPr>
        <p:txBody>
          <a:bodyPr wrap="none">
            <a:spAutoFit/>
          </a:bodyPr>
          <a:lstStyle/>
          <a:p>
            <a:r>
              <a:rPr lang="en-US" altLang="zh-TW" u="sng" dirty="0" smtClean="0"/>
              <a:t>AOI300</a:t>
            </a:r>
            <a:endParaRPr lang="zh-TW" altLang="en-US" u="sng" dirty="0"/>
          </a:p>
        </p:txBody>
      </p:sp>
      <p:sp>
        <p:nvSpPr>
          <p:cNvPr id="90" name="矩形 89"/>
          <p:cNvSpPr/>
          <p:nvPr/>
        </p:nvSpPr>
        <p:spPr>
          <a:xfrm>
            <a:off x="4447286" y="596032"/>
            <a:ext cx="752129" cy="300082"/>
          </a:xfrm>
          <a:prstGeom prst="rect">
            <a:avLst/>
          </a:prstGeom>
        </p:spPr>
        <p:txBody>
          <a:bodyPr wrap="none">
            <a:spAutoFit/>
          </a:bodyPr>
          <a:lstStyle/>
          <a:p>
            <a:r>
              <a:rPr lang="en-US" altLang="zh-TW" u="sng" dirty="0" smtClean="0"/>
              <a:t>AOI200</a:t>
            </a:r>
            <a:endParaRPr lang="zh-TW" altLang="en-US" u="sng" dirty="0"/>
          </a:p>
        </p:txBody>
      </p:sp>
      <p:grpSp>
        <p:nvGrpSpPr>
          <p:cNvPr id="9" name="群組 8"/>
          <p:cNvGrpSpPr/>
          <p:nvPr/>
        </p:nvGrpSpPr>
        <p:grpSpPr>
          <a:xfrm>
            <a:off x="1578299" y="968605"/>
            <a:ext cx="471726" cy="429651"/>
            <a:chOff x="1562790" y="981438"/>
            <a:chExt cx="471726" cy="429651"/>
          </a:xfrm>
        </p:grpSpPr>
        <p:sp>
          <p:nvSpPr>
            <p:cNvPr id="7" name="橢圓 6"/>
            <p:cNvSpPr/>
            <p:nvPr/>
          </p:nvSpPr>
          <p:spPr>
            <a:xfrm>
              <a:off x="1562790" y="981438"/>
              <a:ext cx="471726" cy="429651"/>
            </a:xfrm>
            <a:prstGeom prst="ellipse">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p:nvSpPr>
          <p:spPr>
            <a:xfrm>
              <a:off x="1609338" y="1088541"/>
              <a:ext cx="378630" cy="215444"/>
            </a:xfrm>
            <a:prstGeom prst="rect">
              <a:avLst/>
            </a:prstGeom>
          </p:spPr>
          <p:txBody>
            <a:bodyPr wrap="none">
              <a:spAutoFit/>
            </a:bodyPr>
            <a:lstStyle/>
            <a:p>
              <a:pPr algn="ctr"/>
              <a:r>
                <a:rPr lang="en-US" altLang="zh-TW" sz="800" dirty="0" smtClean="0"/>
                <a:t>CIM</a:t>
              </a:r>
              <a:endParaRPr lang="zh-TW" altLang="en-US" sz="800" dirty="0"/>
            </a:p>
          </p:txBody>
        </p:sp>
      </p:grpSp>
      <p:grpSp>
        <p:nvGrpSpPr>
          <p:cNvPr id="8" name="群組 7"/>
          <p:cNvGrpSpPr/>
          <p:nvPr/>
        </p:nvGrpSpPr>
        <p:grpSpPr>
          <a:xfrm>
            <a:off x="2007799" y="952727"/>
            <a:ext cx="579005" cy="429651"/>
            <a:chOff x="2017503" y="981438"/>
            <a:chExt cx="579005" cy="429651"/>
          </a:xfrm>
        </p:grpSpPr>
        <p:sp>
          <p:nvSpPr>
            <p:cNvPr id="100" name="橢圓 99"/>
            <p:cNvSpPr/>
            <p:nvPr/>
          </p:nvSpPr>
          <p:spPr>
            <a:xfrm>
              <a:off x="2071141" y="981438"/>
              <a:ext cx="471726" cy="429651"/>
            </a:xfrm>
            <a:prstGeom prst="ellipse">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p:nvSpPr>
          <p:spPr>
            <a:xfrm>
              <a:off x="2017503" y="1088541"/>
              <a:ext cx="579005" cy="215444"/>
            </a:xfrm>
            <a:prstGeom prst="rect">
              <a:avLst/>
            </a:prstGeom>
          </p:spPr>
          <p:txBody>
            <a:bodyPr wrap="none">
              <a:spAutoFit/>
            </a:bodyPr>
            <a:lstStyle/>
            <a:p>
              <a:pPr algn="ctr"/>
              <a:r>
                <a:rPr lang="en-US" altLang="zh-TW" sz="800" dirty="0" smtClean="0"/>
                <a:t>AOI ETL</a:t>
              </a:r>
              <a:endParaRPr lang="zh-TW" altLang="en-US" sz="800" dirty="0"/>
            </a:p>
          </p:txBody>
        </p:sp>
      </p:grpSp>
      <p:grpSp>
        <p:nvGrpSpPr>
          <p:cNvPr id="105" name="群組 104"/>
          <p:cNvGrpSpPr/>
          <p:nvPr/>
        </p:nvGrpSpPr>
        <p:grpSpPr>
          <a:xfrm>
            <a:off x="4514693" y="955226"/>
            <a:ext cx="579005" cy="429651"/>
            <a:chOff x="2017503" y="981438"/>
            <a:chExt cx="579005" cy="429651"/>
          </a:xfrm>
        </p:grpSpPr>
        <p:sp>
          <p:nvSpPr>
            <p:cNvPr id="107" name="橢圓 106"/>
            <p:cNvSpPr/>
            <p:nvPr/>
          </p:nvSpPr>
          <p:spPr>
            <a:xfrm>
              <a:off x="2071141" y="981438"/>
              <a:ext cx="471726" cy="429651"/>
            </a:xfrm>
            <a:prstGeom prst="ellipse">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p:cNvSpPr/>
            <p:nvPr/>
          </p:nvSpPr>
          <p:spPr>
            <a:xfrm>
              <a:off x="2017503" y="1088541"/>
              <a:ext cx="579005" cy="215444"/>
            </a:xfrm>
            <a:prstGeom prst="rect">
              <a:avLst/>
            </a:prstGeom>
          </p:spPr>
          <p:txBody>
            <a:bodyPr wrap="none">
              <a:spAutoFit/>
            </a:bodyPr>
            <a:lstStyle/>
            <a:p>
              <a:pPr algn="ctr"/>
              <a:r>
                <a:rPr lang="en-US" altLang="zh-TW" sz="800" dirty="0" smtClean="0"/>
                <a:t>AOI ETL</a:t>
              </a:r>
              <a:endParaRPr lang="zh-TW" altLang="en-US" sz="800" dirty="0"/>
            </a:p>
          </p:txBody>
        </p:sp>
      </p:grpSp>
      <p:grpSp>
        <p:nvGrpSpPr>
          <p:cNvPr id="109" name="群組 108"/>
          <p:cNvGrpSpPr/>
          <p:nvPr/>
        </p:nvGrpSpPr>
        <p:grpSpPr>
          <a:xfrm>
            <a:off x="7099470" y="955643"/>
            <a:ext cx="471726" cy="429651"/>
            <a:chOff x="1562790" y="981438"/>
            <a:chExt cx="471726" cy="429651"/>
          </a:xfrm>
        </p:grpSpPr>
        <p:sp>
          <p:nvSpPr>
            <p:cNvPr id="111" name="橢圓 110"/>
            <p:cNvSpPr/>
            <p:nvPr/>
          </p:nvSpPr>
          <p:spPr>
            <a:xfrm>
              <a:off x="1562790" y="981438"/>
              <a:ext cx="471726" cy="429651"/>
            </a:xfrm>
            <a:prstGeom prst="ellipse">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8100000" scaled="1"/>
              <a:tileRect/>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矩形 111"/>
            <p:cNvSpPr/>
            <p:nvPr/>
          </p:nvSpPr>
          <p:spPr>
            <a:xfrm>
              <a:off x="1599550" y="1026986"/>
              <a:ext cx="407484" cy="338554"/>
            </a:xfrm>
            <a:prstGeom prst="rect">
              <a:avLst/>
            </a:prstGeom>
          </p:spPr>
          <p:txBody>
            <a:bodyPr wrap="none">
              <a:spAutoFit/>
            </a:bodyPr>
            <a:lstStyle/>
            <a:p>
              <a:pPr algn="ctr"/>
              <a:r>
                <a:rPr lang="en-US" altLang="zh-TW" sz="800" dirty="0" smtClean="0"/>
                <a:t>KLA</a:t>
              </a:r>
            </a:p>
            <a:p>
              <a:pPr algn="ctr"/>
              <a:r>
                <a:rPr lang="en-US" altLang="zh-TW" sz="800" dirty="0" smtClean="0"/>
                <a:t>YMS</a:t>
              </a:r>
              <a:endParaRPr lang="zh-TW" altLang="en-US" sz="800" dirty="0"/>
            </a:p>
          </p:txBody>
        </p:sp>
      </p:grpSp>
      <p:sp>
        <p:nvSpPr>
          <p:cNvPr id="116" name="矩形 115"/>
          <p:cNvSpPr/>
          <p:nvPr/>
        </p:nvSpPr>
        <p:spPr>
          <a:xfrm>
            <a:off x="62842" y="1024274"/>
            <a:ext cx="908351" cy="253916"/>
          </a:xfrm>
          <a:prstGeom prst="rect">
            <a:avLst/>
          </a:prstGeom>
          <a:solidFill>
            <a:schemeClr val="accent1"/>
          </a:solidFill>
          <a:scene3d>
            <a:camera prst="orthographicFront"/>
            <a:lightRig rig="threePt" dir="t"/>
          </a:scene3d>
          <a:sp3d>
            <a:bevelT prst="relaxedInset"/>
          </a:sp3d>
        </p:spPr>
        <p:txBody>
          <a:bodyPr wrap="square">
            <a:spAutoFit/>
          </a:bodyPr>
          <a:lstStyle/>
          <a:p>
            <a:pPr algn="ctr"/>
            <a:r>
              <a:rPr lang="zh-TW" altLang="en-US" sz="1050" b="1" dirty="0" smtClean="0">
                <a:solidFill>
                  <a:schemeClr val="bg2"/>
                </a:solidFill>
              </a:rPr>
              <a:t>資料</a:t>
            </a:r>
            <a:r>
              <a:rPr lang="zh-TW" altLang="en-US" sz="1050" b="1" dirty="0">
                <a:solidFill>
                  <a:schemeClr val="bg2"/>
                </a:solidFill>
              </a:rPr>
              <a:t>源</a:t>
            </a:r>
          </a:p>
        </p:txBody>
      </p:sp>
      <p:sp>
        <p:nvSpPr>
          <p:cNvPr id="119" name="流程圖: 資料 82"/>
          <p:cNvSpPr/>
          <p:nvPr/>
        </p:nvSpPr>
        <p:spPr>
          <a:xfrm>
            <a:off x="3706423" y="1502109"/>
            <a:ext cx="2106999" cy="366584"/>
          </a:xfrm>
          <a:prstGeom prst="rect">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solidFill>
                <a:schemeClr val="tx1"/>
              </a:solidFill>
            </a:endParaRPr>
          </a:p>
        </p:txBody>
      </p:sp>
      <p:sp>
        <p:nvSpPr>
          <p:cNvPr id="121" name="矩形 120"/>
          <p:cNvSpPr/>
          <p:nvPr/>
        </p:nvSpPr>
        <p:spPr>
          <a:xfrm>
            <a:off x="42159" y="1488152"/>
            <a:ext cx="888408" cy="415498"/>
          </a:xfrm>
          <a:prstGeom prst="rect">
            <a:avLst/>
          </a:prstGeom>
          <a:solidFill>
            <a:schemeClr val="accent1"/>
          </a:solidFill>
          <a:scene3d>
            <a:camera prst="orthographicFront"/>
            <a:lightRig rig="threePt" dir="t"/>
          </a:scene3d>
          <a:sp3d>
            <a:bevelT prst="relaxedInset"/>
          </a:sp3d>
        </p:spPr>
        <p:txBody>
          <a:bodyPr wrap="square">
            <a:spAutoFit/>
          </a:bodyPr>
          <a:lstStyle/>
          <a:p>
            <a:pPr algn="ctr"/>
            <a:r>
              <a:rPr lang="zh-TW" altLang="en-US" sz="1050" b="1" dirty="0">
                <a:solidFill>
                  <a:schemeClr val="bg2"/>
                </a:solidFill>
              </a:rPr>
              <a:t>時間</a:t>
            </a:r>
            <a:r>
              <a:rPr lang="zh-TW" altLang="en-US" sz="1050" b="1" dirty="0" smtClean="0">
                <a:solidFill>
                  <a:schemeClr val="bg2"/>
                </a:solidFill>
              </a:rPr>
              <a:t>標準化</a:t>
            </a:r>
            <a:endParaRPr lang="en-US" altLang="zh-TW" sz="1050" b="1" dirty="0" smtClean="0">
              <a:solidFill>
                <a:schemeClr val="bg2"/>
              </a:solidFill>
            </a:endParaRPr>
          </a:p>
          <a:p>
            <a:pPr algn="ctr"/>
            <a:r>
              <a:rPr lang="en-US" altLang="zh-TW" sz="1050" b="1" dirty="0" smtClean="0">
                <a:solidFill>
                  <a:schemeClr val="bg2"/>
                </a:solidFill>
              </a:rPr>
              <a:t>(scantime)</a:t>
            </a:r>
            <a:endParaRPr lang="zh-TW" altLang="en-US" sz="1050" b="1" dirty="0">
              <a:solidFill>
                <a:schemeClr val="bg2"/>
              </a:solidFill>
            </a:endParaRPr>
          </a:p>
        </p:txBody>
      </p:sp>
      <p:sp>
        <p:nvSpPr>
          <p:cNvPr id="122" name="矩形 121"/>
          <p:cNvSpPr/>
          <p:nvPr/>
        </p:nvSpPr>
        <p:spPr>
          <a:xfrm>
            <a:off x="63057" y="2259042"/>
            <a:ext cx="888408" cy="415498"/>
          </a:xfrm>
          <a:prstGeom prst="rect">
            <a:avLst/>
          </a:prstGeom>
          <a:solidFill>
            <a:schemeClr val="accent1"/>
          </a:solidFill>
          <a:scene3d>
            <a:camera prst="orthographicFront"/>
            <a:lightRig rig="threePt" dir="t"/>
          </a:scene3d>
          <a:sp3d>
            <a:bevelT prst="relaxedInset"/>
          </a:sp3d>
        </p:spPr>
        <p:txBody>
          <a:bodyPr wrap="square">
            <a:spAutoFit/>
          </a:bodyPr>
          <a:lstStyle/>
          <a:p>
            <a:pPr algn="ctr"/>
            <a:r>
              <a:rPr lang="en-US" altLang="zh-TW" sz="1050" b="1" dirty="0" smtClean="0">
                <a:solidFill>
                  <a:schemeClr val="bg2"/>
                </a:solidFill>
              </a:rPr>
              <a:t>Transform</a:t>
            </a:r>
          </a:p>
          <a:p>
            <a:pPr algn="ctr"/>
            <a:r>
              <a:rPr lang="en-US" altLang="zh-TW" sz="1050" b="1" dirty="0" smtClean="0">
                <a:solidFill>
                  <a:schemeClr val="bg2"/>
                </a:solidFill>
              </a:rPr>
              <a:t>(PI_TYPE)</a:t>
            </a:r>
            <a:endParaRPr lang="zh-TW" altLang="en-US" sz="1050" b="1" dirty="0">
              <a:solidFill>
                <a:schemeClr val="bg2"/>
              </a:solidFill>
            </a:endParaRPr>
          </a:p>
        </p:txBody>
      </p:sp>
      <p:sp>
        <p:nvSpPr>
          <p:cNvPr id="131" name="矩形 130"/>
          <p:cNvSpPr/>
          <p:nvPr/>
        </p:nvSpPr>
        <p:spPr>
          <a:xfrm>
            <a:off x="3606402" y="3014791"/>
            <a:ext cx="2207020" cy="584775"/>
          </a:xfrm>
          <a:prstGeom prst="rect">
            <a:avLst/>
          </a:prstGeom>
        </p:spPr>
        <p:txBody>
          <a:bodyPr wrap="square">
            <a:spAutoFit/>
          </a:bodyPr>
          <a:lstStyle/>
          <a:p>
            <a:pPr marL="171450" indent="-171450">
              <a:buFont typeface="Arial" panose="020B0604020202020204" pitchFamily="34" charset="0"/>
              <a:buChar char="•"/>
            </a:pPr>
            <a:r>
              <a:rPr lang="en-US" altLang="zh-TW" sz="1100" b="1" dirty="0"/>
              <a:t>By Recipe_id </a:t>
            </a:r>
            <a:r>
              <a:rPr lang="en-US" altLang="zh-TW" sz="1100" b="1" dirty="0" smtClean="0"/>
              <a:t>Judge</a:t>
            </a:r>
          </a:p>
          <a:p>
            <a:pPr marL="228600" indent="-228600" algn="ctr">
              <a:buFont typeface="Wingdings" panose="05000000000000000000" pitchFamily="2" charset="2"/>
              <a:buAutoNum type="circleNumWdWhitePlain"/>
            </a:pPr>
            <a:r>
              <a:rPr lang="en-US" altLang="zh-TW" sz="1000" dirty="0" smtClean="0"/>
              <a:t>API: ID[0] == 2 | </a:t>
            </a:r>
            <a:r>
              <a:rPr lang="en-US" altLang="zh-TW" sz="1000" dirty="0"/>
              <a:t>ID[0] == </a:t>
            </a:r>
            <a:r>
              <a:rPr lang="en-US" altLang="zh-TW" sz="1000" dirty="0" smtClean="0"/>
              <a:t>3</a:t>
            </a:r>
          </a:p>
          <a:p>
            <a:pPr marL="228600" indent="-228600" algn="ctr">
              <a:buFont typeface="Wingdings" panose="05000000000000000000" pitchFamily="2" charset="2"/>
              <a:buAutoNum type="circleNumWdWhitePlain"/>
            </a:pPr>
            <a:r>
              <a:rPr lang="en-US" altLang="zh-TW" sz="1000" dirty="0" smtClean="0"/>
              <a:t>BPI</a:t>
            </a:r>
            <a:r>
              <a:rPr lang="en-US" altLang="zh-TW" sz="1000" dirty="0"/>
              <a:t>: ID[0] == </a:t>
            </a:r>
            <a:r>
              <a:rPr lang="en-US" altLang="zh-TW" sz="1000" dirty="0" smtClean="0"/>
              <a:t>4 </a:t>
            </a:r>
            <a:r>
              <a:rPr lang="en-US" altLang="zh-TW" sz="1000" dirty="0"/>
              <a:t>| ID[0] == 5</a:t>
            </a:r>
          </a:p>
        </p:txBody>
      </p:sp>
      <p:sp>
        <p:nvSpPr>
          <p:cNvPr id="132" name="流程圖: 資料 82"/>
          <p:cNvSpPr/>
          <p:nvPr/>
        </p:nvSpPr>
        <p:spPr>
          <a:xfrm>
            <a:off x="1263733" y="2226206"/>
            <a:ext cx="878670" cy="550704"/>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solidFill>
                <a:schemeClr val="bg1"/>
              </a:solidFill>
            </a:endParaRPr>
          </a:p>
        </p:txBody>
      </p:sp>
      <p:sp>
        <p:nvSpPr>
          <p:cNvPr id="11" name="矩形 10"/>
          <p:cNvSpPr/>
          <p:nvPr/>
        </p:nvSpPr>
        <p:spPr>
          <a:xfrm>
            <a:off x="1143018" y="1977420"/>
            <a:ext cx="2178067" cy="261610"/>
          </a:xfrm>
          <a:prstGeom prst="rect">
            <a:avLst/>
          </a:prstGeom>
        </p:spPr>
        <p:txBody>
          <a:bodyPr wrap="square">
            <a:spAutoFit/>
          </a:bodyPr>
          <a:lstStyle/>
          <a:p>
            <a:pPr algn="ctr"/>
            <a:r>
              <a:rPr lang="en-US" altLang="zh-TW" sz="1100" b="1" dirty="0"/>
              <a:t>Cross – DB – Join </a:t>
            </a:r>
          </a:p>
        </p:txBody>
      </p:sp>
      <p:grpSp>
        <p:nvGrpSpPr>
          <p:cNvPr id="12" name="群組 11"/>
          <p:cNvGrpSpPr/>
          <p:nvPr/>
        </p:nvGrpSpPr>
        <p:grpSpPr>
          <a:xfrm>
            <a:off x="2238628" y="2228718"/>
            <a:ext cx="1106430" cy="541723"/>
            <a:chOff x="1683879" y="2953870"/>
            <a:chExt cx="1066259" cy="409587"/>
          </a:xfrm>
          <a:solidFill>
            <a:schemeClr val="tx1">
              <a:lumMod val="50000"/>
              <a:lumOff val="50000"/>
            </a:schemeClr>
          </a:solidFill>
        </p:grpSpPr>
        <p:sp>
          <p:nvSpPr>
            <p:cNvPr id="144" name="流程圖: 資料 82"/>
            <p:cNvSpPr/>
            <p:nvPr/>
          </p:nvSpPr>
          <p:spPr>
            <a:xfrm>
              <a:off x="1728644" y="2953870"/>
              <a:ext cx="953298" cy="409587"/>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solidFill>
                  <a:schemeClr val="bg1"/>
                </a:solidFill>
              </a:endParaRPr>
            </a:p>
          </p:txBody>
        </p:sp>
        <p:sp>
          <p:nvSpPr>
            <p:cNvPr id="145" name="矩形 144"/>
            <p:cNvSpPr/>
            <p:nvPr/>
          </p:nvSpPr>
          <p:spPr>
            <a:xfrm>
              <a:off x="1683879" y="2961980"/>
              <a:ext cx="1066259" cy="300096"/>
            </a:xfrm>
            <a:prstGeom prst="rect">
              <a:avLst/>
            </a:prstGeom>
            <a:grpFill/>
            <a:ln>
              <a:solidFill>
                <a:schemeClr val="tx1"/>
              </a:solidFill>
            </a:ln>
            <a:effectLst>
              <a:softEdge rad="635000"/>
            </a:effectLst>
          </p:spPr>
          <p:txBody>
            <a:bodyPr wrap="square">
              <a:spAutoFit/>
            </a:bodyPr>
            <a:lstStyle/>
            <a:p>
              <a:pPr algn="ctr"/>
              <a:r>
                <a:rPr lang="en-US" altLang="zh-TW" sz="900" b="1" dirty="0" smtClean="0">
                  <a:solidFill>
                    <a:schemeClr val="bg1"/>
                  </a:solidFill>
                </a:rPr>
                <a:t>Join &amp;</a:t>
              </a:r>
            </a:p>
            <a:p>
              <a:pPr algn="ctr"/>
              <a:r>
                <a:rPr lang="en-US" altLang="zh-TW" sz="900" b="1" dirty="0" smtClean="0">
                  <a:solidFill>
                    <a:schemeClr val="bg1"/>
                  </a:solidFill>
                </a:rPr>
                <a:t> Select Columns</a:t>
              </a:r>
            </a:p>
            <a:p>
              <a:pPr algn="ctr"/>
              <a:r>
                <a:rPr lang="en-US" altLang="zh-TW" sz="900" b="1" dirty="0">
                  <a:solidFill>
                    <a:schemeClr val="bg1"/>
                  </a:solidFill>
                </a:rPr>
                <a:t>(create_timestamp)</a:t>
              </a:r>
            </a:p>
          </p:txBody>
        </p:sp>
      </p:grpSp>
      <p:grpSp>
        <p:nvGrpSpPr>
          <p:cNvPr id="29" name="群組 28"/>
          <p:cNvGrpSpPr/>
          <p:nvPr/>
        </p:nvGrpSpPr>
        <p:grpSpPr>
          <a:xfrm>
            <a:off x="3781450" y="2176078"/>
            <a:ext cx="1956944" cy="723125"/>
            <a:chOff x="4267202" y="2525843"/>
            <a:chExt cx="1956944" cy="723125"/>
          </a:xfrm>
        </p:grpSpPr>
        <p:pic>
          <p:nvPicPr>
            <p:cNvPr id="154" name="圖片 153"/>
            <p:cNvPicPr>
              <a:picLocks noChangeAspect="1"/>
            </p:cNvPicPr>
            <p:nvPr/>
          </p:nvPicPr>
          <p:blipFill rotWithShape="1">
            <a:blip r:embed="rId3"/>
            <a:srcRect l="25244" t="7278" b="46606"/>
            <a:stretch/>
          </p:blipFill>
          <p:spPr>
            <a:xfrm>
              <a:off x="4267202" y="2525843"/>
              <a:ext cx="1956944" cy="723125"/>
            </a:xfrm>
            <a:prstGeom prst="rect">
              <a:avLst/>
            </a:prstGeom>
          </p:spPr>
        </p:pic>
        <p:sp>
          <p:nvSpPr>
            <p:cNvPr id="25" name="矩形 24"/>
            <p:cNvSpPr/>
            <p:nvPr/>
          </p:nvSpPr>
          <p:spPr>
            <a:xfrm>
              <a:off x="4275845" y="2727704"/>
              <a:ext cx="1917310" cy="2191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5" name="矩形 154"/>
            <p:cNvSpPr/>
            <p:nvPr/>
          </p:nvSpPr>
          <p:spPr>
            <a:xfrm>
              <a:off x="4272358" y="3020500"/>
              <a:ext cx="1917310" cy="2191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8" name="圓角矩形 27"/>
          <p:cNvSpPr/>
          <p:nvPr/>
        </p:nvSpPr>
        <p:spPr>
          <a:xfrm>
            <a:off x="1164738" y="1994716"/>
            <a:ext cx="2167168" cy="931360"/>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向下箭號 26"/>
          <p:cNvSpPr/>
          <p:nvPr/>
        </p:nvSpPr>
        <p:spPr>
          <a:xfrm>
            <a:off x="2028600" y="2882007"/>
            <a:ext cx="382741" cy="149861"/>
          </a:xfrm>
          <a:prstGeom prst="downArrow">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7" name="肘形接點 156"/>
          <p:cNvCxnSpPr/>
          <p:nvPr/>
        </p:nvCxnSpPr>
        <p:spPr>
          <a:xfrm rot="10800000" flipH="1">
            <a:off x="2142641" y="2535598"/>
            <a:ext cx="154661" cy="1818"/>
          </a:xfrm>
          <a:prstGeom prst="bentConnector3">
            <a:avLst>
              <a:gd name="adj1" fmla="val 50000"/>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a:xfrm>
            <a:off x="3724304" y="1977419"/>
            <a:ext cx="2089117" cy="261610"/>
          </a:xfrm>
          <a:prstGeom prst="rect">
            <a:avLst/>
          </a:prstGeom>
        </p:spPr>
        <p:txBody>
          <a:bodyPr wrap="square">
            <a:spAutoFit/>
          </a:bodyPr>
          <a:lstStyle/>
          <a:p>
            <a:pPr algn="ctr"/>
            <a:r>
              <a:rPr lang="en-US" altLang="zh-TW" sz="1100" b="1" dirty="0" smtClean="0"/>
              <a:t>Rule Info.</a:t>
            </a:r>
            <a:endParaRPr lang="en-US" altLang="zh-TW" sz="1100" b="1" dirty="0"/>
          </a:p>
        </p:txBody>
      </p:sp>
      <p:sp>
        <p:nvSpPr>
          <p:cNvPr id="159" name="圓角矩形 158"/>
          <p:cNvSpPr/>
          <p:nvPr/>
        </p:nvSpPr>
        <p:spPr>
          <a:xfrm>
            <a:off x="3705000" y="1994715"/>
            <a:ext cx="2108421" cy="977538"/>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60" name="圖片 159"/>
          <p:cNvPicPr>
            <a:picLocks noChangeAspect="1"/>
          </p:cNvPicPr>
          <p:nvPr/>
        </p:nvPicPr>
        <p:blipFill rotWithShape="1">
          <a:blip r:embed="rId3"/>
          <a:srcRect l="25088" t="52673"/>
          <a:stretch/>
        </p:blipFill>
        <p:spPr>
          <a:xfrm>
            <a:off x="6631788" y="2193899"/>
            <a:ext cx="1961008" cy="742139"/>
          </a:xfrm>
          <a:prstGeom prst="rect">
            <a:avLst/>
          </a:prstGeom>
        </p:spPr>
      </p:pic>
      <p:sp>
        <p:nvSpPr>
          <p:cNvPr id="161" name="矩形 160"/>
          <p:cNvSpPr/>
          <p:nvPr/>
        </p:nvSpPr>
        <p:spPr>
          <a:xfrm>
            <a:off x="6542822" y="3058312"/>
            <a:ext cx="2654151" cy="415498"/>
          </a:xfrm>
          <a:prstGeom prst="rect">
            <a:avLst/>
          </a:prstGeom>
        </p:spPr>
        <p:txBody>
          <a:bodyPr wrap="square">
            <a:spAutoFit/>
          </a:bodyPr>
          <a:lstStyle/>
          <a:p>
            <a:pPr marL="171450" indent="-171450">
              <a:buFont typeface="Arial" panose="020B0604020202020204" pitchFamily="34" charset="0"/>
              <a:buChar char="•"/>
            </a:pPr>
            <a:r>
              <a:rPr lang="en-US" altLang="zh-TW" sz="1100" b="1" dirty="0"/>
              <a:t>By Recipe_id </a:t>
            </a:r>
            <a:r>
              <a:rPr lang="en-US" altLang="zh-TW" sz="1100" b="1" dirty="0" smtClean="0"/>
              <a:t>Judge</a:t>
            </a:r>
          </a:p>
          <a:p>
            <a:pPr marL="171450" indent="-171450">
              <a:buFont typeface="Arial" panose="020B0604020202020204" pitchFamily="34" charset="0"/>
              <a:buChar char="•"/>
            </a:pPr>
            <a:r>
              <a:rPr lang="en-US" altLang="zh-TW" sz="1000" b="1" dirty="0" smtClean="0"/>
              <a:t>Mapping</a:t>
            </a:r>
            <a:r>
              <a:rPr lang="zh-TW" altLang="en-US" sz="1000" dirty="0" smtClean="0"/>
              <a:t>：字串</a:t>
            </a:r>
            <a:r>
              <a:rPr lang="en-US" altLang="zh-TW" sz="1000" dirty="0"/>
              <a:t>("API", "BPI", "ITO</a:t>
            </a:r>
            <a:r>
              <a:rPr lang="en-US" altLang="zh-TW" sz="1000" dirty="0" smtClean="0"/>
              <a:t>")</a:t>
            </a:r>
            <a:endParaRPr lang="en-US" altLang="zh-TW" sz="1000" dirty="0"/>
          </a:p>
        </p:txBody>
      </p:sp>
      <p:cxnSp>
        <p:nvCxnSpPr>
          <p:cNvPr id="163" name="肘形接點 162"/>
          <p:cNvCxnSpPr/>
          <p:nvPr/>
        </p:nvCxnSpPr>
        <p:spPr>
          <a:xfrm rot="5400000">
            <a:off x="4737837" y="1425609"/>
            <a:ext cx="108000" cy="0"/>
          </a:xfrm>
          <a:prstGeom prst="bentConnector3">
            <a:avLst>
              <a:gd name="adj1" fmla="val 50000"/>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肘形接點 163"/>
          <p:cNvCxnSpPr>
            <a:stCxn id="111" idx="4"/>
          </p:cNvCxnSpPr>
          <p:nvPr/>
        </p:nvCxnSpPr>
        <p:spPr>
          <a:xfrm rot="5400000">
            <a:off x="6479222" y="819515"/>
            <a:ext cx="290333" cy="1421890"/>
          </a:xfrm>
          <a:prstGeom prst="bentConnector2">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a:xfrm>
            <a:off x="97950" y="3968291"/>
            <a:ext cx="888408" cy="253916"/>
          </a:xfrm>
          <a:prstGeom prst="rect">
            <a:avLst/>
          </a:prstGeom>
          <a:solidFill>
            <a:schemeClr val="accent1"/>
          </a:solidFill>
          <a:scene3d>
            <a:camera prst="orthographicFront"/>
            <a:lightRig rig="threePt" dir="t"/>
          </a:scene3d>
          <a:sp3d>
            <a:bevelT prst="relaxedInset"/>
          </a:sp3d>
        </p:spPr>
        <p:txBody>
          <a:bodyPr wrap="square">
            <a:spAutoFit/>
          </a:bodyPr>
          <a:lstStyle/>
          <a:p>
            <a:pPr algn="ctr"/>
            <a:r>
              <a:rPr lang="en-US" altLang="zh-TW" sz="1050" b="1" dirty="0" smtClean="0">
                <a:solidFill>
                  <a:schemeClr val="bg2"/>
                </a:solidFill>
              </a:rPr>
              <a:t>Aggregation</a:t>
            </a:r>
            <a:endParaRPr lang="zh-TW" altLang="en-US" sz="1050" b="1" dirty="0">
              <a:solidFill>
                <a:schemeClr val="bg2"/>
              </a:solidFill>
            </a:endParaRPr>
          </a:p>
        </p:txBody>
      </p:sp>
      <p:sp>
        <p:nvSpPr>
          <p:cNvPr id="171" name="矩形 170"/>
          <p:cNvSpPr/>
          <p:nvPr/>
        </p:nvSpPr>
        <p:spPr>
          <a:xfrm>
            <a:off x="-20334" y="4185583"/>
            <a:ext cx="1207382" cy="215444"/>
          </a:xfrm>
          <a:prstGeom prst="rect">
            <a:avLst/>
          </a:prstGeom>
        </p:spPr>
        <p:txBody>
          <a:bodyPr wrap="none">
            <a:spAutoFit/>
          </a:bodyPr>
          <a:lstStyle/>
          <a:p>
            <a:r>
              <a:rPr lang="en-US" altLang="zh-TW" sz="800" dirty="0" smtClean="0"/>
              <a:t>(</a:t>
            </a:r>
            <a:r>
              <a:rPr lang="en-US" altLang="zh-TW" sz="800" dirty="0"/>
              <a:t>24h Fill + CAPA Ratio)</a:t>
            </a:r>
          </a:p>
        </p:txBody>
      </p:sp>
      <p:sp>
        <p:nvSpPr>
          <p:cNvPr id="174" name="矩形 173"/>
          <p:cNvSpPr/>
          <p:nvPr/>
        </p:nvSpPr>
        <p:spPr>
          <a:xfrm>
            <a:off x="175814" y="1232023"/>
            <a:ext cx="925398" cy="215444"/>
          </a:xfrm>
          <a:prstGeom prst="rect">
            <a:avLst/>
          </a:prstGeom>
        </p:spPr>
        <p:txBody>
          <a:bodyPr wrap="square">
            <a:spAutoFit/>
          </a:bodyPr>
          <a:lstStyle/>
          <a:p>
            <a:r>
              <a:rPr lang="en-US" altLang="zh-TW" sz="800" dirty="0" smtClean="0"/>
              <a:t>Glass run</a:t>
            </a:r>
            <a:r>
              <a:rPr lang="zh-TW" altLang="en-US" sz="800" dirty="0" smtClean="0"/>
              <a:t>記錄</a:t>
            </a:r>
            <a:endParaRPr lang="en-US" altLang="zh-TW" sz="800" dirty="0"/>
          </a:p>
        </p:txBody>
      </p:sp>
      <p:sp>
        <p:nvSpPr>
          <p:cNvPr id="178" name="矩形 177"/>
          <p:cNvSpPr/>
          <p:nvPr/>
        </p:nvSpPr>
        <p:spPr>
          <a:xfrm>
            <a:off x="3837233" y="1490961"/>
            <a:ext cx="1845377" cy="369332"/>
          </a:xfrm>
          <a:prstGeom prst="rect">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0" scaled="1"/>
            <a:tileRect/>
          </a:gradFill>
          <a:ln>
            <a:noFill/>
          </a:ln>
          <a:effectLst>
            <a:softEdge rad="635000"/>
          </a:effectLst>
        </p:spPr>
        <p:txBody>
          <a:bodyPr wrap="none">
            <a:spAutoFit/>
          </a:bodyPr>
          <a:lstStyle/>
          <a:p>
            <a:pPr algn="ctr"/>
            <a:r>
              <a:rPr lang="zh-TW" altLang="en-US" sz="900" dirty="0" smtClean="0"/>
              <a:t>產生時間</a:t>
            </a:r>
            <a:r>
              <a:rPr lang="zh-TW" altLang="en-US" sz="900" dirty="0"/>
              <a:t>戳 </a:t>
            </a:r>
            <a:r>
              <a:rPr lang="en-US" altLang="zh-TW" sz="900" dirty="0"/>
              <a:t>(YYYY-MM-DD HH</a:t>
            </a:r>
            <a:r>
              <a:rPr lang="en-US" altLang="zh-TW" sz="900" dirty="0" smtClean="0"/>
              <a:t>)</a:t>
            </a:r>
          </a:p>
          <a:p>
            <a:pPr algn="ctr"/>
            <a:r>
              <a:rPr lang="en-US" altLang="zh-TW" sz="900" dirty="0" smtClean="0"/>
              <a:t>(pi_hour)</a:t>
            </a:r>
          </a:p>
        </p:txBody>
      </p:sp>
      <p:grpSp>
        <p:nvGrpSpPr>
          <p:cNvPr id="181" name="群組 180"/>
          <p:cNvGrpSpPr/>
          <p:nvPr/>
        </p:nvGrpSpPr>
        <p:grpSpPr>
          <a:xfrm>
            <a:off x="1458540" y="3932990"/>
            <a:ext cx="768065" cy="230832"/>
            <a:chOff x="839940" y="901234"/>
            <a:chExt cx="859497" cy="261757"/>
          </a:xfrm>
        </p:grpSpPr>
        <p:sp>
          <p:nvSpPr>
            <p:cNvPr id="182" name="流程圖: 資料 82"/>
            <p:cNvSpPr/>
            <p:nvPr/>
          </p:nvSpPr>
          <p:spPr>
            <a:xfrm>
              <a:off x="839940" y="916723"/>
              <a:ext cx="859497" cy="236472"/>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83" name="矩形 182"/>
            <p:cNvSpPr/>
            <p:nvPr/>
          </p:nvSpPr>
          <p:spPr>
            <a:xfrm>
              <a:off x="897289" y="901234"/>
              <a:ext cx="744797" cy="261757"/>
            </a:xfrm>
            <a:prstGeom prst="rect">
              <a:avLst/>
            </a:prstGeom>
          </p:spPr>
          <p:txBody>
            <a:bodyPr wrap="none">
              <a:spAutoFit/>
            </a:bodyPr>
            <a:lstStyle/>
            <a:p>
              <a:pPr algn="ctr"/>
              <a:r>
                <a:rPr lang="en-US" altLang="zh-TW" sz="900" b="1" dirty="0" smtClean="0">
                  <a:solidFill>
                    <a:schemeClr val="bg1"/>
                  </a:solidFill>
                </a:rPr>
                <a:t>Grouping</a:t>
              </a:r>
              <a:endParaRPr lang="en-US" altLang="zh-TW" sz="900" dirty="0">
                <a:solidFill>
                  <a:schemeClr val="bg1"/>
                </a:solidFill>
              </a:endParaRPr>
            </a:p>
          </p:txBody>
        </p:sp>
      </p:grpSp>
      <p:sp>
        <p:nvSpPr>
          <p:cNvPr id="237" name="矩形 236"/>
          <p:cNvSpPr/>
          <p:nvPr/>
        </p:nvSpPr>
        <p:spPr>
          <a:xfrm>
            <a:off x="1372751" y="4115738"/>
            <a:ext cx="970137" cy="338554"/>
          </a:xfrm>
          <a:prstGeom prst="rect">
            <a:avLst/>
          </a:prstGeom>
        </p:spPr>
        <p:txBody>
          <a:bodyPr wrap="none">
            <a:spAutoFit/>
          </a:bodyPr>
          <a:lstStyle/>
          <a:p>
            <a:r>
              <a:rPr lang="en-US" altLang="zh-TW" sz="800" dirty="0"/>
              <a:t>by AOI , </a:t>
            </a:r>
            <a:r>
              <a:rPr lang="en-US" altLang="zh-TW" sz="800" dirty="0" smtClean="0"/>
              <a:t>PI_TYPE</a:t>
            </a:r>
          </a:p>
          <a:p>
            <a:r>
              <a:rPr lang="en-US" altLang="zh-TW" sz="800" dirty="0" smtClean="0"/>
              <a:t>(</a:t>
            </a:r>
            <a:r>
              <a:rPr lang="zh-TW" altLang="en-US" sz="800" dirty="0"/>
              <a:t>各別及整體</a:t>
            </a:r>
            <a:r>
              <a:rPr lang="en-US" altLang="zh-TW" sz="800" dirty="0"/>
              <a:t>)</a:t>
            </a:r>
          </a:p>
        </p:txBody>
      </p:sp>
      <p:grpSp>
        <p:nvGrpSpPr>
          <p:cNvPr id="185" name="群組 184"/>
          <p:cNvGrpSpPr/>
          <p:nvPr/>
        </p:nvGrpSpPr>
        <p:grpSpPr>
          <a:xfrm>
            <a:off x="1447958" y="4454292"/>
            <a:ext cx="768159" cy="230832"/>
            <a:chOff x="839887" y="901234"/>
            <a:chExt cx="859602" cy="261757"/>
          </a:xfrm>
        </p:grpSpPr>
        <p:sp>
          <p:nvSpPr>
            <p:cNvPr id="186" name="流程圖: 資料 82"/>
            <p:cNvSpPr/>
            <p:nvPr/>
          </p:nvSpPr>
          <p:spPr>
            <a:xfrm>
              <a:off x="839940" y="916723"/>
              <a:ext cx="859497" cy="236472"/>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87" name="矩形 186"/>
            <p:cNvSpPr/>
            <p:nvPr/>
          </p:nvSpPr>
          <p:spPr>
            <a:xfrm>
              <a:off x="839887" y="901234"/>
              <a:ext cx="859602" cy="261757"/>
            </a:xfrm>
            <a:prstGeom prst="rect">
              <a:avLst/>
            </a:prstGeom>
          </p:spPr>
          <p:txBody>
            <a:bodyPr wrap="none">
              <a:spAutoFit/>
            </a:bodyPr>
            <a:lstStyle/>
            <a:p>
              <a:pPr algn="ctr"/>
              <a:r>
                <a:rPr lang="en-US" altLang="zh-TW" sz="900" b="1" dirty="0" smtClean="0">
                  <a:solidFill>
                    <a:schemeClr val="bg1"/>
                  </a:solidFill>
                </a:rPr>
                <a:t>aggregation</a:t>
              </a:r>
              <a:endParaRPr lang="en-US" altLang="zh-TW" sz="900" dirty="0">
                <a:solidFill>
                  <a:schemeClr val="bg1"/>
                </a:solidFill>
              </a:endParaRPr>
            </a:p>
          </p:txBody>
        </p:sp>
      </p:grpSp>
      <p:sp>
        <p:nvSpPr>
          <p:cNvPr id="188" name="矩形 187"/>
          <p:cNvSpPr/>
          <p:nvPr/>
        </p:nvSpPr>
        <p:spPr>
          <a:xfrm>
            <a:off x="1493757" y="4633861"/>
            <a:ext cx="697627" cy="215444"/>
          </a:xfrm>
          <a:prstGeom prst="rect">
            <a:avLst/>
          </a:prstGeom>
        </p:spPr>
        <p:txBody>
          <a:bodyPr wrap="none">
            <a:spAutoFit/>
          </a:bodyPr>
          <a:lstStyle/>
          <a:p>
            <a:r>
              <a:rPr lang="zh-TW" altLang="en-US" sz="800" dirty="0" smtClean="0"/>
              <a:t>填充</a:t>
            </a:r>
            <a:r>
              <a:rPr lang="en-US" altLang="zh-TW" sz="800" dirty="0" smtClean="0"/>
              <a:t>24</a:t>
            </a:r>
            <a:r>
              <a:rPr lang="zh-TW" altLang="en-US" sz="800" dirty="0" smtClean="0"/>
              <a:t>小</a:t>
            </a:r>
            <a:r>
              <a:rPr lang="zh-TW" altLang="en-US" sz="800" dirty="0"/>
              <a:t>時</a:t>
            </a:r>
            <a:endParaRPr lang="en-US" altLang="zh-TW" sz="800" dirty="0"/>
          </a:p>
        </p:txBody>
      </p:sp>
      <p:grpSp>
        <p:nvGrpSpPr>
          <p:cNvPr id="189" name="群組 188"/>
          <p:cNvGrpSpPr/>
          <p:nvPr/>
        </p:nvGrpSpPr>
        <p:grpSpPr>
          <a:xfrm>
            <a:off x="2549385" y="4111876"/>
            <a:ext cx="998992" cy="230832"/>
            <a:chOff x="558092" y="901234"/>
            <a:chExt cx="1423202" cy="261757"/>
          </a:xfrm>
        </p:grpSpPr>
        <p:sp>
          <p:nvSpPr>
            <p:cNvPr id="190" name="流程圖: 資料 82"/>
            <p:cNvSpPr/>
            <p:nvPr/>
          </p:nvSpPr>
          <p:spPr>
            <a:xfrm>
              <a:off x="642703" y="916723"/>
              <a:ext cx="1309225" cy="236472"/>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91" name="矩形 190"/>
            <p:cNvSpPr/>
            <p:nvPr/>
          </p:nvSpPr>
          <p:spPr>
            <a:xfrm>
              <a:off x="558092" y="901234"/>
              <a:ext cx="1423202" cy="261757"/>
            </a:xfrm>
            <a:prstGeom prst="rect">
              <a:avLst/>
            </a:prstGeom>
          </p:spPr>
          <p:txBody>
            <a:bodyPr wrap="none">
              <a:spAutoFit/>
            </a:bodyPr>
            <a:lstStyle/>
            <a:p>
              <a:pPr algn="ctr"/>
              <a:r>
                <a:rPr lang="en-US" altLang="zh-TW" sz="900" dirty="0" smtClean="0">
                  <a:solidFill>
                    <a:schemeClr val="bg1"/>
                  </a:solidFill>
                </a:rPr>
                <a:t>glass count/</a:t>
              </a:r>
              <a:r>
                <a:rPr lang="zh-TW" altLang="en-US" sz="900" dirty="0" smtClean="0">
                  <a:solidFill>
                    <a:schemeClr val="bg1"/>
                  </a:solidFill>
                </a:rPr>
                <a:t> </a:t>
              </a:r>
              <a:r>
                <a:rPr lang="en-US" altLang="zh-TW" sz="900" dirty="0" smtClean="0">
                  <a:solidFill>
                    <a:schemeClr val="bg1"/>
                  </a:solidFill>
                </a:rPr>
                <a:t>Hour</a:t>
              </a:r>
              <a:endParaRPr lang="en-US" altLang="zh-TW" sz="900" dirty="0">
                <a:solidFill>
                  <a:schemeClr val="bg1"/>
                </a:solidFill>
              </a:endParaRPr>
            </a:p>
          </p:txBody>
        </p:sp>
      </p:grpSp>
      <p:grpSp>
        <p:nvGrpSpPr>
          <p:cNvPr id="198" name="群組 197"/>
          <p:cNvGrpSpPr/>
          <p:nvPr/>
        </p:nvGrpSpPr>
        <p:grpSpPr>
          <a:xfrm>
            <a:off x="2608776" y="4471626"/>
            <a:ext cx="971026" cy="369332"/>
            <a:chOff x="594976" y="875311"/>
            <a:chExt cx="1385783" cy="418812"/>
          </a:xfrm>
        </p:grpSpPr>
        <p:sp>
          <p:nvSpPr>
            <p:cNvPr id="199" name="流程圖: 資料 82"/>
            <p:cNvSpPr/>
            <p:nvPr/>
          </p:nvSpPr>
          <p:spPr>
            <a:xfrm>
              <a:off x="594976" y="907337"/>
              <a:ext cx="1311517" cy="211656"/>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00" name="矩形 199"/>
            <p:cNvSpPr/>
            <p:nvPr/>
          </p:nvSpPr>
          <p:spPr>
            <a:xfrm>
              <a:off x="615214" y="875311"/>
              <a:ext cx="1365545" cy="418812"/>
            </a:xfrm>
            <a:prstGeom prst="rect">
              <a:avLst/>
            </a:prstGeom>
          </p:spPr>
          <p:txBody>
            <a:bodyPr wrap="square">
              <a:spAutoFit/>
            </a:bodyPr>
            <a:lstStyle/>
            <a:p>
              <a:pPr algn="ctr"/>
              <a:r>
                <a:rPr lang="en-US" altLang="zh-TW" sz="900" dirty="0" smtClean="0">
                  <a:solidFill>
                    <a:schemeClr val="bg1"/>
                  </a:solidFill>
                </a:rPr>
                <a:t>Capa</a:t>
              </a:r>
              <a:r>
                <a:rPr lang="en-US" altLang="zh-TW" sz="900" dirty="0">
                  <a:solidFill>
                    <a:schemeClr val="bg1"/>
                  </a:solidFill>
                </a:rPr>
                <a:t>/</a:t>
              </a:r>
              <a:r>
                <a:rPr lang="zh-TW" altLang="en-US" sz="900" dirty="0">
                  <a:solidFill>
                    <a:schemeClr val="bg1"/>
                  </a:solidFill>
                </a:rPr>
                <a:t> </a:t>
              </a:r>
              <a:r>
                <a:rPr lang="en-US" altLang="zh-TW" sz="900" dirty="0">
                  <a:solidFill>
                    <a:schemeClr val="bg1"/>
                  </a:solidFill>
                </a:rPr>
                <a:t>Hour</a:t>
              </a:r>
            </a:p>
            <a:p>
              <a:pPr algn="ctr"/>
              <a:endParaRPr lang="en-US" altLang="zh-TW" sz="900" dirty="0">
                <a:solidFill>
                  <a:schemeClr val="bg1"/>
                </a:solidFill>
              </a:endParaRPr>
            </a:p>
          </p:txBody>
        </p:sp>
      </p:grpSp>
      <p:sp>
        <p:nvSpPr>
          <p:cNvPr id="201" name="矩形 200"/>
          <p:cNvSpPr/>
          <p:nvPr/>
        </p:nvSpPr>
        <p:spPr>
          <a:xfrm>
            <a:off x="2622463" y="4662033"/>
            <a:ext cx="963725" cy="215444"/>
          </a:xfrm>
          <a:prstGeom prst="rect">
            <a:avLst/>
          </a:prstGeom>
        </p:spPr>
        <p:txBody>
          <a:bodyPr wrap="none">
            <a:spAutoFit/>
          </a:bodyPr>
          <a:lstStyle/>
          <a:p>
            <a:r>
              <a:rPr lang="en-US" altLang="zh-TW" sz="800" dirty="0"/>
              <a:t>hour / target_count</a:t>
            </a:r>
          </a:p>
        </p:txBody>
      </p:sp>
      <p:grpSp>
        <p:nvGrpSpPr>
          <p:cNvPr id="55" name="群組 54"/>
          <p:cNvGrpSpPr/>
          <p:nvPr/>
        </p:nvGrpSpPr>
        <p:grpSpPr>
          <a:xfrm>
            <a:off x="1177533" y="3054641"/>
            <a:ext cx="2191141" cy="383729"/>
            <a:chOff x="1140765" y="3097764"/>
            <a:chExt cx="2191141" cy="383729"/>
          </a:xfrm>
        </p:grpSpPr>
        <p:sp>
          <p:nvSpPr>
            <p:cNvPr id="151" name="流程圖: 資料 82"/>
            <p:cNvSpPr/>
            <p:nvPr/>
          </p:nvSpPr>
          <p:spPr>
            <a:xfrm>
              <a:off x="1140765" y="3101435"/>
              <a:ext cx="2180320" cy="380058"/>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solidFill>
                  <a:schemeClr val="bg1"/>
                </a:solidFill>
              </a:endParaRPr>
            </a:p>
          </p:txBody>
        </p:sp>
        <p:sp>
          <p:nvSpPr>
            <p:cNvPr id="209" name="矩形 208"/>
            <p:cNvSpPr/>
            <p:nvPr/>
          </p:nvSpPr>
          <p:spPr>
            <a:xfrm>
              <a:off x="1164738" y="3097764"/>
              <a:ext cx="2167168" cy="369332"/>
            </a:xfrm>
            <a:prstGeom prst="rect">
              <a:avLst/>
            </a:prstGeom>
            <a:solidFill>
              <a:schemeClr val="tx1">
                <a:lumMod val="50000"/>
                <a:lumOff val="50000"/>
              </a:schemeClr>
            </a:solidFill>
            <a:ln>
              <a:solidFill>
                <a:schemeClr val="tx1"/>
              </a:solidFill>
            </a:ln>
            <a:effectLst>
              <a:softEdge rad="635000"/>
            </a:effectLst>
          </p:spPr>
          <p:txBody>
            <a:bodyPr wrap="square">
              <a:spAutoFit/>
            </a:bodyPr>
            <a:lstStyle/>
            <a:p>
              <a:pPr algn="ctr"/>
              <a:r>
                <a:rPr lang="en-US" altLang="zh-TW" sz="900" b="1" dirty="0" smtClean="0">
                  <a:solidFill>
                    <a:schemeClr val="bg1"/>
                  </a:solidFill>
                </a:rPr>
                <a:t>create_timestamp &gt;  scantime </a:t>
              </a:r>
              <a:r>
                <a:rPr lang="en-US" altLang="zh-TW" sz="900" dirty="0" smtClean="0">
                  <a:solidFill>
                    <a:schemeClr val="bg1"/>
                  </a:solidFill>
                </a:rPr>
                <a:t>→ API</a:t>
              </a:r>
            </a:p>
            <a:p>
              <a:pPr algn="ctr"/>
              <a:r>
                <a:rPr lang="en-US" altLang="zh-TW" sz="900" b="1" dirty="0" smtClean="0">
                  <a:solidFill>
                    <a:schemeClr val="bg1"/>
                  </a:solidFill>
                </a:rPr>
                <a:t>create_timestamp &lt;  scantime </a:t>
              </a:r>
              <a:r>
                <a:rPr lang="en-US" altLang="zh-TW" sz="900" dirty="0" smtClean="0">
                  <a:solidFill>
                    <a:schemeClr val="bg1"/>
                  </a:solidFill>
                </a:rPr>
                <a:t>→ BPI</a:t>
              </a:r>
              <a:endParaRPr lang="en-US" altLang="zh-TW" sz="900" dirty="0">
                <a:solidFill>
                  <a:schemeClr val="bg1"/>
                </a:solidFill>
              </a:endParaRPr>
            </a:p>
          </p:txBody>
        </p:sp>
      </p:grpSp>
      <p:sp>
        <p:nvSpPr>
          <p:cNvPr id="213" name="矩形 212"/>
          <p:cNvSpPr/>
          <p:nvPr/>
        </p:nvSpPr>
        <p:spPr>
          <a:xfrm>
            <a:off x="1212408" y="2237741"/>
            <a:ext cx="973792" cy="520746"/>
          </a:xfrm>
          <a:prstGeom prst="rect">
            <a:avLst/>
          </a:prstGeom>
          <a:solidFill>
            <a:schemeClr val="tx1">
              <a:lumMod val="50000"/>
              <a:lumOff val="50000"/>
            </a:schemeClr>
          </a:solidFill>
          <a:ln>
            <a:noFill/>
          </a:ln>
          <a:effectLst>
            <a:softEdge rad="635000"/>
          </a:effectLst>
        </p:spPr>
        <p:txBody>
          <a:bodyPr wrap="square">
            <a:spAutoFit/>
          </a:bodyPr>
          <a:lstStyle/>
          <a:p>
            <a:pPr algn="ctr"/>
            <a:r>
              <a:rPr lang="en-US" altLang="zh-TW" sz="900" b="1" dirty="0" smtClean="0">
                <a:solidFill>
                  <a:schemeClr val="bg1"/>
                </a:solidFill>
              </a:rPr>
              <a:t>Key mapping</a:t>
            </a:r>
          </a:p>
          <a:p>
            <a:pPr algn="ctr"/>
            <a:r>
              <a:rPr lang="en-US" altLang="zh-TW" sz="900" b="1" dirty="0" smtClean="0">
                <a:solidFill>
                  <a:schemeClr val="bg1"/>
                </a:solidFill>
              </a:rPr>
              <a:t>CIM DB Table</a:t>
            </a:r>
          </a:p>
          <a:p>
            <a:pPr algn="ctr"/>
            <a:r>
              <a:rPr lang="en-US" altLang="zh-TW" sz="900" b="1" dirty="0" smtClean="0">
                <a:solidFill>
                  <a:schemeClr val="bg1"/>
                </a:solidFill>
              </a:rPr>
              <a:t>(glass _ id)</a:t>
            </a:r>
            <a:endParaRPr lang="en-US" altLang="zh-TW" sz="900" b="1" dirty="0">
              <a:solidFill>
                <a:schemeClr val="bg1"/>
              </a:solidFill>
            </a:endParaRPr>
          </a:p>
        </p:txBody>
      </p:sp>
      <p:cxnSp>
        <p:nvCxnSpPr>
          <p:cNvPr id="214" name="肘形接點 213"/>
          <p:cNvCxnSpPr>
            <a:stCxn id="182" idx="1"/>
            <a:endCxn id="186" idx="1"/>
          </p:cNvCxnSpPr>
          <p:nvPr/>
        </p:nvCxnSpPr>
        <p:spPr>
          <a:xfrm rot="10800000" flipV="1">
            <a:off x="1448006" y="4050916"/>
            <a:ext cx="10535" cy="521302"/>
          </a:xfrm>
          <a:prstGeom prst="bentConnector3">
            <a:avLst>
              <a:gd name="adj1" fmla="val 2269910"/>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肘形接點 214"/>
          <p:cNvCxnSpPr/>
          <p:nvPr/>
        </p:nvCxnSpPr>
        <p:spPr>
          <a:xfrm rot="10800000" flipH="1">
            <a:off x="2200182" y="4558059"/>
            <a:ext cx="360000" cy="1818"/>
          </a:xfrm>
          <a:prstGeom prst="bentConnector3">
            <a:avLst>
              <a:gd name="adj1" fmla="val 50000"/>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6" name="圓角矩形 215"/>
          <p:cNvSpPr/>
          <p:nvPr/>
        </p:nvSpPr>
        <p:spPr>
          <a:xfrm>
            <a:off x="2541757" y="3861404"/>
            <a:ext cx="2133004" cy="1048861"/>
          </a:xfrm>
          <a:prstGeom prst="roundRect">
            <a:avLst>
              <a:gd name="adj" fmla="val 2241"/>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3" name="群組 32"/>
          <p:cNvGrpSpPr/>
          <p:nvPr/>
        </p:nvGrpSpPr>
        <p:grpSpPr>
          <a:xfrm>
            <a:off x="2549385" y="3845919"/>
            <a:ext cx="1025212" cy="1001078"/>
            <a:chOff x="2505465" y="3673854"/>
            <a:chExt cx="1025212" cy="1001078"/>
          </a:xfrm>
        </p:grpSpPr>
        <p:sp>
          <p:nvSpPr>
            <p:cNvPr id="221" name="圓角矩形 220"/>
            <p:cNvSpPr/>
            <p:nvPr/>
          </p:nvSpPr>
          <p:spPr>
            <a:xfrm>
              <a:off x="2527059" y="3896870"/>
              <a:ext cx="992333" cy="778062"/>
            </a:xfrm>
            <a:prstGeom prst="roundRect">
              <a:avLst>
                <a:gd name="adj" fmla="val 0"/>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6" name="矩形 265"/>
            <p:cNvSpPr/>
            <p:nvPr/>
          </p:nvSpPr>
          <p:spPr>
            <a:xfrm>
              <a:off x="2505465" y="3673854"/>
              <a:ext cx="1025212" cy="261610"/>
            </a:xfrm>
            <a:prstGeom prst="rect">
              <a:avLst/>
            </a:prstGeom>
          </p:spPr>
          <p:txBody>
            <a:bodyPr wrap="square">
              <a:spAutoFit/>
            </a:bodyPr>
            <a:lstStyle/>
            <a:p>
              <a:pPr algn="ctr"/>
              <a:r>
                <a:rPr lang="en-US" altLang="zh-TW" sz="1100" b="1" dirty="0" smtClean="0"/>
                <a:t>Hour</a:t>
              </a:r>
              <a:endParaRPr lang="en-US" altLang="zh-TW" sz="1100" b="1" dirty="0"/>
            </a:p>
          </p:txBody>
        </p:sp>
      </p:grpSp>
      <p:grpSp>
        <p:nvGrpSpPr>
          <p:cNvPr id="34" name="群組 33"/>
          <p:cNvGrpSpPr/>
          <p:nvPr/>
        </p:nvGrpSpPr>
        <p:grpSpPr>
          <a:xfrm>
            <a:off x="3523439" y="3837274"/>
            <a:ext cx="1076463" cy="1009738"/>
            <a:chOff x="3479519" y="3665209"/>
            <a:chExt cx="1076463" cy="1009738"/>
          </a:xfrm>
        </p:grpSpPr>
        <p:grpSp>
          <p:nvGrpSpPr>
            <p:cNvPr id="193" name="群組 192"/>
            <p:cNvGrpSpPr/>
            <p:nvPr/>
          </p:nvGrpSpPr>
          <p:grpSpPr>
            <a:xfrm>
              <a:off x="3593813" y="3942834"/>
              <a:ext cx="892439" cy="230832"/>
              <a:chOff x="705357" y="901234"/>
              <a:chExt cx="1128677" cy="261757"/>
            </a:xfrm>
          </p:grpSpPr>
          <p:sp>
            <p:nvSpPr>
              <p:cNvPr id="195" name="流程圖: 資料 82"/>
              <p:cNvSpPr/>
              <p:nvPr/>
            </p:nvSpPr>
            <p:spPr>
              <a:xfrm>
                <a:off x="737917" y="916723"/>
                <a:ext cx="1087940" cy="236472"/>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196" name="矩形 195"/>
              <p:cNvSpPr/>
              <p:nvPr/>
            </p:nvSpPr>
            <p:spPr>
              <a:xfrm>
                <a:off x="705357" y="901234"/>
                <a:ext cx="1128677" cy="261757"/>
              </a:xfrm>
              <a:prstGeom prst="rect">
                <a:avLst/>
              </a:prstGeom>
            </p:spPr>
            <p:txBody>
              <a:bodyPr wrap="none">
                <a:spAutoFit/>
              </a:bodyPr>
              <a:lstStyle/>
              <a:p>
                <a:pPr algn="ctr"/>
                <a:r>
                  <a:rPr lang="en-US" altLang="zh-TW" sz="900" dirty="0" smtClean="0">
                    <a:solidFill>
                      <a:schemeClr val="bg1"/>
                    </a:solidFill>
                  </a:rPr>
                  <a:t>glass count(</a:t>
                </a:r>
                <a:r>
                  <a:rPr lang="zh-TW" altLang="en-US" sz="900" dirty="0">
                    <a:solidFill>
                      <a:schemeClr val="bg1"/>
                    </a:solidFill>
                  </a:rPr>
                  <a:t>累計</a:t>
                </a:r>
                <a:r>
                  <a:rPr lang="en-US" altLang="zh-TW" sz="900" dirty="0" smtClean="0">
                    <a:solidFill>
                      <a:schemeClr val="bg1"/>
                    </a:solidFill>
                  </a:rPr>
                  <a:t>)</a:t>
                </a:r>
                <a:endParaRPr lang="en-US" altLang="zh-TW" sz="900" dirty="0">
                  <a:solidFill>
                    <a:schemeClr val="bg1"/>
                  </a:solidFill>
                </a:endParaRPr>
              </a:p>
            </p:txBody>
          </p:sp>
        </p:grpSp>
        <p:sp>
          <p:nvSpPr>
            <p:cNvPr id="197" name="矩形 196"/>
            <p:cNvSpPr/>
            <p:nvPr/>
          </p:nvSpPr>
          <p:spPr>
            <a:xfrm>
              <a:off x="3538133" y="4459503"/>
              <a:ext cx="1003801" cy="215444"/>
            </a:xfrm>
            <a:prstGeom prst="rect">
              <a:avLst/>
            </a:prstGeom>
          </p:spPr>
          <p:txBody>
            <a:bodyPr wrap="none">
              <a:spAutoFit/>
            </a:bodyPr>
            <a:lstStyle/>
            <a:p>
              <a:r>
                <a:rPr lang="en-US" altLang="zh-TW" sz="800" dirty="0" smtClean="0"/>
                <a:t>cumu </a:t>
              </a:r>
              <a:r>
                <a:rPr lang="en-US" altLang="zh-TW" sz="800" dirty="0"/>
                <a:t>/ </a:t>
              </a:r>
              <a:r>
                <a:rPr lang="en-US" altLang="zh-TW" sz="800" dirty="0" smtClean="0"/>
                <a:t>target_count</a:t>
              </a:r>
              <a:endParaRPr lang="en-US" altLang="zh-TW" sz="800" dirty="0"/>
            </a:p>
          </p:txBody>
        </p:sp>
        <p:grpSp>
          <p:nvGrpSpPr>
            <p:cNvPr id="202" name="群組 201"/>
            <p:cNvGrpSpPr/>
            <p:nvPr/>
          </p:nvGrpSpPr>
          <p:grpSpPr>
            <a:xfrm>
              <a:off x="3593753" y="4287150"/>
              <a:ext cx="892500" cy="230832"/>
              <a:chOff x="737917" y="901234"/>
              <a:chExt cx="1087940" cy="261757"/>
            </a:xfrm>
          </p:grpSpPr>
          <p:sp>
            <p:nvSpPr>
              <p:cNvPr id="205" name="流程圖: 資料 82"/>
              <p:cNvSpPr/>
              <p:nvPr/>
            </p:nvSpPr>
            <p:spPr>
              <a:xfrm>
                <a:off x="737917" y="916723"/>
                <a:ext cx="1087940" cy="236472"/>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06" name="矩形 205"/>
              <p:cNvSpPr/>
              <p:nvPr/>
            </p:nvSpPr>
            <p:spPr>
              <a:xfrm>
                <a:off x="845276" y="901234"/>
                <a:ext cx="848840" cy="261757"/>
              </a:xfrm>
              <a:prstGeom prst="rect">
                <a:avLst/>
              </a:prstGeom>
            </p:spPr>
            <p:txBody>
              <a:bodyPr wrap="none">
                <a:spAutoFit/>
              </a:bodyPr>
              <a:lstStyle/>
              <a:p>
                <a:pPr algn="ctr"/>
                <a:r>
                  <a:rPr lang="en-US" altLang="zh-TW" sz="900" dirty="0" smtClean="0">
                    <a:solidFill>
                      <a:schemeClr val="bg1"/>
                    </a:solidFill>
                  </a:rPr>
                  <a:t>Capa (</a:t>
                </a:r>
                <a:r>
                  <a:rPr lang="zh-TW" altLang="en-US" sz="900" dirty="0" smtClean="0">
                    <a:solidFill>
                      <a:schemeClr val="bg1"/>
                    </a:solidFill>
                  </a:rPr>
                  <a:t>累計</a:t>
                </a:r>
                <a:r>
                  <a:rPr lang="en-US" altLang="zh-TW" sz="900" dirty="0" smtClean="0">
                    <a:solidFill>
                      <a:schemeClr val="bg1"/>
                    </a:solidFill>
                  </a:rPr>
                  <a:t>)</a:t>
                </a:r>
                <a:endParaRPr lang="en-US" altLang="zh-TW" sz="900" dirty="0">
                  <a:solidFill>
                    <a:schemeClr val="bg1"/>
                  </a:solidFill>
                </a:endParaRPr>
              </a:p>
            </p:txBody>
          </p:sp>
        </p:grpSp>
        <p:sp>
          <p:nvSpPr>
            <p:cNvPr id="208" name="矩形 207"/>
            <p:cNvSpPr/>
            <p:nvPr/>
          </p:nvSpPr>
          <p:spPr>
            <a:xfrm>
              <a:off x="3680384" y="4112359"/>
              <a:ext cx="683200" cy="215444"/>
            </a:xfrm>
            <a:prstGeom prst="rect">
              <a:avLst/>
            </a:prstGeom>
          </p:spPr>
          <p:txBody>
            <a:bodyPr wrap="none">
              <a:spAutoFit/>
            </a:bodyPr>
            <a:lstStyle/>
            <a:p>
              <a:r>
                <a:rPr lang="el-GR" altLang="zh-TW" sz="800" dirty="0" smtClean="0"/>
                <a:t>Σ </a:t>
              </a:r>
              <a:r>
                <a:rPr lang="en-US" altLang="zh-TW" sz="800" dirty="0"/>
                <a:t>hour(0~h)</a:t>
              </a:r>
            </a:p>
          </p:txBody>
        </p:sp>
        <p:sp>
          <p:nvSpPr>
            <p:cNvPr id="241" name="圓角矩形 240"/>
            <p:cNvSpPr/>
            <p:nvPr/>
          </p:nvSpPr>
          <p:spPr>
            <a:xfrm>
              <a:off x="3563649" y="3896870"/>
              <a:ext cx="992333" cy="778062"/>
            </a:xfrm>
            <a:prstGeom prst="roundRect">
              <a:avLst>
                <a:gd name="adj" fmla="val 0"/>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7" name="矩形 266"/>
            <p:cNvSpPr/>
            <p:nvPr/>
          </p:nvSpPr>
          <p:spPr>
            <a:xfrm>
              <a:off x="3479519" y="3665209"/>
              <a:ext cx="1025212" cy="261610"/>
            </a:xfrm>
            <a:prstGeom prst="rect">
              <a:avLst/>
            </a:prstGeom>
          </p:spPr>
          <p:txBody>
            <a:bodyPr wrap="square">
              <a:spAutoFit/>
            </a:bodyPr>
            <a:lstStyle/>
            <a:p>
              <a:pPr algn="ctr"/>
              <a:r>
                <a:rPr lang="el-GR" altLang="zh-TW" sz="1100" dirty="0"/>
                <a:t>Σ </a:t>
              </a:r>
              <a:r>
                <a:rPr lang="en-US" altLang="zh-TW" sz="1100" dirty="0" smtClean="0"/>
                <a:t>Hour</a:t>
              </a:r>
              <a:endParaRPr lang="en-US" altLang="zh-TW" sz="1100" b="1" dirty="0"/>
            </a:p>
          </p:txBody>
        </p:sp>
      </p:grpSp>
      <p:grpSp>
        <p:nvGrpSpPr>
          <p:cNvPr id="32" name="群組 31"/>
          <p:cNvGrpSpPr/>
          <p:nvPr/>
        </p:nvGrpSpPr>
        <p:grpSpPr>
          <a:xfrm>
            <a:off x="5263502" y="3832575"/>
            <a:ext cx="3371351" cy="1080387"/>
            <a:chOff x="4790240" y="3657802"/>
            <a:chExt cx="3371351" cy="1080387"/>
          </a:xfrm>
        </p:grpSpPr>
        <p:grpSp>
          <p:nvGrpSpPr>
            <p:cNvPr id="242" name="群組 241"/>
            <p:cNvGrpSpPr/>
            <p:nvPr/>
          </p:nvGrpSpPr>
          <p:grpSpPr>
            <a:xfrm>
              <a:off x="5018902" y="3941964"/>
              <a:ext cx="973344" cy="230832"/>
              <a:chOff x="576369" y="901234"/>
              <a:chExt cx="1386662" cy="261757"/>
            </a:xfrm>
          </p:grpSpPr>
          <p:sp>
            <p:nvSpPr>
              <p:cNvPr id="243" name="流程圖: 資料 82"/>
              <p:cNvSpPr/>
              <p:nvPr/>
            </p:nvSpPr>
            <p:spPr>
              <a:xfrm>
                <a:off x="642703" y="916723"/>
                <a:ext cx="1309225" cy="236472"/>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44" name="矩形 243"/>
              <p:cNvSpPr/>
              <p:nvPr/>
            </p:nvSpPr>
            <p:spPr>
              <a:xfrm>
                <a:off x="576369" y="901234"/>
                <a:ext cx="1386662" cy="261757"/>
              </a:xfrm>
              <a:prstGeom prst="rect">
                <a:avLst/>
              </a:prstGeom>
            </p:spPr>
            <p:txBody>
              <a:bodyPr wrap="none">
                <a:spAutoFit/>
              </a:bodyPr>
              <a:lstStyle/>
              <a:p>
                <a:pPr algn="ctr"/>
                <a:r>
                  <a:rPr lang="en-US" altLang="zh-TW" sz="900" dirty="0" smtClean="0">
                    <a:solidFill>
                      <a:schemeClr val="bg1"/>
                    </a:solidFill>
                  </a:rPr>
                  <a:t>Total glass count</a:t>
                </a:r>
                <a:endParaRPr lang="en-US" altLang="zh-TW" sz="900" dirty="0">
                  <a:solidFill>
                    <a:schemeClr val="bg1"/>
                  </a:solidFill>
                </a:endParaRPr>
              </a:p>
            </p:txBody>
          </p:sp>
        </p:grpSp>
        <p:grpSp>
          <p:nvGrpSpPr>
            <p:cNvPr id="250" name="群組 249"/>
            <p:cNvGrpSpPr/>
            <p:nvPr/>
          </p:nvGrpSpPr>
          <p:grpSpPr>
            <a:xfrm>
              <a:off x="5065463" y="4301714"/>
              <a:ext cx="963406" cy="369332"/>
              <a:chOff x="562352" y="875311"/>
              <a:chExt cx="1374907" cy="418812"/>
            </a:xfrm>
          </p:grpSpPr>
          <p:sp>
            <p:nvSpPr>
              <p:cNvPr id="251" name="流程圖: 資料 82"/>
              <p:cNvSpPr/>
              <p:nvPr/>
            </p:nvSpPr>
            <p:spPr>
              <a:xfrm>
                <a:off x="562352" y="907337"/>
                <a:ext cx="1311517" cy="211656"/>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p>
            </p:txBody>
          </p:sp>
          <p:sp>
            <p:nvSpPr>
              <p:cNvPr id="257" name="矩形 256"/>
              <p:cNvSpPr/>
              <p:nvPr/>
            </p:nvSpPr>
            <p:spPr>
              <a:xfrm>
                <a:off x="571715" y="875311"/>
                <a:ext cx="1365544" cy="418812"/>
              </a:xfrm>
              <a:prstGeom prst="rect">
                <a:avLst/>
              </a:prstGeom>
            </p:spPr>
            <p:txBody>
              <a:bodyPr wrap="square">
                <a:spAutoFit/>
              </a:bodyPr>
              <a:lstStyle/>
              <a:p>
                <a:pPr algn="ctr"/>
                <a:r>
                  <a:rPr lang="en-US" altLang="zh-TW" sz="900" dirty="0" smtClean="0">
                    <a:solidFill>
                      <a:schemeClr val="bg1"/>
                    </a:solidFill>
                  </a:rPr>
                  <a:t>Capa / day</a:t>
                </a:r>
                <a:endParaRPr lang="en-US" altLang="zh-TW" sz="900" dirty="0">
                  <a:solidFill>
                    <a:schemeClr val="bg1"/>
                  </a:solidFill>
                </a:endParaRPr>
              </a:p>
              <a:p>
                <a:pPr algn="ctr"/>
                <a:endParaRPr lang="en-US" altLang="zh-TW" sz="900" dirty="0">
                  <a:solidFill>
                    <a:schemeClr val="bg1"/>
                  </a:solidFill>
                </a:endParaRPr>
              </a:p>
            </p:txBody>
          </p:sp>
        </p:grpSp>
        <p:sp>
          <p:nvSpPr>
            <p:cNvPr id="258" name="矩形 257"/>
            <p:cNvSpPr/>
            <p:nvPr/>
          </p:nvSpPr>
          <p:spPr>
            <a:xfrm>
              <a:off x="4913800" y="4489957"/>
              <a:ext cx="1274708" cy="215444"/>
            </a:xfrm>
            <a:prstGeom prst="rect">
              <a:avLst/>
            </a:prstGeom>
          </p:spPr>
          <p:txBody>
            <a:bodyPr wrap="none">
              <a:spAutoFit/>
            </a:bodyPr>
            <a:lstStyle/>
            <a:p>
              <a:r>
                <a:rPr lang="en-US" altLang="zh-TW" sz="800" dirty="0" smtClean="0"/>
                <a:t>Total_glass / target_count </a:t>
              </a:r>
              <a:endParaRPr lang="en-US" altLang="zh-TW" sz="800" dirty="0"/>
            </a:p>
          </p:txBody>
        </p:sp>
        <p:sp>
          <p:nvSpPr>
            <p:cNvPr id="264" name="圓角矩形 263"/>
            <p:cNvSpPr/>
            <p:nvPr/>
          </p:nvSpPr>
          <p:spPr>
            <a:xfrm>
              <a:off x="4862316" y="3896859"/>
              <a:ext cx="1224872" cy="778062"/>
            </a:xfrm>
            <a:prstGeom prst="roundRect">
              <a:avLst>
                <a:gd name="adj" fmla="val 0"/>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8" name="圓角矩形 267"/>
            <p:cNvSpPr/>
            <p:nvPr/>
          </p:nvSpPr>
          <p:spPr>
            <a:xfrm>
              <a:off x="4790240" y="3689328"/>
              <a:ext cx="3371351" cy="1048861"/>
            </a:xfrm>
            <a:prstGeom prst="roundRect">
              <a:avLst>
                <a:gd name="adj" fmla="val 2241"/>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9" name="矩形 268"/>
            <p:cNvSpPr/>
            <p:nvPr/>
          </p:nvSpPr>
          <p:spPr>
            <a:xfrm>
              <a:off x="4876546" y="3657802"/>
              <a:ext cx="1311962" cy="261610"/>
            </a:xfrm>
            <a:prstGeom prst="rect">
              <a:avLst/>
            </a:prstGeom>
          </p:spPr>
          <p:txBody>
            <a:bodyPr wrap="square">
              <a:spAutoFit/>
            </a:bodyPr>
            <a:lstStyle/>
            <a:p>
              <a:pPr algn="ctr"/>
              <a:r>
                <a:rPr lang="el-GR" altLang="zh-TW" sz="1100" dirty="0"/>
                <a:t>Σ </a:t>
              </a:r>
              <a:r>
                <a:rPr lang="en-US" altLang="zh-TW" sz="1100" dirty="0" smtClean="0"/>
                <a:t>Hour(23)</a:t>
              </a:r>
              <a:r>
                <a:rPr lang="en-US" altLang="zh-TW" sz="1100" dirty="0"/>
                <a:t> </a:t>
              </a:r>
              <a:r>
                <a:rPr lang="en-US" altLang="zh-TW" sz="1100" dirty="0" smtClean="0"/>
                <a:t>→ Day</a:t>
              </a:r>
              <a:endParaRPr lang="en-US" altLang="zh-TW" sz="1100" b="1" dirty="0"/>
            </a:p>
          </p:txBody>
        </p:sp>
      </p:grpSp>
      <p:sp>
        <p:nvSpPr>
          <p:cNvPr id="272" name="矩形 271"/>
          <p:cNvSpPr/>
          <p:nvPr/>
        </p:nvSpPr>
        <p:spPr>
          <a:xfrm>
            <a:off x="6691000" y="3942630"/>
            <a:ext cx="1984839" cy="938719"/>
          </a:xfrm>
          <a:prstGeom prst="rect">
            <a:avLst/>
          </a:prstGeom>
        </p:spPr>
        <p:txBody>
          <a:bodyPr wrap="none">
            <a:spAutoFit/>
          </a:bodyPr>
          <a:lstStyle/>
          <a:p>
            <a:r>
              <a:rPr lang="en-US" altLang="zh-TW" sz="1100" b="1" dirty="0" smtClean="0"/>
              <a:t>Insert(Non-calculation Fields)</a:t>
            </a:r>
          </a:p>
          <a:p>
            <a:pPr marL="171450" indent="-171450">
              <a:buFont typeface="Arial" panose="020B0604020202020204" pitchFamily="34" charset="0"/>
              <a:buChar char="•"/>
            </a:pPr>
            <a:r>
              <a:rPr lang="en-US" altLang="zh-TW" sz="1100" dirty="0" smtClean="0">
                <a:solidFill>
                  <a:schemeClr val="accent6"/>
                </a:solidFill>
              </a:rPr>
              <a:t>comment </a:t>
            </a:r>
          </a:p>
          <a:p>
            <a:pPr marL="171450" indent="-171450">
              <a:buFont typeface="Arial" panose="020B0604020202020204" pitchFamily="34" charset="0"/>
              <a:buChar char="•"/>
            </a:pPr>
            <a:r>
              <a:rPr lang="en-US" altLang="zh-TW" sz="1100" dirty="0" smtClean="0">
                <a:solidFill>
                  <a:schemeClr val="accent6"/>
                </a:solidFill>
              </a:rPr>
              <a:t>editor </a:t>
            </a:r>
            <a:endParaRPr lang="en-US" altLang="zh-TW" sz="1100" dirty="0">
              <a:solidFill>
                <a:schemeClr val="accent6"/>
              </a:solidFill>
            </a:endParaRPr>
          </a:p>
          <a:p>
            <a:pPr marL="171450" indent="-171450">
              <a:buFont typeface="Arial" panose="020B0604020202020204" pitchFamily="34" charset="0"/>
              <a:buChar char="•"/>
            </a:pPr>
            <a:r>
              <a:rPr lang="en-US" altLang="zh-TW" sz="1100" dirty="0" smtClean="0">
                <a:solidFill>
                  <a:schemeClr val="accent6"/>
                </a:solidFill>
              </a:rPr>
              <a:t>modify time</a:t>
            </a:r>
          </a:p>
          <a:p>
            <a:pPr marL="171450" indent="-171450">
              <a:buFont typeface="Arial" panose="020B0604020202020204" pitchFamily="34" charset="0"/>
              <a:buChar char="•"/>
            </a:pPr>
            <a:r>
              <a:rPr lang="en-US" altLang="zh-TW" sz="1100" dirty="0" smtClean="0">
                <a:solidFill>
                  <a:schemeClr val="accent6"/>
                </a:solidFill>
              </a:rPr>
              <a:t>AOI Target</a:t>
            </a:r>
          </a:p>
        </p:txBody>
      </p:sp>
      <p:sp>
        <p:nvSpPr>
          <p:cNvPr id="276" name="矩形 275"/>
          <p:cNvSpPr/>
          <p:nvPr/>
        </p:nvSpPr>
        <p:spPr>
          <a:xfrm>
            <a:off x="5185991" y="3603451"/>
            <a:ext cx="1585690" cy="261610"/>
          </a:xfrm>
          <a:prstGeom prst="rect">
            <a:avLst/>
          </a:prstGeom>
        </p:spPr>
        <p:txBody>
          <a:bodyPr wrap="none">
            <a:spAutoFit/>
          </a:bodyPr>
          <a:lstStyle/>
          <a:p>
            <a:pPr marL="171450" indent="-171450">
              <a:buFont typeface="Arial" panose="020B0604020202020204" pitchFamily="34" charset="0"/>
              <a:buChar char="•"/>
            </a:pPr>
            <a:r>
              <a:rPr lang="en-US" altLang="zh-TW" sz="1100" dirty="0" smtClean="0"/>
              <a:t>{aoi}_capa_summary</a:t>
            </a:r>
            <a:endParaRPr lang="zh-TW" altLang="en-US" sz="1100" dirty="0"/>
          </a:p>
        </p:txBody>
      </p:sp>
      <p:sp>
        <p:nvSpPr>
          <p:cNvPr id="277" name="矩形 276"/>
          <p:cNvSpPr/>
          <p:nvPr/>
        </p:nvSpPr>
        <p:spPr>
          <a:xfrm>
            <a:off x="2403541" y="3608647"/>
            <a:ext cx="1946367" cy="261610"/>
          </a:xfrm>
          <a:prstGeom prst="rect">
            <a:avLst/>
          </a:prstGeom>
        </p:spPr>
        <p:txBody>
          <a:bodyPr wrap="none">
            <a:spAutoFit/>
          </a:bodyPr>
          <a:lstStyle/>
          <a:p>
            <a:pPr marL="171450" indent="-171450">
              <a:buFont typeface="Arial" panose="020B0604020202020204" pitchFamily="34" charset="0"/>
              <a:buChar char="•"/>
            </a:pPr>
            <a:r>
              <a:rPr lang="en-US" altLang="zh-TW" sz="1100" dirty="0" smtClean="0"/>
              <a:t>{aoi}_capa_hourly_rawdata</a:t>
            </a:r>
            <a:endParaRPr lang="zh-TW" altLang="en-US" sz="1100" dirty="0"/>
          </a:p>
        </p:txBody>
      </p:sp>
      <p:sp>
        <p:nvSpPr>
          <p:cNvPr id="278" name="圓柱 277"/>
          <p:cNvSpPr/>
          <p:nvPr/>
        </p:nvSpPr>
        <p:spPr>
          <a:xfrm>
            <a:off x="117829" y="4575411"/>
            <a:ext cx="773334" cy="242917"/>
          </a:xfrm>
          <a:prstGeom prst="can">
            <a:avLst/>
          </a:prstGeom>
          <a:solidFill>
            <a:schemeClr val="accent1"/>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3" name="矩形 282"/>
          <p:cNvSpPr/>
          <p:nvPr/>
        </p:nvSpPr>
        <p:spPr>
          <a:xfrm>
            <a:off x="2506776" y="1269475"/>
            <a:ext cx="2032929" cy="261610"/>
          </a:xfrm>
          <a:prstGeom prst="rect">
            <a:avLst/>
          </a:prstGeom>
        </p:spPr>
        <p:txBody>
          <a:bodyPr wrap="none">
            <a:spAutoFit/>
          </a:bodyPr>
          <a:lstStyle/>
          <a:p>
            <a:pPr marL="171450" indent="-171450">
              <a:buFont typeface="Arial" panose="020B0604020202020204" pitchFamily="34" charset="0"/>
              <a:buChar char="•"/>
            </a:pPr>
            <a:r>
              <a:rPr lang="en-US" altLang="zh-TW" sz="1100" dirty="0" smtClean="0"/>
              <a:t>{aoi}_summary_{yyyymm}</a:t>
            </a:r>
            <a:endParaRPr lang="zh-TW" altLang="en-US" sz="1100" dirty="0"/>
          </a:p>
        </p:txBody>
      </p:sp>
      <p:cxnSp>
        <p:nvCxnSpPr>
          <p:cNvPr id="284" name="肘形接點 283"/>
          <p:cNvCxnSpPr/>
          <p:nvPr/>
        </p:nvCxnSpPr>
        <p:spPr>
          <a:xfrm rot="16200000" flipH="1">
            <a:off x="1519890" y="1695913"/>
            <a:ext cx="540000" cy="0"/>
          </a:xfrm>
          <a:prstGeom prst="bentConnector3">
            <a:avLst>
              <a:gd name="adj1" fmla="val 50000"/>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5" name="矩形 284"/>
          <p:cNvSpPr/>
          <p:nvPr/>
        </p:nvSpPr>
        <p:spPr>
          <a:xfrm>
            <a:off x="6450655" y="1610846"/>
            <a:ext cx="2291012" cy="261610"/>
          </a:xfrm>
          <a:prstGeom prst="rect">
            <a:avLst/>
          </a:prstGeom>
        </p:spPr>
        <p:txBody>
          <a:bodyPr wrap="none">
            <a:spAutoFit/>
          </a:bodyPr>
          <a:lstStyle/>
          <a:p>
            <a:pPr marL="171450" indent="-171450">
              <a:buFont typeface="Arial" panose="020B0604020202020204" pitchFamily="34" charset="0"/>
              <a:buChar char="•"/>
            </a:pPr>
            <a:r>
              <a:rPr lang="en-US" altLang="zh-TW" sz="1100" dirty="0" smtClean="0"/>
              <a:t>{aoi}_summary_capa_{yyyymm}</a:t>
            </a:r>
            <a:endParaRPr lang="zh-TW" altLang="en-US" sz="1100" dirty="0"/>
          </a:p>
        </p:txBody>
      </p:sp>
      <p:sp>
        <p:nvSpPr>
          <p:cNvPr id="286" name="矩形 285"/>
          <p:cNvSpPr/>
          <p:nvPr/>
        </p:nvSpPr>
        <p:spPr>
          <a:xfrm>
            <a:off x="6558082" y="1978570"/>
            <a:ext cx="2108421" cy="261610"/>
          </a:xfrm>
          <a:prstGeom prst="rect">
            <a:avLst/>
          </a:prstGeom>
        </p:spPr>
        <p:txBody>
          <a:bodyPr wrap="square">
            <a:spAutoFit/>
          </a:bodyPr>
          <a:lstStyle/>
          <a:p>
            <a:pPr algn="ctr"/>
            <a:r>
              <a:rPr lang="en-US" altLang="zh-TW" sz="1100" b="1" dirty="0" smtClean="0"/>
              <a:t>Rule Info.</a:t>
            </a:r>
            <a:endParaRPr lang="en-US" altLang="zh-TW" sz="1100" b="1" dirty="0"/>
          </a:p>
        </p:txBody>
      </p:sp>
      <p:sp>
        <p:nvSpPr>
          <p:cNvPr id="287" name="圓角矩形 286"/>
          <p:cNvSpPr/>
          <p:nvPr/>
        </p:nvSpPr>
        <p:spPr>
          <a:xfrm>
            <a:off x="6558082" y="1995866"/>
            <a:ext cx="2108421" cy="977538"/>
          </a:xfrm>
          <a:prstGeom prst="roundRect">
            <a:avLst>
              <a:gd name="adj" fmla="val 7327"/>
            </a:avLst>
          </a:prstGeom>
          <a:noFill/>
          <a:ln>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88" name="群組 287"/>
          <p:cNvGrpSpPr/>
          <p:nvPr/>
        </p:nvGrpSpPr>
        <p:grpSpPr>
          <a:xfrm rot="10800000">
            <a:off x="3960268" y="4877229"/>
            <a:ext cx="923659" cy="291559"/>
            <a:chOff x="1435764" y="1732000"/>
            <a:chExt cx="923659" cy="291559"/>
          </a:xfrm>
        </p:grpSpPr>
        <p:sp>
          <p:nvSpPr>
            <p:cNvPr id="289" name="向左箭號圖說文字 288"/>
            <p:cNvSpPr/>
            <p:nvPr/>
          </p:nvSpPr>
          <p:spPr>
            <a:xfrm rot="16200000" flipV="1">
              <a:off x="1769046" y="1433181"/>
              <a:ext cx="257096" cy="923659"/>
            </a:xfrm>
            <a:prstGeom prst="leftArrowCallout">
              <a:avLst>
                <a:gd name="adj1" fmla="val 25000"/>
                <a:gd name="adj2" fmla="val 6020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90" name="矩形 289"/>
            <p:cNvSpPr/>
            <p:nvPr/>
          </p:nvSpPr>
          <p:spPr>
            <a:xfrm flipV="1">
              <a:off x="1501652" y="1732000"/>
              <a:ext cx="814647" cy="261610"/>
            </a:xfrm>
            <a:prstGeom prst="rect">
              <a:avLst/>
            </a:prstGeom>
          </p:spPr>
          <p:txBody>
            <a:bodyPr wrap="none">
              <a:spAutoFit/>
            </a:bodyPr>
            <a:lstStyle/>
            <a:p>
              <a:pPr algn="ctr"/>
              <a:r>
                <a:rPr lang="en-US" altLang="zh-TW" sz="1100" dirty="0" smtClean="0"/>
                <a:t>hourly </a:t>
              </a:r>
              <a:r>
                <a:rPr lang="en-US" altLang="zh-TW" sz="1100" dirty="0"/>
                <a:t>API</a:t>
              </a:r>
              <a:endParaRPr lang="zh-TW" altLang="en-US" sz="1100" dirty="0"/>
            </a:p>
          </p:txBody>
        </p:sp>
      </p:grpSp>
      <p:grpSp>
        <p:nvGrpSpPr>
          <p:cNvPr id="291" name="群組 290"/>
          <p:cNvGrpSpPr/>
          <p:nvPr/>
        </p:nvGrpSpPr>
        <p:grpSpPr>
          <a:xfrm rot="10800000">
            <a:off x="8015279" y="4860961"/>
            <a:ext cx="923659" cy="291559"/>
            <a:chOff x="1435764" y="1732000"/>
            <a:chExt cx="923659" cy="291559"/>
          </a:xfrm>
        </p:grpSpPr>
        <p:sp>
          <p:nvSpPr>
            <p:cNvPr id="292" name="向左箭號圖說文字 291"/>
            <p:cNvSpPr/>
            <p:nvPr/>
          </p:nvSpPr>
          <p:spPr>
            <a:xfrm rot="16200000" flipV="1">
              <a:off x="1769046" y="1433181"/>
              <a:ext cx="257096" cy="923659"/>
            </a:xfrm>
            <a:prstGeom prst="leftArrowCallout">
              <a:avLst>
                <a:gd name="adj1" fmla="val 25000"/>
                <a:gd name="adj2" fmla="val 60203"/>
                <a:gd name="adj3" fmla="val 23275"/>
                <a:gd name="adj4" fmla="val 66701"/>
              </a:avLst>
            </a:prstGeom>
            <a:solidFill>
              <a:srgbClr val="FFC000">
                <a:alpha val="58000"/>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93" name="矩形 292"/>
            <p:cNvSpPr/>
            <p:nvPr/>
          </p:nvSpPr>
          <p:spPr>
            <a:xfrm flipV="1">
              <a:off x="1567378" y="1732000"/>
              <a:ext cx="683200" cy="261610"/>
            </a:xfrm>
            <a:prstGeom prst="rect">
              <a:avLst/>
            </a:prstGeom>
          </p:spPr>
          <p:txBody>
            <a:bodyPr wrap="none">
              <a:spAutoFit/>
            </a:bodyPr>
            <a:lstStyle/>
            <a:p>
              <a:pPr algn="ctr"/>
              <a:r>
                <a:rPr lang="en-US" altLang="zh-TW" sz="1100" dirty="0" smtClean="0"/>
                <a:t>Day API</a:t>
              </a:r>
              <a:endParaRPr lang="zh-TW" altLang="en-US" sz="1100" dirty="0"/>
            </a:p>
          </p:txBody>
        </p:sp>
      </p:grpSp>
      <p:cxnSp>
        <p:nvCxnSpPr>
          <p:cNvPr id="294" name="肘形接點 293"/>
          <p:cNvCxnSpPr>
            <a:stCxn id="241" idx="3"/>
            <a:endCxn id="264" idx="1"/>
          </p:cNvCxnSpPr>
          <p:nvPr/>
        </p:nvCxnSpPr>
        <p:spPr>
          <a:xfrm>
            <a:off x="4599902" y="4457966"/>
            <a:ext cx="735676" cy="0"/>
          </a:xfrm>
          <a:prstGeom prst="bentConnector3">
            <a:avLst>
              <a:gd name="adj1" fmla="val 50000"/>
            </a:avLst>
          </a:prstGeom>
          <a:ln w="190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2524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28" name="圖片 27"/>
          <p:cNvPicPr>
            <a:picLocks noChangeAspect="1"/>
          </p:cNvPicPr>
          <p:nvPr/>
        </p:nvPicPr>
        <p:blipFill>
          <a:blip r:embed="rId3"/>
          <a:stretch>
            <a:fillRect/>
          </a:stretch>
        </p:blipFill>
        <p:spPr>
          <a:xfrm>
            <a:off x="386535" y="861560"/>
            <a:ext cx="7831660" cy="3432085"/>
          </a:xfrm>
          <a:prstGeom prst="rect">
            <a:avLst/>
          </a:prstGeom>
        </p:spPr>
      </p:pic>
      <p:sp>
        <p:nvSpPr>
          <p:cNvPr id="33" name="矩形 32"/>
          <p:cNvSpPr/>
          <p:nvPr/>
        </p:nvSpPr>
        <p:spPr>
          <a:xfrm>
            <a:off x="405959" y="1176595"/>
            <a:ext cx="6461296" cy="1791222"/>
          </a:xfrm>
          <a:prstGeom prst="rect">
            <a:avLst/>
          </a:prstGeom>
          <a:solidFill>
            <a:schemeClr val="accent3">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4" name="文字方塊 33"/>
          <p:cNvSpPr txBox="1"/>
          <p:nvPr/>
        </p:nvSpPr>
        <p:spPr>
          <a:xfrm>
            <a:off x="405960" y="1176595"/>
            <a:ext cx="3224111"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顯示</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天內</a:t>
            </a:r>
            <a:r>
              <a:rPr lang="en-US" altLang="zh-TW" sz="1050" dirty="0" smtClean="0">
                <a:solidFill>
                  <a:schemeClr val="bg1"/>
                </a:solidFill>
                <a:latin typeface="微軟正黑體" panose="020B0604030504040204" pitchFamily="34" charset="-120"/>
                <a:ea typeface="微軟正黑體" panose="020B0604030504040204" pitchFamily="34" charset="-120"/>
              </a:rPr>
              <a:t>BY AOI Tool</a:t>
            </a:r>
            <a:r>
              <a:rPr lang="zh-TW" altLang="en-US" sz="1050" dirty="0" smtClean="0">
                <a:solidFill>
                  <a:schemeClr val="bg1"/>
                </a:solidFill>
                <a:latin typeface="微軟正黑體" panose="020B0604030504040204" pitchFamily="34" charset="-120"/>
                <a:ea typeface="微軟正黑體" panose="020B0604030504040204" pitchFamily="34" charset="-120"/>
              </a:rPr>
              <a:t>對應不同</a:t>
            </a:r>
            <a:r>
              <a:rPr lang="en-US" altLang="zh-TW" sz="1050" dirty="0" smtClean="0">
                <a:solidFill>
                  <a:schemeClr val="bg1"/>
                </a:solidFill>
                <a:latin typeface="微軟正黑體" panose="020B0604030504040204" pitchFamily="34" charset="-120"/>
                <a:ea typeface="微軟正黑體" panose="020B0604030504040204" pitchFamily="34" charset="-120"/>
              </a:rPr>
              <a:t>pi</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type</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run</a:t>
            </a:r>
            <a:r>
              <a:rPr lang="zh-TW" altLang="en-US" sz="1050" dirty="0" smtClean="0">
                <a:solidFill>
                  <a:schemeClr val="bg1"/>
                </a:solidFill>
                <a:latin typeface="微軟正黑體" panose="020B0604030504040204" pitchFamily="34" charset="-120"/>
                <a:ea typeface="微軟正黑體" panose="020B0604030504040204" pitchFamily="34" charset="-120"/>
              </a:rPr>
              <a:t>貨片數</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36" name="矩形 35"/>
          <p:cNvSpPr/>
          <p:nvPr/>
        </p:nvSpPr>
        <p:spPr>
          <a:xfrm>
            <a:off x="6957265" y="1158512"/>
            <a:ext cx="1170130" cy="603148"/>
          </a:xfrm>
          <a:prstGeom prst="rect">
            <a:avLst/>
          </a:prstGeom>
          <a:solidFill>
            <a:schemeClr val="accent3">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7" name="文字方塊 36"/>
          <p:cNvSpPr txBox="1"/>
          <p:nvPr/>
        </p:nvSpPr>
        <p:spPr>
          <a:xfrm>
            <a:off x="6886679" y="1507744"/>
            <a:ext cx="1350940"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篩選對應資料</a:t>
            </a:r>
            <a:r>
              <a:rPr lang="zh-TW" altLang="en-US" sz="1050" dirty="0">
                <a:solidFill>
                  <a:schemeClr val="bg1"/>
                </a:solidFill>
                <a:latin typeface="微軟正黑體" panose="020B0604030504040204" pitchFamily="34" charset="-120"/>
                <a:ea typeface="微軟正黑體" panose="020B0604030504040204" pitchFamily="34" charset="-120"/>
              </a:rPr>
              <a:t>群</a:t>
            </a:r>
          </a:p>
        </p:txBody>
      </p:sp>
      <p:sp>
        <p:nvSpPr>
          <p:cNvPr id="38" name="矩形 37"/>
          <p:cNvSpPr/>
          <p:nvPr/>
        </p:nvSpPr>
        <p:spPr>
          <a:xfrm>
            <a:off x="405959" y="3021800"/>
            <a:ext cx="6461296" cy="1215135"/>
          </a:xfrm>
          <a:prstGeom prst="rect">
            <a:avLst/>
          </a:prstGeom>
          <a:solidFill>
            <a:srgbClr val="CCFFFF">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2" name="文字方塊 41"/>
          <p:cNvSpPr txBox="1"/>
          <p:nvPr/>
        </p:nvSpPr>
        <p:spPr>
          <a:xfrm>
            <a:off x="431188" y="3028936"/>
            <a:ext cx="3224111"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en-US" altLang="zh-TW" sz="1050" dirty="0" smtClean="0">
                <a:solidFill>
                  <a:schemeClr val="bg1"/>
                </a:solidFill>
                <a:latin typeface="微軟正黑體" panose="020B0604030504040204" pitchFamily="34" charset="-120"/>
                <a:ea typeface="微軟正黑體" panose="020B0604030504040204" pitchFamily="34" charset="-120"/>
              </a:rPr>
              <a:t>BY DAY</a:t>
            </a:r>
            <a:r>
              <a:rPr lang="zh-TW" altLang="en-US" sz="1050" dirty="0" smtClean="0">
                <a:solidFill>
                  <a:schemeClr val="bg1"/>
                </a:solidFill>
                <a:latin typeface="微軟正黑體" panose="020B0604030504040204" pitchFamily="34" charset="-120"/>
                <a:ea typeface="微軟正黑體" panose="020B0604030504040204" pitchFamily="34" charset="-120"/>
              </a:rPr>
              <a:t>、</a:t>
            </a:r>
            <a:r>
              <a:rPr lang="en-US" altLang="zh-TW" sz="1050" dirty="0" smtClean="0">
                <a:solidFill>
                  <a:schemeClr val="bg1"/>
                </a:solidFill>
                <a:latin typeface="微軟正黑體" panose="020B0604030504040204" pitchFamily="34" charset="-120"/>
                <a:ea typeface="微軟正黑體" panose="020B0604030504040204" pitchFamily="34" charset="-120"/>
              </a:rPr>
              <a:t>AOI</a:t>
            </a:r>
            <a:r>
              <a:rPr lang="zh-TW" altLang="en-US" sz="1050" dirty="0" smtClean="0">
                <a:solidFill>
                  <a:schemeClr val="bg1"/>
                </a:solidFill>
                <a:latin typeface="微軟正黑體" panose="020B0604030504040204" pitchFamily="34" charset="-120"/>
                <a:ea typeface="微軟正黑體" panose="020B0604030504040204" pitchFamily="34" charset="-120"/>
              </a:rPr>
              <a:t>、</a:t>
            </a:r>
            <a:r>
              <a:rPr lang="en-US" altLang="zh-TW" sz="1050" dirty="0" smtClean="0">
                <a:solidFill>
                  <a:schemeClr val="bg1"/>
                </a:solidFill>
                <a:latin typeface="微軟正黑體" panose="020B0604030504040204" pitchFamily="34" charset="-120"/>
                <a:ea typeface="微軟正黑體" panose="020B0604030504040204" pitchFamily="34" charset="-120"/>
              </a:rPr>
              <a:t>PI</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TYPE</a:t>
            </a:r>
            <a:r>
              <a:rPr lang="zh-TW" altLang="en-US" sz="1050" dirty="0" smtClean="0">
                <a:solidFill>
                  <a:schemeClr val="bg1"/>
                </a:solidFill>
                <a:latin typeface="微軟正黑體" panose="020B0604030504040204" pitchFamily="34" charset="-120"/>
                <a:ea typeface="微軟正黑體" panose="020B0604030504040204" pitchFamily="34" charset="-120"/>
              </a:rPr>
              <a:t>資料總表</a:t>
            </a:r>
            <a:r>
              <a:rPr lang="en-US" altLang="zh-TW" sz="1050" dirty="0" smtClean="0">
                <a:solidFill>
                  <a:schemeClr val="bg1"/>
                </a:solidFill>
                <a:latin typeface="微軟正黑體" panose="020B0604030504040204" pitchFamily="34" charset="-120"/>
                <a:ea typeface="微軟正黑體" panose="020B0604030504040204" pitchFamily="34" charset="-120"/>
              </a:rPr>
              <a:t>(CHART)</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cxnSp>
        <p:nvCxnSpPr>
          <p:cNvPr id="46" name="直線單箭頭接點 45"/>
          <p:cNvCxnSpPr/>
          <p:nvPr/>
        </p:nvCxnSpPr>
        <p:spPr>
          <a:xfrm>
            <a:off x="6282190" y="2841780"/>
            <a:ext cx="0" cy="1125125"/>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47" name="圖片 46"/>
          <p:cNvPicPr>
            <a:picLocks noChangeAspect="1"/>
          </p:cNvPicPr>
          <p:nvPr/>
        </p:nvPicPr>
        <p:blipFill>
          <a:blip r:embed="rId4"/>
          <a:stretch>
            <a:fillRect/>
          </a:stretch>
        </p:blipFill>
        <p:spPr>
          <a:xfrm>
            <a:off x="1871700" y="4081670"/>
            <a:ext cx="5990829" cy="1005476"/>
          </a:xfrm>
          <a:prstGeom prst="rect">
            <a:avLst/>
          </a:prstGeom>
        </p:spPr>
      </p:pic>
      <p:sp>
        <p:nvSpPr>
          <p:cNvPr id="48" name="文字方塊 47"/>
          <p:cNvSpPr txBox="1"/>
          <p:nvPr/>
        </p:nvSpPr>
        <p:spPr>
          <a:xfrm>
            <a:off x="2959566" y="3939763"/>
            <a:ext cx="3600400"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點擊</a:t>
            </a:r>
            <a:r>
              <a:rPr lang="en-US" altLang="zh-TW" sz="1050" dirty="0" smtClean="0">
                <a:solidFill>
                  <a:schemeClr val="bg1"/>
                </a:solidFill>
                <a:latin typeface="微軟正黑體" panose="020B0604030504040204" pitchFamily="34" charset="-120"/>
                <a:ea typeface="微軟正黑體" panose="020B0604030504040204" pitchFamily="34" charset="-120"/>
              </a:rPr>
              <a:t>CHART</a:t>
            </a:r>
            <a:r>
              <a:rPr lang="zh-TW" altLang="en-US" sz="1050" dirty="0" smtClean="0">
                <a:solidFill>
                  <a:schemeClr val="bg1"/>
                </a:solidFill>
                <a:latin typeface="微軟正黑體" panose="020B0604030504040204" pitchFamily="34" charset="-120"/>
                <a:ea typeface="微軟正黑體" panose="020B0604030504040204" pitchFamily="34" charset="-120"/>
              </a:rPr>
              <a:t>特定天顯示對應</a:t>
            </a:r>
            <a:r>
              <a:rPr lang="en-US" altLang="zh-TW" sz="1050" dirty="0" smtClean="0">
                <a:solidFill>
                  <a:schemeClr val="bg1"/>
                </a:solidFill>
                <a:latin typeface="微軟正黑體" panose="020B0604030504040204" pitchFamily="34" charset="-120"/>
                <a:ea typeface="微軟正黑體" panose="020B0604030504040204" pitchFamily="34" charset="-120"/>
              </a:rPr>
              <a:t>24</a:t>
            </a:r>
            <a:r>
              <a:rPr lang="zh-TW" altLang="en-US" sz="1050" dirty="0" smtClean="0">
                <a:solidFill>
                  <a:schemeClr val="bg1"/>
                </a:solidFill>
                <a:latin typeface="微軟正黑體" panose="020B0604030504040204" pitchFamily="34" charset="-120"/>
                <a:ea typeface="微軟正黑體" panose="020B0604030504040204" pitchFamily="34" charset="-120"/>
              </a:rPr>
              <a:t>小時累計片數及使用率詳情</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49" name="文字方塊 48"/>
          <p:cNvSpPr txBox="1"/>
          <p:nvPr/>
        </p:nvSpPr>
        <p:spPr>
          <a:xfrm>
            <a:off x="6845102" y="4738432"/>
            <a:ext cx="1195260"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en-US" altLang="zh-TW" sz="1050" dirty="0" smtClean="0">
                <a:solidFill>
                  <a:schemeClr val="bg1"/>
                </a:solidFill>
                <a:latin typeface="微軟正黑體" panose="020B0604030504040204" pitchFamily="34" charset="-120"/>
                <a:ea typeface="微軟正黑體" panose="020B0604030504040204" pitchFamily="34" charset="-120"/>
              </a:rPr>
              <a:t>comment</a:t>
            </a:r>
            <a:r>
              <a:rPr lang="zh-TW" altLang="en-US" sz="1050" dirty="0" smtClean="0">
                <a:solidFill>
                  <a:schemeClr val="bg1"/>
                </a:solidFill>
                <a:latin typeface="微軟正黑體" panose="020B0604030504040204" pitchFamily="34" charset="-120"/>
                <a:ea typeface="微軟正黑體" panose="020B0604030504040204" pitchFamily="34" charset="-120"/>
              </a:rPr>
              <a:t>區域</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50" name="矩形 49"/>
          <p:cNvSpPr/>
          <p:nvPr/>
        </p:nvSpPr>
        <p:spPr>
          <a:xfrm flipV="1">
            <a:off x="6820877" y="4119286"/>
            <a:ext cx="1041652" cy="967860"/>
          </a:xfrm>
          <a:prstGeom prst="rect">
            <a:avLst/>
          </a:prstGeom>
          <a:solidFill>
            <a:srgbClr val="0070C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51" name="圖片 50"/>
          <p:cNvPicPr>
            <a:picLocks noChangeAspect="1"/>
          </p:cNvPicPr>
          <p:nvPr/>
        </p:nvPicPr>
        <p:blipFill>
          <a:blip r:embed="rId5"/>
          <a:stretch>
            <a:fillRect/>
          </a:stretch>
        </p:blipFill>
        <p:spPr>
          <a:xfrm>
            <a:off x="7564876" y="2608088"/>
            <a:ext cx="1344205" cy="1005665"/>
          </a:xfrm>
          <a:prstGeom prst="rect">
            <a:avLst/>
          </a:prstGeom>
        </p:spPr>
      </p:pic>
      <p:cxnSp>
        <p:nvCxnSpPr>
          <p:cNvPr id="52" name="直線單箭頭接點 51"/>
          <p:cNvCxnSpPr/>
          <p:nvPr/>
        </p:nvCxnSpPr>
        <p:spPr>
          <a:xfrm>
            <a:off x="7737153" y="2490458"/>
            <a:ext cx="125376" cy="117630"/>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9572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17" name="圖片 16"/>
          <p:cNvPicPr>
            <a:picLocks noChangeAspect="1"/>
          </p:cNvPicPr>
          <p:nvPr/>
        </p:nvPicPr>
        <p:blipFill>
          <a:blip r:embed="rId3"/>
          <a:stretch>
            <a:fillRect/>
          </a:stretch>
        </p:blipFill>
        <p:spPr>
          <a:xfrm>
            <a:off x="60960" y="821559"/>
            <a:ext cx="8975148" cy="3834792"/>
          </a:xfrm>
          <a:prstGeom prst="rect">
            <a:avLst/>
          </a:prstGeom>
        </p:spPr>
      </p:pic>
      <p:sp>
        <p:nvSpPr>
          <p:cNvPr id="18" name="矩形 17"/>
          <p:cNvSpPr/>
          <p:nvPr/>
        </p:nvSpPr>
        <p:spPr>
          <a:xfrm>
            <a:off x="174528" y="1202499"/>
            <a:ext cx="7453092" cy="1791222"/>
          </a:xfrm>
          <a:prstGeom prst="rect">
            <a:avLst/>
          </a:prstGeom>
          <a:solidFill>
            <a:schemeClr val="accent3">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9" name="文字方塊 18"/>
          <p:cNvSpPr txBox="1"/>
          <p:nvPr/>
        </p:nvSpPr>
        <p:spPr>
          <a:xfrm>
            <a:off x="174529" y="1202499"/>
            <a:ext cx="3224111"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顯示</a:t>
            </a:r>
            <a:r>
              <a:rPr lang="en-US" altLang="zh-TW" sz="1050" dirty="0" smtClean="0">
                <a:solidFill>
                  <a:schemeClr val="bg1"/>
                </a:solidFill>
                <a:latin typeface="微軟正黑體" panose="020B0604030504040204" pitchFamily="34" charset="-120"/>
                <a:ea typeface="微軟正黑體" panose="020B0604030504040204" pitchFamily="34" charset="-120"/>
              </a:rPr>
              <a:t>7</a:t>
            </a:r>
            <a:r>
              <a:rPr lang="zh-TW" altLang="en-US" sz="1050" dirty="0" smtClean="0">
                <a:solidFill>
                  <a:schemeClr val="bg1"/>
                </a:solidFill>
                <a:latin typeface="微軟正黑體" panose="020B0604030504040204" pitchFamily="34" charset="-120"/>
                <a:ea typeface="微軟正黑體" panose="020B0604030504040204" pitchFamily="34" charset="-120"/>
              </a:rPr>
              <a:t>天內</a:t>
            </a:r>
            <a:r>
              <a:rPr lang="en-US" altLang="zh-TW" sz="1050" dirty="0" smtClean="0">
                <a:solidFill>
                  <a:schemeClr val="bg1"/>
                </a:solidFill>
                <a:latin typeface="微軟正黑體" panose="020B0604030504040204" pitchFamily="34" charset="-120"/>
                <a:ea typeface="微軟正黑體" panose="020B0604030504040204" pitchFamily="34" charset="-120"/>
              </a:rPr>
              <a:t>BY AOI Tool</a:t>
            </a:r>
            <a:r>
              <a:rPr lang="zh-TW" altLang="en-US" sz="1050" dirty="0" smtClean="0">
                <a:solidFill>
                  <a:schemeClr val="bg1"/>
                </a:solidFill>
                <a:latin typeface="微軟正黑體" panose="020B0604030504040204" pitchFamily="34" charset="-120"/>
                <a:ea typeface="微軟正黑體" panose="020B0604030504040204" pitchFamily="34" charset="-120"/>
              </a:rPr>
              <a:t>對應不同</a:t>
            </a:r>
            <a:r>
              <a:rPr lang="en-US" altLang="zh-TW" sz="1050" dirty="0" smtClean="0">
                <a:solidFill>
                  <a:schemeClr val="bg1"/>
                </a:solidFill>
                <a:latin typeface="微軟正黑體" panose="020B0604030504040204" pitchFamily="34" charset="-120"/>
                <a:ea typeface="微軟正黑體" panose="020B0604030504040204" pitchFamily="34" charset="-120"/>
              </a:rPr>
              <a:t>pi</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type</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run</a:t>
            </a:r>
            <a:r>
              <a:rPr lang="zh-TW" altLang="en-US" sz="1050" dirty="0" smtClean="0">
                <a:solidFill>
                  <a:schemeClr val="bg1"/>
                </a:solidFill>
                <a:latin typeface="微軟正黑體" panose="020B0604030504040204" pitchFamily="34" charset="-120"/>
                <a:ea typeface="微軟正黑體" panose="020B0604030504040204" pitchFamily="34" charset="-120"/>
              </a:rPr>
              <a:t>貨片數</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0" name="矩形 19"/>
          <p:cNvSpPr/>
          <p:nvPr/>
        </p:nvSpPr>
        <p:spPr>
          <a:xfrm>
            <a:off x="6848471" y="1202500"/>
            <a:ext cx="779149" cy="174598"/>
          </a:xfrm>
          <a:prstGeom prst="rect">
            <a:avLst/>
          </a:prstGeom>
          <a:solidFill>
            <a:schemeClr val="accent2">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1" name="矩形 20"/>
          <p:cNvSpPr/>
          <p:nvPr/>
        </p:nvSpPr>
        <p:spPr>
          <a:xfrm>
            <a:off x="8457515" y="2120427"/>
            <a:ext cx="492905" cy="669316"/>
          </a:xfrm>
          <a:prstGeom prst="rect">
            <a:avLst/>
          </a:prstGeom>
          <a:solidFill>
            <a:schemeClr val="accent2">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2" name="文字方塊 21"/>
          <p:cNvSpPr txBox="1"/>
          <p:nvPr/>
        </p:nvSpPr>
        <p:spPr>
          <a:xfrm>
            <a:off x="6575520" y="272084"/>
            <a:ext cx="2374900" cy="577081"/>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根據</a:t>
            </a:r>
            <a:r>
              <a:rPr lang="en-US" altLang="zh-TW" sz="1050" dirty="0" smtClean="0">
                <a:solidFill>
                  <a:schemeClr val="bg1"/>
                </a:solidFill>
                <a:latin typeface="微軟正黑體" panose="020B0604030504040204" pitchFamily="34" charset="-120"/>
                <a:ea typeface="微軟正黑體" panose="020B0604030504040204" pitchFamily="34" charset="-120"/>
              </a:rPr>
              <a:t>Owner</a:t>
            </a:r>
            <a:r>
              <a:rPr lang="zh-TW" altLang="en-US" sz="1050" dirty="0" smtClean="0">
                <a:solidFill>
                  <a:schemeClr val="bg1"/>
                </a:solidFill>
                <a:latin typeface="微軟正黑體" panose="020B0604030504040204" pitchFamily="34" charset="-120"/>
                <a:ea typeface="微軟正黑體" panose="020B0604030504040204" pitchFamily="34" charset="-120"/>
              </a:rPr>
              <a:t>自主設定</a:t>
            </a:r>
            <a:r>
              <a:rPr lang="en-US" altLang="zh-TW" sz="1050" dirty="0" smtClean="0">
                <a:solidFill>
                  <a:schemeClr val="bg1"/>
                </a:solidFill>
                <a:latin typeface="微軟正黑體" panose="020B0604030504040204" pitchFamily="34" charset="-120"/>
                <a:ea typeface="微軟正黑體" panose="020B0604030504040204" pitchFamily="34" charset="-120"/>
              </a:rPr>
              <a:t>spec</a:t>
            </a:r>
            <a:r>
              <a:rPr lang="zh-TW" altLang="en-US" sz="1050" dirty="0" smtClean="0">
                <a:solidFill>
                  <a:schemeClr val="bg1"/>
                </a:solidFill>
                <a:latin typeface="微軟正黑體" panose="020B0604030504040204" pitchFamily="34" charset="-120"/>
                <a:ea typeface="微軟正黑體" panose="020B0604030504040204" pitchFamily="34" charset="-120"/>
              </a:rPr>
              <a:t>卡控</a:t>
            </a:r>
            <a:r>
              <a:rPr lang="en-US" altLang="zh-TW" sz="1050" dirty="0" smtClean="0">
                <a:solidFill>
                  <a:schemeClr val="bg1"/>
                </a:solidFill>
                <a:latin typeface="微軟正黑體" panose="020B0604030504040204" pitchFamily="34" charset="-120"/>
                <a:ea typeface="微軟正黑體" panose="020B0604030504040204" pitchFamily="34" charset="-120"/>
              </a:rPr>
              <a:t>Capa</a:t>
            </a:r>
          </a:p>
          <a:p>
            <a:pPr marL="171450" indent="-171450">
              <a:buFont typeface="Arial" panose="020B0604020202020204" pitchFamily="34" charset="0"/>
              <a:buChar char="•"/>
            </a:pPr>
            <a:r>
              <a:rPr lang="en-US" altLang="zh-TW" sz="1050" dirty="0" smtClean="0">
                <a:solidFill>
                  <a:schemeClr val="bg1"/>
                </a:solidFill>
                <a:latin typeface="微軟正黑體" panose="020B0604030504040204" pitchFamily="34" charset="-120"/>
                <a:ea typeface="微軟正黑體" panose="020B0604030504040204" pitchFamily="34" charset="-120"/>
              </a:rPr>
              <a:t>oos:spec</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value</a:t>
            </a:r>
          </a:p>
          <a:p>
            <a:pPr marL="171450" indent="-171450">
              <a:buFont typeface="Arial" panose="020B0604020202020204" pitchFamily="34" charset="0"/>
              <a:buChar char="•"/>
            </a:pPr>
            <a:r>
              <a:rPr lang="en-US" altLang="zh-TW" sz="1050" dirty="0" smtClean="0">
                <a:solidFill>
                  <a:schemeClr val="bg1"/>
                </a:solidFill>
                <a:latin typeface="微軟正黑體" panose="020B0604030504040204" pitchFamily="34" charset="-120"/>
                <a:ea typeface="微軟正黑體" panose="020B0604030504040204" pitchFamily="34" charset="-120"/>
              </a:rPr>
              <a:t>ooc:</a:t>
            </a:r>
            <a:r>
              <a:rPr lang="zh-TW" altLang="en-US" sz="1050" dirty="0" smtClean="0">
                <a:solidFill>
                  <a:schemeClr val="bg1"/>
                </a:solidFill>
                <a:latin typeface="微軟正黑體" panose="020B0604030504040204" pitchFamily="34" charset="-120"/>
                <a:ea typeface="微軟正黑體" panose="020B0604030504040204" pitchFamily="34" charset="-120"/>
              </a:rPr>
              <a:t> </a:t>
            </a:r>
            <a:r>
              <a:rPr lang="en-US" altLang="zh-TW" sz="1050" dirty="0" smtClean="0">
                <a:solidFill>
                  <a:schemeClr val="bg1"/>
                </a:solidFill>
                <a:latin typeface="微軟正黑體" panose="020B0604030504040204" pitchFamily="34" charset="-120"/>
                <a:ea typeface="微軟正黑體" panose="020B0604030504040204" pitchFamily="34" charset="-120"/>
              </a:rPr>
              <a:t>spec*0.8</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3" name="矩形 22"/>
          <p:cNvSpPr/>
          <p:nvPr/>
        </p:nvSpPr>
        <p:spPr>
          <a:xfrm>
            <a:off x="60960" y="4156509"/>
            <a:ext cx="7461727" cy="255436"/>
          </a:xfrm>
          <a:prstGeom prst="rect">
            <a:avLst/>
          </a:prstGeom>
          <a:solidFill>
            <a:schemeClr val="accent4">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4" name="矩形 23"/>
          <p:cNvSpPr/>
          <p:nvPr/>
        </p:nvSpPr>
        <p:spPr>
          <a:xfrm>
            <a:off x="60960" y="4460138"/>
            <a:ext cx="7461727" cy="116129"/>
          </a:xfrm>
          <a:prstGeom prst="rect">
            <a:avLst/>
          </a:prstGeom>
          <a:solidFill>
            <a:schemeClr val="accent2">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5" name="矩形 24"/>
          <p:cNvSpPr/>
          <p:nvPr/>
        </p:nvSpPr>
        <p:spPr>
          <a:xfrm flipV="1">
            <a:off x="7993965" y="2120427"/>
            <a:ext cx="463550" cy="669316"/>
          </a:xfrm>
          <a:prstGeom prst="rect">
            <a:avLst/>
          </a:prstGeom>
          <a:solidFill>
            <a:schemeClr val="accent4">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6" name="文字方塊 25"/>
          <p:cNvSpPr txBox="1"/>
          <p:nvPr/>
        </p:nvSpPr>
        <p:spPr>
          <a:xfrm>
            <a:off x="3611306" y="3374661"/>
            <a:ext cx="1132301"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a:solidFill>
                  <a:schemeClr val="bg1"/>
                </a:solidFill>
                <a:latin typeface="微軟正黑體" panose="020B0604030504040204" pitchFamily="34" charset="-120"/>
                <a:ea typeface="微軟正黑體" panose="020B0604030504040204" pitchFamily="34" charset="-120"/>
              </a:rPr>
              <a:t>每</a:t>
            </a:r>
            <a:r>
              <a:rPr lang="zh-TW" altLang="en-US" sz="1050" dirty="0" smtClean="0">
                <a:solidFill>
                  <a:schemeClr val="bg1"/>
                </a:solidFill>
                <a:latin typeface="微軟正黑體" panose="020B0604030504040204" pitchFamily="34" charset="-120"/>
                <a:ea typeface="微軟正黑體" panose="020B0604030504040204" pitchFamily="34" charset="-120"/>
              </a:rPr>
              <a:t>小時</a:t>
            </a:r>
            <a:r>
              <a:rPr lang="en-US" altLang="zh-TW" sz="1050" dirty="0" smtClean="0">
                <a:solidFill>
                  <a:schemeClr val="bg1"/>
                </a:solidFill>
                <a:latin typeface="微軟正黑體" panose="020B0604030504040204" pitchFamily="34" charset="-120"/>
                <a:ea typeface="微軟正黑體" panose="020B0604030504040204" pitchFamily="34" charset="-120"/>
              </a:rPr>
              <a:t>run</a:t>
            </a:r>
            <a:r>
              <a:rPr lang="zh-TW" altLang="en-US" sz="1050" dirty="0" smtClean="0">
                <a:solidFill>
                  <a:schemeClr val="bg1"/>
                </a:solidFill>
                <a:latin typeface="微軟正黑體" panose="020B0604030504040204" pitchFamily="34" charset="-120"/>
                <a:ea typeface="微軟正黑體" panose="020B0604030504040204" pitchFamily="34" charset="-120"/>
              </a:rPr>
              <a:t>片數</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7" name="文字方塊 26"/>
          <p:cNvSpPr txBox="1"/>
          <p:nvPr/>
        </p:nvSpPr>
        <p:spPr>
          <a:xfrm>
            <a:off x="6090966" y="4126138"/>
            <a:ext cx="1408527"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zh-TW" altLang="en-US" sz="1050" dirty="0" smtClean="0">
                <a:solidFill>
                  <a:schemeClr val="bg1"/>
                </a:solidFill>
                <a:latin typeface="微軟正黑體" panose="020B0604030504040204" pitchFamily="34" charset="-120"/>
                <a:ea typeface="微軟正黑體" panose="020B0604030504040204" pitchFamily="34" charset="-120"/>
              </a:rPr>
              <a:t>每小時使用率</a:t>
            </a:r>
            <a:r>
              <a:rPr lang="en-US" altLang="zh-TW" sz="1050" dirty="0" smtClean="0">
                <a:solidFill>
                  <a:schemeClr val="bg1"/>
                </a:solidFill>
                <a:latin typeface="微軟正黑體" panose="020B0604030504040204" pitchFamily="34" charset="-120"/>
                <a:ea typeface="微軟正黑體" panose="020B0604030504040204" pitchFamily="34" charset="-120"/>
              </a:rPr>
              <a:t>&amp;</a:t>
            </a:r>
            <a:r>
              <a:rPr lang="zh-TW" altLang="en-US" sz="1050" dirty="0" smtClean="0">
                <a:solidFill>
                  <a:schemeClr val="bg1"/>
                </a:solidFill>
                <a:latin typeface="微軟正黑體" panose="020B0604030504040204" pitchFamily="34" charset="-120"/>
                <a:ea typeface="微軟正黑體" panose="020B0604030504040204" pitchFamily="34" charset="-120"/>
              </a:rPr>
              <a:t>累計</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
        <p:nvSpPr>
          <p:cNvPr id="29" name="矩形 28"/>
          <p:cNvSpPr/>
          <p:nvPr/>
        </p:nvSpPr>
        <p:spPr>
          <a:xfrm flipV="1">
            <a:off x="7553564" y="3368138"/>
            <a:ext cx="1482544" cy="1288212"/>
          </a:xfrm>
          <a:prstGeom prst="rect">
            <a:avLst/>
          </a:prstGeom>
          <a:solidFill>
            <a:srgbClr val="0070C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30" name="圖片 29"/>
          <p:cNvPicPr>
            <a:picLocks noChangeAspect="1"/>
          </p:cNvPicPr>
          <p:nvPr/>
        </p:nvPicPr>
        <p:blipFill>
          <a:blip r:embed="rId4"/>
          <a:stretch>
            <a:fillRect/>
          </a:stretch>
        </p:blipFill>
        <p:spPr>
          <a:xfrm>
            <a:off x="7993965" y="3962698"/>
            <a:ext cx="1140934" cy="1111008"/>
          </a:xfrm>
          <a:prstGeom prst="rect">
            <a:avLst/>
          </a:prstGeom>
        </p:spPr>
      </p:pic>
      <p:sp>
        <p:nvSpPr>
          <p:cNvPr id="31" name="文字方塊 30"/>
          <p:cNvSpPr txBox="1"/>
          <p:nvPr/>
        </p:nvSpPr>
        <p:spPr>
          <a:xfrm>
            <a:off x="7848658" y="3114221"/>
            <a:ext cx="1187450" cy="253916"/>
          </a:xfrm>
          <a:prstGeom prst="rect">
            <a:avLst/>
          </a:prstGeom>
          <a:solidFill>
            <a:schemeClr val="accent1"/>
          </a:solidFill>
          <a:ln>
            <a:noFill/>
          </a:ln>
        </p:spPr>
        <p:txBody>
          <a:bodyPr wrap="square" rtlCol="0">
            <a:spAutoFit/>
          </a:bodyPr>
          <a:lstStyle>
            <a:defPPr>
              <a:defRPr lang="zh-TW"/>
            </a:defPPr>
            <a:lvl2pPr lvl="1">
              <a:defRPr sz="1200">
                <a:latin typeface="+mn-ea"/>
              </a:defRPr>
            </a:lvl2pPr>
            <a:lvl3pPr marL="914400" lvl="2" indent="-228600">
              <a:buFont typeface="Wingdings" panose="05000000000000000000" pitchFamily="2" charset="2"/>
              <a:buAutoNum type="circleNumWdWhitePlain"/>
              <a:defRPr sz="1200">
                <a:latin typeface="+mn-ea"/>
              </a:defRPr>
            </a:lvl3pPr>
          </a:lstStyle>
          <a:p>
            <a:r>
              <a:rPr lang="en-US" altLang="zh-TW" sz="1050" dirty="0" smtClean="0">
                <a:solidFill>
                  <a:schemeClr val="bg1"/>
                </a:solidFill>
                <a:latin typeface="微軟正黑體" panose="020B0604030504040204" pitchFamily="34" charset="-120"/>
                <a:ea typeface="微軟正黑體" panose="020B0604030504040204" pitchFamily="34" charset="-120"/>
              </a:rPr>
              <a:t>Owner</a:t>
            </a:r>
            <a:r>
              <a:rPr lang="zh-TW" altLang="en-US" sz="1050" dirty="0" smtClean="0">
                <a:solidFill>
                  <a:schemeClr val="bg1"/>
                </a:solidFill>
                <a:latin typeface="微軟正黑體" panose="020B0604030504040204" pitchFamily="34" charset="-120"/>
                <a:ea typeface="微軟正黑體" panose="020B0604030504040204" pitchFamily="34" charset="-120"/>
              </a:rPr>
              <a:t>可下註解</a:t>
            </a:r>
            <a:endParaRPr lang="zh-TW" altLang="en-US" sz="105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629882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a:t>— </a:t>
            </a:r>
            <a:r>
              <a:rPr lang="en-US" altLang="zh-TW" dirty="0" smtClean="0"/>
              <a:t>MQC</a:t>
            </a:r>
            <a:r>
              <a:rPr lang="zh-TW" altLang="en-US" dirty="0" smtClean="0"/>
              <a:t>自動套圖</a:t>
            </a:r>
            <a:endParaRPr lang="zh-TW" altLang="zh-TW" dirty="0"/>
          </a:p>
        </p:txBody>
      </p:sp>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4" name="圓角矩形 3"/>
          <p:cNvSpPr/>
          <p:nvPr/>
        </p:nvSpPr>
        <p:spPr>
          <a:xfrm>
            <a:off x="22548" y="692533"/>
            <a:ext cx="4436648" cy="1596277"/>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just">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5" name="矩形 4"/>
          <p:cNvSpPr/>
          <p:nvPr/>
        </p:nvSpPr>
        <p:spPr>
          <a:xfrm>
            <a:off x="122075" y="640266"/>
            <a:ext cx="997203"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改善前</a:t>
            </a:r>
            <a:r>
              <a:rPr lang="en-US" altLang="zh-TW" sz="1600" b="1" dirty="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sp>
        <p:nvSpPr>
          <p:cNvPr id="6" name="矩形 5"/>
          <p:cNvSpPr/>
          <p:nvPr/>
        </p:nvSpPr>
        <p:spPr>
          <a:xfrm>
            <a:off x="179300" y="910540"/>
            <a:ext cx="4185321" cy="1361911"/>
          </a:xfrm>
          <a:prstGeom prst="rect">
            <a:avLst/>
          </a:prstGeom>
        </p:spPr>
        <p:txBody>
          <a:bodyPr wrap="square">
            <a:spAutoFit/>
          </a:bodyPr>
          <a:lstStyle/>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等製造人員通知結果產出</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製程上系統下載所有量測檔案</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約</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20~30</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日</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p>
          <a:p>
            <a:pPr marL="171450" indent="-171450" algn="just">
              <a:lnSpc>
                <a:spcPct val="150000"/>
              </a:lnSpc>
              <a:buFont typeface="Wingdings" panose="05000000000000000000" pitchFamily="2" charset="2"/>
              <a:buChar char="Ø"/>
            </a:pP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by</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Recipe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同</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Model</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PEP</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MQC)</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套用不同的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EXCEL</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圖表作圖</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查找對應</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spec</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數值</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/Range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並套</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EXCEL</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Judge</a:t>
            </a:r>
          </a:p>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回去下</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載</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前幾筆同</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Recipe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資料套</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EXCEL</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圖表點對點數值作圖</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p:txBody>
      </p:sp>
      <p:sp>
        <p:nvSpPr>
          <p:cNvPr id="7" name="矩形 6"/>
          <p:cNvSpPr/>
          <p:nvPr/>
        </p:nvSpPr>
        <p:spPr>
          <a:xfrm>
            <a:off x="22548" y="2296017"/>
            <a:ext cx="1387361"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技術對策</a:t>
            </a:r>
            <a:r>
              <a:rPr lang="en-US" altLang="zh-TW" sz="1600" b="1" dirty="0">
                <a:solidFill>
                  <a:prstClr val="black"/>
                </a:solidFill>
                <a:latin typeface="微軟正黑體" pitchFamily="34" charset="-120"/>
                <a:ea typeface="微軟正黑體" panose="020B0604030504040204" pitchFamily="34" charset="-120"/>
              </a:rPr>
              <a:t>:</a:t>
            </a:r>
            <a:endParaRPr lang="zh-TW" altLang="en-US" sz="1600" dirty="0">
              <a:solidFill>
                <a:prstClr val="black">
                  <a:lumMod val="95000"/>
                  <a:lumOff val="5000"/>
                </a:prstClr>
              </a:solidFill>
              <a:latin typeface="微軟正黑體" pitchFamily="34" charset="-120"/>
              <a:ea typeface="微軟正黑體" panose="020B0604030504040204" pitchFamily="34" charset="-120"/>
            </a:endParaRPr>
          </a:p>
        </p:txBody>
      </p:sp>
      <p:sp>
        <p:nvSpPr>
          <p:cNvPr id="8" name="圓角矩形 7"/>
          <p:cNvSpPr/>
          <p:nvPr/>
        </p:nvSpPr>
        <p:spPr>
          <a:xfrm>
            <a:off x="4689530" y="681737"/>
            <a:ext cx="4363066" cy="3875882"/>
          </a:xfrm>
          <a:prstGeom prst="roundRect">
            <a:avLst>
              <a:gd name="adj" fmla="val 335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just">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9" name="矩形 8"/>
          <p:cNvSpPr/>
          <p:nvPr/>
        </p:nvSpPr>
        <p:spPr>
          <a:xfrm>
            <a:off x="4732231" y="640266"/>
            <a:ext cx="997203" cy="338554"/>
          </a:xfrm>
          <a:prstGeom prst="rect">
            <a:avLst/>
          </a:prstGeom>
        </p:spPr>
        <p:txBody>
          <a:bodyPr wrap="square">
            <a:spAutoFit/>
          </a:bodyPr>
          <a:lstStyle/>
          <a:p>
            <a:pPr>
              <a:defRPr/>
            </a:pPr>
            <a:r>
              <a:rPr lang="zh-TW" altLang="en-US" sz="1600" b="1" dirty="0" smtClean="0">
                <a:solidFill>
                  <a:prstClr val="black"/>
                </a:solidFill>
                <a:latin typeface="微軟正黑體" pitchFamily="34" charset="-120"/>
                <a:ea typeface="微軟正黑體" panose="020B0604030504040204" pitchFamily="34" charset="-120"/>
              </a:rPr>
              <a:t>改善</a:t>
            </a:r>
            <a:r>
              <a:rPr lang="zh-TW" altLang="en-US" sz="1600" b="1" dirty="0">
                <a:solidFill>
                  <a:prstClr val="black"/>
                </a:solidFill>
                <a:latin typeface="微軟正黑體" pitchFamily="34" charset="-120"/>
                <a:ea typeface="微軟正黑體" panose="020B0604030504040204" pitchFamily="34" charset="-120"/>
              </a:rPr>
              <a:t>後</a:t>
            </a:r>
            <a:r>
              <a:rPr lang="en-US" altLang="zh-TW" sz="1600" b="1" dirty="0" smtClean="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grpSp>
        <p:nvGrpSpPr>
          <p:cNvPr id="10" name="群組 9"/>
          <p:cNvGrpSpPr/>
          <p:nvPr/>
        </p:nvGrpSpPr>
        <p:grpSpPr>
          <a:xfrm>
            <a:off x="5379710" y="4642962"/>
            <a:ext cx="2007081" cy="307250"/>
            <a:chOff x="4784126" y="4672846"/>
            <a:chExt cx="2007081" cy="307250"/>
          </a:xfrm>
        </p:grpSpPr>
        <p:sp>
          <p:nvSpPr>
            <p:cNvPr id="11" name="圓角矩形 10"/>
            <p:cNvSpPr/>
            <p:nvPr/>
          </p:nvSpPr>
          <p:spPr>
            <a:xfrm>
              <a:off x="4784126" y="4672846"/>
              <a:ext cx="1938650" cy="307250"/>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微軟正黑體" panose="020B0604030504040204" pitchFamily="34" charset="-120"/>
                <a:ea typeface="微軟正黑體" panose="020B0604030504040204" pitchFamily="34" charset="-120"/>
              </a:endParaRPr>
            </a:p>
          </p:txBody>
        </p:sp>
        <p:sp>
          <p:nvSpPr>
            <p:cNvPr id="12" name="文字方塊 11"/>
            <p:cNvSpPr txBox="1"/>
            <p:nvPr/>
          </p:nvSpPr>
          <p:spPr>
            <a:xfrm>
              <a:off x="5501797" y="4703360"/>
              <a:ext cx="1289410" cy="246221"/>
            </a:xfrm>
            <a:prstGeom prst="rect">
              <a:avLst/>
            </a:prstGeom>
            <a:noFill/>
          </p:spPr>
          <p:txBody>
            <a:bodyPr wrap="square" rtlCol="0">
              <a:spAutoFit/>
            </a:bodyPr>
            <a:lstStyle/>
            <a:p>
              <a:r>
                <a:rPr lang="zh-TW" altLang="en-US" sz="1000" b="1" dirty="0" smtClean="0">
                  <a:solidFill>
                    <a:srgbClr val="F64C00"/>
                  </a:solidFill>
                  <a:latin typeface="微軟正黑體" panose="020B0604030504040204" pitchFamily="34" charset="-120"/>
                  <a:ea typeface="微軟正黑體" panose="020B0604030504040204" pitchFamily="34" charset="-120"/>
                </a:rPr>
                <a:t>減少</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solidFill>
                    <a:schemeClr val="accent1"/>
                  </a:solidFill>
                  <a:latin typeface="微軟正黑體" panose="020B0604030504040204" pitchFamily="34" charset="-120"/>
                  <a:ea typeface="微軟正黑體" panose="020B0604030504040204" pitchFamily="34" charset="-120"/>
                </a:rPr>
                <a:t>DL 0.5/</a:t>
              </a:r>
              <a:r>
                <a:rPr lang="zh-TW" altLang="en-US" sz="1000" b="1" dirty="0">
                  <a:solidFill>
                    <a:schemeClr val="accent1"/>
                  </a:solidFill>
                  <a:latin typeface="微軟正黑體" panose="020B0604030504040204" pitchFamily="34" charset="-120"/>
                  <a:ea typeface="微軟正黑體" panose="020B0604030504040204" pitchFamily="34" charset="-120"/>
                </a:rPr>
                <a:t>人</a:t>
              </a:r>
            </a:p>
          </p:txBody>
        </p:sp>
      </p:grpSp>
      <p:sp>
        <p:nvSpPr>
          <p:cNvPr id="14" name="矩形 218"/>
          <p:cNvSpPr>
            <a:spLocks noChangeArrowheads="1"/>
          </p:cNvSpPr>
          <p:nvPr/>
        </p:nvSpPr>
        <p:spPr bwMode="auto">
          <a:xfrm>
            <a:off x="4689530" y="4599090"/>
            <a:ext cx="1080121"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fontAlgn="auto" hangingPunct="1">
              <a:spcBef>
                <a:spcPts val="0"/>
              </a:spcBef>
              <a:spcAft>
                <a:spcPts val="0"/>
              </a:spcAft>
            </a:pPr>
            <a:r>
              <a:rPr lang="zh-TW" altLang="en-US" sz="1600" b="1" dirty="0">
                <a:solidFill>
                  <a:prstClr val="black"/>
                </a:solidFill>
                <a:latin typeface="微軟正黑體" panose="020B0604030504040204" pitchFamily="34" charset="-120"/>
                <a:ea typeface="微軟正黑體" panose="020B0604030504040204" pitchFamily="34" charset="-120"/>
              </a:rPr>
              <a:t>效益</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sp>
        <p:nvSpPr>
          <p:cNvPr id="15" name="矩形 14"/>
          <p:cNvSpPr/>
          <p:nvPr/>
        </p:nvSpPr>
        <p:spPr>
          <a:xfrm>
            <a:off x="4787685" y="932055"/>
            <a:ext cx="4185321" cy="1107996"/>
          </a:xfrm>
          <a:prstGeom prst="rect">
            <a:avLst/>
          </a:prstGeom>
        </p:spPr>
        <p:txBody>
          <a:bodyPr wrap="square">
            <a:spAutoFit/>
          </a:bodyPr>
          <a:lstStyle/>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一站式交互網頁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串</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e-stone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警示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over</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spec</a:t>
            </a:r>
          </a:p>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可直接看到所有完整圖表及</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Alert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點位、原因</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自動對位半年內同</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Recipe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資料</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可下載不同量測機台端量測數據、圖</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表</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p:txBody>
      </p:sp>
      <p:grpSp>
        <p:nvGrpSpPr>
          <p:cNvPr id="16" name="群組 15"/>
          <p:cNvGrpSpPr/>
          <p:nvPr/>
        </p:nvGrpSpPr>
        <p:grpSpPr>
          <a:xfrm>
            <a:off x="4832195" y="2195246"/>
            <a:ext cx="4133367" cy="1583988"/>
            <a:chOff x="4732231" y="1542660"/>
            <a:chExt cx="4133367" cy="1583988"/>
          </a:xfrm>
        </p:grpSpPr>
        <p:pic>
          <p:nvPicPr>
            <p:cNvPr id="17" name="圖片 16"/>
            <p:cNvPicPr>
              <a:picLocks noChangeAspect="1"/>
            </p:cNvPicPr>
            <p:nvPr/>
          </p:nvPicPr>
          <p:blipFill>
            <a:blip r:embed="rId3"/>
            <a:stretch>
              <a:fillRect/>
            </a:stretch>
          </p:blipFill>
          <p:spPr>
            <a:xfrm>
              <a:off x="6799074" y="2498649"/>
              <a:ext cx="2061379" cy="627999"/>
            </a:xfrm>
            <a:prstGeom prst="rect">
              <a:avLst/>
            </a:prstGeom>
          </p:spPr>
        </p:pic>
        <p:grpSp>
          <p:nvGrpSpPr>
            <p:cNvPr id="18" name="群組 17"/>
            <p:cNvGrpSpPr/>
            <p:nvPr/>
          </p:nvGrpSpPr>
          <p:grpSpPr>
            <a:xfrm>
              <a:off x="4732231" y="1542660"/>
              <a:ext cx="2023899" cy="1547093"/>
              <a:chOff x="4732231" y="1612562"/>
              <a:chExt cx="1702698" cy="1211600"/>
            </a:xfrm>
          </p:grpSpPr>
          <p:pic>
            <p:nvPicPr>
              <p:cNvPr id="20" name="圖片 19"/>
              <p:cNvPicPr>
                <a:picLocks noChangeAspect="1"/>
              </p:cNvPicPr>
              <p:nvPr/>
            </p:nvPicPr>
            <p:blipFill>
              <a:blip r:embed="rId4"/>
              <a:stretch>
                <a:fillRect/>
              </a:stretch>
            </p:blipFill>
            <p:spPr>
              <a:xfrm>
                <a:off x="4732231" y="1612562"/>
                <a:ext cx="1702698" cy="538117"/>
              </a:xfrm>
              <a:prstGeom prst="rect">
                <a:avLst/>
              </a:prstGeom>
            </p:spPr>
          </p:pic>
          <p:pic>
            <p:nvPicPr>
              <p:cNvPr id="21" name="圖片 20"/>
              <p:cNvPicPr>
                <a:picLocks noChangeAspect="1"/>
              </p:cNvPicPr>
              <p:nvPr/>
            </p:nvPicPr>
            <p:blipFill>
              <a:blip r:embed="rId5"/>
              <a:stretch>
                <a:fillRect/>
              </a:stretch>
            </p:blipFill>
            <p:spPr>
              <a:xfrm>
                <a:off x="4741504" y="2145541"/>
                <a:ext cx="1681411" cy="678621"/>
              </a:xfrm>
              <a:prstGeom prst="rect">
                <a:avLst/>
              </a:prstGeom>
            </p:spPr>
          </p:pic>
        </p:grpSp>
        <p:pic>
          <p:nvPicPr>
            <p:cNvPr id="19" name="圖片 18"/>
            <p:cNvPicPr>
              <a:picLocks noChangeAspect="1"/>
            </p:cNvPicPr>
            <p:nvPr/>
          </p:nvPicPr>
          <p:blipFill>
            <a:blip r:embed="rId6"/>
            <a:stretch>
              <a:fillRect/>
            </a:stretch>
          </p:blipFill>
          <p:spPr>
            <a:xfrm>
              <a:off x="6804219" y="1551552"/>
              <a:ext cx="2061379" cy="954342"/>
            </a:xfrm>
            <a:prstGeom prst="rect">
              <a:avLst/>
            </a:prstGeom>
          </p:spPr>
        </p:pic>
      </p:grpSp>
      <p:pic>
        <p:nvPicPr>
          <p:cNvPr id="22" name="圖片 21"/>
          <p:cNvPicPr>
            <a:picLocks noChangeAspect="1"/>
          </p:cNvPicPr>
          <p:nvPr/>
        </p:nvPicPr>
        <p:blipFill>
          <a:blip r:embed="rId7"/>
          <a:stretch>
            <a:fillRect/>
          </a:stretch>
        </p:blipFill>
        <p:spPr>
          <a:xfrm>
            <a:off x="4766005" y="3893060"/>
            <a:ext cx="4194412" cy="609653"/>
          </a:xfrm>
          <a:prstGeom prst="rect">
            <a:avLst/>
          </a:prstGeom>
        </p:spPr>
      </p:pic>
      <p:pic>
        <p:nvPicPr>
          <p:cNvPr id="23" name="圖片 22"/>
          <p:cNvPicPr>
            <a:picLocks noChangeAspect="1"/>
          </p:cNvPicPr>
          <p:nvPr/>
        </p:nvPicPr>
        <p:blipFill>
          <a:blip r:embed="rId8"/>
          <a:stretch>
            <a:fillRect/>
          </a:stretch>
        </p:blipFill>
        <p:spPr>
          <a:xfrm>
            <a:off x="396439" y="2543272"/>
            <a:ext cx="3838826" cy="2471923"/>
          </a:xfrm>
          <a:prstGeom prst="rect">
            <a:avLst/>
          </a:prstGeom>
        </p:spPr>
      </p:pic>
      <p:sp>
        <p:nvSpPr>
          <p:cNvPr id="2" name="文字方塊 1"/>
          <p:cNvSpPr txBox="1"/>
          <p:nvPr/>
        </p:nvSpPr>
        <p:spPr>
          <a:xfrm>
            <a:off x="5455053" y="4670698"/>
            <a:ext cx="697627" cy="246221"/>
          </a:xfrm>
          <a:prstGeom prst="rect">
            <a:avLst/>
          </a:prstGeom>
          <a:noFill/>
        </p:spPr>
        <p:txBody>
          <a:bodyPr wrap="none" rtlCol="0">
            <a:spAutoFit/>
          </a:bodyPr>
          <a:lstStyle/>
          <a:p>
            <a:r>
              <a:rPr lang="zh-TW" altLang="en-US" sz="1000" b="1" dirty="0" smtClean="0"/>
              <a:t>節省人力</a:t>
            </a:r>
            <a:endParaRPr lang="zh-TW" altLang="en-US" sz="1000" b="1" dirty="0"/>
          </a:p>
        </p:txBody>
      </p:sp>
    </p:spTree>
    <p:extLst>
      <p:ext uri="{BB962C8B-B14F-4D97-AF65-F5344CB8AC3E}">
        <p14:creationId xmlns:p14="http://schemas.microsoft.com/office/powerpoint/2010/main" val="19742861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en-US" altLang="zh-TW" b="1" dirty="0" smtClean="0">
                <a:latin typeface="+mj-ea"/>
              </a:rPr>
              <a:t>ETL &amp; Data Fusion</a:t>
            </a:r>
            <a:endParaRPr lang="zh-TW" altLang="en-US" b="1" dirty="0">
              <a:latin typeface="+mj-ea"/>
            </a:endParaRPr>
          </a:p>
        </p:txBody>
      </p:sp>
      <p:grpSp>
        <p:nvGrpSpPr>
          <p:cNvPr id="85" name="群組 84"/>
          <p:cNvGrpSpPr/>
          <p:nvPr/>
        </p:nvGrpSpPr>
        <p:grpSpPr>
          <a:xfrm>
            <a:off x="632565" y="607514"/>
            <a:ext cx="8267178" cy="3857077"/>
            <a:chOff x="4748699" y="1291268"/>
            <a:chExt cx="3608680" cy="1630356"/>
          </a:xfrm>
        </p:grpSpPr>
        <p:pic>
          <p:nvPicPr>
            <p:cNvPr id="89" name="圖片 88"/>
            <p:cNvPicPr>
              <a:picLocks noChangeAspect="1"/>
            </p:cNvPicPr>
            <p:nvPr/>
          </p:nvPicPr>
          <p:blipFill rotWithShape="1">
            <a:blip r:embed="rId3"/>
            <a:srcRect t="11225" r="24770" b="55195"/>
            <a:stretch/>
          </p:blipFill>
          <p:spPr>
            <a:xfrm>
              <a:off x="4800144" y="2152999"/>
              <a:ext cx="2976599" cy="768625"/>
            </a:xfrm>
            <a:prstGeom prst="rect">
              <a:avLst/>
            </a:prstGeom>
          </p:spPr>
        </p:pic>
        <p:pic>
          <p:nvPicPr>
            <p:cNvPr id="95" name="圖片 94"/>
            <p:cNvPicPr>
              <a:picLocks noChangeAspect="1"/>
            </p:cNvPicPr>
            <p:nvPr/>
          </p:nvPicPr>
          <p:blipFill rotWithShape="1">
            <a:blip r:embed="rId3"/>
            <a:srcRect t="60761" b="2126"/>
            <a:stretch/>
          </p:blipFill>
          <p:spPr>
            <a:xfrm>
              <a:off x="4748699" y="1291268"/>
              <a:ext cx="3608680" cy="774766"/>
            </a:xfrm>
            <a:prstGeom prst="rect">
              <a:avLst/>
            </a:prstGeom>
          </p:spPr>
        </p:pic>
      </p:grpSp>
    </p:spTree>
    <p:extLst>
      <p:ext uri="{BB962C8B-B14F-4D97-AF65-F5344CB8AC3E}">
        <p14:creationId xmlns:p14="http://schemas.microsoft.com/office/powerpoint/2010/main" val="3575671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3" name="Picture 4" descr="http://10.97.141.73/mqc_result/dataform/form_image/12082020_ZJ4AC14400_02_27QA7%20P3%20DCD_x_AAMOV200_AAIEX500_OV2%20Judge(DCD).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0295" y="3205589"/>
            <a:ext cx="4451360" cy="1774825"/>
          </a:xfrm>
          <a:prstGeom prst="rect">
            <a:avLst/>
          </a:prstGeom>
          <a:noFill/>
          <a:extLst>
            <a:ext uri="{909E8E84-426E-40DD-AFC4-6F175D3DCCD1}">
              <a14:hiddenFill xmlns:a14="http://schemas.microsoft.com/office/drawing/2010/main">
                <a:solidFill>
                  <a:srgbClr val="FFFFFF"/>
                </a:solidFill>
              </a14:hiddenFill>
            </a:ext>
          </a:extLst>
        </p:spPr>
      </p:pic>
      <p:pic>
        <p:nvPicPr>
          <p:cNvPr id="4" name="圖片 3"/>
          <p:cNvPicPr>
            <a:picLocks noChangeAspect="1"/>
          </p:cNvPicPr>
          <p:nvPr/>
        </p:nvPicPr>
        <p:blipFill>
          <a:blip r:embed="rId4"/>
          <a:stretch>
            <a:fillRect/>
          </a:stretch>
        </p:blipFill>
        <p:spPr>
          <a:xfrm>
            <a:off x="899587" y="872216"/>
            <a:ext cx="2326082" cy="51771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5" name="Picture 2" descr="http://10.97.141.73/mqc_result/img/03220720_VD4A34V300_01_27DA7%20P6%20OL_AA0839_AAMHT100_AAIEXM00_%20OLX%20OL.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2015" y="3236713"/>
            <a:ext cx="4137040" cy="135668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201004" y="2990226"/>
            <a:ext cx="1982390" cy="33855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MQC DATAFORM</a:t>
            </a:r>
            <a:r>
              <a:rPr lang="en-US" altLang="zh-TW" sz="800" b="1" dirty="0" smtClean="0">
                <a:solidFill>
                  <a:srgbClr val="FF0000"/>
                </a:solidFill>
                <a:latin typeface="微軟正黑體" panose="020B0604030504040204" pitchFamily="34" charset="-120"/>
                <a:ea typeface="微軟正黑體" panose="020B0604030504040204" pitchFamily="34" charset="-120"/>
              </a:rPr>
              <a:t>     OL1|OL2|OV1|OV2</a:t>
            </a:r>
            <a:endParaRPr lang="en-US" altLang="zh-TW" sz="800" b="1" dirty="0">
              <a:solidFill>
                <a:srgbClr val="FF0000"/>
              </a:solidFill>
              <a:latin typeface="微軟正黑體" panose="020B0604030504040204" pitchFamily="34" charset="-120"/>
              <a:ea typeface="微軟正黑體" panose="020B0604030504040204" pitchFamily="34" charset="-120"/>
            </a:endParaRPr>
          </a:p>
        </p:txBody>
      </p:sp>
      <p:pic>
        <p:nvPicPr>
          <p:cNvPr id="7" name="Picture 4" descr="http://10.97.141.73/mqc_result/img/03220720_VD4A34V300_01_27DA7%20P6%20OL_AA0839_AAMHT100_AAIEXM00_RCP%20SCAN%20POSITIO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2333" y="1714406"/>
            <a:ext cx="1633418" cy="109632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75447" y="922987"/>
            <a:ext cx="648702" cy="253916"/>
          </a:xfrm>
          <a:prstGeom prst="rect">
            <a:avLst/>
          </a:prstGeom>
          <a:noFill/>
          <a:ln>
            <a:noFill/>
            <a:prstDash val="sysDot"/>
          </a:ln>
        </p:spPr>
        <p:txBody>
          <a:bodyPr wrap="square">
            <a:spAutoFit/>
          </a:bodyPr>
          <a:lstStyle/>
          <a:p>
            <a:pPr marL="171450" indent="-171450" algn="ctr">
              <a:buFont typeface="Wingdings" panose="05000000000000000000" pitchFamily="2" charset="2"/>
              <a:buChar char="Ø"/>
            </a:pPr>
            <a:r>
              <a:rPr lang="en-US" altLang="zh-TW" sz="1050" b="1" u="sng" dirty="0" smtClean="0">
                <a:latin typeface="微軟正黑體" panose="020B0604030504040204" pitchFamily="34" charset="-120"/>
                <a:ea typeface="微軟正黑體" panose="020B0604030504040204" pitchFamily="34" charset="-120"/>
              </a:rPr>
              <a:t>OL</a:t>
            </a:r>
            <a:endParaRPr lang="en-US" altLang="zh-TW" sz="1050" b="1" u="sng" dirty="0">
              <a:latin typeface="微軟正黑體" panose="020B0604030504040204" pitchFamily="34" charset="-120"/>
              <a:ea typeface="微軟正黑體" panose="020B0604030504040204" pitchFamily="34" charset="-120"/>
            </a:endParaRPr>
          </a:p>
        </p:txBody>
      </p:sp>
      <p:sp>
        <p:nvSpPr>
          <p:cNvPr id="9" name="矩形 8"/>
          <p:cNvSpPr/>
          <p:nvPr/>
        </p:nvSpPr>
        <p:spPr>
          <a:xfrm>
            <a:off x="4523099" y="941734"/>
            <a:ext cx="826499" cy="415498"/>
          </a:xfrm>
          <a:prstGeom prst="rect">
            <a:avLst/>
          </a:prstGeom>
          <a:noFill/>
          <a:ln>
            <a:noFill/>
            <a:prstDash val="sysDot"/>
          </a:ln>
        </p:spPr>
        <p:txBody>
          <a:bodyPr wrap="square">
            <a:spAutoFit/>
          </a:bodyPr>
          <a:lstStyle/>
          <a:p>
            <a:pPr marL="171450" indent="-171450" algn="ctr">
              <a:buFont typeface="Wingdings" panose="05000000000000000000" pitchFamily="2" charset="2"/>
              <a:buChar char="Ø"/>
            </a:pPr>
            <a:r>
              <a:rPr lang="en-US" altLang="zh-TW" sz="1050" b="1" u="sng" dirty="0" smtClean="0">
                <a:latin typeface="微軟正黑體" panose="020B0604030504040204" pitchFamily="34" charset="-120"/>
                <a:ea typeface="微軟正黑體" panose="020B0604030504040204" pitchFamily="34" charset="-120"/>
              </a:rPr>
              <a:t>DCD</a:t>
            </a:r>
            <a:r>
              <a:rPr lang="zh-TW" altLang="en-US" sz="1050" b="1" u="sng" dirty="0" smtClean="0">
                <a:latin typeface="微軟正黑體" panose="020B0604030504040204" pitchFamily="34" charset="-120"/>
                <a:ea typeface="微軟正黑體" panose="020B0604030504040204" pitchFamily="34" charset="-120"/>
              </a:rPr>
              <a:t>、</a:t>
            </a:r>
            <a:r>
              <a:rPr lang="en-US" altLang="zh-TW" sz="1050" b="1" u="sng" dirty="0" smtClean="0">
                <a:latin typeface="微軟正黑體" panose="020B0604030504040204" pitchFamily="34" charset="-120"/>
                <a:ea typeface="微軟正黑體" panose="020B0604030504040204" pitchFamily="34" charset="-120"/>
              </a:rPr>
              <a:t>DCD2</a:t>
            </a:r>
            <a:endParaRPr lang="en-US" altLang="zh-TW" sz="1050" b="1" u="sng" dirty="0">
              <a:latin typeface="微軟正黑體" panose="020B0604030504040204" pitchFamily="34" charset="-120"/>
              <a:ea typeface="微軟正黑體" panose="020B0604030504040204" pitchFamily="34" charset="-120"/>
            </a:endParaRPr>
          </a:p>
        </p:txBody>
      </p:sp>
      <p:sp>
        <p:nvSpPr>
          <p:cNvPr id="10" name="矩形 9"/>
          <p:cNvSpPr/>
          <p:nvPr/>
        </p:nvSpPr>
        <p:spPr>
          <a:xfrm>
            <a:off x="399404" y="1532771"/>
            <a:ext cx="1043300" cy="21544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POINT POSITION</a:t>
            </a:r>
            <a:endParaRPr lang="en-US" altLang="zh-TW" sz="800" b="1" u="sng" dirty="0">
              <a:solidFill>
                <a:srgbClr val="FF0000"/>
              </a:solidFill>
              <a:latin typeface="微軟正黑體" panose="020B0604030504040204" pitchFamily="34" charset="-120"/>
              <a:ea typeface="微軟正黑體" panose="020B0604030504040204" pitchFamily="34" charset="-120"/>
            </a:endParaRPr>
          </a:p>
        </p:txBody>
      </p:sp>
      <p:grpSp>
        <p:nvGrpSpPr>
          <p:cNvPr id="11" name="群組 10"/>
          <p:cNvGrpSpPr/>
          <p:nvPr/>
        </p:nvGrpSpPr>
        <p:grpSpPr>
          <a:xfrm>
            <a:off x="1795752" y="1537518"/>
            <a:ext cx="2518560" cy="1277008"/>
            <a:chOff x="2151378" y="2282883"/>
            <a:chExt cx="2518560" cy="1277008"/>
          </a:xfrm>
        </p:grpSpPr>
        <p:sp>
          <p:nvSpPr>
            <p:cNvPr id="12" name="矩形 11"/>
            <p:cNvSpPr/>
            <p:nvPr/>
          </p:nvSpPr>
          <p:spPr>
            <a:xfrm>
              <a:off x="2171986" y="2282883"/>
              <a:ext cx="2266828" cy="21544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DOL</a:t>
              </a:r>
              <a:endParaRPr lang="en-US" altLang="zh-TW" sz="800" b="1" u="sng" dirty="0">
                <a:solidFill>
                  <a:srgbClr val="FF0000"/>
                </a:solidFill>
                <a:latin typeface="微軟正黑體" panose="020B0604030504040204" pitchFamily="34" charset="-120"/>
                <a:ea typeface="微軟正黑體" panose="020B0604030504040204" pitchFamily="34" charset="-120"/>
              </a:endParaRPr>
            </a:p>
          </p:txBody>
        </p:sp>
        <p:sp>
          <p:nvSpPr>
            <p:cNvPr id="13" name="圓角矩形 12"/>
            <p:cNvSpPr/>
            <p:nvPr/>
          </p:nvSpPr>
          <p:spPr>
            <a:xfrm>
              <a:off x="2151378" y="2330982"/>
              <a:ext cx="2518560" cy="1228909"/>
            </a:xfrm>
            <a:prstGeom prst="roundRect">
              <a:avLst>
                <a:gd name="adj" fmla="val 279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grpSp>
      <p:sp>
        <p:nvSpPr>
          <p:cNvPr id="14" name="圓角矩形 13"/>
          <p:cNvSpPr/>
          <p:nvPr/>
        </p:nvSpPr>
        <p:spPr>
          <a:xfrm>
            <a:off x="86798" y="1583687"/>
            <a:ext cx="1708954" cy="1228909"/>
          </a:xfrm>
          <a:prstGeom prst="roundRect">
            <a:avLst>
              <a:gd name="adj" fmla="val 279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sp>
        <p:nvSpPr>
          <p:cNvPr id="15" name="圓角矩形 14"/>
          <p:cNvSpPr/>
          <p:nvPr/>
        </p:nvSpPr>
        <p:spPr>
          <a:xfrm>
            <a:off x="77191" y="3037866"/>
            <a:ext cx="4301694" cy="1758720"/>
          </a:xfrm>
          <a:prstGeom prst="roundRect">
            <a:avLst>
              <a:gd name="adj" fmla="val 279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pic>
        <p:nvPicPr>
          <p:cNvPr id="16" name="Picture 6" descr="http://10.97.141.73/mqc_result/img/03220731_VD4A34V300_14_27DA7%20P6%20OL_AA0839_AAMHT100_AAIEXM00_OL%20JUDGE.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71286" y="1748215"/>
            <a:ext cx="2388100" cy="984217"/>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p:nvSpPr>
        <p:spPr>
          <a:xfrm>
            <a:off x="2960385" y="3766756"/>
            <a:ext cx="786115" cy="276999"/>
          </a:xfrm>
          <a:prstGeom prst="rect">
            <a:avLst/>
          </a:prstGeom>
          <a:solidFill>
            <a:schemeClr val="bg1">
              <a:lumMod val="85000"/>
            </a:schemeClr>
          </a:solidFill>
          <a:ln>
            <a:solidFill>
              <a:schemeClr val="bg2">
                <a:lumMod val="50000"/>
              </a:schemeClr>
            </a:solidFill>
            <a:prstDash val="sysDot"/>
          </a:ln>
          <a:effectLst>
            <a:outerShdw blurRad="50800" dist="38100" dir="13500000" algn="br" rotWithShape="0">
              <a:prstClr val="black">
                <a:alpha val="40000"/>
              </a:prstClr>
            </a:outerShdw>
          </a:effectLst>
        </p:spPr>
        <p:txBody>
          <a:bodyPr wrap="square">
            <a:spAutoFit/>
          </a:bodyPr>
          <a:lstStyle/>
          <a:p>
            <a:pPr algn="ctr"/>
            <a:r>
              <a:rPr lang="zh-TW" altLang="en-US" sz="600" b="1" dirty="0">
                <a:solidFill>
                  <a:schemeClr val="tx1">
                    <a:lumMod val="95000"/>
                    <a:lumOff val="5000"/>
                  </a:schemeClr>
                </a:solidFill>
                <a:latin typeface="微軟正黑體" panose="020B0604030504040204" pitchFamily="34" charset="-120"/>
                <a:ea typeface="微軟正黑體" panose="020B0604030504040204" pitchFamily="34" charset="-120"/>
              </a:rPr>
              <a:t>根據 </a:t>
            </a:r>
            <a:r>
              <a:rPr lang="en-US" altLang="zh-TW" sz="600" b="1" dirty="0">
                <a:solidFill>
                  <a:schemeClr val="tx1">
                    <a:lumMod val="95000"/>
                    <a:lumOff val="5000"/>
                  </a:schemeClr>
                </a:solidFill>
                <a:latin typeface="微軟正黑體" panose="020B0604030504040204" pitchFamily="34" charset="-120"/>
                <a:ea typeface="微軟正黑體" panose="020B0604030504040204" pitchFamily="34" charset="-120"/>
              </a:rPr>
              <a:t>ROWDATA</a:t>
            </a:r>
            <a:r>
              <a:rPr lang="zh-TW" altLang="en-US" sz="600" b="1" dirty="0">
                <a:solidFill>
                  <a:schemeClr val="tx1">
                    <a:lumMod val="95000"/>
                    <a:lumOff val="5000"/>
                  </a:schemeClr>
                </a:solidFill>
                <a:latin typeface="微軟正黑體" panose="020B0604030504040204" pitchFamily="34" charset="-120"/>
                <a:ea typeface="微軟正黑體" panose="020B0604030504040204" pitchFamily="34" charset="-120"/>
              </a:rPr>
              <a:t>  </a:t>
            </a:r>
            <a:endParaRPr lang="en-US" altLang="zh-TW" sz="600" b="1" dirty="0">
              <a:solidFill>
                <a:schemeClr val="tx1">
                  <a:lumMod val="95000"/>
                  <a:lumOff val="5000"/>
                </a:schemeClr>
              </a:solidFill>
              <a:latin typeface="微軟正黑體" panose="020B0604030504040204" pitchFamily="34" charset="-120"/>
              <a:ea typeface="微軟正黑體" panose="020B0604030504040204" pitchFamily="34" charset="-120"/>
            </a:endParaRPr>
          </a:p>
          <a:p>
            <a:pPr algn="ctr"/>
            <a:r>
              <a:rPr lang="zh-TW" altLang="en-US" sz="600" b="1" dirty="0">
                <a:solidFill>
                  <a:schemeClr val="tx1">
                    <a:lumMod val="95000"/>
                    <a:lumOff val="5000"/>
                  </a:schemeClr>
                </a:solidFill>
                <a:latin typeface="微軟正黑體" panose="020B0604030504040204" pitchFamily="34" charset="-120"/>
                <a:ea typeface="微軟正黑體" panose="020B0604030504040204" pitchFamily="34" charset="-120"/>
              </a:rPr>
              <a:t>索引值點位</a:t>
            </a:r>
            <a:endParaRPr lang="en-US" altLang="zh-TW" sz="600" b="1"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sp>
        <p:nvSpPr>
          <p:cNvPr id="18" name="矩形 17"/>
          <p:cNvSpPr/>
          <p:nvPr/>
        </p:nvSpPr>
        <p:spPr>
          <a:xfrm>
            <a:off x="2590750" y="3482506"/>
            <a:ext cx="270819" cy="239140"/>
          </a:xfrm>
          <a:prstGeom prst="rect">
            <a:avLst/>
          </a:prstGeom>
          <a:noFill/>
          <a:ln w="63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sp>
        <p:nvSpPr>
          <p:cNvPr id="19" name="矩形 18"/>
          <p:cNvSpPr/>
          <p:nvPr/>
        </p:nvSpPr>
        <p:spPr>
          <a:xfrm>
            <a:off x="1280091" y="4577543"/>
            <a:ext cx="981705" cy="184666"/>
          </a:xfrm>
          <a:prstGeom prst="rect">
            <a:avLst/>
          </a:prstGeom>
          <a:solidFill>
            <a:schemeClr val="bg1">
              <a:lumMod val="85000"/>
            </a:schemeClr>
          </a:solidFill>
          <a:ln>
            <a:solidFill>
              <a:schemeClr val="bg2">
                <a:lumMod val="50000"/>
              </a:schemeClr>
            </a:solidFill>
            <a:prstDash val="sysDot"/>
          </a:ln>
          <a:effectLst>
            <a:outerShdw blurRad="50800" dist="38100" dir="13500000" algn="br" rotWithShape="0">
              <a:prstClr val="black">
                <a:alpha val="40000"/>
              </a:prstClr>
            </a:outerShdw>
          </a:effectLst>
        </p:spPr>
        <p:txBody>
          <a:bodyPr wrap="square">
            <a:spAutoFit/>
          </a:bodyPr>
          <a:lstStyle/>
          <a:p>
            <a:pPr algn="ctr"/>
            <a:r>
              <a:rPr lang="en-US" altLang="zh-TW" sz="600" b="1" dirty="0">
                <a:solidFill>
                  <a:schemeClr val="tx1">
                    <a:lumMod val="95000"/>
                    <a:lumOff val="5000"/>
                  </a:schemeClr>
                </a:solidFill>
                <a:latin typeface="微軟正黑體" panose="020B0604030504040204" pitchFamily="34" charset="-120"/>
                <a:ea typeface="微軟正黑體" panose="020B0604030504040204" pitchFamily="34" charset="-120"/>
              </a:rPr>
              <a:t>OL Judge spec.</a:t>
            </a:r>
          </a:p>
        </p:txBody>
      </p:sp>
      <p:sp>
        <p:nvSpPr>
          <p:cNvPr id="20" name="矩形 19"/>
          <p:cNvSpPr/>
          <p:nvPr/>
        </p:nvSpPr>
        <p:spPr>
          <a:xfrm>
            <a:off x="1209680" y="4317523"/>
            <a:ext cx="304455" cy="109439"/>
          </a:xfrm>
          <a:prstGeom prst="rect">
            <a:avLst/>
          </a:prstGeom>
          <a:noFill/>
          <a:ln w="63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sp>
        <p:nvSpPr>
          <p:cNvPr id="21" name="圓角矩形 20"/>
          <p:cNvSpPr/>
          <p:nvPr/>
        </p:nvSpPr>
        <p:spPr>
          <a:xfrm>
            <a:off x="6188765" y="1574431"/>
            <a:ext cx="2837112" cy="1509203"/>
          </a:xfrm>
          <a:prstGeom prst="roundRect">
            <a:avLst>
              <a:gd name="adj" fmla="val 279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sp>
        <p:nvSpPr>
          <p:cNvPr id="22" name="矩形 21"/>
          <p:cNvSpPr/>
          <p:nvPr/>
        </p:nvSpPr>
        <p:spPr>
          <a:xfrm>
            <a:off x="4815230" y="3143464"/>
            <a:ext cx="1982390" cy="33855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MQC DATAFORM</a:t>
            </a:r>
            <a:r>
              <a:rPr lang="en-US" altLang="zh-TW" sz="800" b="1" dirty="0" smtClean="0">
                <a:solidFill>
                  <a:srgbClr val="FF0000"/>
                </a:solidFill>
                <a:latin typeface="微軟正黑體" panose="020B0604030504040204" pitchFamily="34" charset="-120"/>
                <a:ea typeface="微軟正黑體" panose="020B0604030504040204" pitchFamily="34" charset="-120"/>
              </a:rPr>
              <a:t>     OL1|OL2|OV1|OV2</a:t>
            </a:r>
            <a:endParaRPr lang="en-US" altLang="zh-TW" sz="800" b="1" dirty="0">
              <a:solidFill>
                <a:srgbClr val="FF0000"/>
              </a:solidFill>
              <a:latin typeface="微軟正黑體" panose="020B0604030504040204" pitchFamily="34" charset="-120"/>
              <a:ea typeface="微軟正黑體" panose="020B0604030504040204" pitchFamily="34" charset="-120"/>
            </a:endParaRPr>
          </a:p>
        </p:txBody>
      </p:sp>
      <p:sp>
        <p:nvSpPr>
          <p:cNvPr id="23" name="圓角矩形 22"/>
          <p:cNvSpPr/>
          <p:nvPr/>
        </p:nvSpPr>
        <p:spPr>
          <a:xfrm>
            <a:off x="4520761" y="3200042"/>
            <a:ext cx="4460808" cy="1752957"/>
          </a:xfrm>
          <a:prstGeom prst="roundRect">
            <a:avLst>
              <a:gd name="adj" fmla="val 279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sp>
        <p:nvSpPr>
          <p:cNvPr id="24" name="矩形 23"/>
          <p:cNvSpPr/>
          <p:nvPr/>
        </p:nvSpPr>
        <p:spPr>
          <a:xfrm>
            <a:off x="6188765" y="4932933"/>
            <a:ext cx="1404220" cy="200055"/>
          </a:xfrm>
          <a:prstGeom prst="rect">
            <a:avLst/>
          </a:prstGeom>
          <a:solidFill>
            <a:schemeClr val="bg1">
              <a:lumMod val="85000"/>
            </a:schemeClr>
          </a:solidFill>
          <a:ln>
            <a:solidFill>
              <a:schemeClr val="bg2">
                <a:lumMod val="50000"/>
              </a:schemeClr>
            </a:solidFill>
            <a:prstDash val="sysDot"/>
          </a:ln>
          <a:effectLst>
            <a:outerShdw blurRad="50800" dist="38100" dir="13500000" algn="br" rotWithShape="0">
              <a:prstClr val="black">
                <a:alpha val="40000"/>
              </a:prstClr>
            </a:outerShdw>
          </a:effectLst>
        </p:spPr>
        <p:txBody>
          <a:bodyPr wrap="square">
            <a:spAutoFit/>
          </a:bodyPr>
          <a:lstStyle/>
          <a:p>
            <a:pPr algn="ctr"/>
            <a:r>
              <a:rPr lang="zh-TW" altLang="en-US" sz="700" b="1" dirty="0" smtClean="0">
                <a:solidFill>
                  <a:schemeClr val="tx1">
                    <a:lumMod val="95000"/>
                    <a:lumOff val="5000"/>
                  </a:schemeClr>
                </a:solidFill>
                <a:latin typeface="微軟正黑體" panose="020B0604030504040204" pitchFamily="34" charset="-120"/>
                <a:ea typeface="微軟正黑體" panose="020B0604030504040204" pitchFamily="34" charset="-120"/>
              </a:rPr>
              <a:t>條列每個</a:t>
            </a:r>
            <a:r>
              <a:rPr lang="en-US" altLang="zh-TW" sz="700" b="1" dirty="0" smtClean="0">
                <a:solidFill>
                  <a:schemeClr val="tx1">
                    <a:lumMod val="95000"/>
                    <a:lumOff val="5000"/>
                  </a:schemeClr>
                </a:solidFill>
                <a:latin typeface="微軟正黑體" panose="020B0604030504040204" pitchFamily="34" charset="-120"/>
                <a:ea typeface="微軟正黑體" panose="020B0604030504040204" pitchFamily="34" charset="-120"/>
              </a:rPr>
              <a:t>scan </a:t>
            </a:r>
            <a:r>
              <a:rPr lang="zh-TW" altLang="en-US" sz="700" b="1" dirty="0" smtClean="0">
                <a:solidFill>
                  <a:schemeClr val="tx1">
                    <a:lumMod val="95000"/>
                    <a:lumOff val="5000"/>
                  </a:schemeClr>
                </a:solidFill>
                <a:latin typeface="微軟正黑體" panose="020B0604030504040204" pitchFamily="34" charset="-120"/>
                <a:ea typeface="微軟正黑體" panose="020B0604030504040204" pitchFamily="34" charset="-120"/>
              </a:rPr>
              <a:t>統計值</a:t>
            </a:r>
            <a:endParaRPr lang="en-US" altLang="zh-TW" sz="700" b="1" dirty="0" smtClean="0">
              <a:solidFill>
                <a:schemeClr val="tx1">
                  <a:lumMod val="95000"/>
                  <a:lumOff val="5000"/>
                </a:schemeClr>
              </a:solidFill>
              <a:latin typeface="微軟正黑體" panose="020B0604030504040204" pitchFamily="34" charset="-120"/>
              <a:ea typeface="微軟正黑體" panose="020B0604030504040204" pitchFamily="34" charset="-120"/>
            </a:endParaRPr>
          </a:p>
        </p:txBody>
      </p:sp>
      <p:pic>
        <p:nvPicPr>
          <p:cNvPr id="25" name="Picture 16" descr="http://10.97.141.73/mqc_result/img/03220216_XP4A34Q500_02_M27DA8%20P6%20DCD_x_AAMOV400_AAIEXD00_RCP%20SCAN%20POSITION.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64174" y="1710755"/>
            <a:ext cx="1564882" cy="1050328"/>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25"/>
          <p:cNvSpPr/>
          <p:nvPr/>
        </p:nvSpPr>
        <p:spPr>
          <a:xfrm>
            <a:off x="4846171" y="1532070"/>
            <a:ext cx="992292" cy="33855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POINT POSITION</a:t>
            </a:r>
            <a:endParaRPr lang="en-US" altLang="zh-TW" sz="800" b="1" u="sng" dirty="0">
              <a:solidFill>
                <a:srgbClr val="FF0000"/>
              </a:solidFill>
              <a:latin typeface="微軟正黑體" panose="020B0604030504040204" pitchFamily="34" charset="-120"/>
              <a:ea typeface="微軟正黑體" panose="020B0604030504040204" pitchFamily="34" charset="-120"/>
            </a:endParaRPr>
          </a:p>
        </p:txBody>
      </p:sp>
      <p:sp>
        <p:nvSpPr>
          <p:cNvPr id="27" name="圓角矩形 26"/>
          <p:cNvSpPr/>
          <p:nvPr/>
        </p:nvSpPr>
        <p:spPr>
          <a:xfrm>
            <a:off x="4533565" y="1582986"/>
            <a:ext cx="1625402" cy="1131929"/>
          </a:xfrm>
          <a:prstGeom prst="roundRect">
            <a:avLst>
              <a:gd name="adj" fmla="val 279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cxnSp>
        <p:nvCxnSpPr>
          <p:cNvPr id="28" name="直線單箭頭接點 27"/>
          <p:cNvCxnSpPr/>
          <p:nvPr/>
        </p:nvCxnSpPr>
        <p:spPr>
          <a:xfrm>
            <a:off x="2861569" y="3572692"/>
            <a:ext cx="107354" cy="123028"/>
          </a:xfrm>
          <a:prstGeom prst="straightConnector1">
            <a:avLst/>
          </a:prstGeom>
          <a:ln w="19050">
            <a:solidFill>
              <a:srgbClr val="7F7F7F"/>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a:off x="1442704" y="4386311"/>
            <a:ext cx="71431" cy="191232"/>
          </a:xfrm>
          <a:prstGeom prst="straightConnector1">
            <a:avLst/>
          </a:prstGeom>
          <a:ln w="19050">
            <a:solidFill>
              <a:srgbClr val="7F7F7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1931258" y="1846343"/>
            <a:ext cx="459034" cy="156453"/>
          </a:xfrm>
          <a:prstGeom prst="rect">
            <a:avLst/>
          </a:prstGeom>
          <a:noFill/>
          <a:ln>
            <a:noFill/>
            <a:prstDash val="sysDot"/>
          </a:ln>
          <a:effectLst>
            <a:outerShdw blurRad="50800" dist="38100" dir="13500000" algn="br" rotWithShape="0">
              <a:prstClr val="black">
                <a:alpha val="40000"/>
              </a:prstClr>
            </a:outerShdw>
          </a:effectLst>
        </p:spPr>
        <p:txBody>
          <a:bodyPr wrap="square">
            <a:spAutoFit/>
          </a:bodyPr>
          <a:lstStyle/>
          <a:p>
            <a:pPr algn="ctr">
              <a:lnSpc>
                <a:spcPts val="500"/>
              </a:lnSpc>
            </a:pPr>
            <a:r>
              <a:rPr lang="en-US" altLang="zh-TW" sz="700" b="1" u="sng" dirty="0" smtClean="0">
                <a:solidFill>
                  <a:schemeClr val="tx1">
                    <a:lumMod val="95000"/>
                    <a:lumOff val="5000"/>
                  </a:schemeClr>
                </a:solidFill>
                <a:latin typeface="微軟正黑體" panose="020B0604030504040204" pitchFamily="34" charset="-120"/>
                <a:ea typeface="微軟正黑體" panose="020B0604030504040204" pitchFamily="34" charset="-120"/>
              </a:rPr>
              <a:t>DOLX</a:t>
            </a:r>
          </a:p>
        </p:txBody>
      </p:sp>
      <p:sp>
        <p:nvSpPr>
          <p:cNvPr id="31" name="矩形 30"/>
          <p:cNvSpPr/>
          <p:nvPr/>
        </p:nvSpPr>
        <p:spPr>
          <a:xfrm>
            <a:off x="1932289" y="2288926"/>
            <a:ext cx="459034" cy="156453"/>
          </a:xfrm>
          <a:prstGeom prst="rect">
            <a:avLst/>
          </a:prstGeom>
          <a:noFill/>
          <a:ln>
            <a:noFill/>
            <a:prstDash val="sysDot"/>
          </a:ln>
          <a:effectLst>
            <a:outerShdw blurRad="50800" dist="38100" dir="13500000" algn="br" rotWithShape="0">
              <a:prstClr val="black">
                <a:alpha val="40000"/>
              </a:prstClr>
            </a:outerShdw>
          </a:effectLst>
        </p:spPr>
        <p:txBody>
          <a:bodyPr wrap="square">
            <a:spAutoFit/>
          </a:bodyPr>
          <a:lstStyle/>
          <a:p>
            <a:pPr algn="ctr">
              <a:lnSpc>
                <a:spcPts val="500"/>
              </a:lnSpc>
            </a:pPr>
            <a:r>
              <a:rPr lang="en-US" altLang="zh-TW" sz="700" b="1" u="sng" dirty="0" smtClean="0">
                <a:solidFill>
                  <a:schemeClr val="tx1">
                    <a:lumMod val="95000"/>
                    <a:lumOff val="5000"/>
                  </a:schemeClr>
                </a:solidFill>
                <a:latin typeface="微軟正黑體" panose="020B0604030504040204" pitchFamily="34" charset="-120"/>
                <a:ea typeface="微軟正黑體" panose="020B0604030504040204" pitchFamily="34" charset="-120"/>
              </a:rPr>
              <a:t>DOLY</a:t>
            </a:r>
          </a:p>
        </p:txBody>
      </p:sp>
      <p:cxnSp>
        <p:nvCxnSpPr>
          <p:cNvPr id="32" name="直線接點 31"/>
          <p:cNvCxnSpPr/>
          <p:nvPr/>
        </p:nvCxnSpPr>
        <p:spPr>
          <a:xfrm flipH="1">
            <a:off x="4408683" y="1234242"/>
            <a:ext cx="21261" cy="3387071"/>
          </a:xfrm>
          <a:prstGeom prst="line">
            <a:avLst/>
          </a:prstGeom>
          <a:ln w="12700">
            <a:solidFill>
              <a:srgbClr val="7F7F7F"/>
            </a:solidFill>
            <a:prstDash val="sysDot"/>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4608983" y="2812362"/>
            <a:ext cx="1404220" cy="230832"/>
          </a:xfrm>
          <a:prstGeom prst="rect">
            <a:avLst/>
          </a:prstGeom>
          <a:solidFill>
            <a:schemeClr val="bg1">
              <a:lumMod val="85000"/>
            </a:schemeClr>
          </a:solidFill>
          <a:ln>
            <a:solidFill>
              <a:schemeClr val="bg2">
                <a:lumMod val="50000"/>
              </a:schemeClr>
            </a:solidFill>
            <a:prstDash val="sysDot"/>
          </a:ln>
          <a:effectLst>
            <a:outerShdw blurRad="50800" dist="38100" dir="13500000" algn="br" rotWithShape="0">
              <a:prstClr val="black">
                <a:alpha val="40000"/>
              </a:prstClr>
            </a:outerShdw>
          </a:effectLst>
        </p:spPr>
        <p:txBody>
          <a:bodyPr wrap="square">
            <a:spAutoFit/>
          </a:bodyPr>
          <a:lstStyle/>
          <a:p>
            <a:pPr algn="ct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由左到右</a:t>
            </a:r>
            <a:r>
              <a:rPr lang="en-US" altLang="zh-TW"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a:t>
            </a: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 </a:t>
            </a:r>
            <a:r>
              <a:rPr lang="en-US" altLang="zh-TW"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L ,C, R</a:t>
            </a:r>
          </a:p>
        </p:txBody>
      </p:sp>
      <p:sp>
        <p:nvSpPr>
          <p:cNvPr id="34" name="矩形 33"/>
          <p:cNvSpPr/>
          <p:nvPr/>
        </p:nvSpPr>
        <p:spPr>
          <a:xfrm>
            <a:off x="4744988" y="2078752"/>
            <a:ext cx="255574" cy="215444"/>
          </a:xfrm>
          <a:prstGeom prst="rect">
            <a:avLst/>
          </a:prstGeom>
          <a:noFill/>
          <a:ln>
            <a:noFill/>
            <a:prstDash val="sysDot"/>
          </a:ln>
        </p:spPr>
        <p:txBody>
          <a:bodyPr wrap="square">
            <a:spAutoFit/>
          </a:bodyPr>
          <a:lstStyle/>
          <a:p>
            <a:pPr algn="ctr"/>
            <a:r>
              <a:rPr lang="en-US" altLang="zh-TW" sz="800" b="1" u="sng" dirty="0">
                <a:solidFill>
                  <a:srgbClr val="FF0000"/>
                </a:solidFill>
                <a:latin typeface="微軟正黑體" panose="020B0604030504040204" pitchFamily="34" charset="-120"/>
                <a:ea typeface="微軟正黑體" panose="020B0604030504040204" pitchFamily="34" charset="-120"/>
              </a:rPr>
              <a:t>L</a:t>
            </a:r>
          </a:p>
        </p:txBody>
      </p:sp>
      <p:sp>
        <p:nvSpPr>
          <p:cNvPr id="35" name="矩形 34"/>
          <p:cNvSpPr/>
          <p:nvPr/>
        </p:nvSpPr>
        <p:spPr>
          <a:xfrm>
            <a:off x="4889625" y="2085047"/>
            <a:ext cx="255574" cy="21544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C</a:t>
            </a:r>
            <a:endParaRPr lang="en-US" altLang="zh-TW" sz="800" b="1" u="sng" dirty="0">
              <a:solidFill>
                <a:srgbClr val="FF0000"/>
              </a:solidFill>
              <a:latin typeface="微軟正黑體" panose="020B0604030504040204" pitchFamily="34" charset="-120"/>
              <a:ea typeface="微軟正黑體" panose="020B0604030504040204" pitchFamily="34" charset="-120"/>
            </a:endParaRPr>
          </a:p>
        </p:txBody>
      </p:sp>
      <p:sp>
        <p:nvSpPr>
          <p:cNvPr id="36" name="矩形 35"/>
          <p:cNvSpPr/>
          <p:nvPr/>
        </p:nvSpPr>
        <p:spPr>
          <a:xfrm>
            <a:off x="5049998" y="2089960"/>
            <a:ext cx="255574" cy="215444"/>
          </a:xfrm>
          <a:prstGeom prst="rect">
            <a:avLst/>
          </a:prstGeom>
          <a:noFill/>
          <a:ln>
            <a:noFill/>
            <a:prstDash val="sysDot"/>
          </a:ln>
        </p:spPr>
        <p:txBody>
          <a:bodyPr wrap="square">
            <a:spAutoFit/>
          </a:bodyPr>
          <a:lstStyle/>
          <a:p>
            <a:pPr algn="ctr"/>
            <a:r>
              <a:rPr lang="en-US" altLang="zh-TW" sz="800" b="1" u="sng" dirty="0">
                <a:solidFill>
                  <a:srgbClr val="FF0000"/>
                </a:solidFill>
                <a:latin typeface="微軟正黑體" panose="020B0604030504040204" pitchFamily="34" charset="-120"/>
                <a:ea typeface="微軟正黑體" panose="020B0604030504040204" pitchFamily="34" charset="-120"/>
              </a:rPr>
              <a:t>R</a:t>
            </a:r>
          </a:p>
        </p:txBody>
      </p:sp>
      <p:cxnSp>
        <p:nvCxnSpPr>
          <p:cNvPr id="37" name="直線單箭頭接點 36"/>
          <p:cNvCxnSpPr/>
          <p:nvPr/>
        </p:nvCxnSpPr>
        <p:spPr>
          <a:xfrm>
            <a:off x="5021296" y="2670311"/>
            <a:ext cx="107354" cy="123028"/>
          </a:xfrm>
          <a:prstGeom prst="straightConnector1">
            <a:avLst/>
          </a:prstGeom>
          <a:ln w="19050">
            <a:solidFill>
              <a:srgbClr val="7F7F7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913064" y="866188"/>
            <a:ext cx="514331" cy="564924"/>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grpSp>
        <p:nvGrpSpPr>
          <p:cNvPr id="39" name="群組 38"/>
          <p:cNvGrpSpPr/>
          <p:nvPr/>
        </p:nvGrpSpPr>
        <p:grpSpPr>
          <a:xfrm>
            <a:off x="5591641" y="587535"/>
            <a:ext cx="2178897" cy="894691"/>
            <a:chOff x="5351515" y="712900"/>
            <a:chExt cx="2178897" cy="894691"/>
          </a:xfrm>
        </p:grpSpPr>
        <p:pic>
          <p:nvPicPr>
            <p:cNvPr id="40" name="圖片 39"/>
            <p:cNvPicPr>
              <a:picLocks noChangeAspect="1"/>
            </p:cNvPicPr>
            <p:nvPr/>
          </p:nvPicPr>
          <p:blipFill>
            <a:blip r:embed="rId9"/>
            <a:stretch>
              <a:fillRect/>
            </a:stretch>
          </p:blipFill>
          <p:spPr>
            <a:xfrm>
              <a:off x="5351515" y="712900"/>
              <a:ext cx="2178897" cy="89469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1" name="矩形 40"/>
            <p:cNvSpPr/>
            <p:nvPr/>
          </p:nvSpPr>
          <p:spPr>
            <a:xfrm>
              <a:off x="5351556" y="727121"/>
              <a:ext cx="688744" cy="855549"/>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grpSp>
      <p:pic>
        <p:nvPicPr>
          <p:cNvPr id="42" name="Picture 2" descr="http://10.97.141.73/mqc_result/dataform/form_image/12082020_ZJ4AC14400_02_27QA7%20P3%20DCD_x_AAMOV200_AAIEX500_CD1%20peak%20form.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32353" y="1576408"/>
            <a:ext cx="2475531" cy="1461458"/>
          </a:xfrm>
          <a:prstGeom prst="rect">
            <a:avLst/>
          </a:prstGeom>
          <a:noFill/>
          <a:extLst>
            <a:ext uri="{909E8E84-426E-40DD-AFC4-6F175D3DCCD1}">
              <a14:hiddenFill xmlns:a14="http://schemas.microsoft.com/office/drawing/2010/main">
                <a:solidFill>
                  <a:srgbClr val="FFFFFF"/>
                </a:solidFill>
              </a14:hiddenFill>
            </a:ext>
          </a:extLst>
        </p:spPr>
      </p:pic>
      <p:sp>
        <p:nvSpPr>
          <p:cNvPr id="43" name="矩形 42"/>
          <p:cNvSpPr/>
          <p:nvPr/>
        </p:nvSpPr>
        <p:spPr>
          <a:xfrm>
            <a:off x="7675490" y="1541478"/>
            <a:ext cx="992292" cy="21544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Peak16.8</a:t>
            </a:r>
            <a:endParaRPr lang="en-US" altLang="zh-TW" sz="800" b="1" u="sng" dirty="0">
              <a:solidFill>
                <a:srgbClr val="FF0000"/>
              </a:solidFill>
              <a:latin typeface="微軟正黑體" panose="020B0604030504040204" pitchFamily="34" charset="-120"/>
              <a:ea typeface="微軟正黑體" panose="020B0604030504040204" pitchFamily="34" charset="-120"/>
            </a:endParaRPr>
          </a:p>
        </p:txBody>
      </p:sp>
      <p:sp>
        <p:nvSpPr>
          <p:cNvPr id="44" name="矩形 43"/>
          <p:cNvSpPr/>
          <p:nvPr/>
        </p:nvSpPr>
        <p:spPr>
          <a:xfrm>
            <a:off x="7740082" y="2215479"/>
            <a:ext cx="992292" cy="215444"/>
          </a:xfrm>
          <a:prstGeom prst="rect">
            <a:avLst/>
          </a:prstGeom>
          <a:noFill/>
          <a:ln>
            <a:noFill/>
            <a:prstDash val="sysDot"/>
          </a:ln>
        </p:spPr>
        <p:txBody>
          <a:bodyPr wrap="square">
            <a:spAutoFit/>
          </a:bodyPr>
          <a:lstStyle/>
          <a:p>
            <a:pPr algn="ctr"/>
            <a:r>
              <a:rPr lang="en-US" altLang="zh-TW" sz="800" b="1" u="sng" dirty="0" smtClean="0">
                <a:solidFill>
                  <a:srgbClr val="FF0000"/>
                </a:solidFill>
                <a:latin typeface="微軟正黑體" panose="020B0604030504040204" pitchFamily="34" charset="-120"/>
                <a:ea typeface="微軟正黑體" panose="020B0604030504040204" pitchFamily="34" charset="-120"/>
              </a:rPr>
              <a:t>Peak to Peak</a:t>
            </a:r>
            <a:endParaRPr lang="en-US" altLang="zh-TW" sz="800" b="1" u="sng"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74708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3" name="圖片 2"/>
          <p:cNvPicPr>
            <a:picLocks noChangeAspect="1"/>
          </p:cNvPicPr>
          <p:nvPr/>
        </p:nvPicPr>
        <p:blipFill>
          <a:blip r:embed="rId3"/>
          <a:stretch>
            <a:fillRect/>
          </a:stretch>
        </p:blipFill>
        <p:spPr>
          <a:xfrm>
            <a:off x="161510" y="681540"/>
            <a:ext cx="8730970" cy="4167681"/>
          </a:xfrm>
          <a:prstGeom prst="rect">
            <a:avLst/>
          </a:prstGeom>
        </p:spPr>
      </p:pic>
    </p:spTree>
    <p:extLst>
      <p:ext uri="{BB962C8B-B14F-4D97-AF65-F5344CB8AC3E}">
        <p14:creationId xmlns:p14="http://schemas.microsoft.com/office/powerpoint/2010/main" val="1216626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3" name="圖片 2"/>
          <p:cNvPicPr>
            <a:picLocks noChangeAspect="1"/>
          </p:cNvPicPr>
          <p:nvPr/>
        </p:nvPicPr>
        <p:blipFill>
          <a:blip r:embed="rId3"/>
          <a:stretch>
            <a:fillRect/>
          </a:stretch>
        </p:blipFill>
        <p:spPr>
          <a:xfrm>
            <a:off x="217808" y="955367"/>
            <a:ext cx="4591050" cy="3738249"/>
          </a:xfrm>
          <a:prstGeom prst="rect">
            <a:avLst/>
          </a:prstGeom>
        </p:spPr>
      </p:pic>
      <p:pic>
        <p:nvPicPr>
          <p:cNvPr id="4" name="圖片 3"/>
          <p:cNvPicPr>
            <a:picLocks noChangeAspect="1"/>
          </p:cNvPicPr>
          <p:nvPr/>
        </p:nvPicPr>
        <p:blipFill>
          <a:blip r:embed="rId4"/>
          <a:stretch>
            <a:fillRect/>
          </a:stretch>
        </p:blipFill>
        <p:spPr>
          <a:xfrm>
            <a:off x="197491" y="483303"/>
            <a:ext cx="4696205" cy="1863099"/>
          </a:xfrm>
          <a:prstGeom prst="rect">
            <a:avLst/>
          </a:prstGeom>
        </p:spPr>
      </p:pic>
      <p:pic>
        <p:nvPicPr>
          <p:cNvPr id="5" name="圖片 4"/>
          <p:cNvPicPr>
            <a:picLocks noChangeAspect="1"/>
          </p:cNvPicPr>
          <p:nvPr/>
        </p:nvPicPr>
        <p:blipFill>
          <a:blip r:embed="rId5"/>
          <a:stretch>
            <a:fillRect/>
          </a:stretch>
        </p:blipFill>
        <p:spPr>
          <a:xfrm>
            <a:off x="4869812" y="2436052"/>
            <a:ext cx="4591050" cy="2207558"/>
          </a:xfrm>
          <a:prstGeom prst="rect">
            <a:avLst/>
          </a:prstGeom>
        </p:spPr>
      </p:pic>
      <p:pic>
        <p:nvPicPr>
          <p:cNvPr id="6" name="圖片 5"/>
          <p:cNvPicPr>
            <a:picLocks noChangeAspect="1"/>
          </p:cNvPicPr>
          <p:nvPr/>
        </p:nvPicPr>
        <p:blipFill>
          <a:blip r:embed="rId6"/>
          <a:stretch>
            <a:fillRect/>
          </a:stretch>
        </p:blipFill>
        <p:spPr>
          <a:xfrm>
            <a:off x="197490" y="499825"/>
            <a:ext cx="4631686" cy="1986200"/>
          </a:xfrm>
          <a:prstGeom prst="rect">
            <a:avLst/>
          </a:prstGeom>
        </p:spPr>
      </p:pic>
      <p:pic>
        <p:nvPicPr>
          <p:cNvPr id="7" name="圖片 6"/>
          <p:cNvPicPr>
            <a:picLocks noChangeAspect="1"/>
          </p:cNvPicPr>
          <p:nvPr/>
        </p:nvPicPr>
        <p:blipFill>
          <a:blip r:embed="rId7"/>
          <a:stretch>
            <a:fillRect/>
          </a:stretch>
        </p:blipFill>
        <p:spPr>
          <a:xfrm>
            <a:off x="3635490" y="1824297"/>
            <a:ext cx="1203845" cy="309560"/>
          </a:xfrm>
          <a:prstGeom prst="rect">
            <a:avLst/>
          </a:prstGeom>
          <a:ln>
            <a:noFill/>
          </a:ln>
          <a:effectLst>
            <a:outerShdw blurRad="190500" algn="tl" rotWithShape="0">
              <a:srgbClr val="000000">
                <a:alpha val="70000"/>
              </a:srgbClr>
            </a:outerShdw>
          </a:effectLst>
        </p:spPr>
      </p:pic>
      <p:sp>
        <p:nvSpPr>
          <p:cNvPr id="8" name="文字方塊 7"/>
          <p:cNvSpPr txBox="1"/>
          <p:nvPr/>
        </p:nvSpPr>
        <p:spPr>
          <a:xfrm>
            <a:off x="6711604" y="1123557"/>
            <a:ext cx="1959511" cy="871713"/>
          </a:xfrm>
          <a:prstGeom prst="rect">
            <a:avLst/>
          </a:prstGeom>
          <a:noFill/>
        </p:spPr>
        <p:txBody>
          <a:bodyPr wrap="none" rtlCol="0">
            <a:spAutoFit/>
          </a:bodyPr>
          <a:lstStyle/>
          <a:p>
            <a:pPr marL="214313" indent="-214313">
              <a:buFont typeface="Arial" panose="020B0604020202020204" pitchFamily="34" charset="0"/>
              <a:buChar char="•"/>
            </a:pPr>
            <a:r>
              <a:rPr lang="en-US" altLang="zh-TW" sz="1013" b="1" dirty="0">
                <a:latin typeface="+mn-ea"/>
                <a:ea typeface="+mn-ea"/>
              </a:rPr>
              <a:t>Spec</a:t>
            </a:r>
            <a:r>
              <a:rPr lang="zh-TW" altLang="en-US" sz="1013" b="1" dirty="0">
                <a:latin typeface="+mn-ea"/>
                <a:ea typeface="+mn-ea"/>
              </a:rPr>
              <a:t>輸入新增儲存按鈕</a:t>
            </a:r>
            <a:endParaRPr lang="en-US" altLang="zh-TW" sz="1013" b="1" dirty="0">
              <a:latin typeface="+mn-ea"/>
              <a:ea typeface="+mn-ea"/>
            </a:endParaRPr>
          </a:p>
          <a:p>
            <a:pPr marL="214313" indent="-214313">
              <a:buFont typeface="Arial" panose="020B0604020202020204" pitchFamily="34" charset="0"/>
              <a:buChar char="•"/>
            </a:pPr>
            <a:r>
              <a:rPr lang="zh-TW" altLang="en-US" sz="1013" b="1" dirty="0">
                <a:latin typeface="+mn-ea"/>
                <a:ea typeface="+mn-ea"/>
              </a:rPr>
              <a:t>歷史影像圖例說明位置更改</a:t>
            </a:r>
            <a:endParaRPr lang="en-US" altLang="zh-TW" sz="1013" b="1" dirty="0">
              <a:latin typeface="+mn-ea"/>
              <a:ea typeface="+mn-ea"/>
            </a:endParaRPr>
          </a:p>
          <a:p>
            <a:pPr marL="214313" indent="-214313">
              <a:buFont typeface="Arial" panose="020B0604020202020204" pitchFamily="34" charset="0"/>
              <a:buChar char="•"/>
            </a:pPr>
            <a:r>
              <a:rPr lang="zh-TW" altLang="en-US" sz="1013" b="1" dirty="0">
                <a:latin typeface="+mn-ea"/>
                <a:ea typeface="+mn-ea"/>
              </a:rPr>
              <a:t>說明新增時間</a:t>
            </a:r>
            <a:r>
              <a:rPr lang="en-US" altLang="zh-TW" sz="1013" b="1" dirty="0">
                <a:latin typeface="+mn-ea"/>
                <a:ea typeface="+mn-ea"/>
              </a:rPr>
              <a:t>+lot</a:t>
            </a:r>
            <a:r>
              <a:rPr lang="zh-TW" altLang="en-US" sz="1013" b="1" dirty="0">
                <a:latin typeface="+mn-ea"/>
                <a:ea typeface="+mn-ea"/>
              </a:rPr>
              <a:t>資訊</a:t>
            </a:r>
            <a:endParaRPr lang="en-US" altLang="zh-TW" sz="1013" b="1" dirty="0">
              <a:latin typeface="+mn-ea"/>
              <a:ea typeface="+mn-ea"/>
            </a:endParaRPr>
          </a:p>
          <a:p>
            <a:pPr marL="214313" indent="-214313">
              <a:buFont typeface="Arial" panose="020B0604020202020204" pitchFamily="34" charset="0"/>
              <a:buChar char="•"/>
            </a:pPr>
            <a:r>
              <a:rPr lang="zh-TW" altLang="en-US" sz="1013" b="1" dirty="0">
                <a:latin typeface="+mn-ea"/>
                <a:ea typeface="+mn-ea"/>
              </a:rPr>
              <a:t>滑鼠移動時</a:t>
            </a:r>
            <a:r>
              <a:rPr lang="en-US" altLang="zh-TW" sz="1013" b="1" dirty="0">
                <a:latin typeface="+mn-ea"/>
                <a:ea typeface="+mn-ea"/>
              </a:rPr>
              <a:t>table</a:t>
            </a:r>
            <a:r>
              <a:rPr lang="zh-TW" altLang="en-US" sz="1013" b="1" dirty="0">
                <a:latin typeface="+mn-ea"/>
                <a:ea typeface="+mn-ea"/>
              </a:rPr>
              <a:t>欄位變色</a:t>
            </a:r>
            <a:endParaRPr lang="en-US" altLang="zh-TW" sz="1013" b="1" dirty="0">
              <a:latin typeface="+mn-ea"/>
              <a:ea typeface="+mn-ea"/>
            </a:endParaRPr>
          </a:p>
          <a:p>
            <a:pPr marL="214313" indent="-214313">
              <a:buFont typeface="Arial" panose="020B0604020202020204" pitchFamily="34" charset="0"/>
              <a:buChar char="•"/>
            </a:pPr>
            <a:r>
              <a:rPr lang="zh-TW" altLang="en-US" sz="1013" b="1" dirty="0">
                <a:solidFill>
                  <a:schemeClr val="tx1">
                    <a:lumMod val="65000"/>
                    <a:lumOff val="35000"/>
                  </a:schemeClr>
                </a:solidFill>
                <a:latin typeface="+mn-ea"/>
                <a:ea typeface="+mn-ea"/>
              </a:rPr>
              <a:t>目前影像調整為互動式</a:t>
            </a:r>
          </a:p>
        </p:txBody>
      </p:sp>
      <p:cxnSp>
        <p:nvCxnSpPr>
          <p:cNvPr id="9" name="直線單箭頭接點 8"/>
          <p:cNvCxnSpPr>
            <a:endCxn id="16" idx="1"/>
          </p:cNvCxnSpPr>
          <p:nvPr/>
        </p:nvCxnSpPr>
        <p:spPr>
          <a:xfrm flipV="1">
            <a:off x="3215142" y="1280539"/>
            <a:ext cx="1669630" cy="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17808" y="2133857"/>
            <a:ext cx="4591050" cy="195392"/>
          </a:xfrm>
          <a:prstGeom prst="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13">
              <a:latin typeface="+mn-ea"/>
            </a:endParaRPr>
          </a:p>
        </p:txBody>
      </p:sp>
      <p:sp>
        <p:nvSpPr>
          <p:cNvPr id="11" name="矩形 10"/>
          <p:cNvSpPr/>
          <p:nvPr/>
        </p:nvSpPr>
        <p:spPr>
          <a:xfrm>
            <a:off x="2389508" y="2545041"/>
            <a:ext cx="2367844" cy="2098569"/>
          </a:xfrm>
          <a:prstGeom prst="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13">
              <a:latin typeface="+mn-ea"/>
            </a:endParaRPr>
          </a:p>
        </p:txBody>
      </p:sp>
      <p:sp>
        <p:nvSpPr>
          <p:cNvPr id="12" name="矩形 11"/>
          <p:cNvSpPr/>
          <p:nvPr/>
        </p:nvSpPr>
        <p:spPr>
          <a:xfrm>
            <a:off x="6457971" y="2436052"/>
            <a:ext cx="400030" cy="2207558"/>
          </a:xfrm>
          <a:prstGeom prst="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13">
              <a:latin typeface="+mn-ea"/>
            </a:endParaRPr>
          </a:p>
        </p:txBody>
      </p:sp>
      <p:sp>
        <p:nvSpPr>
          <p:cNvPr id="13" name="矩形 12"/>
          <p:cNvSpPr/>
          <p:nvPr/>
        </p:nvSpPr>
        <p:spPr>
          <a:xfrm>
            <a:off x="7334170" y="2436052"/>
            <a:ext cx="400030" cy="2207558"/>
          </a:xfrm>
          <a:prstGeom prst="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13">
              <a:latin typeface="+mn-ea"/>
            </a:endParaRPr>
          </a:p>
        </p:txBody>
      </p:sp>
      <p:sp>
        <p:nvSpPr>
          <p:cNvPr id="14" name="矩形 13"/>
          <p:cNvSpPr/>
          <p:nvPr/>
        </p:nvSpPr>
        <p:spPr>
          <a:xfrm>
            <a:off x="8246144" y="2436052"/>
            <a:ext cx="400030" cy="2207558"/>
          </a:xfrm>
          <a:prstGeom prst="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13">
              <a:latin typeface="+mn-ea"/>
            </a:endParaRPr>
          </a:p>
        </p:txBody>
      </p:sp>
      <p:sp>
        <p:nvSpPr>
          <p:cNvPr id="15" name="矩形 14"/>
          <p:cNvSpPr/>
          <p:nvPr/>
        </p:nvSpPr>
        <p:spPr>
          <a:xfrm>
            <a:off x="3215142" y="610305"/>
            <a:ext cx="1593716" cy="188287"/>
          </a:xfrm>
          <a:prstGeom prst="rect">
            <a:avLst/>
          </a:prstGeom>
          <a:noFill/>
          <a:ln w="19050">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13">
              <a:latin typeface="+mn-ea"/>
            </a:endParaRPr>
          </a:p>
        </p:txBody>
      </p:sp>
      <p:pic>
        <p:nvPicPr>
          <p:cNvPr id="16" name="圖片 15"/>
          <p:cNvPicPr>
            <a:picLocks noChangeAspect="1"/>
          </p:cNvPicPr>
          <p:nvPr/>
        </p:nvPicPr>
        <p:blipFill rotWithShape="1">
          <a:blip r:embed="rId8"/>
          <a:srcRect r="902" b="28660"/>
          <a:stretch/>
        </p:blipFill>
        <p:spPr>
          <a:xfrm>
            <a:off x="4884772" y="776691"/>
            <a:ext cx="1908949" cy="1007696"/>
          </a:xfrm>
          <a:prstGeom prst="rect">
            <a:avLst/>
          </a:prstGeom>
        </p:spPr>
      </p:pic>
      <p:pic>
        <p:nvPicPr>
          <p:cNvPr id="17" name="圖片 16"/>
          <p:cNvPicPr>
            <a:picLocks noChangeAspect="1"/>
          </p:cNvPicPr>
          <p:nvPr/>
        </p:nvPicPr>
        <p:blipFill>
          <a:blip r:embed="rId9"/>
          <a:stretch>
            <a:fillRect/>
          </a:stretch>
        </p:blipFill>
        <p:spPr>
          <a:xfrm>
            <a:off x="4447258" y="3540343"/>
            <a:ext cx="2069876" cy="16575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11089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smtClean="0"/>
              <a:t>公司貢獻補充說明</a:t>
            </a:r>
            <a:r>
              <a:rPr lang="en-US" altLang="zh-TW" dirty="0" smtClean="0"/>
              <a:t>— </a:t>
            </a:r>
            <a:r>
              <a:rPr lang="en-US" altLang="zh-TW" dirty="0">
                <a:latin typeface="+mn-ea"/>
                <a:cs typeface="Arial" panose="020B0604020202020204" pitchFamily="34" charset="0"/>
              </a:rPr>
              <a:t>THK MQC</a:t>
            </a:r>
            <a:r>
              <a:rPr lang="zh-TW" altLang="en-US" dirty="0">
                <a:latin typeface="+mn-ea"/>
                <a:cs typeface="Arial" panose="020B0604020202020204" pitchFamily="34" charset="0"/>
              </a:rPr>
              <a:t>輔助決策系統</a:t>
            </a:r>
          </a:p>
          <a:p>
            <a:endParaRPr lang="zh-TW" altLang="zh-TW" dirty="0"/>
          </a:p>
        </p:txBody>
      </p:sp>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161" name="圓角矩形 160"/>
          <p:cNvSpPr/>
          <p:nvPr/>
        </p:nvSpPr>
        <p:spPr>
          <a:xfrm>
            <a:off x="4330066" y="607784"/>
            <a:ext cx="4471034" cy="4053698"/>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162" name="圓角矩形 161"/>
          <p:cNvSpPr/>
          <p:nvPr/>
        </p:nvSpPr>
        <p:spPr>
          <a:xfrm>
            <a:off x="127420" y="626877"/>
            <a:ext cx="4221827" cy="4013546"/>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lnSpc>
                <a:spcPct val="150000"/>
              </a:lnSpc>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163" name="Freeform 9"/>
          <p:cNvSpPr>
            <a:spLocks noEditPoints="1"/>
          </p:cNvSpPr>
          <p:nvPr/>
        </p:nvSpPr>
        <p:spPr bwMode="auto">
          <a:xfrm rot="19467343">
            <a:off x="4182823" y="854064"/>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164" name="Freeform 10"/>
          <p:cNvSpPr>
            <a:spLocks/>
          </p:cNvSpPr>
          <p:nvPr/>
        </p:nvSpPr>
        <p:spPr bwMode="auto">
          <a:xfrm rot="19467343">
            <a:off x="4298796" y="951328"/>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165" name="矩形 164"/>
          <p:cNvSpPr/>
          <p:nvPr/>
        </p:nvSpPr>
        <p:spPr>
          <a:xfrm>
            <a:off x="4636923" y="884800"/>
            <a:ext cx="1409105" cy="1169551"/>
          </a:xfrm>
          <a:prstGeom prst="rect">
            <a:avLst/>
          </a:prstGeom>
        </p:spPr>
        <p:txBody>
          <a:bodyPr wrap="square">
            <a:spAutoFit/>
          </a:body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技術對策</a:t>
            </a:r>
            <a:r>
              <a:rPr kumimoji="0" lang="en-US" altLang="zh-TW" sz="1600" b="1" dirty="0">
                <a:solidFill>
                  <a:prstClr val="black"/>
                </a:solidFill>
                <a:latin typeface="微軟正黑體" panose="020B0604030504040204" pitchFamily="34" charset="-120"/>
                <a:ea typeface="微軟正黑體" panose="020B0604030504040204" pitchFamily="34" charset="-120"/>
              </a:rPr>
              <a:t>:</a:t>
            </a:r>
          </a:p>
          <a:p>
            <a:pPr eaLnBrk="1" fontAlgn="auto" hangingPunct="1">
              <a:spcBef>
                <a:spcPts val="0"/>
              </a:spcBef>
              <a:spcAft>
                <a:spcPts val="0"/>
              </a:spcAft>
              <a:defRPr/>
            </a:pPr>
            <a:endParaRPr kumimoji="0" lang="en-US" altLang="zh-TW" sz="1800" b="1" kern="0"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b="1" dirty="0">
              <a:solidFill>
                <a:srgbClr val="0000FF"/>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dirty="0">
              <a:solidFill>
                <a:prstClr val="black">
                  <a:lumMod val="95000"/>
                  <a:lumOff val="5000"/>
                </a:prstClr>
              </a:solidFill>
              <a:latin typeface="微軟正黑體" panose="020B0604030504040204" pitchFamily="34" charset="-120"/>
              <a:ea typeface="微軟正黑體" panose="020B0604030504040204" pitchFamily="34" charset="-120"/>
            </a:endParaRPr>
          </a:p>
        </p:txBody>
      </p:sp>
      <p:sp>
        <p:nvSpPr>
          <p:cNvPr id="166" name="矩形 165"/>
          <p:cNvSpPr/>
          <p:nvPr/>
        </p:nvSpPr>
        <p:spPr>
          <a:xfrm>
            <a:off x="4658993" y="1238255"/>
            <a:ext cx="4009018" cy="553998"/>
          </a:xfrm>
          <a:prstGeom prst="rect">
            <a:avLst/>
          </a:prstGeom>
          <a:noFill/>
        </p:spPr>
        <p:txBody>
          <a:bodyPr wrap="square">
            <a:spAutoFit/>
          </a:bodyPr>
          <a:lstStyle/>
          <a:p>
            <a:pPr marL="228600" indent="-228600">
              <a:lnSpc>
                <a:spcPct val="150000"/>
              </a:lnSpc>
              <a:buClr>
                <a:schemeClr val="tx1"/>
              </a:buClr>
              <a:buFont typeface="+mj-lt"/>
              <a:buAutoNum type="arabicPeriod"/>
            </a:pPr>
            <a:r>
              <a:rPr lang="zh-TW" altLang="en-US" sz="1000" dirty="0" smtClean="0">
                <a:solidFill>
                  <a:srgbClr val="0000FF"/>
                </a:solidFill>
                <a:latin typeface="微軟正黑體" panose="020B0604030504040204" pitchFamily="34" charset="-120"/>
                <a:ea typeface="微軟正黑體" panose="020B0604030504040204" pitchFamily="34" charset="-120"/>
              </a:rPr>
              <a:t>自主開發系統</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：自動化</a:t>
            </a:r>
            <a:r>
              <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rPr>
              <a:t>MQC</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資料清理</a:t>
            </a:r>
            <a:r>
              <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rPr>
              <a:t>&amp;</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分析</a:t>
            </a:r>
            <a:r>
              <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rPr>
              <a:t>&amp;</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資料庫存取</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a:p>
            <a:pPr marL="228600" indent="-228600">
              <a:lnSpc>
                <a:spcPct val="150000"/>
              </a:lnSpc>
              <a:buClr>
                <a:schemeClr val="tx1"/>
              </a:buClr>
              <a:buFont typeface="+mj-lt"/>
              <a:buAutoNum type="arabicPeriod"/>
            </a:pPr>
            <a:r>
              <a:rPr lang="zh-TW" altLang="en-US" sz="1000" dirty="0" smtClean="0">
                <a:solidFill>
                  <a:srgbClr val="0000FF"/>
                </a:solidFill>
                <a:latin typeface="微軟正黑體" panose="020B0604030504040204" pitchFamily="34" charset="-120"/>
                <a:ea typeface="微軟正黑體" panose="020B0604030504040204" pitchFamily="34" charset="-120"/>
                <a:sym typeface="Wingdings" panose="05000000000000000000" pitchFamily="2" charset="2"/>
              </a:rPr>
              <a:t>監控</a:t>
            </a:r>
            <a:r>
              <a:rPr lang="zh-TW" altLang="en-US" sz="1000" dirty="0">
                <a:solidFill>
                  <a:srgbClr val="0000FF"/>
                </a:solidFill>
                <a:latin typeface="微軟正黑體" panose="020B0604030504040204" pitchFamily="34" charset="-120"/>
                <a:ea typeface="微軟正黑體" panose="020B0604030504040204" pitchFamily="34" charset="-120"/>
                <a:sym typeface="Wingdings" panose="05000000000000000000" pitchFamily="2" charset="2"/>
              </a:rPr>
              <a:t>網頁建置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：建置網頁</a:t>
            </a:r>
            <a:r>
              <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結合</a:t>
            </a:r>
            <a:r>
              <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rPr>
              <a:t>3D</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圖表及自主規格編寫功能</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167" name="椭圆 66"/>
          <p:cNvSpPr/>
          <p:nvPr/>
        </p:nvSpPr>
        <p:spPr bwMode="auto">
          <a:xfrm rot="4723889">
            <a:off x="1857114" y="301383"/>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168" name="组合 67"/>
          <p:cNvGrpSpPr>
            <a:grpSpLocks/>
          </p:cNvGrpSpPr>
          <p:nvPr/>
        </p:nvGrpSpPr>
        <p:grpSpPr bwMode="auto">
          <a:xfrm rot="5400000">
            <a:off x="1651788" y="324640"/>
            <a:ext cx="951398" cy="1215148"/>
            <a:chOff x="1123476" y="1681897"/>
            <a:chExt cx="3206311" cy="2990785"/>
          </a:xfrm>
        </p:grpSpPr>
        <p:grpSp>
          <p:nvGrpSpPr>
            <p:cNvPr id="169" name="组合 68"/>
            <p:cNvGrpSpPr>
              <a:grpSpLocks/>
            </p:cNvGrpSpPr>
            <p:nvPr/>
          </p:nvGrpSpPr>
          <p:grpSpPr bwMode="auto">
            <a:xfrm>
              <a:off x="1123476" y="1763461"/>
              <a:ext cx="2798050" cy="2798050"/>
              <a:chOff x="1123476" y="1763461"/>
              <a:chExt cx="2798050" cy="2798050"/>
            </a:xfrm>
          </p:grpSpPr>
          <p:sp>
            <p:nvSpPr>
              <p:cNvPr id="175" name="弧形 174"/>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6" name="弧形 175"/>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7" name="弧形 176"/>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8" name="弧形 177"/>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170" name="组合 69"/>
            <p:cNvGrpSpPr>
              <a:grpSpLocks/>
            </p:cNvGrpSpPr>
            <p:nvPr/>
          </p:nvGrpSpPr>
          <p:grpSpPr bwMode="auto">
            <a:xfrm rot="-7200000">
              <a:off x="1273270" y="1616165"/>
              <a:ext cx="2990785" cy="3122249"/>
              <a:chOff x="891209" y="1807143"/>
              <a:chExt cx="2990785" cy="3122249"/>
            </a:xfrm>
          </p:grpSpPr>
          <p:sp>
            <p:nvSpPr>
              <p:cNvPr id="171" name="弧形 170"/>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2" name="弧形 171"/>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3" name="弧形 172"/>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4" name="弧形 173"/>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180" name="矩形 179"/>
          <p:cNvSpPr/>
          <p:nvPr/>
        </p:nvSpPr>
        <p:spPr>
          <a:xfrm>
            <a:off x="1595089" y="755160"/>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181" name="椭圆 66"/>
          <p:cNvSpPr/>
          <p:nvPr/>
        </p:nvSpPr>
        <p:spPr bwMode="auto">
          <a:xfrm rot="4723889">
            <a:off x="6484424" y="366734"/>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182" name="组合 67"/>
          <p:cNvGrpSpPr>
            <a:grpSpLocks/>
          </p:cNvGrpSpPr>
          <p:nvPr/>
        </p:nvGrpSpPr>
        <p:grpSpPr bwMode="auto">
          <a:xfrm rot="4723889">
            <a:off x="6409454" y="422807"/>
            <a:ext cx="671560" cy="961309"/>
            <a:chOff x="1123476" y="1681897"/>
            <a:chExt cx="3206311" cy="2990785"/>
          </a:xfrm>
        </p:grpSpPr>
        <p:grpSp>
          <p:nvGrpSpPr>
            <p:cNvPr id="183" name="组合 68"/>
            <p:cNvGrpSpPr>
              <a:grpSpLocks/>
            </p:cNvGrpSpPr>
            <p:nvPr/>
          </p:nvGrpSpPr>
          <p:grpSpPr bwMode="auto">
            <a:xfrm>
              <a:off x="1123476" y="1763461"/>
              <a:ext cx="2798050" cy="2798050"/>
              <a:chOff x="1123476" y="1763461"/>
              <a:chExt cx="2798050" cy="2798050"/>
            </a:xfrm>
          </p:grpSpPr>
          <p:sp>
            <p:nvSpPr>
              <p:cNvPr id="189" name="弧形 188"/>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90" name="弧形 189"/>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91" name="弧形 190"/>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92" name="弧形 191"/>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184" name="组合 69"/>
            <p:cNvGrpSpPr>
              <a:grpSpLocks/>
            </p:cNvGrpSpPr>
            <p:nvPr/>
          </p:nvGrpSpPr>
          <p:grpSpPr bwMode="auto">
            <a:xfrm rot="-7200000">
              <a:off x="1273270" y="1616165"/>
              <a:ext cx="2990785" cy="3122249"/>
              <a:chOff x="891209" y="1807143"/>
              <a:chExt cx="2990785" cy="3122249"/>
            </a:xfrm>
          </p:grpSpPr>
          <p:sp>
            <p:nvSpPr>
              <p:cNvPr id="185" name="弧形 184"/>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86" name="弧形 185"/>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87" name="弧形 186"/>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88" name="弧形 187"/>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193" name="矩形 192"/>
          <p:cNvSpPr/>
          <p:nvPr/>
        </p:nvSpPr>
        <p:spPr>
          <a:xfrm>
            <a:off x="6243873" y="689230"/>
            <a:ext cx="1002724" cy="307777"/>
          </a:xfrm>
          <a:prstGeom prst="rect">
            <a:avLst/>
          </a:prstGeom>
        </p:spPr>
        <p:txBody>
          <a:bodyPr wrap="square">
            <a:spAutoFit/>
          </a:bodyPr>
          <a:lstStyle/>
          <a:p>
            <a:pPr algn="ctr" eaLnBrk="1" fontAlgn="auto" hangingPunct="1">
              <a:spcBef>
                <a:spcPts val="0"/>
              </a:spcBef>
              <a:spcAft>
                <a:spcPts val="0"/>
              </a:spcAft>
              <a:defRPr/>
            </a:pPr>
            <a:r>
              <a:rPr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rPr>
              <a:t>解決方案</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194" name="矩形 193">
            <a:extLst>
              <a:ext uri="{FF2B5EF4-FFF2-40B4-BE49-F238E27FC236}">
                <a16:creationId xmlns="" xmlns:a16="http://schemas.microsoft.com/office/drawing/2014/main" id="{9BE08482-D953-47F4-81A8-BD823C2E476A}"/>
              </a:ext>
            </a:extLst>
          </p:cNvPr>
          <p:cNvSpPr/>
          <p:nvPr/>
        </p:nvSpPr>
        <p:spPr>
          <a:xfrm>
            <a:off x="202624" y="1290315"/>
            <a:ext cx="4006209" cy="1015663"/>
          </a:xfrm>
          <a:prstGeom prst="rect">
            <a:avLst/>
          </a:prstGeom>
          <a:noFill/>
        </p:spPr>
        <p:txBody>
          <a:bodyPr wrap="square">
            <a:spAutoFit/>
          </a:bodyPr>
          <a:lstStyle/>
          <a:p>
            <a:pPr marL="171450" lvl="0" indent="-171450">
              <a:lnSpc>
                <a:spcPct val="150000"/>
              </a:lnSpc>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人員手動下載</a:t>
            </a:r>
            <a:r>
              <a:rPr lang="en-US" altLang="zh-TW" sz="1000" dirty="0" smtClean="0">
                <a:latin typeface="微軟正黑體" panose="020B0604030504040204" pitchFamily="34" charset="-120"/>
                <a:ea typeface="微軟正黑體" panose="020B0604030504040204" pitchFamily="34" charset="-120"/>
              </a:rPr>
              <a:t>MQC</a:t>
            </a:r>
            <a:r>
              <a:rPr lang="zh-TW" altLang="en-US" sz="1000" dirty="0" smtClean="0">
                <a:latin typeface="微軟正黑體" panose="020B0604030504040204" pitchFamily="34" charset="-120"/>
                <a:ea typeface="微軟正黑體" panose="020B0604030504040204" pitchFamily="34" charset="-120"/>
              </a:rPr>
              <a:t> </a:t>
            </a:r>
            <a:r>
              <a:rPr lang="en-US" altLang="zh-TW" sz="1000" dirty="0" smtClean="0">
                <a:latin typeface="微軟正黑體" panose="020B0604030504040204" pitchFamily="34" charset="-120"/>
                <a:ea typeface="微軟正黑體" panose="020B0604030504040204" pitchFamily="34" charset="-120"/>
              </a:rPr>
              <a:t>CSV</a:t>
            </a:r>
            <a:r>
              <a:rPr lang="zh-TW" altLang="en-US" sz="1000" dirty="0" smtClean="0">
                <a:latin typeface="微軟正黑體" panose="020B0604030504040204" pitchFamily="34" charset="-120"/>
                <a:ea typeface="微軟正黑體" panose="020B0604030504040204" pitchFamily="34" charset="-120"/>
              </a:rPr>
              <a:t> 檔案</a:t>
            </a:r>
            <a:r>
              <a:rPr lang="en-US" altLang="zh-TW" sz="1000" dirty="0" smtClean="0">
                <a:latin typeface="微軟正黑體" panose="020B0604030504040204" pitchFamily="34" charset="-120"/>
                <a:ea typeface="微軟正黑體" panose="020B0604030504040204" pitchFamily="34" charset="-120"/>
              </a:rPr>
              <a:t>,</a:t>
            </a:r>
            <a:r>
              <a:rPr lang="zh-TW" altLang="en-US" sz="1000" dirty="0" smtClean="0">
                <a:latin typeface="微軟正黑體" panose="020B0604030504040204" pitchFamily="34" charset="-120"/>
                <a:ea typeface="微軟正黑體" panose="020B0604030504040204" pitchFamily="34" charset="-120"/>
              </a:rPr>
              <a:t>根據膜種及量測點套用不同巨集</a:t>
            </a:r>
            <a:endParaRPr lang="en-US" altLang="zh-TW" sz="1000" dirty="0" smtClean="0">
              <a:latin typeface="微軟正黑體" panose="020B0604030504040204" pitchFamily="34" charset="-120"/>
              <a:ea typeface="微軟正黑體" panose="020B0604030504040204" pitchFamily="34" charset="-120"/>
            </a:endParaRPr>
          </a:p>
          <a:p>
            <a:pPr marL="171450" lvl="0" indent="-171450">
              <a:lnSpc>
                <a:spcPct val="150000"/>
              </a:lnSpc>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特殊產品或新追加</a:t>
            </a:r>
            <a:r>
              <a:rPr lang="en-US" altLang="zh-TW" sz="1000" dirty="0" smtClean="0">
                <a:latin typeface="微軟正黑體" panose="020B0604030504040204" pitchFamily="34" charset="-120"/>
                <a:ea typeface="微軟正黑體" panose="020B0604030504040204" pitchFamily="34" charset="-120"/>
              </a:rPr>
              <a:t>Judge</a:t>
            </a:r>
            <a:r>
              <a:rPr lang="zh-TW" altLang="en-US" sz="1000" dirty="0">
                <a:latin typeface="微軟正黑體" panose="020B0604030504040204" pitchFamily="34" charset="-120"/>
                <a:ea typeface="微軟正黑體" panose="020B0604030504040204" pitchFamily="34" charset="-120"/>
              </a:rPr>
              <a:t>點</a:t>
            </a:r>
            <a:r>
              <a:rPr lang="zh-TW" altLang="en-US" sz="1000" dirty="0" smtClean="0">
                <a:latin typeface="微軟正黑體" panose="020B0604030504040204" pitchFamily="34" charset="-120"/>
                <a:ea typeface="微軟正黑體" panose="020B0604030504040204" pitchFamily="34" charset="-120"/>
              </a:rPr>
              <a:t>位計算流程繁雜</a:t>
            </a:r>
            <a:endParaRPr lang="en-US" altLang="zh-TW" sz="1000" dirty="0" smtClean="0">
              <a:latin typeface="微軟正黑體" panose="020B0604030504040204" pitchFamily="34" charset="-120"/>
              <a:ea typeface="微軟正黑體" panose="020B0604030504040204" pitchFamily="34" charset="-120"/>
            </a:endParaRPr>
          </a:p>
          <a:p>
            <a:pPr marL="171450" lvl="0" indent="-171450">
              <a:lnSpc>
                <a:spcPct val="150000"/>
              </a:lnSpc>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巨集分析欄位版本更正不即時導制衡量標準不一致</a:t>
            </a:r>
            <a:endParaRPr lang="en-US" altLang="zh-TW" sz="1000" dirty="0" smtClean="0">
              <a:latin typeface="微軟正黑體" panose="020B0604030504040204" pitchFamily="34" charset="-120"/>
              <a:ea typeface="微軟正黑體" panose="020B0604030504040204" pitchFamily="34" charset="-120"/>
            </a:endParaRPr>
          </a:p>
          <a:p>
            <a:pPr marL="171450" lvl="0" indent="-171450">
              <a:lnSpc>
                <a:spcPct val="150000"/>
              </a:lnSpc>
              <a:buFont typeface="Arial" panose="020B0604020202020204" pitchFamily="34" charset="0"/>
              <a:buChar char="•"/>
            </a:pPr>
            <a:endParaRPr lang="en-US" altLang="zh-TW" sz="1000" dirty="0">
              <a:latin typeface="微軟正黑體" panose="020B0604030504040204" pitchFamily="34" charset="-120"/>
              <a:ea typeface="微軟正黑體" panose="020B0604030504040204" pitchFamily="34" charset="-120"/>
            </a:endParaRPr>
          </a:p>
        </p:txBody>
      </p:sp>
      <p:grpSp>
        <p:nvGrpSpPr>
          <p:cNvPr id="195" name="群組 194"/>
          <p:cNvGrpSpPr/>
          <p:nvPr/>
        </p:nvGrpSpPr>
        <p:grpSpPr>
          <a:xfrm>
            <a:off x="541953" y="3626811"/>
            <a:ext cx="3431616" cy="986269"/>
            <a:chOff x="469824" y="3332129"/>
            <a:chExt cx="3431616" cy="986269"/>
          </a:xfrm>
        </p:grpSpPr>
        <p:sp>
          <p:nvSpPr>
            <p:cNvPr id="196" name="矩形 195"/>
            <p:cNvSpPr/>
            <p:nvPr/>
          </p:nvSpPr>
          <p:spPr>
            <a:xfrm>
              <a:off x="469824" y="3379926"/>
              <a:ext cx="3431616" cy="627669"/>
            </a:xfrm>
            <a:prstGeom prst="rect">
              <a:avLst/>
            </a:prstGeom>
            <a:solidFill>
              <a:schemeClr val="bg2"/>
            </a:solidFill>
            <a:ln>
              <a:solidFill>
                <a:srgbClr val="EB5F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97" name="矩形 196"/>
            <p:cNvSpPr/>
            <p:nvPr/>
          </p:nvSpPr>
          <p:spPr>
            <a:xfrm>
              <a:off x="2336788" y="3627170"/>
              <a:ext cx="1382011" cy="369332"/>
            </a:xfrm>
            <a:prstGeom prst="rect">
              <a:avLst/>
            </a:prstGeom>
          </p:spPr>
          <p:txBody>
            <a:bodyPr wrap="square">
              <a:spAutoFit/>
            </a:bodyPr>
            <a:lstStyle/>
            <a:p>
              <a:r>
                <a:rPr lang="zh-TW" altLang="en-US" sz="900" dirty="0" smtClean="0">
                  <a:latin typeface="微軟正黑體" panose="020B0604030504040204" pitchFamily="34" charset="-120"/>
                  <a:ea typeface="微軟正黑體" panose="020B0604030504040204" pitchFamily="34" charset="-120"/>
                </a:rPr>
                <a:t>人為修改後同步不及時</a:t>
              </a:r>
              <a:endParaRPr lang="en-US" altLang="zh-TW" sz="900" dirty="0" smtClean="0">
                <a:latin typeface="微軟正黑體" panose="020B0604030504040204" pitchFamily="34" charset="-120"/>
                <a:ea typeface="微軟正黑體" panose="020B0604030504040204" pitchFamily="34" charset="-120"/>
              </a:endParaRPr>
            </a:p>
            <a:p>
              <a:r>
                <a:rPr lang="zh-TW" altLang="en-US" sz="900" dirty="0" smtClean="0">
                  <a:latin typeface="微軟正黑體" panose="020B0604030504040204" pitchFamily="34" charset="-120"/>
                  <a:ea typeface="微軟正黑體" panose="020B0604030504040204" pitchFamily="34" charset="-120"/>
                </a:rPr>
                <a:t>新增</a:t>
              </a:r>
              <a:r>
                <a:rPr lang="en-US" altLang="zh-TW" sz="900" dirty="0" smtClean="0">
                  <a:latin typeface="微軟正黑體" panose="020B0604030504040204" pitchFamily="34" charset="-120"/>
                  <a:ea typeface="微軟正黑體" panose="020B0604030504040204" pitchFamily="34" charset="-120"/>
                </a:rPr>
                <a:t>/</a:t>
              </a:r>
              <a:r>
                <a:rPr lang="zh-TW" altLang="en-US" sz="900" dirty="0" smtClean="0">
                  <a:latin typeface="微軟正黑體" panose="020B0604030504040204" pitchFamily="34" charset="-120"/>
                  <a:ea typeface="微軟正黑體" panose="020B0604030504040204" pitchFamily="34" charset="-120"/>
                </a:rPr>
                <a:t>修改方式繁瑣</a:t>
              </a:r>
              <a:endParaRPr lang="en-US" altLang="zh-TW" sz="900" dirty="0" smtClean="0">
                <a:latin typeface="微軟正黑體" panose="020B0604030504040204" pitchFamily="34" charset="-120"/>
                <a:ea typeface="微軟正黑體" panose="020B0604030504040204" pitchFamily="34" charset="-120"/>
              </a:endParaRPr>
            </a:p>
          </p:txBody>
        </p:sp>
        <p:sp>
          <p:nvSpPr>
            <p:cNvPr id="198" name="文字方塊 197"/>
            <p:cNvSpPr txBox="1"/>
            <p:nvPr/>
          </p:nvSpPr>
          <p:spPr>
            <a:xfrm>
              <a:off x="2323085" y="3398650"/>
              <a:ext cx="1221201" cy="276999"/>
            </a:xfrm>
            <a:prstGeom prst="rect">
              <a:avLst/>
            </a:prstGeom>
            <a:noFill/>
          </p:spPr>
          <p:txBody>
            <a:bodyPr wrap="square" rtlCol="0">
              <a:spAutoFit/>
            </a:bodyPr>
            <a:lstStyle/>
            <a:p>
              <a:pPr algn="ctr" defTabSz="914400" eaLnBrk="0" fontAlgn="base" hangingPunct="0">
                <a:spcBef>
                  <a:spcPct val="0"/>
                </a:spcBef>
                <a:spcAft>
                  <a:spcPct val="0"/>
                </a:spcAft>
              </a:pPr>
              <a:r>
                <a:rPr kumimoji="1" lang="zh-TW" altLang="en-US" sz="1200" b="1" dirty="0" smtClean="0">
                  <a:solidFill>
                    <a:srgbClr val="E65F5A"/>
                  </a:solidFill>
                  <a:latin typeface="微軟正黑體" panose="020B0604030504040204" pitchFamily="34" charset="-120"/>
                  <a:ea typeface="微軟正黑體" panose="020B0604030504040204" pitchFamily="34" charset="-120"/>
                  <a:cs typeface="Arial Unicode MS" panose="020B0604020202020204" pitchFamily="34" charset="-120"/>
                </a:rPr>
                <a:t>巨集維護不易</a:t>
              </a:r>
              <a:endParaRPr kumimoji="1" lang="zh-TW" altLang="en-US" sz="1200" b="1" dirty="0">
                <a:solidFill>
                  <a:srgbClr val="E65F5A"/>
                </a:solidFill>
                <a:latin typeface="微軟正黑體" panose="020B0604030504040204" pitchFamily="34" charset="-120"/>
                <a:ea typeface="微軟正黑體" panose="020B0604030504040204" pitchFamily="34" charset="-120"/>
                <a:cs typeface="Arial Unicode MS" panose="020B0604020202020204" pitchFamily="34" charset="-120"/>
              </a:endParaRPr>
            </a:p>
          </p:txBody>
        </p:sp>
        <p:sp>
          <p:nvSpPr>
            <p:cNvPr id="199" name="文字方塊 198"/>
            <p:cNvSpPr txBox="1"/>
            <p:nvPr/>
          </p:nvSpPr>
          <p:spPr>
            <a:xfrm>
              <a:off x="530275" y="3390163"/>
              <a:ext cx="1465109" cy="276999"/>
            </a:xfrm>
            <a:prstGeom prst="rect">
              <a:avLst/>
            </a:prstGeom>
            <a:noFill/>
          </p:spPr>
          <p:txBody>
            <a:bodyPr wrap="square" rtlCol="0">
              <a:spAutoFit/>
            </a:bodyPr>
            <a:lstStyle/>
            <a:p>
              <a:pPr algn="ctr" defTabSz="914400" eaLnBrk="0" fontAlgn="base" hangingPunct="0">
                <a:spcBef>
                  <a:spcPct val="0"/>
                </a:spcBef>
                <a:spcAft>
                  <a:spcPct val="0"/>
                </a:spcAft>
              </a:pPr>
              <a:r>
                <a:rPr kumimoji="1" lang="zh-TW" altLang="en-US" sz="1200" b="1" dirty="0" smtClean="0">
                  <a:solidFill>
                    <a:srgbClr val="E65F5A"/>
                  </a:solidFill>
                  <a:latin typeface="微軟正黑體" panose="020B0604030504040204" pitchFamily="34" charset="-120"/>
                  <a:ea typeface="微軟正黑體" panose="020B0604030504040204" pitchFamily="34" charset="-120"/>
                  <a:cs typeface="Arial Unicode MS" panose="020B0604020202020204" pitchFamily="34" charset="-120"/>
                </a:rPr>
                <a:t>流程耗費時間</a:t>
              </a:r>
              <a:r>
                <a:rPr kumimoji="1" lang="zh-TW" altLang="en-US" sz="1200" b="1" dirty="0">
                  <a:solidFill>
                    <a:srgbClr val="E65F5A"/>
                  </a:solidFill>
                  <a:latin typeface="微軟正黑體" panose="020B0604030504040204" pitchFamily="34" charset="-120"/>
                  <a:ea typeface="微軟正黑體" panose="020B0604030504040204" pitchFamily="34" charset="-120"/>
                  <a:cs typeface="Arial Unicode MS" panose="020B0604020202020204" pitchFamily="34" charset="-120"/>
                </a:rPr>
                <a:t>長</a:t>
              </a:r>
            </a:p>
          </p:txBody>
        </p:sp>
        <p:sp>
          <p:nvSpPr>
            <p:cNvPr id="200" name="矩形 199"/>
            <p:cNvSpPr/>
            <p:nvPr/>
          </p:nvSpPr>
          <p:spPr>
            <a:xfrm>
              <a:off x="586242" y="3608999"/>
              <a:ext cx="1581740" cy="230832"/>
            </a:xfrm>
            <a:prstGeom prst="rect">
              <a:avLst/>
            </a:prstGeom>
          </p:spPr>
          <p:txBody>
            <a:bodyPr wrap="square">
              <a:spAutoFit/>
            </a:bodyPr>
            <a:lstStyle/>
            <a:p>
              <a:r>
                <a:rPr lang="zh-TW" altLang="en-US" sz="900" dirty="0" smtClean="0">
                  <a:latin typeface="微軟正黑體" panose="020B0604030504040204" pitchFamily="34" charset="-120"/>
                  <a:ea typeface="微軟正黑體" panose="020B0604030504040204" pitchFamily="34" charset="-120"/>
                </a:rPr>
                <a:t>單一</a:t>
              </a:r>
              <a:r>
                <a:rPr lang="en-US" altLang="zh-TW" sz="900" dirty="0" smtClean="0">
                  <a:latin typeface="微軟正黑體" panose="020B0604030504040204" pitchFamily="34" charset="-120"/>
                  <a:ea typeface="微軟正黑體" panose="020B0604030504040204" pitchFamily="34" charset="-120"/>
                </a:rPr>
                <a:t>loop</a:t>
              </a:r>
              <a:r>
                <a:rPr lang="zh-TW" altLang="en-US" sz="900" dirty="0" smtClean="0">
                  <a:latin typeface="微軟正黑體" panose="020B0604030504040204" pitchFamily="34" charset="-120"/>
                  <a:ea typeface="微軟正黑體" panose="020B0604030504040204" pitchFamily="34" charset="-120"/>
                </a:rPr>
                <a:t>流程約</a:t>
              </a:r>
              <a:r>
                <a:rPr lang="en-US" altLang="zh-TW" sz="900" dirty="0" smtClean="0">
                  <a:latin typeface="微軟正黑體" panose="020B0604030504040204" pitchFamily="34" charset="-120"/>
                  <a:ea typeface="微軟正黑體" panose="020B0604030504040204" pitchFamily="34" charset="-120"/>
                </a:rPr>
                <a:t>3~5</a:t>
              </a:r>
              <a:r>
                <a:rPr lang="zh-TW" altLang="en-US" sz="900" dirty="0" smtClean="0">
                  <a:latin typeface="微軟正黑體" panose="020B0604030504040204" pitchFamily="34" charset="-120"/>
                  <a:ea typeface="微軟正黑體" panose="020B0604030504040204" pitchFamily="34" charset="-120"/>
                </a:rPr>
                <a:t>分鐘</a:t>
              </a:r>
              <a:endParaRPr lang="zh-TW" altLang="en-US" sz="900" dirty="0">
                <a:latin typeface="微軟正黑體" panose="020B0604030504040204" pitchFamily="34" charset="-120"/>
                <a:ea typeface="微軟正黑體" panose="020B0604030504040204" pitchFamily="34" charset="-120"/>
              </a:endParaRPr>
            </a:p>
          </p:txBody>
        </p:sp>
        <p:sp>
          <p:nvSpPr>
            <p:cNvPr id="201" name="文字方塊 200"/>
            <p:cNvSpPr txBox="1"/>
            <p:nvPr/>
          </p:nvSpPr>
          <p:spPr>
            <a:xfrm rot="5400000">
              <a:off x="1717501" y="3671375"/>
              <a:ext cx="986269" cy="307777"/>
            </a:xfrm>
            <a:prstGeom prst="rect">
              <a:avLst/>
            </a:prstGeom>
            <a:noFill/>
          </p:spPr>
          <p:txBody>
            <a:bodyPr wrap="square" rtlCol="0">
              <a:spAutoFit/>
            </a:bodyPr>
            <a:lstStyle/>
            <a:p>
              <a:r>
                <a:rPr lang="en-US" altLang="zh-TW" dirty="0" smtClean="0">
                  <a:latin typeface="微軟正黑體" panose="020B0604030504040204" pitchFamily="34" charset="-120"/>
                  <a:ea typeface="微軟正黑體" panose="020B0604030504040204" pitchFamily="34" charset="-120"/>
                </a:rPr>
                <a:t>---------</a:t>
              </a:r>
              <a:endParaRPr lang="zh-TW" altLang="en-US" dirty="0" smtClean="0">
                <a:latin typeface="微軟正黑體" panose="020B0604030504040204" pitchFamily="34" charset="-120"/>
                <a:ea typeface="微軟正黑體" panose="020B0604030504040204" pitchFamily="34" charset="-120"/>
              </a:endParaRPr>
            </a:p>
          </p:txBody>
        </p:sp>
      </p:grpSp>
      <p:sp>
        <p:nvSpPr>
          <p:cNvPr id="202" name="矩形 201"/>
          <p:cNvSpPr/>
          <p:nvPr/>
        </p:nvSpPr>
        <p:spPr>
          <a:xfrm>
            <a:off x="5084896" y="3673242"/>
            <a:ext cx="3441568" cy="629273"/>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203" name="群組 202"/>
          <p:cNvGrpSpPr/>
          <p:nvPr/>
        </p:nvGrpSpPr>
        <p:grpSpPr>
          <a:xfrm>
            <a:off x="4569771" y="3422728"/>
            <a:ext cx="657666" cy="408164"/>
            <a:chOff x="109587" y="3086034"/>
            <a:chExt cx="743568" cy="408164"/>
          </a:xfrm>
          <a:solidFill>
            <a:srgbClr val="005087"/>
          </a:solidFill>
        </p:grpSpPr>
        <p:sp>
          <p:nvSpPr>
            <p:cNvPr id="204" name="圓角矩形 203"/>
            <p:cNvSpPr/>
            <p:nvPr/>
          </p:nvSpPr>
          <p:spPr>
            <a:xfrm>
              <a:off x="175333" y="3086034"/>
              <a:ext cx="640538" cy="408164"/>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05" name="矩形 204">
              <a:extLst>
                <a:ext uri="{FF2B5EF4-FFF2-40B4-BE49-F238E27FC236}">
                  <a16:creationId xmlns="" xmlns:a16="http://schemas.microsoft.com/office/drawing/2014/main" id="{2FB82B3E-7C5A-4E57-B159-B07D5CBA84B6}"/>
                </a:ext>
              </a:extLst>
            </p:cNvPr>
            <p:cNvSpPr/>
            <p:nvPr/>
          </p:nvSpPr>
          <p:spPr>
            <a:xfrm>
              <a:off x="109587" y="3160696"/>
              <a:ext cx="743568" cy="276999"/>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sp>
        <p:nvSpPr>
          <p:cNvPr id="206" name="文字方塊 205"/>
          <p:cNvSpPr txBox="1"/>
          <p:nvPr/>
        </p:nvSpPr>
        <p:spPr>
          <a:xfrm>
            <a:off x="4967097" y="3693332"/>
            <a:ext cx="1221201" cy="276999"/>
          </a:xfrm>
          <a:prstGeom prst="rect">
            <a:avLst/>
          </a:prstGeom>
          <a:noFill/>
        </p:spPr>
        <p:txBody>
          <a:bodyPr wrap="square" rtlCol="0">
            <a:spAutoFit/>
          </a:bodyPr>
          <a:lstStyle/>
          <a:p>
            <a:pPr algn="ctr" defTabSz="914400" eaLnBrk="0" fontAlgn="base" hangingPunct="0">
              <a:spcBef>
                <a:spcPct val="0"/>
              </a:spcBef>
              <a:spcAft>
                <a:spcPct val="0"/>
              </a:spcAft>
            </a:pPr>
            <a:r>
              <a:rPr kumimoji="1" lang="zh-TW" altLang="en-US" sz="1200" b="1" dirty="0" smtClean="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節省工時</a:t>
            </a:r>
            <a:endParaRPr kumimoji="1" lang="zh-TW" altLang="en-US" sz="1200" b="1" dirty="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endParaRPr>
          </a:p>
        </p:txBody>
      </p:sp>
      <p:sp>
        <p:nvSpPr>
          <p:cNvPr id="207" name="矩形 206"/>
          <p:cNvSpPr/>
          <p:nvPr/>
        </p:nvSpPr>
        <p:spPr>
          <a:xfrm>
            <a:off x="5194461" y="3961601"/>
            <a:ext cx="3297319" cy="246221"/>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zh-TW" altLang="en-US" sz="1000" dirty="0" smtClean="0">
                <a:latin typeface="微軟正黑體" panose="020B0604030504040204" pitchFamily="34" charset="-120"/>
                <a:ea typeface="微軟正黑體" panose="020B0604030504040204" pitchFamily="34" charset="-120"/>
              </a:rPr>
              <a:t>每日</a:t>
            </a:r>
            <a:r>
              <a:rPr lang="en-US" altLang="zh-TW" sz="1000" dirty="0" smtClean="0">
                <a:latin typeface="微軟正黑體" panose="020B0604030504040204" pitchFamily="34" charset="-120"/>
                <a:ea typeface="微軟正黑體" panose="020B0604030504040204" pitchFamily="34" charset="-120"/>
              </a:rPr>
              <a:t>:</a:t>
            </a:r>
            <a:r>
              <a:rPr lang="zh-TW" altLang="en-US" sz="1000" dirty="0" smtClean="0">
                <a:latin typeface="微軟正黑體" panose="020B0604030504040204" pitchFamily="34" charset="-120"/>
                <a:ea typeface="微軟正黑體" panose="020B0604030504040204" pitchFamily="34" charset="-120"/>
              </a:rPr>
              <a:t> </a:t>
            </a:r>
            <a:r>
              <a:rPr lang="en-US" altLang="zh-TW" sz="1000" dirty="0" smtClean="0">
                <a:latin typeface="微軟正黑體" panose="020B0604030504040204" pitchFamily="34" charset="-120"/>
                <a:ea typeface="微軟正黑體" panose="020B0604030504040204" pitchFamily="34" charset="-120"/>
              </a:rPr>
              <a:t>1.5hr/</a:t>
            </a:r>
            <a:r>
              <a:rPr lang="zh-TW" altLang="en-US" sz="1000" dirty="0" smtClean="0">
                <a:latin typeface="微軟正黑體" panose="020B0604030504040204" pitchFamily="34" charset="-120"/>
                <a:ea typeface="微軟正黑體" panose="020B0604030504040204" pitchFamily="34" charset="-120"/>
              </a:rPr>
              <a:t>人</a:t>
            </a:r>
            <a:r>
              <a:rPr lang="zh-TW" altLang="en-US" sz="1000" dirty="0">
                <a:latin typeface="微軟正黑體" panose="020B0604030504040204" pitchFamily="34" charset="-120"/>
                <a:ea typeface="微軟正黑體" panose="020B0604030504040204" pitchFamily="34" charset="-120"/>
              </a:rPr>
              <a:t> </a:t>
            </a:r>
            <a:r>
              <a:rPr lang="en-US" altLang="zh-TW" sz="1000" dirty="0" smtClean="0">
                <a:latin typeface="微軟正黑體" panose="020B0604030504040204" pitchFamily="34" charset="-120"/>
                <a:ea typeface="微軟正黑體" panose="020B0604030504040204" pitchFamily="34" charset="-120"/>
              </a:rPr>
              <a:t>-&gt;</a:t>
            </a:r>
            <a:r>
              <a:rPr lang="zh-TW" altLang="en-US" sz="1000" dirty="0" smtClean="0">
                <a:latin typeface="微軟正黑體" panose="020B0604030504040204" pitchFamily="34" charset="-120"/>
                <a:ea typeface="微軟正黑體" panose="020B0604030504040204" pitchFamily="34" charset="-120"/>
              </a:rPr>
              <a:t> 月</a:t>
            </a:r>
            <a:r>
              <a:rPr lang="en-US" altLang="zh-TW" sz="1000" dirty="0" smtClean="0">
                <a:latin typeface="微軟正黑體" panose="020B0604030504040204" pitchFamily="34" charset="-120"/>
                <a:ea typeface="微軟正黑體" panose="020B0604030504040204" pitchFamily="34" charset="-120"/>
              </a:rPr>
              <a:t>:</a:t>
            </a:r>
            <a:r>
              <a:rPr lang="zh-TW" altLang="en-US" sz="1000" dirty="0" smtClean="0">
                <a:latin typeface="微軟正黑體" panose="020B0604030504040204" pitchFamily="34" charset="-120"/>
                <a:ea typeface="微軟正黑體" panose="020B0604030504040204" pitchFamily="34" charset="-120"/>
              </a:rPr>
              <a:t> </a:t>
            </a:r>
            <a:r>
              <a:rPr lang="en-US" altLang="zh-TW" sz="1000" dirty="0" smtClean="0">
                <a:latin typeface="微軟正黑體" panose="020B0604030504040204" pitchFamily="34" charset="-120"/>
                <a:ea typeface="微軟正黑體" panose="020B0604030504040204" pitchFamily="34" charset="-120"/>
              </a:rPr>
              <a:t>1.5</a:t>
            </a:r>
            <a:r>
              <a:rPr lang="zh-TW" altLang="en-US" sz="1000" dirty="0" smtClean="0">
                <a:latin typeface="微軟正黑體" panose="020B0604030504040204" pitchFamily="34" charset="-120"/>
                <a:ea typeface="微軟正黑體" panose="020B0604030504040204" pitchFamily="34" charset="-120"/>
              </a:rPr>
              <a:t>*</a:t>
            </a:r>
            <a:r>
              <a:rPr lang="en-US" altLang="zh-TW" sz="1000" dirty="0" smtClean="0">
                <a:latin typeface="微軟正黑體" panose="020B0604030504040204" pitchFamily="34" charset="-120"/>
                <a:ea typeface="微軟正黑體" panose="020B0604030504040204" pitchFamily="34" charset="-120"/>
              </a:rPr>
              <a:t>30</a:t>
            </a:r>
            <a:r>
              <a:rPr lang="zh-TW" altLang="en-US" sz="1000" dirty="0" smtClean="0">
                <a:latin typeface="微軟正黑體" panose="020B0604030504040204" pitchFamily="34" charset="-120"/>
                <a:ea typeface="微軟正黑體" panose="020B0604030504040204" pitchFamily="34" charset="-120"/>
              </a:rPr>
              <a:t> </a:t>
            </a:r>
            <a:r>
              <a:rPr lang="en-US" altLang="zh-TW" sz="1000" dirty="0" smtClean="0">
                <a:latin typeface="微軟正黑體" panose="020B0604030504040204" pitchFamily="34" charset="-120"/>
                <a:ea typeface="微軟正黑體" panose="020B0604030504040204" pitchFamily="34" charset="-120"/>
              </a:rPr>
              <a:t>=</a:t>
            </a:r>
            <a:r>
              <a:rPr lang="zh-TW" altLang="en-US" sz="1000" dirty="0" smtClean="0">
                <a:latin typeface="微軟正黑體" panose="020B0604030504040204" pitchFamily="34" charset="-120"/>
                <a:ea typeface="微軟正黑體" panose="020B0604030504040204" pitchFamily="34" charset="-120"/>
              </a:rPr>
              <a:t> </a:t>
            </a:r>
            <a:r>
              <a:rPr lang="en-US" altLang="zh-TW" sz="1000" b="1" dirty="0" smtClean="0">
                <a:solidFill>
                  <a:schemeClr val="accent1"/>
                </a:solidFill>
                <a:latin typeface="微軟正黑體" panose="020B0604030504040204" pitchFamily="34" charset="-120"/>
                <a:ea typeface="微軟正黑體" panose="020B0604030504040204" pitchFamily="34" charset="-120"/>
              </a:rPr>
              <a:t>45hr/</a:t>
            </a:r>
            <a:r>
              <a:rPr lang="zh-TW" altLang="en-US" sz="1000" b="1" dirty="0" smtClean="0">
                <a:solidFill>
                  <a:schemeClr val="accent1"/>
                </a:solidFill>
                <a:latin typeface="微軟正黑體" panose="020B0604030504040204" pitchFamily="34" charset="-120"/>
                <a:ea typeface="微軟正黑體" panose="020B0604030504040204" pitchFamily="34" charset="-120"/>
              </a:rPr>
              <a:t>月</a:t>
            </a:r>
            <a:endParaRPr lang="en-US" altLang="zh-TW" sz="1000" b="1" dirty="0" smtClean="0">
              <a:solidFill>
                <a:schemeClr val="accent1"/>
              </a:solidFill>
              <a:latin typeface="微軟正黑體" panose="020B0604030504040204" pitchFamily="34" charset="-120"/>
              <a:ea typeface="微軟正黑體" panose="020B0604030504040204" pitchFamily="34" charset="-120"/>
            </a:endParaRPr>
          </a:p>
        </p:txBody>
      </p:sp>
      <p:grpSp>
        <p:nvGrpSpPr>
          <p:cNvPr id="208" name="群組 207"/>
          <p:cNvGrpSpPr/>
          <p:nvPr/>
        </p:nvGrpSpPr>
        <p:grpSpPr>
          <a:xfrm>
            <a:off x="116212" y="3399866"/>
            <a:ext cx="626287" cy="408164"/>
            <a:chOff x="111589" y="3086034"/>
            <a:chExt cx="743568" cy="408164"/>
          </a:xfrm>
        </p:grpSpPr>
        <p:sp>
          <p:nvSpPr>
            <p:cNvPr id="209" name="圓角矩形 208"/>
            <p:cNvSpPr/>
            <p:nvPr/>
          </p:nvSpPr>
          <p:spPr>
            <a:xfrm>
              <a:off x="175333" y="3086034"/>
              <a:ext cx="640538" cy="408164"/>
            </a:xfrm>
            <a:prstGeom prst="roundRect">
              <a:avLst>
                <a:gd name="adj" fmla="val 7171"/>
              </a:avLst>
            </a:prstGeom>
            <a:solidFill>
              <a:srgbClr val="E65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10" name="矩形 209">
              <a:extLst>
                <a:ext uri="{FF2B5EF4-FFF2-40B4-BE49-F238E27FC236}">
                  <a16:creationId xmlns="" xmlns:a16="http://schemas.microsoft.com/office/drawing/2014/main" id="{2FB82B3E-7C5A-4E57-B159-B07D5CBA84B6}"/>
                </a:ext>
              </a:extLst>
            </p:cNvPr>
            <p:cNvSpPr/>
            <p:nvPr/>
          </p:nvSpPr>
          <p:spPr>
            <a:xfrm>
              <a:off x="111589" y="3160590"/>
              <a:ext cx="743568" cy="276999"/>
            </a:xfrm>
            <a:prstGeom prst="rect">
              <a:avLst/>
            </a:prstGeom>
          </p:spPr>
          <p:txBody>
            <a:bodyPr wrap="square">
              <a:spAutoFit/>
            </a:bodyPr>
            <a:lstStyle/>
            <a:p>
              <a:pPr algn="ctr"/>
              <a:r>
                <a:rPr lang="zh-TW" altLang="en-US" sz="1200" b="1" dirty="0">
                  <a:solidFill>
                    <a:schemeClr val="bg1"/>
                  </a:solidFill>
                  <a:latin typeface="微軟正黑體" panose="020B0604030504040204" pitchFamily="34" charset="-120"/>
                  <a:ea typeface="微軟正黑體" panose="020B0604030504040204" pitchFamily="34" charset="-120"/>
                </a:rPr>
                <a:t>痛點</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sp>
        <p:nvSpPr>
          <p:cNvPr id="211" name="矩形 210"/>
          <p:cNvSpPr/>
          <p:nvPr/>
        </p:nvSpPr>
        <p:spPr>
          <a:xfrm>
            <a:off x="227355" y="2217612"/>
            <a:ext cx="630956"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下載</a:t>
            </a:r>
            <a:endParaRPr lang="en-US" altLang="zh-TW" sz="1000" dirty="0" smtClean="0">
              <a:latin typeface="微軟正黑體" panose="020B0604030504040204" pitchFamily="34" charset="-120"/>
              <a:ea typeface="微軟正黑體" panose="020B0604030504040204" pitchFamily="34" charset="-120"/>
            </a:endParaRPr>
          </a:p>
          <a:p>
            <a:pPr algn="ctr"/>
            <a:r>
              <a:rPr lang="zh-TW" altLang="en-US" sz="1000" dirty="0" smtClean="0">
                <a:latin typeface="微軟正黑體" panose="020B0604030504040204" pitchFamily="34" charset="-120"/>
                <a:ea typeface="微軟正黑體" panose="020B0604030504040204" pitchFamily="34" charset="-120"/>
              </a:rPr>
              <a:t>檔案</a:t>
            </a:r>
            <a:endParaRPr lang="zh-TW" altLang="en-US" sz="1000" dirty="0">
              <a:latin typeface="微軟正黑體" panose="020B0604030504040204" pitchFamily="34" charset="-120"/>
              <a:ea typeface="微軟正黑體" panose="020B0604030504040204" pitchFamily="34" charset="-120"/>
            </a:endParaRPr>
          </a:p>
        </p:txBody>
      </p:sp>
      <p:sp>
        <p:nvSpPr>
          <p:cNvPr id="212" name="矩形 211"/>
          <p:cNvSpPr/>
          <p:nvPr/>
        </p:nvSpPr>
        <p:spPr>
          <a:xfrm>
            <a:off x="1240474" y="2216868"/>
            <a:ext cx="703885"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套巨集</a:t>
            </a:r>
            <a:endParaRPr lang="zh-TW" altLang="en-US" sz="1000" dirty="0">
              <a:latin typeface="微軟正黑體" panose="020B0604030504040204" pitchFamily="34" charset="-120"/>
              <a:ea typeface="微軟正黑體" panose="020B0604030504040204" pitchFamily="34" charset="-120"/>
            </a:endParaRPr>
          </a:p>
        </p:txBody>
      </p:sp>
      <p:sp>
        <p:nvSpPr>
          <p:cNvPr id="213" name="矩形 212"/>
          <p:cNvSpPr/>
          <p:nvPr/>
        </p:nvSpPr>
        <p:spPr>
          <a:xfrm>
            <a:off x="2286374" y="2213226"/>
            <a:ext cx="746093"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確認</a:t>
            </a:r>
            <a:endParaRPr lang="en-US" altLang="zh-TW" sz="1000" dirty="0" smtClean="0">
              <a:latin typeface="微軟正黑體" panose="020B0604030504040204" pitchFamily="34" charset="-120"/>
              <a:ea typeface="微軟正黑體" panose="020B0604030504040204" pitchFamily="34" charset="-120"/>
            </a:endParaRPr>
          </a:p>
          <a:p>
            <a:pPr algn="ctr"/>
            <a:r>
              <a:rPr lang="zh-TW" altLang="en-US" sz="1000" dirty="0" smtClean="0">
                <a:latin typeface="微軟正黑體" panose="020B0604030504040204" pitchFamily="34" charset="-120"/>
                <a:ea typeface="微軟正黑體" panose="020B0604030504040204" pitchFamily="34" charset="-120"/>
              </a:rPr>
              <a:t>分析圖表</a:t>
            </a:r>
            <a:endParaRPr lang="zh-TW" altLang="en-US" sz="1000" dirty="0">
              <a:latin typeface="微軟正黑體" panose="020B0604030504040204" pitchFamily="34" charset="-120"/>
              <a:ea typeface="微軟正黑體" panose="020B0604030504040204" pitchFamily="34" charset="-120"/>
            </a:endParaRPr>
          </a:p>
        </p:txBody>
      </p:sp>
      <p:cxnSp>
        <p:nvCxnSpPr>
          <p:cNvPr id="214" name="直線單箭頭接點 213"/>
          <p:cNvCxnSpPr>
            <a:stCxn id="211" idx="3"/>
            <a:endCxn id="212" idx="1"/>
          </p:cNvCxnSpPr>
          <p:nvPr/>
        </p:nvCxnSpPr>
        <p:spPr>
          <a:xfrm flipV="1">
            <a:off x="858311" y="2417285"/>
            <a:ext cx="382163" cy="74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5" name="直線單箭頭接點 214"/>
          <p:cNvCxnSpPr>
            <a:stCxn id="212" idx="3"/>
            <a:endCxn id="213" idx="1"/>
          </p:cNvCxnSpPr>
          <p:nvPr/>
        </p:nvCxnSpPr>
        <p:spPr>
          <a:xfrm flipV="1">
            <a:off x="1944359" y="2413643"/>
            <a:ext cx="342015" cy="364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6" name="直線單箭頭接點 215"/>
          <p:cNvCxnSpPr>
            <a:stCxn id="213" idx="3"/>
          </p:cNvCxnSpPr>
          <p:nvPr/>
        </p:nvCxnSpPr>
        <p:spPr>
          <a:xfrm>
            <a:off x="3032467" y="2413643"/>
            <a:ext cx="34831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7" name="矩形 216"/>
          <p:cNvSpPr/>
          <p:nvPr/>
        </p:nvSpPr>
        <p:spPr>
          <a:xfrm>
            <a:off x="1190913" y="2845157"/>
            <a:ext cx="746093"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特殊規格</a:t>
            </a:r>
            <a:endParaRPr lang="en-US" altLang="zh-TW" sz="1000" dirty="0" smtClean="0">
              <a:latin typeface="微軟正黑體" panose="020B0604030504040204" pitchFamily="34" charset="-120"/>
              <a:ea typeface="微軟正黑體" panose="020B0604030504040204" pitchFamily="34" charset="-120"/>
            </a:endParaRPr>
          </a:p>
          <a:p>
            <a:pPr algn="ctr"/>
            <a:r>
              <a:rPr lang="zh-TW" altLang="en-US" sz="1000" dirty="0" smtClean="0">
                <a:latin typeface="微軟正黑體" panose="020B0604030504040204" pitchFamily="34" charset="-120"/>
                <a:ea typeface="微軟正黑體" panose="020B0604030504040204" pitchFamily="34" charset="-120"/>
              </a:rPr>
              <a:t>巨集修</a:t>
            </a:r>
            <a:r>
              <a:rPr lang="zh-TW" altLang="en-US" sz="1000" dirty="0">
                <a:latin typeface="微軟正黑體" panose="020B0604030504040204" pitchFamily="34" charset="-120"/>
                <a:ea typeface="微軟正黑體" panose="020B0604030504040204" pitchFamily="34" charset="-120"/>
              </a:rPr>
              <a:t>改</a:t>
            </a:r>
          </a:p>
        </p:txBody>
      </p:sp>
      <p:sp>
        <p:nvSpPr>
          <p:cNvPr id="218" name="文字方塊 217"/>
          <p:cNvSpPr txBox="1"/>
          <p:nvPr/>
        </p:nvSpPr>
        <p:spPr>
          <a:xfrm>
            <a:off x="2999014" y="2187767"/>
            <a:ext cx="375424" cy="246221"/>
          </a:xfrm>
          <a:prstGeom prst="rect">
            <a:avLst/>
          </a:prstGeom>
          <a:noFill/>
        </p:spPr>
        <p:txBody>
          <a:bodyPr wrap="none" rtlCol="0">
            <a:spAutoFit/>
          </a:bodyPr>
          <a:lstStyle/>
          <a:p>
            <a:r>
              <a:rPr lang="en-US" altLang="zh-TW" sz="1000" dirty="0" smtClean="0">
                <a:latin typeface="微軟正黑體" panose="020B0604030504040204" pitchFamily="34" charset="-120"/>
                <a:ea typeface="微軟正黑體" panose="020B0604030504040204" pitchFamily="34" charset="-120"/>
              </a:rPr>
              <a:t>OK</a:t>
            </a:r>
            <a:endParaRPr lang="zh-TW" altLang="en-US" sz="1000" dirty="0">
              <a:latin typeface="微軟正黑體" panose="020B0604030504040204" pitchFamily="34" charset="-120"/>
              <a:ea typeface="微軟正黑體" panose="020B0604030504040204" pitchFamily="34" charset="-120"/>
            </a:endParaRPr>
          </a:p>
        </p:txBody>
      </p:sp>
      <p:sp>
        <p:nvSpPr>
          <p:cNvPr id="219" name="圓角矩形 218"/>
          <p:cNvSpPr/>
          <p:nvPr/>
        </p:nvSpPr>
        <p:spPr>
          <a:xfrm>
            <a:off x="5712393" y="1911734"/>
            <a:ext cx="1925720" cy="1488132"/>
          </a:xfrm>
          <a:prstGeom prst="roundRect">
            <a:avLst>
              <a:gd name="adj" fmla="val 6089"/>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20" name="矩形 219"/>
          <p:cNvSpPr/>
          <p:nvPr/>
        </p:nvSpPr>
        <p:spPr>
          <a:xfrm>
            <a:off x="4967097" y="2341456"/>
            <a:ext cx="631810"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人員</a:t>
            </a:r>
            <a:endParaRPr lang="en-US" altLang="zh-TW" sz="1000" dirty="0" smtClean="0">
              <a:latin typeface="微軟正黑體" panose="020B0604030504040204" pitchFamily="34" charset="-120"/>
              <a:ea typeface="微軟正黑體" panose="020B0604030504040204" pitchFamily="34" charset="-120"/>
            </a:endParaRPr>
          </a:p>
          <a:p>
            <a:pPr algn="ctr"/>
            <a:r>
              <a:rPr lang="zh-TW" altLang="en-US" sz="1000" dirty="0" smtClean="0">
                <a:latin typeface="微軟正黑體" panose="020B0604030504040204" pitchFamily="34" charset="-120"/>
                <a:ea typeface="微軟正黑體" panose="020B0604030504040204" pitchFamily="34" charset="-120"/>
              </a:rPr>
              <a:t>確認</a:t>
            </a:r>
            <a:endParaRPr lang="zh-TW" altLang="en-US" sz="1000" dirty="0">
              <a:latin typeface="微軟正黑體" panose="020B0604030504040204" pitchFamily="34" charset="-120"/>
              <a:ea typeface="微軟正黑體" panose="020B0604030504040204" pitchFamily="34" charset="-120"/>
            </a:endParaRPr>
          </a:p>
        </p:txBody>
      </p:sp>
      <p:sp>
        <p:nvSpPr>
          <p:cNvPr id="221" name="矩形 220"/>
          <p:cNvSpPr/>
          <p:nvPr/>
        </p:nvSpPr>
        <p:spPr>
          <a:xfrm>
            <a:off x="5845287" y="2286460"/>
            <a:ext cx="726943"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可視化</a:t>
            </a:r>
            <a:endParaRPr lang="en-US" altLang="zh-TW" sz="1000" dirty="0" smtClean="0">
              <a:latin typeface="微軟正黑體" panose="020B0604030504040204" pitchFamily="34" charset="-120"/>
              <a:ea typeface="微軟正黑體" panose="020B0604030504040204" pitchFamily="34" charset="-120"/>
            </a:endParaRPr>
          </a:p>
          <a:p>
            <a:pPr algn="ctr"/>
            <a:r>
              <a:rPr lang="en-US" altLang="zh-TW" sz="1000" dirty="0">
                <a:latin typeface="微軟正黑體" panose="020B0604030504040204" pitchFamily="34" charset="-120"/>
                <a:ea typeface="微軟正黑體" panose="020B0604030504040204" pitchFamily="34" charset="-120"/>
              </a:rPr>
              <a:t>3D</a:t>
            </a:r>
            <a:r>
              <a:rPr lang="zh-TW" altLang="en-US" sz="1000" dirty="0">
                <a:latin typeface="微軟正黑體" panose="020B0604030504040204" pitchFamily="34" charset="-120"/>
                <a:ea typeface="微軟正黑體" panose="020B0604030504040204" pitchFamily="34" charset="-120"/>
              </a:rPr>
              <a:t>圖表</a:t>
            </a:r>
          </a:p>
        </p:txBody>
      </p:sp>
      <p:cxnSp>
        <p:nvCxnSpPr>
          <p:cNvPr id="222" name="直線單箭頭接點 221"/>
          <p:cNvCxnSpPr/>
          <p:nvPr/>
        </p:nvCxnSpPr>
        <p:spPr>
          <a:xfrm>
            <a:off x="5547050" y="2566882"/>
            <a:ext cx="18607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3" name="文字方塊 222"/>
          <p:cNvSpPr txBox="1"/>
          <p:nvPr/>
        </p:nvSpPr>
        <p:spPr>
          <a:xfrm>
            <a:off x="6103891" y="1921186"/>
            <a:ext cx="857927" cy="253916"/>
          </a:xfrm>
          <a:prstGeom prst="rect">
            <a:avLst/>
          </a:prstGeom>
          <a:noFill/>
        </p:spPr>
        <p:txBody>
          <a:bodyPr wrap="none" rtlCol="0">
            <a:spAutoFit/>
          </a:bodyPr>
          <a:lstStyle/>
          <a:p>
            <a:r>
              <a:rPr lang="zh-TW" altLang="en-US" sz="1050" dirty="0" smtClean="0">
                <a:latin typeface="微軟正黑體" panose="020B0604030504040204" pitchFamily="34" charset="-120"/>
                <a:ea typeface="微軟正黑體" panose="020B0604030504040204" pitchFamily="34" charset="-120"/>
              </a:rPr>
              <a:t>一站式網頁</a:t>
            </a:r>
            <a:endParaRPr lang="zh-TW" altLang="en-US" sz="1050" dirty="0">
              <a:latin typeface="微軟正黑體" panose="020B0604030504040204" pitchFamily="34" charset="-120"/>
              <a:ea typeface="微軟正黑體" panose="020B0604030504040204" pitchFamily="34" charset="-120"/>
            </a:endParaRPr>
          </a:p>
        </p:txBody>
      </p:sp>
      <p:sp>
        <p:nvSpPr>
          <p:cNvPr id="224" name="矩形 223"/>
          <p:cNvSpPr/>
          <p:nvPr/>
        </p:nvSpPr>
        <p:spPr>
          <a:xfrm>
            <a:off x="5845287" y="2928122"/>
            <a:ext cx="726943"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點位拉取統計功能</a:t>
            </a:r>
            <a:endParaRPr lang="zh-TW" altLang="en-US" sz="1000" dirty="0">
              <a:latin typeface="微軟正黑體" panose="020B0604030504040204" pitchFamily="34" charset="-120"/>
              <a:ea typeface="微軟正黑體" panose="020B0604030504040204" pitchFamily="34" charset="-120"/>
            </a:endParaRPr>
          </a:p>
        </p:txBody>
      </p:sp>
      <p:sp>
        <p:nvSpPr>
          <p:cNvPr id="225" name="矩形 224"/>
          <p:cNvSpPr/>
          <p:nvPr/>
        </p:nvSpPr>
        <p:spPr>
          <a:xfrm>
            <a:off x="6731313" y="2274262"/>
            <a:ext cx="747717"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latin typeface="微軟正黑體" panose="020B0604030504040204" pitchFamily="34" charset="-120"/>
                <a:ea typeface="微軟正黑體" panose="020B0604030504040204" pitchFamily="34" charset="-120"/>
              </a:rPr>
              <a:t>spec</a:t>
            </a:r>
            <a:r>
              <a:rPr lang="zh-TW" altLang="en-US" sz="1000" dirty="0" smtClean="0">
                <a:latin typeface="微軟正黑體" panose="020B0604030504040204" pitchFamily="34" charset="-120"/>
                <a:ea typeface="微軟正黑體" panose="020B0604030504040204" pitchFamily="34" charset="-120"/>
              </a:rPr>
              <a:t>標準線上修改</a:t>
            </a:r>
            <a:endParaRPr lang="zh-TW" altLang="en-US" sz="1000" dirty="0">
              <a:latin typeface="微軟正黑體" panose="020B0604030504040204" pitchFamily="34" charset="-120"/>
              <a:ea typeface="微軟正黑體" panose="020B0604030504040204" pitchFamily="34" charset="-120"/>
            </a:endParaRPr>
          </a:p>
        </p:txBody>
      </p:sp>
      <p:sp>
        <p:nvSpPr>
          <p:cNvPr id="226" name="矩形 225"/>
          <p:cNvSpPr/>
          <p:nvPr/>
        </p:nvSpPr>
        <p:spPr>
          <a:xfrm>
            <a:off x="195859" y="885082"/>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cxnSp>
        <p:nvCxnSpPr>
          <p:cNvPr id="227" name="直線單箭頭接點 226"/>
          <p:cNvCxnSpPr>
            <a:endCxn id="228" idx="0"/>
          </p:cNvCxnSpPr>
          <p:nvPr/>
        </p:nvCxnSpPr>
        <p:spPr>
          <a:xfrm>
            <a:off x="2629843" y="2630387"/>
            <a:ext cx="1826" cy="2279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8" name="矩形 227"/>
          <p:cNvSpPr/>
          <p:nvPr/>
        </p:nvSpPr>
        <p:spPr>
          <a:xfrm>
            <a:off x="2264323" y="2858334"/>
            <a:ext cx="734691"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查看</a:t>
            </a:r>
            <a:endParaRPr lang="en-US" altLang="zh-TW" sz="1000" dirty="0">
              <a:latin typeface="微軟正黑體" panose="020B0604030504040204" pitchFamily="34" charset="-120"/>
              <a:ea typeface="微軟正黑體" panose="020B0604030504040204" pitchFamily="34" charset="-120"/>
            </a:endParaRPr>
          </a:p>
          <a:p>
            <a:pPr algn="ctr"/>
            <a:r>
              <a:rPr lang="en-US" altLang="zh-TW" sz="1000" dirty="0" smtClean="0">
                <a:latin typeface="微軟正黑體" panose="020B0604030504040204" pitchFamily="34" charset="-120"/>
                <a:ea typeface="微軟正黑體" panose="020B0604030504040204" pitchFamily="34" charset="-120"/>
              </a:rPr>
              <a:t>Raw data</a:t>
            </a:r>
            <a:endParaRPr lang="zh-TW" altLang="en-US" sz="1000" dirty="0">
              <a:latin typeface="微軟正黑體" panose="020B0604030504040204" pitchFamily="34" charset="-120"/>
              <a:ea typeface="微軟正黑體" panose="020B0604030504040204" pitchFamily="34" charset="-120"/>
            </a:endParaRPr>
          </a:p>
        </p:txBody>
      </p:sp>
      <p:sp>
        <p:nvSpPr>
          <p:cNvPr id="229" name="文字方塊 228"/>
          <p:cNvSpPr txBox="1"/>
          <p:nvPr/>
        </p:nvSpPr>
        <p:spPr>
          <a:xfrm>
            <a:off x="2642426" y="2631028"/>
            <a:ext cx="343364" cy="215444"/>
          </a:xfrm>
          <a:prstGeom prst="rect">
            <a:avLst/>
          </a:prstGeom>
          <a:noFill/>
        </p:spPr>
        <p:txBody>
          <a:bodyPr wrap="none" rtlCol="0">
            <a:spAutoFit/>
          </a:bodyPr>
          <a:lstStyle/>
          <a:p>
            <a:r>
              <a:rPr lang="en-US" altLang="zh-TW" sz="800" dirty="0" smtClean="0">
                <a:latin typeface="微軟正黑體" panose="020B0604030504040204" pitchFamily="34" charset="-120"/>
                <a:ea typeface="微軟正黑體" panose="020B0604030504040204" pitchFamily="34" charset="-120"/>
              </a:rPr>
              <a:t>NG</a:t>
            </a:r>
            <a:endParaRPr lang="zh-TW" altLang="en-US" sz="800" dirty="0">
              <a:latin typeface="微軟正黑體" panose="020B0604030504040204" pitchFamily="34" charset="-120"/>
              <a:ea typeface="微軟正黑體" panose="020B0604030504040204" pitchFamily="34" charset="-120"/>
            </a:endParaRPr>
          </a:p>
        </p:txBody>
      </p:sp>
      <p:cxnSp>
        <p:nvCxnSpPr>
          <p:cNvPr id="230" name="直線單箭頭接點 229"/>
          <p:cNvCxnSpPr/>
          <p:nvPr/>
        </p:nvCxnSpPr>
        <p:spPr>
          <a:xfrm flipH="1" flipV="1">
            <a:off x="1921346" y="3008281"/>
            <a:ext cx="342015" cy="3642"/>
          </a:xfrm>
          <a:prstGeom prst="straightConnector1">
            <a:avLst/>
          </a:prstGeom>
          <a:ln>
            <a:prstDash val="sysDot"/>
            <a:tailEnd type="triangle"/>
          </a:ln>
        </p:spPr>
        <p:style>
          <a:lnRef idx="3">
            <a:schemeClr val="accent1"/>
          </a:lnRef>
          <a:fillRef idx="0">
            <a:schemeClr val="accent1"/>
          </a:fillRef>
          <a:effectRef idx="2">
            <a:schemeClr val="accent1"/>
          </a:effectRef>
          <a:fontRef idx="minor">
            <a:schemeClr val="tx1"/>
          </a:fontRef>
        </p:style>
      </p:cxnSp>
      <p:cxnSp>
        <p:nvCxnSpPr>
          <p:cNvPr id="231" name="直線單箭頭接點 230"/>
          <p:cNvCxnSpPr/>
          <p:nvPr/>
        </p:nvCxnSpPr>
        <p:spPr>
          <a:xfrm rot="5400000" flipH="1" flipV="1">
            <a:off x="1391131" y="2779483"/>
            <a:ext cx="342015" cy="3642"/>
          </a:xfrm>
          <a:prstGeom prst="straightConnector1">
            <a:avLst/>
          </a:prstGeom>
          <a:ln>
            <a:prstDash val="sysDot"/>
            <a:tailEnd type="triangle"/>
          </a:ln>
        </p:spPr>
        <p:style>
          <a:lnRef idx="3">
            <a:schemeClr val="accent1"/>
          </a:lnRef>
          <a:fillRef idx="0">
            <a:schemeClr val="accent1"/>
          </a:fillRef>
          <a:effectRef idx="2">
            <a:schemeClr val="accent1"/>
          </a:effectRef>
          <a:fontRef idx="minor">
            <a:schemeClr val="tx1"/>
          </a:fontRef>
        </p:style>
      </p:cxnSp>
      <p:sp>
        <p:nvSpPr>
          <p:cNvPr id="232" name="矩形 231"/>
          <p:cNvSpPr/>
          <p:nvPr/>
        </p:nvSpPr>
        <p:spPr>
          <a:xfrm>
            <a:off x="6698774" y="2922153"/>
            <a:ext cx="828376" cy="4008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smtClean="0">
                <a:latin typeface="微軟正黑體" panose="020B0604030504040204" pitchFamily="34" charset="-120"/>
                <a:ea typeface="微軟正黑體" panose="020B0604030504040204" pitchFamily="34" charset="-120"/>
              </a:rPr>
              <a:t>Judge</a:t>
            </a:r>
            <a:r>
              <a:rPr lang="zh-TW" altLang="en-US" sz="1000" dirty="0" smtClean="0">
                <a:latin typeface="微軟正黑體" panose="020B0604030504040204" pitchFamily="34" charset="-120"/>
                <a:ea typeface="微軟正黑體" panose="020B0604030504040204" pitchFamily="34" charset="-120"/>
              </a:rPr>
              <a:t>公式新增刪改</a:t>
            </a:r>
            <a:endParaRPr lang="zh-TW" altLang="en-US" sz="1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508820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en-US" altLang="zh-TW" b="1" dirty="0" smtClean="0">
                <a:latin typeface="+mj-ea"/>
              </a:rPr>
              <a:t>ETL &amp; Data Fusion</a:t>
            </a:r>
            <a:endParaRPr lang="zh-TW" altLang="en-US" b="1" dirty="0">
              <a:latin typeface="+mj-ea"/>
            </a:endParaRPr>
          </a:p>
        </p:txBody>
      </p:sp>
      <p:sp>
        <p:nvSpPr>
          <p:cNvPr id="85" name="矩形 84"/>
          <p:cNvSpPr/>
          <p:nvPr/>
        </p:nvSpPr>
        <p:spPr>
          <a:xfrm>
            <a:off x="102822" y="542116"/>
            <a:ext cx="1897302" cy="478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latin typeface="微軟正黑體" panose="020B0604030504040204" pitchFamily="34" charset="-120"/>
                <a:ea typeface="微軟正黑體" panose="020B0604030504040204" pitchFamily="34" charset="-120"/>
              </a:rPr>
              <a:t>MQC</a:t>
            </a:r>
            <a:r>
              <a:rPr lang="zh-TW" altLang="en-US" dirty="0" smtClean="0">
                <a:solidFill>
                  <a:schemeClr val="tx1"/>
                </a:solidFill>
                <a:latin typeface="微軟正黑體" panose="020B0604030504040204" pitchFamily="34" charset="-120"/>
                <a:ea typeface="微軟正黑體" panose="020B0604030504040204" pitchFamily="34" charset="-120"/>
              </a:rPr>
              <a:t>檔案清理</a:t>
            </a:r>
            <a:endParaRPr lang="en-US" altLang="zh-TW" dirty="0" smtClean="0">
              <a:solidFill>
                <a:schemeClr val="tx1"/>
              </a:solidFill>
              <a:latin typeface="微軟正黑體" panose="020B0604030504040204" pitchFamily="34" charset="-120"/>
              <a:ea typeface="微軟正黑體" panose="020B0604030504040204" pitchFamily="34" charset="-120"/>
            </a:endParaRPr>
          </a:p>
          <a:p>
            <a:pPr algn="ctr"/>
            <a:r>
              <a:rPr lang="en-US" altLang="zh-TW" dirty="0" smtClean="0">
                <a:solidFill>
                  <a:schemeClr val="tx1"/>
                </a:solidFill>
                <a:latin typeface="微軟正黑體" panose="020B0604030504040204" pitchFamily="34" charset="-120"/>
                <a:ea typeface="微軟正黑體" panose="020B0604030504040204" pitchFamily="34" charset="-120"/>
              </a:rPr>
              <a:t>(</a:t>
            </a:r>
            <a:r>
              <a:rPr lang="zh-TW" altLang="en-US" dirty="0" smtClean="0">
                <a:solidFill>
                  <a:schemeClr val="tx1"/>
                </a:solidFill>
                <a:latin typeface="微軟正黑體" panose="020B0604030504040204" pitchFamily="34" charset="-120"/>
                <a:ea typeface="微軟正黑體" panose="020B0604030504040204" pitchFamily="34" charset="-120"/>
              </a:rPr>
              <a:t>每小時排程執行</a:t>
            </a:r>
            <a:r>
              <a:rPr lang="en-US" altLang="zh-TW" dirty="0" smtClean="0">
                <a:solidFill>
                  <a:schemeClr val="tx1"/>
                </a:solidFill>
                <a:latin typeface="微軟正黑體" panose="020B0604030504040204" pitchFamily="34" charset="-120"/>
                <a:ea typeface="微軟正黑體" panose="020B0604030504040204" pitchFamily="34" charset="-120"/>
              </a:rPr>
              <a:t>)</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89" name="矩形 88"/>
          <p:cNvSpPr/>
          <p:nvPr/>
        </p:nvSpPr>
        <p:spPr>
          <a:xfrm>
            <a:off x="120740" y="1090600"/>
            <a:ext cx="2024921" cy="478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微軟正黑體" panose="020B0604030504040204" pitchFamily="34" charset="-120"/>
                <a:ea typeface="微軟正黑體" panose="020B0604030504040204" pitchFamily="34" charset="-120"/>
              </a:rPr>
              <a:t>Oracle</a:t>
            </a:r>
            <a:r>
              <a:rPr lang="zh-TW" altLang="en-US" dirty="0" smtClean="0">
                <a:latin typeface="微軟正黑體" panose="020B0604030504040204" pitchFamily="34" charset="-120"/>
                <a:ea typeface="微軟正黑體" panose="020B0604030504040204" pitchFamily="34" charset="-120"/>
              </a:rPr>
              <a:t>撈取</a:t>
            </a:r>
            <a:endParaRPr lang="en-US" altLang="zh-TW" dirty="0" smtClean="0">
              <a:latin typeface="微軟正黑體" panose="020B0604030504040204" pitchFamily="34" charset="-120"/>
              <a:ea typeface="微軟正黑體" panose="020B0604030504040204" pitchFamily="34" charset="-120"/>
            </a:endParaRPr>
          </a:p>
          <a:p>
            <a:pPr algn="ctr"/>
            <a:r>
              <a:rPr lang="en-US" altLang="zh-TW" dirty="0" smtClean="0">
                <a:latin typeface="微軟正黑體" panose="020B0604030504040204" pitchFamily="34" charset="-120"/>
                <a:ea typeface="微軟正黑體" panose="020B0604030504040204" pitchFamily="34" charset="-120"/>
              </a:rPr>
              <a:t>MQC</a:t>
            </a:r>
            <a:r>
              <a:rPr lang="zh-TW" altLang="en-US" dirty="0" smtClean="0">
                <a:latin typeface="微軟正黑體" panose="020B0604030504040204" pitchFamily="34" charset="-120"/>
                <a:ea typeface="微軟正黑體" panose="020B0604030504040204" pitchFamily="34" charset="-120"/>
              </a:rPr>
              <a:t> </a:t>
            </a:r>
            <a:r>
              <a:rPr lang="en-US" altLang="zh-TW" dirty="0" smtClean="0">
                <a:latin typeface="微軟正黑體" panose="020B0604030504040204" pitchFamily="34" charset="-120"/>
                <a:ea typeface="微軟正黑體" panose="020B0604030504040204" pitchFamily="34" charset="-120"/>
              </a:rPr>
              <a:t>Tools</a:t>
            </a:r>
            <a:r>
              <a:rPr lang="zh-TW" altLang="en-US" dirty="0" smtClean="0">
                <a:latin typeface="微軟正黑體" panose="020B0604030504040204" pitchFamily="34" charset="-120"/>
                <a:ea typeface="微軟正黑體" panose="020B0604030504040204" pitchFamily="34" charset="-120"/>
              </a:rPr>
              <a:t>執行資料</a:t>
            </a:r>
            <a:endParaRPr lang="zh-TW" altLang="en-US" dirty="0">
              <a:latin typeface="微軟正黑體" panose="020B0604030504040204" pitchFamily="34" charset="-120"/>
              <a:ea typeface="微軟正黑體" panose="020B0604030504040204" pitchFamily="34" charset="-120"/>
            </a:endParaRPr>
          </a:p>
        </p:txBody>
      </p:sp>
      <p:sp>
        <p:nvSpPr>
          <p:cNvPr id="95" name="矩形 94"/>
          <p:cNvSpPr/>
          <p:nvPr/>
        </p:nvSpPr>
        <p:spPr>
          <a:xfrm>
            <a:off x="102823" y="1759134"/>
            <a:ext cx="2024921" cy="478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微軟正黑體" panose="020B0604030504040204" pitchFamily="34" charset="-120"/>
                <a:ea typeface="微軟正黑體" panose="020B0604030504040204" pitchFamily="34" charset="-120"/>
              </a:rPr>
              <a:t>By date by lot </a:t>
            </a:r>
          </a:p>
          <a:p>
            <a:pPr algn="ctr"/>
            <a:r>
              <a:rPr lang="zh-TW" altLang="en-US" dirty="0" smtClean="0">
                <a:latin typeface="微軟正黑體" panose="020B0604030504040204" pitchFamily="34" charset="-120"/>
                <a:ea typeface="微軟正黑體" panose="020B0604030504040204" pitchFamily="34" charset="-120"/>
              </a:rPr>
              <a:t>下載量測檔案</a:t>
            </a:r>
            <a:endParaRPr lang="zh-TW" altLang="en-US" dirty="0">
              <a:latin typeface="微軟正黑體" panose="020B0604030504040204" pitchFamily="34" charset="-120"/>
              <a:ea typeface="微軟正黑體" panose="020B0604030504040204" pitchFamily="34" charset="-120"/>
            </a:endParaRPr>
          </a:p>
        </p:txBody>
      </p:sp>
      <p:sp>
        <p:nvSpPr>
          <p:cNvPr id="97" name="矩形 96"/>
          <p:cNvSpPr/>
          <p:nvPr/>
        </p:nvSpPr>
        <p:spPr>
          <a:xfrm>
            <a:off x="120740" y="2398830"/>
            <a:ext cx="2024921" cy="478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微軟正黑體" panose="020B0604030504040204" pitchFamily="34" charset="-120"/>
                <a:ea typeface="微軟正黑體" panose="020B0604030504040204" pitchFamily="34" charset="-120"/>
              </a:rPr>
              <a:t>依膜種</a:t>
            </a:r>
            <a:r>
              <a:rPr lang="en-US" altLang="zh-TW" dirty="0" smtClean="0">
                <a:latin typeface="微軟正黑體" panose="020B0604030504040204" pitchFamily="34" charset="-120"/>
                <a:ea typeface="微軟正黑體" panose="020B0604030504040204" pitchFamily="34" charset="-120"/>
              </a:rPr>
              <a:t>&amp;</a:t>
            </a:r>
            <a:r>
              <a:rPr lang="zh-TW" altLang="en-US" dirty="0" smtClean="0">
                <a:latin typeface="微軟正黑體" panose="020B0604030504040204" pitchFamily="34" charset="-120"/>
                <a:ea typeface="微軟正黑體" panose="020B0604030504040204" pitchFamily="34" charset="-120"/>
              </a:rPr>
              <a:t>量測點</a:t>
            </a:r>
            <a:endParaRPr lang="en-US" altLang="zh-TW" dirty="0" smtClean="0">
              <a:latin typeface="微軟正黑體" panose="020B0604030504040204" pitchFamily="34" charset="-120"/>
              <a:ea typeface="微軟正黑體" panose="020B0604030504040204" pitchFamily="34" charset="-120"/>
            </a:endParaRPr>
          </a:p>
          <a:p>
            <a:pPr algn="ctr"/>
            <a:r>
              <a:rPr lang="zh-TW" altLang="en-US" dirty="0" smtClean="0">
                <a:latin typeface="微軟正黑體" panose="020B0604030504040204" pitchFamily="34" charset="-120"/>
                <a:ea typeface="微軟正黑體" panose="020B0604030504040204" pitchFamily="34" charset="-120"/>
              </a:rPr>
              <a:t>執行分析</a:t>
            </a:r>
            <a:r>
              <a:rPr lang="zh-TW" altLang="en-US" dirty="0">
                <a:latin typeface="微軟正黑體" panose="020B0604030504040204" pitchFamily="34" charset="-120"/>
                <a:ea typeface="微軟正黑體" panose="020B0604030504040204" pitchFamily="34" charset="-120"/>
              </a:rPr>
              <a:t>函</a:t>
            </a:r>
            <a:r>
              <a:rPr lang="zh-TW" altLang="en-US" dirty="0" smtClean="0">
                <a:latin typeface="微軟正黑體" panose="020B0604030504040204" pitchFamily="34" charset="-120"/>
                <a:ea typeface="微軟正黑體" panose="020B0604030504040204" pitchFamily="34" charset="-120"/>
              </a:rPr>
              <a:t>式</a:t>
            </a:r>
            <a:endParaRPr lang="zh-TW" altLang="en-US" dirty="0">
              <a:latin typeface="微軟正黑體" panose="020B0604030504040204" pitchFamily="34" charset="-120"/>
              <a:ea typeface="微軟正黑體" panose="020B0604030504040204" pitchFamily="34" charset="-120"/>
            </a:endParaRPr>
          </a:p>
        </p:txBody>
      </p:sp>
      <p:sp>
        <p:nvSpPr>
          <p:cNvPr id="99" name="矩形 98"/>
          <p:cNvSpPr/>
          <p:nvPr/>
        </p:nvSpPr>
        <p:spPr>
          <a:xfrm>
            <a:off x="102823" y="3015897"/>
            <a:ext cx="2024921" cy="478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微軟正黑體" panose="020B0604030504040204" pitchFamily="34" charset="-120"/>
                <a:ea typeface="微軟正黑體" panose="020B0604030504040204" pitchFamily="34" charset="-120"/>
              </a:rPr>
              <a:t>資料庫儲存</a:t>
            </a:r>
            <a:endParaRPr lang="zh-TW" altLang="en-US" dirty="0">
              <a:latin typeface="微軟正黑體" panose="020B0604030504040204" pitchFamily="34" charset="-120"/>
              <a:ea typeface="微軟正黑體" panose="020B0604030504040204" pitchFamily="34" charset="-120"/>
            </a:endParaRPr>
          </a:p>
        </p:txBody>
      </p:sp>
      <p:cxnSp>
        <p:nvCxnSpPr>
          <p:cNvPr id="102" name="直線單箭頭接點 101"/>
          <p:cNvCxnSpPr>
            <a:stCxn id="89" idx="2"/>
            <a:endCxn id="95" idx="0"/>
          </p:cNvCxnSpPr>
          <p:nvPr/>
        </p:nvCxnSpPr>
        <p:spPr>
          <a:xfrm flipH="1">
            <a:off x="1115284" y="1569122"/>
            <a:ext cx="17917" cy="1900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p:nvPr/>
        </p:nvCxnSpPr>
        <p:spPr>
          <a:xfrm>
            <a:off x="1133200" y="2253251"/>
            <a:ext cx="0" cy="2159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p:nvPr/>
        </p:nvCxnSpPr>
        <p:spPr>
          <a:xfrm>
            <a:off x="1115283" y="2836219"/>
            <a:ext cx="0" cy="2159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108" name="群組 107"/>
          <p:cNvGrpSpPr/>
          <p:nvPr/>
        </p:nvGrpSpPr>
        <p:grpSpPr>
          <a:xfrm>
            <a:off x="2368289" y="1171957"/>
            <a:ext cx="3928829" cy="587572"/>
            <a:chOff x="2135687" y="1422549"/>
            <a:chExt cx="2892110" cy="499868"/>
          </a:xfrm>
        </p:grpSpPr>
        <p:pic>
          <p:nvPicPr>
            <p:cNvPr id="116" name="圖片 115"/>
            <p:cNvPicPr>
              <a:picLocks noChangeAspect="1"/>
            </p:cNvPicPr>
            <p:nvPr/>
          </p:nvPicPr>
          <p:blipFill rotWithShape="1">
            <a:blip r:embed="rId3"/>
            <a:srcRect l="5421"/>
            <a:stretch/>
          </p:blipFill>
          <p:spPr>
            <a:xfrm>
              <a:off x="2135687" y="1422549"/>
              <a:ext cx="2892110" cy="487868"/>
            </a:xfrm>
            <a:prstGeom prst="rect">
              <a:avLst/>
            </a:prstGeom>
          </p:spPr>
        </p:pic>
        <p:sp>
          <p:nvSpPr>
            <p:cNvPr id="117" name="矩形 116"/>
            <p:cNvSpPr/>
            <p:nvPr/>
          </p:nvSpPr>
          <p:spPr>
            <a:xfrm>
              <a:off x="2768252" y="1422549"/>
              <a:ext cx="425885" cy="499868"/>
            </a:xfrm>
            <a:prstGeom prst="rect">
              <a:avLst/>
            </a:prstGeom>
            <a:solidFill>
              <a:srgbClr val="FFC000">
                <a:alpha val="52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sp>
          <p:nvSpPr>
            <p:cNvPr id="118" name="矩形 117"/>
            <p:cNvSpPr/>
            <p:nvPr/>
          </p:nvSpPr>
          <p:spPr>
            <a:xfrm>
              <a:off x="4481008" y="1547012"/>
              <a:ext cx="309117" cy="341967"/>
            </a:xfrm>
            <a:prstGeom prst="rect">
              <a:avLst/>
            </a:prstGeom>
            <a:solidFill>
              <a:srgbClr val="FFC000">
                <a:alpha val="52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grpSp>
      <p:sp>
        <p:nvSpPr>
          <p:cNvPr id="119" name="矩形 118"/>
          <p:cNvSpPr/>
          <p:nvPr/>
        </p:nvSpPr>
        <p:spPr>
          <a:xfrm>
            <a:off x="1743252" y="1709823"/>
            <a:ext cx="6693971" cy="307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1200" dirty="0">
                <a:solidFill>
                  <a:schemeClr val="tx1"/>
                </a:solidFill>
                <a:latin typeface="微軟正黑體" panose="020B0604030504040204" pitchFamily="34" charset="-120"/>
                <a:ea typeface="微軟正黑體" panose="020B0604030504040204" pitchFamily="34" charset="-120"/>
              </a:rPr>
              <a:t> http://tcweb002.corpnet.auo.com/AAMEL310/Results</a:t>
            </a:r>
            <a:r>
              <a:rPr lang="zh-TW" altLang="en-US" sz="1200" dirty="0">
                <a:solidFill>
                  <a:schemeClr val="accent1"/>
                </a:solidFill>
                <a:latin typeface="微軟正黑體" panose="020B0604030504040204" pitchFamily="34" charset="-120"/>
                <a:ea typeface="微軟正黑體" panose="020B0604030504040204" pitchFamily="34" charset="-120"/>
              </a:rPr>
              <a:t>/M35AAJS308/20251007</a:t>
            </a:r>
          </a:p>
        </p:txBody>
      </p:sp>
      <p:cxnSp>
        <p:nvCxnSpPr>
          <p:cNvPr id="120" name="肘形接點 119"/>
          <p:cNvCxnSpPr>
            <a:stCxn id="116" idx="3"/>
          </p:cNvCxnSpPr>
          <p:nvPr/>
        </p:nvCxnSpPr>
        <p:spPr>
          <a:xfrm flipH="1">
            <a:off x="5858703" y="1458691"/>
            <a:ext cx="438415" cy="201134"/>
          </a:xfrm>
          <a:prstGeom prst="bentConnector3">
            <a:avLst>
              <a:gd name="adj1" fmla="val -5214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4" name="群組 123"/>
          <p:cNvGrpSpPr/>
          <p:nvPr/>
        </p:nvGrpSpPr>
        <p:grpSpPr>
          <a:xfrm>
            <a:off x="2365865" y="2025737"/>
            <a:ext cx="3589406" cy="819818"/>
            <a:chOff x="2133262" y="2276329"/>
            <a:chExt cx="2642252" cy="697447"/>
          </a:xfrm>
        </p:grpSpPr>
        <p:pic>
          <p:nvPicPr>
            <p:cNvPr id="125" name="圖片 124"/>
            <p:cNvPicPr>
              <a:picLocks noChangeAspect="1"/>
            </p:cNvPicPr>
            <p:nvPr/>
          </p:nvPicPr>
          <p:blipFill>
            <a:blip r:embed="rId4"/>
            <a:stretch>
              <a:fillRect/>
            </a:stretch>
          </p:blipFill>
          <p:spPr>
            <a:xfrm>
              <a:off x="2133262" y="2276329"/>
              <a:ext cx="2642252" cy="697447"/>
            </a:xfrm>
            <a:prstGeom prst="rect">
              <a:avLst/>
            </a:prstGeom>
          </p:spPr>
        </p:pic>
        <p:sp>
          <p:nvSpPr>
            <p:cNvPr id="126" name="矩形 125"/>
            <p:cNvSpPr/>
            <p:nvPr/>
          </p:nvSpPr>
          <p:spPr>
            <a:xfrm>
              <a:off x="3099299" y="2398285"/>
              <a:ext cx="247151" cy="206802"/>
            </a:xfrm>
            <a:prstGeom prst="rect">
              <a:avLst/>
            </a:prstGeom>
            <a:solidFill>
              <a:srgbClr val="FFC000">
                <a:alpha val="52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sp>
          <p:nvSpPr>
            <p:cNvPr id="127" name="矩形 126"/>
            <p:cNvSpPr/>
            <p:nvPr/>
          </p:nvSpPr>
          <p:spPr>
            <a:xfrm>
              <a:off x="3588092" y="2331610"/>
              <a:ext cx="247151" cy="103401"/>
            </a:xfrm>
            <a:prstGeom prst="rect">
              <a:avLst/>
            </a:prstGeom>
            <a:solidFill>
              <a:srgbClr val="FFC000">
                <a:alpha val="52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grpSp>
      <p:graphicFrame>
        <p:nvGraphicFramePr>
          <p:cNvPr id="128" name="表格 127"/>
          <p:cNvGraphicFramePr>
            <a:graphicFrameLocks noGrp="1"/>
          </p:cNvGraphicFramePr>
          <p:nvPr>
            <p:extLst>
              <p:ext uri="{D42A27DB-BD31-4B8C-83A1-F6EECF244321}">
                <p14:modId xmlns:p14="http://schemas.microsoft.com/office/powerpoint/2010/main" val="3710342425"/>
              </p:ext>
            </p:extLst>
          </p:nvPr>
        </p:nvGraphicFramePr>
        <p:xfrm>
          <a:off x="5858703" y="2374461"/>
          <a:ext cx="3272874" cy="2649974"/>
        </p:xfrm>
        <a:graphic>
          <a:graphicData uri="http://schemas.openxmlformats.org/drawingml/2006/table">
            <a:tbl>
              <a:tblPr firstRow="1" firstCol="1" bandRow="1">
                <a:tableStyleId>{5C22544A-7EE6-4342-B048-85BDC9FD1C3A}</a:tableStyleId>
              </a:tblPr>
              <a:tblGrid>
                <a:gridCol w="1289108"/>
                <a:gridCol w="1301628"/>
                <a:gridCol w="682138"/>
              </a:tblGrid>
              <a:tr h="422120">
                <a:tc>
                  <a:txBody>
                    <a:bodyPr/>
                    <a:lstStyle/>
                    <a:p>
                      <a:pPr algn="ctr">
                        <a:lnSpc>
                          <a:spcPts val="700"/>
                        </a:lnSpc>
                        <a:spcAft>
                          <a:spcPts val="0"/>
                        </a:spcAft>
                      </a:pPr>
                      <a:r>
                        <a:rPr lang="zh-TW" sz="1050" dirty="0">
                          <a:effectLst/>
                          <a:latin typeface="+mj-ea"/>
                          <a:ea typeface="+mj-ea"/>
                        </a:rPr>
                        <a:t>膜種</a:t>
                      </a:r>
                      <a:endParaRPr lang="zh-TW" sz="1000" dirty="0">
                        <a:effectLst/>
                        <a:latin typeface="+mj-ea"/>
                        <a:ea typeface="+mj-ea"/>
                      </a:endParaRPr>
                    </a:p>
                  </a:txBody>
                  <a:tcPr anchor="ctr"/>
                </a:tc>
                <a:tc>
                  <a:txBody>
                    <a:bodyPr/>
                    <a:lstStyle/>
                    <a:p>
                      <a:pPr algn="ctr">
                        <a:lnSpc>
                          <a:spcPts val="700"/>
                        </a:lnSpc>
                        <a:spcAft>
                          <a:spcPts val="0"/>
                        </a:spcAft>
                      </a:pPr>
                      <a:r>
                        <a:rPr lang="zh-TW" sz="1050">
                          <a:effectLst/>
                          <a:latin typeface="+mj-ea"/>
                          <a:ea typeface="+mj-ea"/>
                        </a:rPr>
                        <a:t>檔案名</a:t>
                      </a:r>
                      <a:endParaRPr lang="zh-TW" sz="1000">
                        <a:effectLst/>
                        <a:latin typeface="+mj-ea"/>
                        <a:ea typeface="+mj-ea"/>
                      </a:endParaRPr>
                    </a:p>
                  </a:txBody>
                  <a:tcPr anchor="ctr"/>
                </a:tc>
                <a:tc>
                  <a:txBody>
                    <a:bodyPr/>
                    <a:lstStyle/>
                    <a:p>
                      <a:pPr algn="ctr">
                        <a:lnSpc>
                          <a:spcPts val="700"/>
                        </a:lnSpc>
                        <a:spcAft>
                          <a:spcPts val="0"/>
                        </a:spcAft>
                      </a:pPr>
                      <a:r>
                        <a:rPr lang="zh-TW" sz="1050" dirty="0">
                          <a:effectLst/>
                          <a:latin typeface="+mj-ea"/>
                          <a:ea typeface="+mj-ea"/>
                        </a:rPr>
                        <a:t>點位</a:t>
                      </a:r>
                      <a:endParaRPr lang="zh-TW" sz="1000" dirty="0">
                        <a:effectLst/>
                        <a:latin typeface="+mj-ea"/>
                        <a:ea typeface="+mj-ea"/>
                      </a:endParaRPr>
                    </a:p>
                  </a:txBody>
                  <a:tcPr anchor="ctr"/>
                </a:tc>
              </a:tr>
              <a:tr h="257962">
                <a:tc>
                  <a:txBody>
                    <a:bodyPr/>
                    <a:lstStyle/>
                    <a:p>
                      <a:pPr algn="ctr">
                        <a:lnSpc>
                          <a:spcPts val="700"/>
                        </a:lnSpc>
                        <a:spcAft>
                          <a:spcPts val="0"/>
                        </a:spcAft>
                      </a:pPr>
                      <a:r>
                        <a:rPr lang="en-US" sz="1050" dirty="0">
                          <a:effectLst/>
                          <a:latin typeface="+mj-ea"/>
                          <a:ea typeface="+mj-ea"/>
                        </a:rPr>
                        <a:t>GH</a:t>
                      </a:r>
                      <a:endParaRPr lang="zh-TW" sz="1000" dirty="0">
                        <a:effectLst/>
                        <a:latin typeface="+mj-ea"/>
                        <a:ea typeface="+mj-ea"/>
                      </a:endParaRPr>
                    </a:p>
                  </a:txBody>
                  <a:tcPr anchor="ctr"/>
                </a:tc>
                <a:tc>
                  <a:txBody>
                    <a:bodyPr/>
                    <a:lstStyle/>
                    <a:p>
                      <a:pPr algn="ctr">
                        <a:lnSpc>
                          <a:spcPts val="700"/>
                        </a:lnSpc>
                        <a:spcAft>
                          <a:spcPts val="0"/>
                        </a:spcAft>
                      </a:pPr>
                      <a:r>
                        <a:rPr lang="en-US" sz="1050" dirty="0">
                          <a:effectLst/>
                          <a:latin typeface="+mj-ea"/>
                          <a:ea typeface="+mj-ea"/>
                        </a:rPr>
                        <a:t>GH</a:t>
                      </a:r>
                      <a:endParaRPr lang="zh-TW" sz="1000" dirty="0">
                        <a:effectLst/>
                        <a:latin typeface="+mj-ea"/>
                        <a:ea typeface="+mj-ea"/>
                      </a:endParaRPr>
                    </a:p>
                  </a:txBody>
                  <a:tcPr anchor="ctr"/>
                </a:tc>
                <a:tc>
                  <a:txBody>
                    <a:bodyPr/>
                    <a:lstStyle/>
                    <a:p>
                      <a:pPr algn="ctr">
                        <a:lnSpc>
                          <a:spcPts val="700"/>
                        </a:lnSpc>
                        <a:spcAft>
                          <a:spcPts val="0"/>
                        </a:spcAft>
                      </a:pPr>
                      <a:r>
                        <a:rPr lang="en-US" sz="1050">
                          <a:effectLst/>
                          <a:latin typeface="+mj-ea"/>
                          <a:ea typeface="+mj-ea"/>
                        </a:rPr>
                        <a:t>100</a:t>
                      </a:r>
                      <a:endParaRPr lang="zh-TW" sz="1000">
                        <a:effectLst/>
                        <a:latin typeface="+mj-ea"/>
                        <a:ea typeface="+mj-ea"/>
                      </a:endParaRPr>
                    </a:p>
                  </a:txBody>
                  <a:tcPr anchor="ctr"/>
                </a:tc>
              </a:tr>
              <a:tr h="257962">
                <a:tc>
                  <a:txBody>
                    <a:bodyPr/>
                    <a:lstStyle/>
                    <a:p>
                      <a:pPr algn="ctr">
                        <a:lnSpc>
                          <a:spcPts val="700"/>
                        </a:lnSpc>
                        <a:spcAft>
                          <a:spcPts val="0"/>
                        </a:spcAft>
                      </a:pPr>
                      <a:r>
                        <a:rPr lang="en-US" sz="1050" dirty="0">
                          <a:effectLst/>
                          <a:latin typeface="+mj-ea"/>
                          <a:ea typeface="+mj-ea"/>
                        </a:rPr>
                        <a:t>STNP</a:t>
                      </a:r>
                      <a:endParaRPr lang="zh-TW" sz="1000" dirty="0">
                        <a:effectLst/>
                        <a:latin typeface="+mj-ea"/>
                        <a:ea typeface="+mj-ea"/>
                      </a:endParaRPr>
                    </a:p>
                  </a:txBody>
                  <a:tcPr anchor="ctr"/>
                </a:tc>
                <a:tc>
                  <a:txBody>
                    <a:bodyPr/>
                    <a:lstStyle/>
                    <a:p>
                      <a:pPr>
                        <a:lnSpc>
                          <a:spcPts val="700"/>
                        </a:lnSpc>
                      </a:pPr>
                      <a:endParaRPr lang="zh-TW" sz="700" dirty="0">
                        <a:effectLst/>
                        <a:latin typeface="+mj-ea"/>
                        <a:ea typeface="+mj-ea"/>
                      </a:endParaRPr>
                    </a:p>
                  </a:txBody>
                  <a:tcPr anchor="ctr"/>
                </a:tc>
                <a:tc>
                  <a:txBody>
                    <a:bodyPr/>
                    <a:lstStyle/>
                    <a:p>
                      <a:pPr algn="ctr">
                        <a:lnSpc>
                          <a:spcPts val="700"/>
                        </a:lnSpc>
                        <a:spcAft>
                          <a:spcPts val="0"/>
                        </a:spcAft>
                      </a:pPr>
                      <a:r>
                        <a:rPr lang="en-US" sz="1050">
                          <a:effectLst/>
                          <a:latin typeface="+mj-ea"/>
                          <a:ea typeface="+mj-ea"/>
                        </a:rPr>
                        <a:t>49</a:t>
                      </a:r>
                      <a:endParaRPr lang="zh-TW" sz="1000">
                        <a:effectLst/>
                        <a:latin typeface="+mj-ea"/>
                        <a:ea typeface="+mj-ea"/>
                      </a:endParaRPr>
                    </a:p>
                  </a:txBody>
                  <a:tcPr anchor="ctr"/>
                </a:tc>
              </a:tr>
              <a:tr h="257962">
                <a:tc>
                  <a:txBody>
                    <a:bodyPr/>
                    <a:lstStyle/>
                    <a:p>
                      <a:pPr algn="ctr">
                        <a:lnSpc>
                          <a:spcPts val="700"/>
                        </a:lnSpc>
                        <a:spcAft>
                          <a:spcPts val="0"/>
                        </a:spcAft>
                      </a:pPr>
                      <a:r>
                        <a:rPr lang="en-US" sz="1050" dirty="0">
                          <a:effectLst/>
                          <a:latin typeface="+mj-ea"/>
                          <a:ea typeface="+mj-ea"/>
                        </a:rPr>
                        <a:t>PV</a:t>
                      </a:r>
                      <a:endParaRPr lang="zh-TW" sz="1000" dirty="0">
                        <a:effectLst/>
                        <a:latin typeface="+mj-ea"/>
                        <a:ea typeface="+mj-ea"/>
                      </a:endParaRPr>
                    </a:p>
                  </a:txBody>
                  <a:tcPr anchor="ctr"/>
                </a:tc>
                <a:tc>
                  <a:txBody>
                    <a:bodyPr/>
                    <a:lstStyle/>
                    <a:p>
                      <a:pPr>
                        <a:lnSpc>
                          <a:spcPts val="700"/>
                        </a:lnSpc>
                      </a:pPr>
                      <a:endParaRPr lang="zh-TW" sz="700" dirty="0">
                        <a:effectLst/>
                        <a:latin typeface="+mj-ea"/>
                        <a:ea typeface="+mj-ea"/>
                      </a:endParaRPr>
                    </a:p>
                  </a:txBody>
                  <a:tcPr anchor="ctr"/>
                </a:tc>
                <a:tc>
                  <a:txBody>
                    <a:bodyPr/>
                    <a:lstStyle/>
                    <a:p>
                      <a:pPr algn="ctr">
                        <a:lnSpc>
                          <a:spcPts val="700"/>
                        </a:lnSpc>
                        <a:spcAft>
                          <a:spcPts val="0"/>
                        </a:spcAft>
                      </a:pPr>
                      <a:r>
                        <a:rPr lang="en-US" sz="1050">
                          <a:effectLst/>
                          <a:latin typeface="+mj-ea"/>
                          <a:ea typeface="+mj-ea"/>
                        </a:rPr>
                        <a:t>49</a:t>
                      </a:r>
                      <a:endParaRPr lang="zh-TW" sz="1000">
                        <a:effectLst/>
                        <a:latin typeface="+mj-ea"/>
                        <a:ea typeface="+mj-ea"/>
                      </a:endParaRPr>
                    </a:p>
                  </a:txBody>
                  <a:tcPr anchor="ctr"/>
                </a:tc>
              </a:tr>
              <a:tr h="257962">
                <a:tc>
                  <a:txBody>
                    <a:bodyPr/>
                    <a:lstStyle/>
                    <a:p>
                      <a:pPr algn="ctr">
                        <a:lnSpc>
                          <a:spcPts val="700"/>
                        </a:lnSpc>
                        <a:spcAft>
                          <a:spcPts val="0"/>
                        </a:spcAft>
                      </a:pPr>
                      <a:r>
                        <a:rPr lang="en-US" sz="1050">
                          <a:effectLst/>
                          <a:latin typeface="+mj-ea"/>
                          <a:ea typeface="+mj-ea"/>
                        </a:rPr>
                        <a:t>PV2</a:t>
                      </a:r>
                      <a:endParaRPr lang="zh-TW" sz="1000">
                        <a:effectLst/>
                        <a:latin typeface="+mj-ea"/>
                        <a:ea typeface="+mj-ea"/>
                      </a:endParaRPr>
                    </a:p>
                  </a:txBody>
                  <a:tcPr anchor="ctr"/>
                </a:tc>
                <a:tc>
                  <a:txBody>
                    <a:bodyPr/>
                    <a:lstStyle/>
                    <a:p>
                      <a:pPr algn="ctr">
                        <a:lnSpc>
                          <a:spcPts val="700"/>
                        </a:lnSpc>
                        <a:spcAft>
                          <a:spcPts val="0"/>
                        </a:spcAft>
                      </a:pPr>
                      <a:r>
                        <a:rPr lang="en-US" sz="1050" dirty="0">
                          <a:effectLst/>
                          <a:latin typeface="+mj-ea"/>
                          <a:ea typeface="+mj-ea"/>
                        </a:rPr>
                        <a:t>PV4000</a:t>
                      </a:r>
                      <a:endParaRPr lang="zh-TW" sz="1000" dirty="0">
                        <a:effectLst/>
                        <a:latin typeface="+mj-ea"/>
                        <a:ea typeface="+mj-ea"/>
                      </a:endParaRPr>
                    </a:p>
                  </a:txBody>
                  <a:tcPr anchor="ctr"/>
                </a:tc>
                <a:tc>
                  <a:txBody>
                    <a:bodyPr/>
                    <a:lstStyle/>
                    <a:p>
                      <a:pPr algn="ctr">
                        <a:lnSpc>
                          <a:spcPts val="700"/>
                        </a:lnSpc>
                        <a:spcAft>
                          <a:spcPts val="0"/>
                        </a:spcAft>
                      </a:pPr>
                      <a:r>
                        <a:rPr lang="en-US" sz="1050" dirty="0">
                          <a:effectLst/>
                          <a:latin typeface="+mj-ea"/>
                          <a:ea typeface="+mj-ea"/>
                        </a:rPr>
                        <a:t>49</a:t>
                      </a:r>
                      <a:endParaRPr lang="zh-TW" sz="1000" dirty="0">
                        <a:effectLst/>
                        <a:latin typeface="+mj-ea"/>
                        <a:ea typeface="+mj-ea"/>
                      </a:endParaRPr>
                    </a:p>
                  </a:txBody>
                  <a:tcPr anchor="ctr"/>
                </a:tc>
              </a:tr>
              <a:tr h="257962">
                <a:tc>
                  <a:txBody>
                    <a:bodyPr/>
                    <a:lstStyle/>
                    <a:p>
                      <a:pPr algn="ctr">
                        <a:lnSpc>
                          <a:spcPts val="700"/>
                        </a:lnSpc>
                        <a:spcAft>
                          <a:spcPts val="0"/>
                        </a:spcAft>
                      </a:pPr>
                      <a:r>
                        <a:rPr lang="en-US" sz="1050">
                          <a:effectLst/>
                          <a:latin typeface="+mj-ea"/>
                          <a:ea typeface="+mj-ea"/>
                        </a:rPr>
                        <a:t>PV5600</a:t>
                      </a:r>
                      <a:endParaRPr lang="zh-TW" sz="1000">
                        <a:effectLst/>
                        <a:latin typeface="+mj-ea"/>
                        <a:ea typeface="+mj-ea"/>
                      </a:endParaRPr>
                    </a:p>
                  </a:txBody>
                  <a:tcPr anchor="ctr"/>
                </a:tc>
                <a:tc>
                  <a:txBody>
                    <a:bodyPr/>
                    <a:lstStyle/>
                    <a:p>
                      <a:pPr algn="ctr">
                        <a:lnSpc>
                          <a:spcPts val="700"/>
                        </a:lnSpc>
                        <a:spcAft>
                          <a:spcPts val="0"/>
                        </a:spcAft>
                      </a:pPr>
                      <a:r>
                        <a:rPr lang="en-US" sz="1050" dirty="0">
                          <a:effectLst/>
                          <a:latin typeface="+mj-ea"/>
                          <a:ea typeface="+mj-ea"/>
                        </a:rPr>
                        <a:t>PV6000</a:t>
                      </a:r>
                      <a:endParaRPr lang="zh-TW" sz="1000" dirty="0">
                        <a:effectLst/>
                        <a:latin typeface="+mj-ea"/>
                        <a:ea typeface="+mj-ea"/>
                      </a:endParaRPr>
                    </a:p>
                  </a:txBody>
                  <a:tcPr anchor="ctr"/>
                </a:tc>
                <a:tc>
                  <a:txBody>
                    <a:bodyPr/>
                    <a:lstStyle/>
                    <a:p>
                      <a:pPr algn="ctr">
                        <a:lnSpc>
                          <a:spcPts val="700"/>
                        </a:lnSpc>
                        <a:spcAft>
                          <a:spcPts val="0"/>
                        </a:spcAft>
                      </a:pPr>
                      <a:r>
                        <a:rPr lang="en-US" sz="1050" dirty="0">
                          <a:effectLst/>
                          <a:latin typeface="+mj-ea"/>
                          <a:ea typeface="+mj-ea"/>
                        </a:rPr>
                        <a:t>49</a:t>
                      </a:r>
                      <a:endParaRPr lang="zh-TW" sz="1000" dirty="0">
                        <a:effectLst/>
                        <a:latin typeface="+mj-ea"/>
                        <a:ea typeface="+mj-ea"/>
                      </a:endParaRPr>
                    </a:p>
                  </a:txBody>
                  <a:tcPr anchor="ctr"/>
                </a:tc>
              </a:tr>
              <a:tr h="257962">
                <a:tc>
                  <a:txBody>
                    <a:bodyPr/>
                    <a:lstStyle/>
                    <a:p>
                      <a:pPr algn="ctr">
                        <a:lnSpc>
                          <a:spcPts val="700"/>
                        </a:lnSpc>
                        <a:spcAft>
                          <a:spcPts val="0"/>
                        </a:spcAft>
                      </a:pPr>
                      <a:r>
                        <a:rPr lang="en-US" sz="1050">
                          <a:effectLst/>
                          <a:latin typeface="+mj-ea"/>
                          <a:ea typeface="+mj-ea"/>
                        </a:rPr>
                        <a:t>STGH</a:t>
                      </a:r>
                      <a:endParaRPr lang="zh-TW" sz="1000">
                        <a:effectLst/>
                        <a:latin typeface="+mj-ea"/>
                        <a:ea typeface="+mj-ea"/>
                      </a:endParaRPr>
                    </a:p>
                  </a:txBody>
                  <a:tcPr anchor="ctr"/>
                </a:tc>
                <a:tc>
                  <a:txBody>
                    <a:bodyPr/>
                    <a:lstStyle/>
                    <a:p>
                      <a:pPr>
                        <a:lnSpc>
                          <a:spcPts val="700"/>
                        </a:lnSpc>
                      </a:pPr>
                      <a:endParaRPr lang="zh-TW" sz="700">
                        <a:effectLst/>
                        <a:latin typeface="+mj-ea"/>
                        <a:ea typeface="+mj-ea"/>
                      </a:endParaRPr>
                    </a:p>
                  </a:txBody>
                  <a:tcPr anchor="ctr"/>
                </a:tc>
                <a:tc>
                  <a:txBody>
                    <a:bodyPr/>
                    <a:lstStyle/>
                    <a:p>
                      <a:pPr marL="0" algn="ctr" defTabSz="685800" rtl="0" eaLnBrk="1" latinLnBrk="0" hangingPunct="1">
                        <a:lnSpc>
                          <a:spcPts val="700"/>
                        </a:lnSpc>
                        <a:spcAft>
                          <a:spcPts val="0"/>
                        </a:spcAft>
                      </a:pPr>
                      <a:r>
                        <a:rPr lang="en-US" sz="1050" kern="1200" dirty="0">
                          <a:solidFill>
                            <a:schemeClr val="dk1"/>
                          </a:solidFill>
                          <a:effectLst/>
                          <a:latin typeface="+mj-ea"/>
                          <a:ea typeface="+mj-ea"/>
                          <a:cs typeface="+mn-cs"/>
                        </a:rPr>
                        <a:t>49</a:t>
                      </a:r>
                      <a:endParaRPr lang="zh-TW" sz="1050" kern="1200" dirty="0">
                        <a:solidFill>
                          <a:schemeClr val="dk1"/>
                        </a:solidFill>
                        <a:effectLst/>
                        <a:latin typeface="+mj-ea"/>
                        <a:ea typeface="+mj-ea"/>
                        <a:cs typeface="+mn-cs"/>
                      </a:endParaRPr>
                    </a:p>
                  </a:txBody>
                  <a:tcPr anchor="ctr"/>
                </a:tc>
              </a:tr>
              <a:tr h="422120">
                <a:tc>
                  <a:txBody>
                    <a:bodyPr/>
                    <a:lstStyle/>
                    <a:p>
                      <a:pPr algn="ctr">
                        <a:lnSpc>
                          <a:spcPts val="700"/>
                        </a:lnSpc>
                        <a:spcAft>
                          <a:spcPts val="0"/>
                        </a:spcAft>
                      </a:pPr>
                      <a:r>
                        <a:rPr lang="en-US" sz="1050">
                          <a:effectLst/>
                          <a:latin typeface="+mj-ea"/>
                          <a:ea typeface="+mj-ea"/>
                        </a:rPr>
                        <a:t>STGL</a:t>
                      </a:r>
                      <a:endParaRPr lang="zh-TW" sz="1000">
                        <a:effectLst/>
                        <a:latin typeface="+mj-ea"/>
                        <a:ea typeface="+mj-ea"/>
                      </a:endParaRPr>
                    </a:p>
                  </a:txBody>
                  <a:tcPr anchor="ctr"/>
                </a:tc>
                <a:tc>
                  <a:txBody>
                    <a:bodyPr/>
                    <a:lstStyle/>
                    <a:p>
                      <a:pPr>
                        <a:lnSpc>
                          <a:spcPts val="700"/>
                        </a:lnSpc>
                      </a:pPr>
                      <a:endParaRPr lang="zh-TW" sz="700">
                        <a:effectLst/>
                        <a:latin typeface="+mj-ea"/>
                        <a:ea typeface="+mj-ea"/>
                      </a:endParaRPr>
                    </a:p>
                  </a:txBody>
                  <a:tcPr anchor="ctr"/>
                </a:tc>
                <a:tc>
                  <a:txBody>
                    <a:bodyPr/>
                    <a:lstStyle/>
                    <a:p>
                      <a:pPr marL="0" algn="ctr" defTabSz="685800" rtl="0" eaLnBrk="1" latinLnBrk="0" hangingPunct="1">
                        <a:lnSpc>
                          <a:spcPts val="700"/>
                        </a:lnSpc>
                        <a:spcAft>
                          <a:spcPts val="0"/>
                        </a:spcAft>
                      </a:pPr>
                      <a:r>
                        <a:rPr lang="en-US" sz="1050" kern="1200" dirty="0">
                          <a:solidFill>
                            <a:schemeClr val="dk1"/>
                          </a:solidFill>
                          <a:effectLst/>
                          <a:latin typeface="+mj-ea"/>
                          <a:ea typeface="+mj-ea"/>
                          <a:cs typeface="+mn-cs"/>
                        </a:rPr>
                        <a:t>49</a:t>
                      </a:r>
                      <a:endParaRPr lang="zh-TW" sz="1050" kern="1200" dirty="0">
                        <a:solidFill>
                          <a:schemeClr val="dk1"/>
                        </a:solidFill>
                        <a:effectLst/>
                        <a:latin typeface="+mj-ea"/>
                        <a:ea typeface="+mj-ea"/>
                        <a:cs typeface="+mn-cs"/>
                      </a:endParaRPr>
                    </a:p>
                  </a:txBody>
                  <a:tcPr anchor="ctr"/>
                </a:tc>
              </a:tr>
              <a:tr h="257962">
                <a:tc>
                  <a:txBody>
                    <a:bodyPr/>
                    <a:lstStyle/>
                    <a:p>
                      <a:pPr algn="ctr">
                        <a:lnSpc>
                          <a:spcPts val="700"/>
                        </a:lnSpc>
                        <a:spcAft>
                          <a:spcPts val="0"/>
                        </a:spcAft>
                      </a:pPr>
                      <a:r>
                        <a:rPr lang="en-US" sz="1050" dirty="0">
                          <a:effectLst/>
                          <a:latin typeface="+mj-ea"/>
                          <a:ea typeface="+mj-ea"/>
                        </a:rPr>
                        <a:t>AH</a:t>
                      </a:r>
                      <a:endParaRPr lang="zh-TW" sz="1000" dirty="0">
                        <a:effectLst/>
                        <a:latin typeface="+mj-ea"/>
                        <a:ea typeface="+mj-ea"/>
                      </a:endParaRPr>
                    </a:p>
                  </a:txBody>
                  <a:tcPr anchor="ctr"/>
                </a:tc>
                <a:tc>
                  <a:txBody>
                    <a:bodyPr/>
                    <a:lstStyle/>
                    <a:p>
                      <a:pPr algn="ctr">
                        <a:lnSpc>
                          <a:spcPts val="700"/>
                        </a:lnSpc>
                        <a:spcAft>
                          <a:spcPts val="0"/>
                        </a:spcAft>
                      </a:pPr>
                      <a:r>
                        <a:rPr lang="en-US" sz="1050" dirty="0">
                          <a:effectLst/>
                          <a:latin typeface="+mj-ea"/>
                          <a:ea typeface="+mj-ea"/>
                        </a:rPr>
                        <a:t>AH</a:t>
                      </a:r>
                      <a:endParaRPr lang="zh-TW" sz="1000" dirty="0">
                        <a:effectLst/>
                        <a:latin typeface="+mj-ea"/>
                        <a:ea typeface="+mj-ea"/>
                      </a:endParaRPr>
                    </a:p>
                  </a:txBody>
                  <a:tcPr anchor="ctr"/>
                </a:tc>
                <a:tc>
                  <a:txBody>
                    <a:bodyPr/>
                    <a:lstStyle/>
                    <a:p>
                      <a:pPr algn="ctr">
                        <a:lnSpc>
                          <a:spcPts val="700"/>
                        </a:lnSpc>
                        <a:spcAft>
                          <a:spcPts val="0"/>
                        </a:spcAft>
                      </a:pPr>
                      <a:r>
                        <a:rPr lang="en-US" sz="1050" dirty="0">
                          <a:effectLst/>
                          <a:latin typeface="+mj-ea"/>
                          <a:ea typeface="+mj-ea"/>
                        </a:rPr>
                        <a:t>77</a:t>
                      </a:r>
                      <a:endParaRPr lang="zh-TW" sz="1000" dirty="0">
                        <a:effectLst/>
                        <a:latin typeface="+mj-ea"/>
                        <a:ea typeface="+mj-ea"/>
                      </a:endParaRPr>
                    </a:p>
                  </a:txBody>
                  <a:tcPr anchor="ctr"/>
                </a:tc>
              </a:tr>
            </a:tbl>
          </a:graphicData>
        </a:graphic>
      </p:graphicFrame>
      <p:grpSp>
        <p:nvGrpSpPr>
          <p:cNvPr id="129" name="群組 128"/>
          <p:cNvGrpSpPr/>
          <p:nvPr/>
        </p:nvGrpSpPr>
        <p:grpSpPr>
          <a:xfrm>
            <a:off x="2388121" y="2973413"/>
            <a:ext cx="2915887" cy="622669"/>
            <a:chOff x="3346449" y="3086665"/>
            <a:chExt cx="1574801" cy="359692"/>
          </a:xfrm>
        </p:grpSpPr>
        <p:pic>
          <p:nvPicPr>
            <p:cNvPr id="130" name="圖片 129"/>
            <p:cNvPicPr>
              <a:picLocks noChangeAspect="1"/>
            </p:cNvPicPr>
            <p:nvPr/>
          </p:nvPicPr>
          <p:blipFill rotWithShape="1">
            <a:blip r:embed="rId5"/>
            <a:srcRect l="35276" r="18932"/>
            <a:stretch/>
          </p:blipFill>
          <p:spPr>
            <a:xfrm>
              <a:off x="3346449" y="3093754"/>
              <a:ext cx="1574801" cy="334877"/>
            </a:xfrm>
            <a:prstGeom prst="rect">
              <a:avLst/>
            </a:prstGeom>
          </p:spPr>
        </p:pic>
        <p:sp>
          <p:nvSpPr>
            <p:cNvPr id="135" name="矩形 134"/>
            <p:cNvSpPr/>
            <p:nvPr/>
          </p:nvSpPr>
          <p:spPr>
            <a:xfrm>
              <a:off x="4521199" y="3086665"/>
              <a:ext cx="400051" cy="183586"/>
            </a:xfrm>
            <a:prstGeom prst="rect">
              <a:avLst/>
            </a:prstGeom>
            <a:solidFill>
              <a:srgbClr val="FFC000">
                <a:alpha val="52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sp>
          <p:nvSpPr>
            <p:cNvPr id="144" name="矩形 143"/>
            <p:cNvSpPr/>
            <p:nvPr/>
          </p:nvSpPr>
          <p:spPr>
            <a:xfrm>
              <a:off x="4521199" y="3262771"/>
              <a:ext cx="152402" cy="183586"/>
            </a:xfrm>
            <a:prstGeom prst="rect">
              <a:avLst/>
            </a:prstGeom>
            <a:solidFill>
              <a:srgbClr val="FFC000">
                <a:alpha val="52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grpSp>
      <p:sp>
        <p:nvSpPr>
          <p:cNvPr id="145" name="矩形 144"/>
          <p:cNvSpPr/>
          <p:nvPr/>
        </p:nvSpPr>
        <p:spPr>
          <a:xfrm>
            <a:off x="102822" y="3606708"/>
            <a:ext cx="3619645" cy="1277273"/>
          </a:xfrm>
          <a:prstGeom prst="rect">
            <a:avLst/>
          </a:prstGeom>
        </p:spPr>
        <p:txBody>
          <a:bodyPr wrap="square">
            <a:spAutoFit/>
          </a:bodyPr>
          <a:lstStyle/>
          <a:p>
            <a:r>
              <a:rPr lang="zh-TW" altLang="en-US" sz="1100" dirty="0" smtClean="0">
                <a:latin typeface="微軟正黑體" panose="020B0604030504040204" pitchFamily="34" charset="-120"/>
                <a:ea typeface="微軟正黑體" panose="020B0604030504040204" pitchFamily="34" charset="-120"/>
              </a:rPr>
              <a:t>資料庫</a:t>
            </a:r>
            <a:r>
              <a:rPr lang="en-US" altLang="zh-TW" sz="1100" dirty="0" smtClean="0">
                <a:latin typeface="微軟正黑體" panose="020B0604030504040204" pitchFamily="34" charset="-120"/>
                <a:ea typeface="微軟正黑體" panose="020B0604030504040204" pitchFamily="34" charset="-120"/>
              </a:rPr>
              <a:t>-</a:t>
            </a:r>
            <a:r>
              <a:rPr lang="zh-TW" altLang="en-US" sz="1100" dirty="0" smtClean="0">
                <a:latin typeface="微軟正黑體" panose="020B0604030504040204" pitchFamily="34" charset="-120"/>
                <a:ea typeface="微軟正黑體" panose="020B0604030504040204" pitchFamily="34" charset="-120"/>
              </a:rPr>
              <a:t>資料表結構</a:t>
            </a:r>
            <a:r>
              <a:rPr lang="en-US" altLang="zh-TW" sz="1100" dirty="0" smtClean="0">
                <a:latin typeface="微軟正黑體" panose="020B0604030504040204" pitchFamily="34" charset="-120"/>
                <a:ea typeface="微軟正黑體" panose="020B0604030504040204" pitchFamily="34" charset="-120"/>
              </a:rPr>
              <a:t>(</a:t>
            </a:r>
            <a:r>
              <a:rPr lang="zh-TW" altLang="en-US" sz="1100" dirty="0" smtClean="0">
                <a:latin typeface="微軟正黑體" panose="020B0604030504040204" pitchFamily="34" charset="-120"/>
                <a:ea typeface="微軟正黑體" panose="020B0604030504040204" pitchFamily="34" charset="-120"/>
              </a:rPr>
              <a:t>單一量測檔案</a:t>
            </a:r>
            <a:r>
              <a:rPr lang="en-US" altLang="zh-TW" sz="1100" dirty="0" smtClean="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en-US" altLang="zh-TW" sz="1100" dirty="0" smtClean="0">
                <a:latin typeface="微軟正黑體" panose="020B0604030504040204" pitchFamily="34" charset="-120"/>
                <a:ea typeface="微軟正黑體" panose="020B0604030504040204" pitchFamily="34" charset="-120"/>
              </a:rPr>
              <a:t>mqc_statis:</a:t>
            </a:r>
            <a:r>
              <a:rPr lang="zh-TW" altLang="en-US" sz="1100" dirty="0" smtClean="0">
                <a:latin typeface="微軟正黑體" panose="020B0604030504040204" pitchFamily="34" charset="-120"/>
                <a:ea typeface="微軟正黑體" panose="020B0604030504040204" pitchFamily="34" charset="-120"/>
              </a:rPr>
              <a:t> 量測檔案內原始統計資料</a:t>
            </a:r>
            <a:endParaRPr lang="en-US" altLang="zh-TW" sz="1100" dirty="0" smtClean="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100" dirty="0" smtClean="0">
                <a:latin typeface="微軟正黑體" panose="020B0604030504040204" pitchFamily="34" charset="-120"/>
                <a:ea typeface="微軟正黑體" panose="020B0604030504040204" pitchFamily="34" charset="-120"/>
              </a:rPr>
              <a:t>analy_statis:</a:t>
            </a:r>
            <a:r>
              <a:rPr lang="zh-TW" altLang="en-US" sz="1100" dirty="0" smtClean="0">
                <a:latin typeface="微軟正黑體" panose="020B0604030504040204" pitchFamily="34" charset="-120"/>
                <a:ea typeface="微軟正黑體" panose="020B0604030504040204" pitchFamily="34" charset="-120"/>
              </a:rPr>
              <a:t> 分析函式結果</a:t>
            </a:r>
            <a:endParaRPr lang="en-US" altLang="zh-TW" sz="1100" dirty="0" smtClean="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100" dirty="0" smtClean="0">
                <a:solidFill>
                  <a:schemeClr val="accent1"/>
                </a:solidFill>
                <a:latin typeface="微軟正黑體" panose="020B0604030504040204" pitchFamily="34" charset="-120"/>
                <a:ea typeface="微軟正黑體" panose="020B0604030504040204" pitchFamily="34" charset="-120"/>
              </a:rPr>
              <a:t>Conc:</a:t>
            </a:r>
            <a:r>
              <a:rPr lang="zh-TW" altLang="en-US" sz="1100" dirty="0" smtClean="0">
                <a:solidFill>
                  <a:schemeClr val="accent1"/>
                </a:solidFill>
                <a:latin typeface="微軟正黑體" panose="020B0604030504040204" pitchFamily="34" charset="-120"/>
                <a:ea typeface="微軟正黑體" panose="020B0604030504040204" pitchFamily="34" charset="-120"/>
              </a:rPr>
              <a:t> </a:t>
            </a:r>
            <a:r>
              <a:rPr lang="en-US" altLang="zh-TW" sz="1100" dirty="0" smtClean="0">
                <a:solidFill>
                  <a:schemeClr val="accent1"/>
                </a:solidFill>
                <a:latin typeface="微軟正黑體" panose="020B0604030504040204" pitchFamily="34" charset="-120"/>
                <a:ea typeface="微軟正黑體" panose="020B0604030504040204" pitchFamily="34" charset="-120"/>
              </a:rPr>
              <a:t>3D</a:t>
            </a:r>
            <a:r>
              <a:rPr lang="zh-TW" altLang="en-US" sz="1100" dirty="0" smtClean="0">
                <a:solidFill>
                  <a:schemeClr val="accent1"/>
                </a:solidFill>
                <a:latin typeface="微軟正黑體" panose="020B0604030504040204" pitchFamily="34" charset="-120"/>
                <a:ea typeface="微軟正黑體" panose="020B0604030504040204" pitchFamily="34" charset="-120"/>
              </a:rPr>
              <a:t>圖資料</a:t>
            </a:r>
            <a:endParaRPr lang="en-US" altLang="zh-TW" sz="1100" dirty="0" smtClean="0">
              <a:solidFill>
                <a:schemeClr val="accent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100" dirty="0" smtClean="0">
                <a:solidFill>
                  <a:schemeClr val="accent1"/>
                </a:solidFill>
                <a:latin typeface="微軟正黑體" panose="020B0604030504040204" pitchFamily="34" charset="-120"/>
                <a:ea typeface="微軟正黑體" panose="020B0604030504040204" pitchFamily="34" charset="-120"/>
              </a:rPr>
              <a:t>THK</a:t>
            </a:r>
            <a:r>
              <a:rPr lang="en-US" altLang="zh-TW" sz="1100" dirty="0">
                <a:solidFill>
                  <a:schemeClr val="accent1"/>
                </a:solidFill>
                <a:latin typeface="微軟正黑體" panose="020B0604030504040204" pitchFamily="34" charset="-120"/>
                <a:ea typeface="微軟正黑體" panose="020B0604030504040204" pitchFamily="34" charset="-120"/>
              </a:rPr>
              <a:t>:</a:t>
            </a:r>
            <a:r>
              <a:rPr lang="zh-TW" altLang="en-US" sz="1100" dirty="0">
                <a:solidFill>
                  <a:schemeClr val="accent1"/>
                </a:solidFill>
                <a:latin typeface="微軟正黑體" panose="020B0604030504040204" pitchFamily="34" charset="-120"/>
                <a:ea typeface="微軟正黑體" panose="020B0604030504040204" pitchFamily="34" charset="-120"/>
              </a:rPr>
              <a:t> </a:t>
            </a:r>
            <a:r>
              <a:rPr lang="en-US" altLang="zh-TW" sz="1100" dirty="0">
                <a:solidFill>
                  <a:schemeClr val="accent1"/>
                </a:solidFill>
                <a:latin typeface="微軟正黑體" panose="020B0604030504040204" pitchFamily="34" charset="-120"/>
                <a:ea typeface="微軟正黑體" panose="020B0604030504040204" pitchFamily="34" charset="-120"/>
              </a:rPr>
              <a:t>3D</a:t>
            </a:r>
            <a:r>
              <a:rPr lang="zh-TW" altLang="en-US" sz="1100" dirty="0">
                <a:solidFill>
                  <a:schemeClr val="accent1"/>
                </a:solidFill>
                <a:latin typeface="微軟正黑體" panose="020B0604030504040204" pitchFamily="34" charset="-120"/>
                <a:ea typeface="微軟正黑體" panose="020B0604030504040204" pitchFamily="34" charset="-120"/>
              </a:rPr>
              <a:t>圖</a:t>
            </a:r>
            <a:r>
              <a:rPr lang="zh-TW" altLang="en-US" sz="1100" dirty="0" smtClean="0">
                <a:solidFill>
                  <a:schemeClr val="accent1"/>
                </a:solidFill>
                <a:latin typeface="微軟正黑體" panose="020B0604030504040204" pitchFamily="34" charset="-120"/>
                <a:ea typeface="微軟正黑體" panose="020B0604030504040204" pitchFamily="34" charset="-120"/>
              </a:rPr>
              <a:t>資料</a:t>
            </a:r>
            <a:endParaRPr lang="en-US" altLang="zh-TW" sz="1100" dirty="0" smtClean="0">
              <a:solidFill>
                <a:schemeClr val="accent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100" dirty="0" smtClean="0">
                <a:solidFill>
                  <a:schemeClr val="accent1"/>
                </a:solidFill>
                <a:latin typeface="微軟正黑體" panose="020B0604030504040204" pitchFamily="34" charset="-120"/>
                <a:ea typeface="微軟正黑體" panose="020B0604030504040204" pitchFamily="34" charset="-120"/>
              </a:rPr>
              <a:t>N</a:t>
            </a:r>
            <a:r>
              <a:rPr lang="en-US" altLang="zh-TW" sz="1100" dirty="0">
                <a:solidFill>
                  <a:schemeClr val="accent1"/>
                </a:solidFill>
                <a:latin typeface="微軟正黑體" panose="020B0604030504040204" pitchFamily="34" charset="-120"/>
                <a:ea typeface="微軟正黑體" panose="020B0604030504040204" pitchFamily="34" charset="-120"/>
              </a:rPr>
              <a:t>:</a:t>
            </a:r>
            <a:r>
              <a:rPr lang="zh-TW" altLang="en-US" sz="1100" dirty="0">
                <a:solidFill>
                  <a:schemeClr val="accent1"/>
                </a:solidFill>
                <a:latin typeface="微軟正黑體" panose="020B0604030504040204" pitchFamily="34" charset="-120"/>
                <a:ea typeface="微軟正黑體" panose="020B0604030504040204" pitchFamily="34" charset="-120"/>
              </a:rPr>
              <a:t> </a:t>
            </a:r>
            <a:r>
              <a:rPr lang="en-US" altLang="zh-TW" sz="1100" dirty="0">
                <a:solidFill>
                  <a:schemeClr val="accent1"/>
                </a:solidFill>
                <a:latin typeface="微軟正黑體" panose="020B0604030504040204" pitchFamily="34" charset="-120"/>
                <a:ea typeface="微軟正黑體" panose="020B0604030504040204" pitchFamily="34" charset="-120"/>
              </a:rPr>
              <a:t>3D</a:t>
            </a:r>
            <a:r>
              <a:rPr lang="zh-TW" altLang="en-US" sz="1100" dirty="0">
                <a:solidFill>
                  <a:schemeClr val="accent1"/>
                </a:solidFill>
                <a:latin typeface="微軟正黑體" panose="020B0604030504040204" pitchFamily="34" charset="-120"/>
                <a:ea typeface="微軟正黑體" panose="020B0604030504040204" pitchFamily="34" charset="-120"/>
              </a:rPr>
              <a:t>圖</a:t>
            </a:r>
            <a:r>
              <a:rPr lang="zh-TW" altLang="en-US" sz="1100" dirty="0" smtClean="0">
                <a:solidFill>
                  <a:schemeClr val="accent1"/>
                </a:solidFill>
                <a:latin typeface="微軟正黑體" panose="020B0604030504040204" pitchFamily="34" charset="-120"/>
                <a:ea typeface="微軟正黑體" panose="020B0604030504040204" pitchFamily="34" charset="-120"/>
              </a:rPr>
              <a:t>資料</a:t>
            </a:r>
            <a:endParaRPr lang="en-US" altLang="zh-TW" sz="1100" dirty="0" smtClean="0">
              <a:solidFill>
                <a:schemeClr val="accent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100" dirty="0" smtClean="0">
                <a:solidFill>
                  <a:schemeClr val="accent1"/>
                </a:solidFill>
                <a:latin typeface="微軟正黑體" panose="020B0604030504040204" pitchFamily="34" charset="-120"/>
                <a:ea typeface="微軟正黑體" panose="020B0604030504040204" pitchFamily="34" charset="-120"/>
              </a:rPr>
              <a:t>%SIDE:</a:t>
            </a:r>
            <a:r>
              <a:rPr lang="en-US" altLang="zh-TW" sz="1100" dirty="0">
                <a:solidFill>
                  <a:schemeClr val="accent1"/>
                </a:solidFill>
                <a:latin typeface="微軟正黑體" panose="020B0604030504040204" pitchFamily="34" charset="-120"/>
                <a:ea typeface="微軟正黑體" panose="020B0604030504040204" pitchFamily="34" charset="-120"/>
              </a:rPr>
              <a:t>3D</a:t>
            </a:r>
            <a:r>
              <a:rPr lang="zh-TW" altLang="en-US" sz="1100" dirty="0">
                <a:solidFill>
                  <a:schemeClr val="accent1"/>
                </a:solidFill>
                <a:latin typeface="微軟正黑體" panose="020B0604030504040204" pitchFamily="34" charset="-120"/>
                <a:ea typeface="微軟正黑體" panose="020B0604030504040204" pitchFamily="34" charset="-120"/>
              </a:rPr>
              <a:t>圖</a:t>
            </a:r>
            <a:r>
              <a:rPr lang="zh-TW" altLang="en-US" sz="1100" dirty="0" smtClean="0">
                <a:solidFill>
                  <a:schemeClr val="accent1"/>
                </a:solidFill>
                <a:latin typeface="微軟正黑體" panose="020B0604030504040204" pitchFamily="34" charset="-120"/>
                <a:ea typeface="微軟正黑體" panose="020B0604030504040204" pitchFamily="34" charset="-120"/>
              </a:rPr>
              <a:t>資料</a:t>
            </a:r>
            <a:endParaRPr lang="en-US" altLang="zh-TW" sz="1100" dirty="0">
              <a:solidFill>
                <a:schemeClr val="accent1"/>
              </a:solidFill>
              <a:latin typeface="微軟正黑體" panose="020B0604030504040204" pitchFamily="34" charset="-120"/>
              <a:ea typeface="微軟正黑體" panose="020B0604030504040204" pitchFamily="34" charset="-120"/>
            </a:endParaRPr>
          </a:p>
        </p:txBody>
      </p:sp>
      <p:cxnSp>
        <p:nvCxnSpPr>
          <p:cNvPr id="146" name="直線單箭頭接點 145"/>
          <p:cNvCxnSpPr/>
          <p:nvPr/>
        </p:nvCxnSpPr>
        <p:spPr>
          <a:xfrm flipV="1">
            <a:off x="5548117" y="2374461"/>
            <a:ext cx="193571" cy="1"/>
          </a:xfrm>
          <a:prstGeom prst="straightConnector1">
            <a:avLst/>
          </a:prstGeom>
          <a:ln w="12700">
            <a:prstDash val="sysDash"/>
            <a:tailEnd type="triangle"/>
          </a:ln>
        </p:spPr>
        <p:style>
          <a:lnRef idx="1">
            <a:schemeClr val="accent1"/>
          </a:lnRef>
          <a:fillRef idx="0">
            <a:schemeClr val="accent1"/>
          </a:fillRef>
          <a:effectRef idx="0">
            <a:schemeClr val="accent1"/>
          </a:effectRef>
          <a:fontRef idx="minor">
            <a:schemeClr val="tx1"/>
          </a:fontRef>
        </p:style>
      </p:cxnSp>
      <p:sp>
        <p:nvSpPr>
          <p:cNvPr id="148" name="矩形 147"/>
          <p:cNvSpPr/>
          <p:nvPr/>
        </p:nvSpPr>
        <p:spPr>
          <a:xfrm>
            <a:off x="2142821" y="4238545"/>
            <a:ext cx="1512172" cy="233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微軟正黑體" panose="020B0604030504040204" pitchFamily="34" charset="-120"/>
                <a:ea typeface="微軟正黑體" panose="020B0604030504040204" pitchFamily="34" charset="-120"/>
              </a:rPr>
              <a:t>By </a:t>
            </a:r>
            <a:r>
              <a:rPr lang="zh-TW" altLang="en-US" dirty="0" smtClean="0">
                <a:latin typeface="微軟正黑體" panose="020B0604030504040204" pitchFamily="34" charset="-120"/>
                <a:ea typeface="微軟正黑體" panose="020B0604030504040204" pitchFamily="34" charset="-120"/>
              </a:rPr>
              <a:t>膜種儲存</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73960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grpSp>
        <p:nvGrpSpPr>
          <p:cNvPr id="3" name="群組 2"/>
          <p:cNvGrpSpPr/>
          <p:nvPr/>
        </p:nvGrpSpPr>
        <p:grpSpPr>
          <a:xfrm>
            <a:off x="188357" y="727880"/>
            <a:ext cx="8479393" cy="4332077"/>
            <a:chOff x="188357" y="945779"/>
            <a:chExt cx="8479393" cy="4332077"/>
          </a:xfrm>
        </p:grpSpPr>
        <p:grpSp>
          <p:nvGrpSpPr>
            <p:cNvPr id="4" name="群組 3"/>
            <p:cNvGrpSpPr/>
            <p:nvPr/>
          </p:nvGrpSpPr>
          <p:grpSpPr>
            <a:xfrm>
              <a:off x="188357" y="945779"/>
              <a:ext cx="8479393" cy="4332077"/>
              <a:chOff x="98449" y="615579"/>
              <a:chExt cx="8479393" cy="4332077"/>
            </a:xfrm>
          </p:grpSpPr>
          <p:pic>
            <p:nvPicPr>
              <p:cNvPr id="14" name="圖片 13"/>
              <p:cNvPicPr>
                <a:picLocks noChangeAspect="1"/>
              </p:cNvPicPr>
              <p:nvPr/>
            </p:nvPicPr>
            <p:blipFill>
              <a:blip r:embed="rId3"/>
              <a:stretch>
                <a:fillRect/>
              </a:stretch>
            </p:blipFill>
            <p:spPr>
              <a:xfrm>
                <a:off x="114361" y="1403350"/>
                <a:ext cx="8463481" cy="3544306"/>
              </a:xfrm>
              <a:prstGeom prst="rect">
                <a:avLst/>
              </a:prstGeom>
            </p:spPr>
          </p:pic>
          <p:pic>
            <p:nvPicPr>
              <p:cNvPr id="15" name="圖片 14"/>
              <p:cNvPicPr>
                <a:picLocks noChangeAspect="1"/>
              </p:cNvPicPr>
              <p:nvPr/>
            </p:nvPicPr>
            <p:blipFill rotWithShape="1">
              <a:blip r:embed="rId4"/>
              <a:srcRect b="80272"/>
              <a:stretch/>
            </p:blipFill>
            <p:spPr>
              <a:xfrm>
                <a:off x="98449" y="615579"/>
                <a:ext cx="8479393" cy="787771"/>
              </a:xfrm>
              <a:prstGeom prst="rect">
                <a:avLst/>
              </a:prstGeom>
            </p:spPr>
          </p:pic>
        </p:grpSp>
        <p:sp>
          <p:nvSpPr>
            <p:cNvPr id="5" name="矩形 4"/>
            <p:cNvSpPr/>
            <p:nvPr/>
          </p:nvSpPr>
          <p:spPr>
            <a:xfrm>
              <a:off x="1764952" y="945779"/>
              <a:ext cx="476598" cy="323701"/>
            </a:xfrm>
            <a:prstGeom prst="rect">
              <a:avLst/>
            </a:prstGeom>
            <a:solidFill>
              <a:schemeClr val="accent3">
                <a:lumMod val="60000"/>
                <a:lumOff val="40000"/>
                <a:alpha val="52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6" name="矩形 5"/>
            <p:cNvSpPr/>
            <p:nvPr/>
          </p:nvSpPr>
          <p:spPr>
            <a:xfrm>
              <a:off x="3185160" y="1733550"/>
              <a:ext cx="2506980" cy="796290"/>
            </a:xfrm>
            <a:prstGeom prst="rect">
              <a:avLst/>
            </a:prstGeom>
            <a:noFill/>
            <a:ln w="19050">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 name="矩形 6"/>
            <p:cNvSpPr/>
            <p:nvPr/>
          </p:nvSpPr>
          <p:spPr>
            <a:xfrm>
              <a:off x="3246120" y="3510016"/>
              <a:ext cx="2506980" cy="796290"/>
            </a:xfrm>
            <a:prstGeom prst="rect">
              <a:avLst/>
            </a:prstGeom>
            <a:noFill/>
            <a:ln w="19050">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8" name="矩形 7"/>
            <p:cNvSpPr/>
            <p:nvPr/>
          </p:nvSpPr>
          <p:spPr>
            <a:xfrm>
              <a:off x="3784738" y="2795271"/>
              <a:ext cx="1221602" cy="522340"/>
            </a:xfrm>
            <a:prstGeom prst="rect">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100" dirty="0" smtClean="0">
                  <a:latin typeface="微軟正黑體" panose="020B0604030504040204" pitchFamily="34" charset="-120"/>
                  <a:ea typeface="微軟正黑體" panose="020B0604030504040204" pitchFamily="34" charset="-120"/>
                </a:rPr>
                <a:t>By </a:t>
              </a:r>
              <a:r>
                <a:rPr lang="zh-TW" altLang="en-US" sz="1100" dirty="0" smtClean="0">
                  <a:latin typeface="微軟正黑體" panose="020B0604030504040204" pitchFamily="34" charset="-120"/>
                  <a:ea typeface="微軟正黑體" panose="020B0604030504040204" pitchFamily="34" charset="-120"/>
                </a:rPr>
                <a:t>膜種顯示分析函式結果</a:t>
              </a:r>
              <a:endParaRPr lang="zh-TW" altLang="en-US" sz="1100" dirty="0">
                <a:latin typeface="微軟正黑體" panose="020B0604030504040204" pitchFamily="34" charset="-120"/>
                <a:ea typeface="微軟正黑體" panose="020B0604030504040204" pitchFamily="34" charset="-120"/>
              </a:endParaRPr>
            </a:p>
          </p:txBody>
        </p:sp>
        <p:sp>
          <p:nvSpPr>
            <p:cNvPr id="9" name="矩形 8"/>
            <p:cNvSpPr/>
            <p:nvPr/>
          </p:nvSpPr>
          <p:spPr>
            <a:xfrm>
              <a:off x="2657475" y="1419225"/>
              <a:ext cx="409575" cy="3858631"/>
            </a:xfrm>
            <a:prstGeom prst="rect">
              <a:avLst/>
            </a:prstGeom>
            <a:solidFill>
              <a:schemeClr val="accent5">
                <a:lumMod val="20000"/>
                <a:lumOff val="80000"/>
                <a:alpha val="29000"/>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0" name="矩形 9"/>
            <p:cNvSpPr/>
            <p:nvPr/>
          </p:nvSpPr>
          <p:spPr>
            <a:xfrm>
              <a:off x="1956932" y="1419224"/>
              <a:ext cx="409575" cy="3858631"/>
            </a:xfrm>
            <a:prstGeom prst="rect">
              <a:avLst/>
            </a:prstGeom>
            <a:solidFill>
              <a:schemeClr val="accent5">
                <a:lumMod val="20000"/>
                <a:lumOff val="80000"/>
                <a:alpha val="29000"/>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1" name="矩形 10"/>
            <p:cNvSpPr/>
            <p:nvPr/>
          </p:nvSpPr>
          <p:spPr>
            <a:xfrm>
              <a:off x="1921409" y="4376421"/>
              <a:ext cx="1221602" cy="52234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100" dirty="0" smtClean="0">
                  <a:latin typeface="微軟正黑體" panose="020B0604030504040204" pitchFamily="34" charset="-120"/>
                  <a:ea typeface="微軟正黑體" panose="020B0604030504040204" pitchFamily="34" charset="-120"/>
                </a:rPr>
                <a:t>由產線人員修改對應資</a:t>
              </a:r>
              <a:r>
                <a:rPr lang="zh-TW" altLang="en-US" sz="1100" dirty="0">
                  <a:latin typeface="微軟正黑體" panose="020B0604030504040204" pitchFamily="34" charset="-120"/>
                  <a:ea typeface="微軟正黑體" panose="020B0604030504040204" pitchFamily="34" charset="-120"/>
                </a:rPr>
                <a:t>訊</a:t>
              </a:r>
            </a:p>
          </p:txBody>
        </p:sp>
        <p:sp>
          <p:nvSpPr>
            <p:cNvPr id="12" name="矩形 11"/>
            <p:cNvSpPr/>
            <p:nvPr/>
          </p:nvSpPr>
          <p:spPr>
            <a:xfrm>
              <a:off x="8072861" y="4115251"/>
              <a:ext cx="594889" cy="52234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1100" dirty="0" smtClean="0">
                  <a:latin typeface="微軟正黑體" panose="020B0604030504040204" pitchFamily="34" charset="-120"/>
                  <a:ea typeface="微軟正黑體" panose="020B0604030504040204" pitchFamily="34" charset="-120"/>
                </a:rPr>
                <a:t>同步記錄</a:t>
              </a:r>
              <a:endParaRPr lang="zh-TW" altLang="en-US" sz="1100" dirty="0">
                <a:latin typeface="微軟正黑體" panose="020B0604030504040204" pitchFamily="34" charset="-120"/>
                <a:ea typeface="微軟正黑體" panose="020B0604030504040204" pitchFamily="34" charset="-120"/>
              </a:endParaRPr>
            </a:p>
          </p:txBody>
        </p:sp>
        <p:cxnSp>
          <p:nvCxnSpPr>
            <p:cNvPr id="13" name="肘形接點 12"/>
            <p:cNvCxnSpPr>
              <a:endCxn id="12" idx="1"/>
            </p:cNvCxnSpPr>
            <p:nvPr/>
          </p:nvCxnSpPr>
          <p:spPr>
            <a:xfrm flipV="1">
              <a:off x="3143011" y="4376421"/>
              <a:ext cx="4929850" cy="261170"/>
            </a:xfrm>
            <a:prstGeom prst="bentConnector3">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37482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3" name="圖片版面配置區 4" descr="開始"/>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852150" y="1464802"/>
            <a:ext cx="1693472" cy="734031"/>
          </a:xfrm>
          <a:prstGeom prst="rect">
            <a:avLst/>
          </a:prstGeom>
        </p:spPr>
      </p:pic>
      <p:sp>
        <p:nvSpPr>
          <p:cNvPr id="4" name="矩形 3"/>
          <p:cNvSpPr/>
          <p:nvPr/>
        </p:nvSpPr>
        <p:spPr>
          <a:xfrm>
            <a:off x="4852150" y="1481807"/>
            <a:ext cx="226572" cy="1410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5079432" y="1231871"/>
            <a:ext cx="1338828" cy="230832"/>
          </a:xfrm>
          <a:prstGeom prst="rect">
            <a:avLst/>
          </a:prstGeom>
          <a:solidFill>
            <a:schemeClr val="bg2"/>
          </a:solidFill>
        </p:spPr>
        <p:txBody>
          <a:bodyPr wrap="none" rtlCol="0">
            <a:spAutoFit/>
          </a:bodyPr>
          <a:lstStyle/>
          <a:p>
            <a:r>
              <a:rPr lang="zh-TW" altLang="en-US" sz="900" dirty="0">
                <a:latin typeface="微軟正黑體" panose="020B0604030504040204" pitchFamily="34" charset="-120"/>
                <a:ea typeface="微軟正黑體" panose="020B0604030504040204" pitchFamily="34" charset="-120"/>
              </a:rPr>
              <a:t>點擊</a:t>
            </a:r>
            <a:r>
              <a:rPr lang="zh-TW" altLang="en-US" sz="900" b="1" dirty="0">
                <a:latin typeface="微軟正黑體" panose="020B0604030504040204" pitchFamily="34" charset="-120"/>
                <a:ea typeface="微軟正黑體" panose="020B0604030504040204" pitchFamily="34" charset="-120"/>
              </a:rPr>
              <a:t>選取</a:t>
            </a:r>
            <a:r>
              <a:rPr lang="zh-TW" altLang="en-US" sz="900" dirty="0">
                <a:latin typeface="微軟正黑體" panose="020B0604030504040204" pitchFamily="34" charset="-120"/>
                <a:ea typeface="微軟正黑體" panose="020B0604030504040204" pitchFamily="34" charset="-120"/>
              </a:rPr>
              <a:t>才可框選欄位</a:t>
            </a:r>
            <a:endParaRPr lang="zh-TW" altLang="en-US" sz="900" b="1" u="sng" dirty="0">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rotWithShape="1">
          <a:blip r:embed="rId4"/>
          <a:srcRect b="5819"/>
          <a:stretch/>
        </p:blipFill>
        <p:spPr>
          <a:xfrm>
            <a:off x="6672986" y="1459685"/>
            <a:ext cx="1736292" cy="740284"/>
          </a:xfrm>
          <a:prstGeom prst="rect">
            <a:avLst/>
          </a:prstGeom>
        </p:spPr>
      </p:pic>
      <p:sp>
        <p:nvSpPr>
          <p:cNvPr id="7" name="文字方塊 6"/>
          <p:cNvSpPr txBox="1"/>
          <p:nvPr/>
        </p:nvSpPr>
        <p:spPr>
          <a:xfrm>
            <a:off x="6918958" y="1223851"/>
            <a:ext cx="992579" cy="230832"/>
          </a:xfrm>
          <a:prstGeom prst="rect">
            <a:avLst/>
          </a:prstGeom>
          <a:solidFill>
            <a:schemeClr val="bg2"/>
          </a:solidFill>
        </p:spPr>
        <p:txBody>
          <a:bodyPr wrap="none" rtlCol="0">
            <a:spAutoFit/>
          </a:bodyPr>
          <a:lstStyle/>
          <a:p>
            <a:r>
              <a:rPr lang="zh-TW" altLang="en-US" sz="900" b="1" dirty="0">
                <a:latin typeface="微軟正黑體" panose="020B0604030504040204" pitchFamily="34" charset="-120"/>
                <a:ea typeface="微軟正黑體" panose="020B0604030504040204" pitchFamily="34" charset="-120"/>
              </a:rPr>
              <a:t>框選後點擊確認</a:t>
            </a:r>
            <a:endParaRPr lang="zh-TW" altLang="en-US" sz="900" b="1" u="sng" dirty="0">
              <a:latin typeface="微軟正黑體" panose="020B0604030504040204" pitchFamily="34" charset="-120"/>
              <a:ea typeface="微軟正黑體" panose="020B0604030504040204" pitchFamily="34" charset="-120"/>
            </a:endParaRPr>
          </a:p>
        </p:txBody>
      </p:sp>
      <p:sp>
        <p:nvSpPr>
          <p:cNvPr id="8" name="向右箭號 7"/>
          <p:cNvSpPr/>
          <p:nvPr/>
        </p:nvSpPr>
        <p:spPr>
          <a:xfrm>
            <a:off x="6418260" y="1733845"/>
            <a:ext cx="254726" cy="1959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grpSp>
        <p:nvGrpSpPr>
          <p:cNvPr id="9" name="群組 8"/>
          <p:cNvGrpSpPr/>
          <p:nvPr/>
        </p:nvGrpSpPr>
        <p:grpSpPr>
          <a:xfrm>
            <a:off x="4766661" y="2381247"/>
            <a:ext cx="3995802" cy="994330"/>
            <a:chOff x="4850031" y="1517138"/>
            <a:chExt cx="3995802" cy="994330"/>
          </a:xfrm>
        </p:grpSpPr>
        <p:sp>
          <p:nvSpPr>
            <p:cNvPr id="10" name="矩形 9"/>
            <p:cNvSpPr/>
            <p:nvPr/>
          </p:nvSpPr>
          <p:spPr>
            <a:xfrm>
              <a:off x="4850031" y="1517138"/>
              <a:ext cx="3995802" cy="9943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pic>
          <p:nvPicPr>
            <p:cNvPr id="11" name="圖片 10"/>
            <p:cNvPicPr>
              <a:picLocks noChangeAspect="1"/>
            </p:cNvPicPr>
            <p:nvPr/>
          </p:nvPicPr>
          <p:blipFill rotWithShape="1">
            <a:blip r:embed="rId5"/>
            <a:srcRect l="45" t="57517" r="55519" b="4363"/>
            <a:stretch/>
          </p:blipFill>
          <p:spPr>
            <a:xfrm>
              <a:off x="4935520" y="1579696"/>
              <a:ext cx="1756569" cy="750534"/>
            </a:xfrm>
            <a:prstGeom prst="rect">
              <a:avLst/>
            </a:prstGeom>
          </p:spPr>
        </p:pic>
        <p:pic>
          <p:nvPicPr>
            <p:cNvPr id="12" name="圖片 11"/>
            <p:cNvPicPr>
              <a:picLocks noChangeAspect="1"/>
            </p:cNvPicPr>
            <p:nvPr/>
          </p:nvPicPr>
          <p:blipFill rotWithShape="1">
            <a:blip r:embed="rId5"/>
            <a:srcRect l="49463" r="15931" b="73305"/>
            <a:stretch/>
          </p:blipFill>
          <p:spPr>
            <a:xfrm>
              <a:off x="6813105" y="1620936"/>
              <a:ext cx="1953522" cy="750534"/>
            </a:xfrm>
            <a:prstGeom prst="rect">
              <a:avLst/>
            </a:prstGeom>
          </p:spPr>
        </p:pic>
      </p:grpSp>
      <p:sp>
        <p:nvSpPr>
          <p:cNvPr id="13" name="矩形 12"/>
          <p:cNvSpPr/>
          <p:nvPr/>
        </p:nvSpPr>
        <p:spPr>
          <a:xfrm>
            <a:off x="6692386" y="1481807"/>
            <a:ext cx="184434" cy="1410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14" name="向右箭號 13"/>
          <p:cNvSpPr/>
          <p:nvPr/>
        </p:nvSpPr>
        <p:spPr>
          <a:xfrm rot="5400000">
            <a:off x="6734346" y="2183518"/>
            <a:ext cx="254726" cy="1959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grpSp>
        <p:nvGrpSpPr>
          <p:cNvPr id="15" name="群組 14"/>
          <p:cNvGrpSpPr/>
          <p:nvPr/>
        </p:nvGrpSpPr>
        <p:grpSpPr>
          <a:xfrm>
            <a:off x="84392" y="629876"/>
            <a:ext cx="4450031" cy="3868936"/>
            <a:chOff x="202304" y="623645"/>
            <a:chExt cx="4080136" cy="3540715"/>
          </a:xfrm>
        </p:grpSpPr>
        <p:pic>
          <p:nvPicPr>
            <p:cNvPr id="16" name="圖片 15"/>
            <p:cNvPicPr>
              <a:picLocks noChangeAspect="1"/>
            </p:cNvPicPr>
            <p:nvPr/>
          </p:nvPicPr>
          <p:blipFill rotWithShape="1">
            <a:blip r:embed="rId6"/>
            <a:srcRect r="1617"/>
            <a:stretch/>
          </p:blipFill>
          <p:spPr>
            <a:xfrm>
              <a:off x="211312" y="623645"/>
              <a:ext cx="4071128" cy="1641602"/>
            </a:xfrm>
            <a:prstGeom prst="rect">
              <a:avLst/>
            </a:prstGeom>
          </p:spPr>
        </p:pic>
        <p:pic>
          <p:nvPicPr>
            <p:cNvPr id="17" name="圖片 16"/>
            <p:cNvPicPr>
              <a:picLocks noChangeAspect="1"/>
            </p:cNvPicPr>
            <p:nvPr/>
          </p:nvPicPr>
          <p:blipFill rotWithShape="1">
            <a:blip r:embed="rId7"/>
            <a:srcRect r="1886"/>
            <a:stretch/>
          </p:blipFill>
          <p:spPr>
            <a:xfrm>
              <a:off x="202304" y="2265249"/>
              <a:ext cx="4063237" cy="1899111"/>
            </a:xfrm>
            <a:prstGeom prst="rect">
              <a:avLst/>
            </a:prstGeom>
          </p:spPr>
        </p:pic>
      </p:grpSp>
      <p:sp>
        <p:nvSpPr>
          <p:cNvPr id="18" name="矩形 17"/>
          <p:cNvSpPr/>
          <p:nvPr/>
        </p:nvSpPr>
        <p:spPr>
          <a:xfrm>
            <a:off x="2419876" y="1526764"/>
            <a:ext cx="1983023" cy="80307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19" name="矩形 18"/>
          <p:cNvSpPr/>
          <p:nvPr/>
        </p:nvSpPr>
        <p:spPr>
          <a:xfrm>
            <a:off x="4586731" y="1236679"/>
            <a:ext cx="4286009" cy="218632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sp>
        <p:nvSpPr>
          <p:cNvPr id="20" name="向右箭號 19"/>
          <p:cNvSpPr/>
          <p:nvPr/>
        </p:nvSpPr>
        <p:spPr>
          <a:xfrm>
            <a:off x="4402899" y="1736217"/>
            <a:ext cx="183832" cy="262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21" name="文字方塊 20"/>
          <p:cNvSpPr txBox="1"/>
          <p:nvPr/>
        </p:nvSpPr>
        <p:spPr>
          <a:xfrm>
            <a:off x="4515992" y="699363"/>
            <a:ext cx="2161169" cy="404085"/>
          </a:xfrm>
          <a:prstGeom prst="rect">
            <a:avLst/>
          </a:prstGeom>
          <a:noFill/>
        </p:spPr>
        <p:txBody>
          <a:bodyPr wrap="none" rtlCol="0">
            <a:spAutoFit/>
          </a:bodyPr>
          <a:lstStyle/>
          <a:p>
            <a:r>
              <a:rPr lang="zh-TW" altLang="en-US" sz="1013" dirty="0">
                <a:latin typeface="微軟正黑體" panose="020B0604030504040204" pitchFamily="34" charset="-120"/>
                <a:ea typeface="微軟正黑體" panose="020B0604030504040204" pitchFamily="34" charset="-120"/>
              </a:rPr>
              <a:t>篩選局部欄位進行統計分析</a:t>
            </a:r>
            <a:endParaRPr lang="en-US" altLang="zh-TW" sz="1013" dirty="0">
              <a:latin typeface="微軟正黑體" panose="020B0604030504040204" pitchFamily="34" charset="-120"/>
              <a:ea typeface="微軟正黑體" panose="020B0604030504040204" pitchFamily="34" charset="-120"/>
            </a:endParaRPr>
          </a:p>
          <a:p>
            <a:r>
              <a:rPr lang="zh-TW" altLang="en-US" sz="1013" b="1" u="sng" dirty="0">
                <a:latin typeface="微軟正黑體" panose="020B0604030504040204" pitchFamily="34" charset="-120"/>
                <a:ea typeface="微軟正黑體" panose="020B0604030504040204" pitchFamily="34" charset="-120"/>
              </a:rPr>
              <a:t>若需額外分析欄位在由</a:t>
            </a:r>
            <a:r>
              <a:rPr lang="en-US" altLang="zh-TW" sz="1013" b="1" u="sng" dirty="0">
                <a:latin typeface="微軟正黑體" panose="020B0604030504040204" pitchFamily="34" charset="-120"/>
                <a:ea typeface="微軟正黑體" panose="020B0604030504040204" pitchFamily="34" charset="-120"/>
              </a:rPr>
              <a:t>Owner</a:t>
            </a:r>
            <a:r>
              <a:rPr lang="zh-TW" altLang="en-US" sz="1013" b="1" u="sng" dirty="0">
                <a:latin typeface="微軟正黑體" panose="020B0604030504040204" pitchFamily="34" charset="-120"/>
                <a:ea typeface="微軟正黑體" panose="020B0604030504040204" pitchFamily="34" charset="-120"/>
              </a:rPr>
              <a:t>提出</a:t>
            </a:r>
          </a:p>
        </p:txBody>
      </p:sp>
    </p:spTree>
    <p:extLst>
      <p:ext uri="{BB962C8B-B14F-4D97-AF65-F5344CB8AC3E}">
        <p14:creationId xmlns:p14="http://schemas.microsoft.com/office/powerpoint/2010/main" val="1538234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3" name="圖片 2"/>
          <p:cNvPicPr>
            <a:picLocks noChangeAspect="1"/>
          </p:cNvPicPr>
          <p:nvPr/>
        </p:nvPicPr>
        <p:blipFill rotWithShape="1">
          <a:blip r:embed="rId3"/>
          <a:srcRect l="1466" t="1634" r="1191" b="6137"/>
          <a:stretch/>
        </p:blipFill>
        <p:spPr>
          <a:xfrm>
            <a:off x="620566" y="807200"/>
            <a:ext cx="4175885" cy="2214484"/>
          </a:xfrm>
          <a:prstGeom prst="rect">
            <a:avLst/>
          </a:prstGeom>
        </p:spPr>
      </p:pic>
      <p:pic>
        <p:nvPicPr>
          <p:cNvPr id="4" name="圖片 3"/>
          <p:cNvPicPr>
            <a:picLocks noChangeAspect="1"/>
          </p:cNvPicPr>
          <p:nvPr/>
        </p:nvPicPr>
        <p:blipFill>
          <a:blip r:embed="rId4"/>
          <a:stretch>
            <a:fillRect/>
          </a:stretch>
        </p:blipFill>
        <p:spPr>
          <a:xfrm>
            <a:off x="5014126" y="1318889"/>
            <a:ext cx="2979890" cy="1702795"/>
          </a:xfrm>
          <a:prstGeom prst="rect">
            <a:avLst/>
          </a:prstGeom>
        </p:spPr>
      </p:pic>
      <p:sp>
        <p:nvSpPr>
          <p:cNvPr id="5" name="文字方塊 4"/>
          <p:cNvSpPr txBox="1"/>
          <p:nvPr/>
        </p:nvSpPr>
        <p:spPr>
          <a:xfrm>
            <a:off x="6066900" y="1351663"/>
            <a:ext cx="1726755" cy="230832"/>
          </a:xfrm>
          <a:prstGeom prst="rect">
            <a:avLst/>
          </a:prstGeom>
          <a:solidFill>
            <a:schemeClr val="bg2"/>
          </a:solidFill>
        </p:spPr>
        <p:txBody>
          <a:bodyPr wrap="none" rtlCol="0">
            <a:spAutoFit/>
          </a:bodyPr>
          <a:lstStyle/>
          <a:p>
            <a:r>
              <a:rPr lang="zh-TW" altLang="en-US" sz="900" b="1" dirty="0">
                <a:latin typeface="微軟正黑體" panose="020B0604030504040204" pitchFamily="34" charset="-120"/>
                <a:ea typeface="微軟正黑體" panose="020B0604030504040204" pitchFamily="34" charset="-120"/>
              </a:rPr>
              <a:t>巨集上有計算之統計欄位為主</a:t>
            </a:r>
            <a:endParaRPr lang="zh-TW" altLang="en-US" sz="900" b="1" u="sng" dirty="0">
              <a:latin typeface="微軟正黑體" panose="020B0604030504040204" pitchFamily="34" charset="-120"/>
              <a:ea typeface="微軟正黑體" panose="020B0604030504040204" pitchFamily="34" charset="-120"/>
            </a:endParaRPr>
          </a:p>
        </p:txBody>
      </p:sp>
      <p:sp>
        <p:nvSpPr>
          <p:cNvPr id="6" name="矩形 5"/>
          <p:cNvSpPr/>
          <p:nvPr/>
        </p:nvSpPr>
        <p:spPr>
          <a:xfrm>
            <a:off x="2742951" y="1505718"/>
            <a:ext cx="2053500" cy="10462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grpSp>
        <p:nvGrpSpPr>
          <p:cNvPr id="7" name="群組 6"/>
          <p:cNvGrpSpPr/>
          <p:nvPr/>
        </p:nvGrpSpPr>
        <p:grpSpPr>
          <a:xfrm>
            <a:off x="5016187" y="680785"/>
            <a:ext cx="2522521" cy="529114"/>
            <a:chOff x="5014824" y="676407"/>
            <a:chExt cx="2522521" cy="529114"/>
          </a:xfrm>
        </p:grpSpPr>
        <p:pic>
          <p:nvPicPr>
            <p:cNvPr id="8" name="圖片 7"/>
            <p:cNvPicPr>
              <a:picLocks noChangeAspect="1"/>
            </p:cNvPicPr>
            <p:nvPr/>
          </p:nvPicPr>
          <p:blipFill>
            <a:blip r:embed="rId5"/>
            <a:stretch>
              <a:fillRect/>
            </a:stretch>
          </p:blipFill>
          <p:spPr>
            <a:xfrm>
              <a:off x="5014824" y="676407"/>
              <a:ext cx="2522521" cy="529114"/>
            </a:xfrm>
            <a:prstGeom prst="rect">
              <a:avLst/>
            </a:prstGeom>
          </p:spPr>
        </p:pic>
        <p:sp>
          <p:nvSpPr>
            <p:cNvPr id="9" name="矩形 8"/>
            <p:cNvSpPr/>
            <p:nvPr/>
          </p:nvSpPr>
          <p:spPr>
            <a:xfrm>
              <a:off x="5058889" y="695196"/>
              <a:ext cx="226572" cy="1410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grpSp>
      <p:sp>
        <p:nvSpPr>
          <p:cNvPr id="10" name="向右箭號 9"/>
          <p:cNvSpPr/>
          <p:nvPr/>
        </p:nvSpPr>
        <p:spPr>
          <a:xfrm>
            <a:off x="4788290" y="1705695"/>
            <a:ext cx="183832" cy="262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11" name="矩形 10"/>
          <p:cNvSpPr/>
          <p:nvPr/>
        </p:nvSpPr>
        <p:spPr>
          <a:xfrm>
            <a:off x="572024" y="825447"/>
            <a:ext cx="698063" cy="25505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12" name="文字方塊 11"/>
          <p:cNvSpPr txBox="1"/>
          <p:nvPr/>
        </p:nvSpPr>
        <p:spPr>
          <a:xfrm>
            <a:off x="75330" y="478256"/>
            <a:ext cx="1342034" cy="369332"/>
          </a:xfrm>
          <a:prstGeom prst="rect">
            <a:avLst/>
          </a:prstGeom>
          <a:solidFill>
            <a:schemeClr val="bg2"/>
          </a:solidFill>
        </p:spPr>
        <p:txBody>
          <a:bodyPr wrap="none" rtlCol="0">
            <a:spAutoFit/>
          </a:bodyPr>
          <a:lstStyle/>
          <a:p>
            <a:r>
              <a:rPr lang="zh-TW" altLang="en-US" sz="900" b="1" dirty="0">
                <a:latin typeface="微軟正黑體" panose="020B0604030504040204" pitchFamily="34" charset="-120"/>
                <a:ea typeface="微軟正黑體" panose="020B0604030504040204" pitchFamily="34" charset="-120"/>
              </a:rPr>
              <a:t>編輯權限卡控</a:t>
            </a:r>
            <a:r>
              <a:rPr lang="en-US" altLang="zh-TW" sz="900" b="1" dirty="0">
                <a:latin typeface="微軟正黑體" panose="020B0604030504040204" pitchFamily="34" charset="-120"/>
                <a:ea typeface="微軟正黑體" panose="020B0604030504040204" pitchFamily="34" charset="-120"/>
              </a:rPr>
              <a:t>:</a:t>
            </a:r>
            <a:r>
              <a:rPr lang="zh-TW" altLang="en-US" sz="900" b="1" dirty="0">
                <a:latin typeface="微軟正黑體" panose="020B0604030504040204" pitchFamily="34" charset="-120"/>
                <a:ea typeface="微軟正黑體" panose="020B0604030504040204" pitchFamily="34" charset="-120"/>
              </a:rPr>
              <a:t> </a:t>
            </a:r>
            <a:r>
              <a:rPr lang="en-US" altLang="zh-TW" sz="900" b="1" dirty="0">
                <a:latin typeface="微軟正黑體" panose="020B0604030504040204" pitchFamily="34" charset="-120"/>
                <a:ea typeface="微軟正黑體" panose="020B0604030504040204" pitchFamily="34" charset="-120"/>
              </a:rPr>
              <a:t>T2</a:t>
            </a:r>
            <a:r>
              <a:rPr lang="zh-TW" altLang="en-US" sz="900" b="1" dirty="0">
                <a:latin typeface="微軟正黑體" panose="020B0604030504040204" pitchFamily="34" charset="-120"/>
                <a:ea typeface="微軟正黑體" panose="020B0604030504040204" pitchFamily="34" charset="-120"/>
              </a:rPr>
              <a:t>人員</a:t>
            </a:r>
            <a:endParaRPr lang="en-US" altLang="zh-TW" sz="900" b="1" dirty="0">
              <a:latin typeface="微軟正黑體" panose="020B0604030504040204" pitchFamily="34" charset="-120"/>
              <a:ea typeface="微軟正黑體" panose="020B0604030504040204" pitchFamily="34" charset="-120"/>
            </a:endParaRPr>
          </a:p>
          <a:p>
            <a:r>
              <a:rPr lang="zh-TW" altLang="en-US" sz="900" dirty="0">
                <a:latin typeface="微軟正黑體" panose="020B0604030504040204" pitchFamily="34" charset="-120"/>
                <a:ea typeface="微軟正黑體" panose="020B0604030504040204" pitchFamily="34" charset="-120"/>
              </a:rPr>
              <a:t>非</a:t>
            </a:r>
            <a:r>
              <a:rPr lang="en-US" altLang="zh-TW" sz="900" dirty="0">
                <a:latin typeface="微軟正黑體" panose="020B0604030504040204" pitchFamily="34" charset="-120"/>
                <a:ea typeface="微軟正黑體" panose="020B0604030504040204" pitchFamily="34" charset="-120"/>
              </a:rPr>
              <a:t>T2</a:t>
            </a:r>
            <a:r>
              <a:rPr lang="zh-TW" altLang="en-US" sz="900" dirty="0">
                <a:latin typeface="微軟正黑體" panose="020B0604030504040204" pitchFamily="34" charset="-120"/>
                <a:ea typeface="微軟正黑體" panose="020B0604030504040204" pitchFamily="34" charset="-120"/>
              </a:rPr>
              <a:t>人員無</a:t>
            </a:r>
            <a:r>
              <a:rPr lang="zh-TW" altLang="en-US" sz="900" b="1" dirty="0">
                <a:latin typeface="微軟正黑體" panose="020B0604030504040204" pitchFamily="34" charset="-120"/>
                <a:ea typeface="微軟正黑體" panose="020B0604030504040204" pitchFamily="34" charset="-120"/>
              </a:rPr>
              <a:t>編輯</a:t>
            </a:r>
            <a:r>
              <a:rPr lang="zh-TW" altLang="en-US" sz="900" dirty="0">
                <a:latin typeface="微軟正黑體" panose="020B0604030504040204" pitchFamily="34" charset="-120"/>
                <a:ea typeface="微軟正黑體" panose="020B0604030504040204" pitchFamily="34" charset="-120"/>
              </a:rPr>
              <a:t>按鈕</a:t>
            </a:r>
          </a:p>
        </p:txBody>
      </p:sp>
      <p:pic>
        <p:nvPicPr>
          <p:cNvPr id="13" name="圖片 12"/>
          <p:cNvPicPr>
            <a:picLocks noChangeAspect="1"/>
          </p:cNvPicPr>
          <p:nvPr/>
        </p:nvPicPr>
        <p:blipFill>
          <a:blip r:embed="rId6"/>
          <a:stretch>
            <a:fillRect/>
          </a:stretch>
        </p:blipFill>
        <p:spPr>
          <a:xfrm>
            <a:off x="-25830" y="4120423"/>
            <a:ext cx="3455875" cy="418343"/>
          </a:xfrm>
          <a:prstGeom prst="rect">
            <a:avLst/>
          </a:prstGeom>
        </p:spPr>
      </p:pic>
      <p:pic>
        <p:nvPicPr>
          <p:cNvPr id="14" name="圖片 13"/>
          <p:cNvPicPr>
            <a:picLocks noChangeAspect="1"/>
          </p:cNvPicPr>
          <p:nvPr/>
        </p:nvPicPr>
        <p:blipFill>
          <a:blip r:embed="rId7"/>
          <a:stretch>
            <a:fillRect/>
          </a:stretch>
        </p:blipFill>
        <p:spPr>
          <a:xfrm>
            <a:off x="48261" y="3523700"/>
            <a:ext cx="3381784" cy="440522"/>
          </a:xfrm>
          <a:prstGeom prst="rect">
            <a:avLst/>
          </a:prstGeom>
        </p:spPr>
      </p:pic>
      <p:sp>
        <p:nvSpPr>
          <p:cNvPr id="15" name="文字方塊 14"/>
          <p:cNvSpPr txBox="1"/>
          <p:nvPr/>
        </p:nvSpPr>
        <p:spPr>
          <a:xfrm>
            <a:off x="-9232" y="3268029"/>
            <a:ext cx="1366080" cy="230832"/>
          </a:xfrm>
          <a:prstGeom prst="rect">
            <a:avLst/>
          </a:prstGeom>
          <a:solidFill>
            <a:schemeClr val="bg2"/>
          </a:solidFill>
        </p:spPr>
        <p:txBody>
          <a:bodyPr wrap="none" rtlCol="0">
            <a:spAutoFit/>
          </a:bodyPr>
          <a:lstStyle/>
          <a:p>
            <a:r>
              <a:rPr lang="zh-TW" altLang="en-US" sz="900" dirty="0">
                <a:latin typeface="微軟正黑體" panose="020B0604030504040204" pitchFamily="34" charset="-120"/>
                <a:ea typeface="微軟正黑體" panose="020B0604030504040204" pitchFamily="34" charset="-120"/>
              </a:rPr>
              <a:t>套圖程式</a:t>
            </a:r>
            <a:r>
              <a:rPr lang="en-US" altLang="zh-TW" sz="900" dirty="0">
                <a:latin typeface="微軟正黑體" panose="020B0604030504040204" pitchFamily="34" charset="-120"/>
                <a:ea typeface="微軟正黑體" panose="020B0604030504040204" pitchFamily="34" charset="-120"/>
              </a:rPr>
              <a:t>:</a:t>
            </a:r>
            <a:r>
              <a:rPr lang="zh-TW" altLang="en-US" sz="900" dirty="0">
                <a:latin typeface="微軟正黑體" panose="020B0604030504040204" pitchFamily="34" charset="-120"/>
                <a:ea typeface="微軟正黑體" panose="020B0604030504040204" pitchFamily="34" charset="-120"/>
              </a:rPr>
              <a:t>欄位設定固定</a:t>
            </a:r>
          </a:p>
        </p:txBody>
      </p:sp>
      <p:sp>
        <p:nvSpPr>
          <p:cNvPr id="16" name="文字方塊 15"/>
          <p:cNvSpPr txBox="1"/>
          <p:nvPr/>
        </p:nvSpPr>
        <p:spPr>
          <a:xfrm>
            <a:off x="-28064" y="3974329"/>
            <a:ext cx="1548822" cy="230832"/>
          </a:xfrm>
          <a:prstGeom prst="rect">
            <a:avLst/>
          </a:prstGeom>
          <a:solidFill>
            <a:schemeClr val="bg2"/>
          </a:solidFill>
        </p:spPr>
        <p:txBody>
          <a:bodyPr wrap="none" rtlCol="0">
            <a:spAutoFit/>
          </a:bodyPr>
          <a:lstStyle/>
          <a:p>
            <a:r>
              <a:rPr lang="zh-TW" altLang="en-US" sz="900" dirty="0">
                <a:latin typeface="微軟正黑體" panose="020B0604030504040204" pitchFamily="34" charset="-120"/>
                <a:ea typeface="微軟正黑體" panose="020B0604030504040204" pitchFamily="34" charset="-120"/>
              </a:rPr>
              <a:t>對應</a:t>
            </a:r>
            <a:r>
              <a:rPr lang="en-US" altLang="zh-TW" sz="900" dirty="0">
                <a:latin typeface="微軟正黑體" panose="020B0604030504040204" pitchFamily="34" charset="-120"/>
                <a:ea typeface="微軟正黑體" panose="020B0604030504040204" pitchFamily="34" charset="-120"/>
              </a:rPr>
              <a:t>SQL</a:t>
            </a:r>
            <a:r>
              <a:rPr lang="zh-TW" altLang="en-US" sz="900" dirty="0">
                <a:latin typeface="微軟正黑體" panose="020B0604030504040204" pitchFamily="34" charset="-120"/>
                <a:ea typeface="微軟正黑體" panose="020B0604030504040204" pitchFamily="34" charset="-120"/>
              </a:rPr>
              <a:t>資料表</a:t>
            </a:r>
            <a:r>
              <a:rPr lang="en-US" altLang="zh-TW" sz="900" dirty="0">
                <a:latin typeface="微軟正黑體" panose="020B0604030504040204" pitchFamily="34" charset="-120"/>
                <a:ea typeface="微軟正黑體" panose="020B0604030504040204" pitchFamily="34" charset="-120"/>
              </a:rPr>
              <a:t>OOC/OOS</a:t>
            </a:r>
          </a:p>
        </p:txBody>
      </p:sp>
      <p:sp>
        <p:nvSpPr>
          <p:cNvPr id="17" name="向右箭號 16"/>
          <p:cNvSpPr/>
          <p:nvPr/>
        </p:nvSpPr>
        <p:spPr>
          <a:xfrm>
            <a:off x="3456230" y="3947134"/>
            <a:ext cx="183832" cy="262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pic>
        <p:nvPicPr>
          <p:cNvPr id="18" name="圖片 17"/>
          <p:cNvPicPr>
            <a:picLocks noChangeAspect="1"/>
          </p:cNvPicPr>
          <p:nvPr/>
        </p:nvPicPr>
        <p:blipFill>
          <a:blip r:embed="rId8"/>
          <a:stretch>
            <a:fillRect/>
          </a:stretch>
        </p:blipFill>
        <p:spPr>
          <a:xfrm>
            <a:off x="3640062" y="3106230"/>
            <a:ext cx="2074589" cy="1846613"/>
          </a:xfrm>
          <a:prstGeom prst="rect">
            <a:avLst/>
          </a:prstGeom>
        </p:spPr>
      </p:pic>
      <p:pic>
        <p:nvPicPr>
          <p:cNvPr id="19" name="圖片 18"/>
          <p:cNvPicPr>
            <a:picLocks noChangeAspect="1"/>
          </p:cNvPicPr>
          <p:nvPr/>
        </p:nvPicPr>
        <p:blipFill>
          <a:blip r:embed="rId9"/>
          <a:stretch>
            <a:fillRect/>
          </a:stretch>
        </p:blipFill>
        <p:spPr>
          <a:xfrm>
            <a:off x="5643219" y="3367497"/>
            <a:ext cx="3500781" cy="1531592"/>
          </a:xfrm>
          <a:prstGeom prst="rect">
            <a:avLst/>
          </a:prstGeom>
        </p:spPr>
      </p:pic>
      <p:sp>
        <p:nvSpPr>
          <p:cNvPr id="20" name="文字方塊 19"/>
          <p:cNvSpPr txBox="1"/>
          <p:nvPr/>
        </p:nvSpPr>
        <p:spPr>
          <a:xfrm>
            <a:off x="6358386" y="4329595"/>
            <a:ext cx="2491708" cy="646331"/>
          </a:xfrm>
          <a:prstGeom prst="rect">
            <a:avLst/>
          </a:prstGeom>
          <a:solidFill>
            <a:schemeClr val="bg2"/>
          </a:solidFill>
        </p:spPr>
        <p:txBody>
          <a:bodyPr wrap="none" rtlCol="0">
            <a:spAutoFit/>
          </a:bodyPr>
          <a:lstStyle/>
          <a:p>
            <a:r>
              <a:rPr lang="zh-TW" altLang="en-US" sz="900" dirty="0">
                <a:latin typeface="微軟正黑體" panose="020B0604030504040204" pitchFamily="34" charset="-120"/>
                <a:ea typeface="微軟正黑體" panose="020B0604030504040204" pitchFamily="34" charset="-120"/>
              </a:rPr>
              <a:t>自主新增欄位</a:t>
            </a:r>
            <a:r>
              <a:rPr lang="en-US" altLang="zh-TW" sz="900" dirty="0">
                <a:latin typeface="微軟正黑體" panose="020B0604030504040204" pitchFamily="34" charset="-120"/>
                <a:ea typeface="微軟正黑體" panose="020B0604030504040204" pitchFamily="34" charset="-120"/>
              </a:rPr>
              <a:t>:</a:t>
            </a:r>
          </a:p>
          <a:p>
            <a:pPr marL="471488" lvl="1" indent="-128588">
              <a:buFont typeface="Arial" panose="020B0604020202020204" pitchFamily="34" charset="0"/>
              <a:buChar char="•"/>
            </a:pPr>
            <a:r>
              <a:rPr lang="zh-TW" altLang="en-US" sz="900" dirty="0">
                <a:latin typeface="微軟正黑體" panose="020B0604030504040204" pitchFamily="34" charset="-120"/>
                <a:ea typeface="微軟正黑體" panose="020B0604030504040204" pitchFamily="34" charset="-120"/>
              </a:rPr>
              <a:t>合併欄位設定</a:t>
            </a:r>
            <a:r>
              <a:rPr lang="en-US" altLang="zh-TW" sz="900" dirty="0">
                <a:latin typeface="微軟正黑體" panose="020B0604030504040204" pitchFamily="34" charset="-120"/>
                <a:ea typeface="微軟正黑體" panose="020B0604030504040204" pitchFamily="34" charset="-120"/>
              </a:rPr>
              <a:t>&amp;OOC/OOS</a:t>
            </a:r>
            <a:r>
              <a:rPr lang="zh-TW" altLang="en-US" sz="900" dirty="0">
                <a:latin typeface="微軟正黑體" panose="020B0604030504040204" pitchFamily="34" charset="-120"/>
                <a:ea typeface="微軟正黑體" panose="020B0604030504040204" pitchFamily="34" charset="-120"/>
              </a:rPr>
              <a:t>資料</a:t>
            </a:r>
            <a:endParaRPr lang="en-US" altLang="zh-TW" sz="900" dirty="0">
              <a:latin typeface="微軟正黑體" panose="020B0604030504040204" pitchFamily="34" charset="-120"/>
              <a:ea typeface="微軟正黑體" panose="020B0604030504040204" pitchFamily="34" charset="-120"/>
            </a:endParaRPr>
          </a:p>
          <a:p>
            <a:pPr marL="471488" lvl="1" indent="-128588">
              <a:buFont typeface="Arial" panose="020B0604020202020204" pitchFamily="34" charset="0"/>
              <a:buChar char="•"/>
            </a:pPr>
            <a:r>
              <a:rPr lang="zh-TW" altLang="en-US" sz="900" dirty="0">
                <a:latin typeface="微軟正黑體" panose="020B0604030504040204" pitchFamily="34" charset="-120"/>
                <a:ea typeface="微軟正黑體" panose="020B0604030504040204" pitchFamily="34" charset="-120"/>
              </a:rPr>
              <a:t>套圖程式欄位串接</a:t>
            </a:r>
            <a:endParaRPr lang="en-US" altLang="zh-TW" sz="900" dirty="0">
              <a:latin typeface="微軟正黑體" panose="020B0604030504040204" pitchFamily="34" charset="-120"/>
              <a:ea typeface="微軟正黑體" panose="020B0604030504040204" pitchFamily="34" charset="-120"/>
            </a:endParaRPr>
          </a:p>
          <a:p>
            <a:pPr marL="471488" lvl="1" indent="-128588">
              <a:buFont typeface="Arial" panose="020B0604020202020204" pitchFamily="34" charset="0"/>
              <a:buChar char="•"/>
            </a:pPr>
            <a:r>
              <a:rPr lang="zh-TW" altLang="en-US" sz="900" dirty="0">
                <a:latin typeface="微軟正黑體" panose="020B0604030504040204" pitchFamily="34" charset="-120"/>
                <a:ea typeface="微軟正黑體" panose="020B0604030504040204" pitchFamily="34" charset="-120"/>
              </a:rPr>
              <a:t>前端</a:t>
            </a:r>
            <a:r>
              <a:rPr lang="en-US" altLang="zh-TW" sz="900" dirty="0">
                <a:latin typeface="微軟正黑體" panose="020B0604030504040204" pitchFamily="34" charset="-120"/>
                <a:ea typeface="微軟正黑體" panose="020B0604030504040204" pitchFamily="34" charset="-120"/>
              </a:rPr>
              <a:t>Input</a:t>
            </a:r>
            <a:r>
              <a:rPr lang="zh-TW" altLang="en-US" sz="900" dirty="0">
                <a:latin typeface="微軟正黑體" panose="020B0604030504040204" pitchFamily="34" charset="-120"/>
                <a:ea typeface="微軟正黑體" panose="020B0604030504040204" pitchFamily="34" charset="-120"/>
              </a:rPr>
              <a:t>回傳後端</a:t>
            </a:r>
            <a:r>
              <a:rPr lang="en-US" altLang="zh-TW" sz="900" dirty="0">
                <a:latin typeface="微軟正黑體" panose="020B0604030504040204" pitchFamily="34" charset="-120"/>
                <a:ea typeface="微軟正黑體" panose="020B0604030504040204" pitchFamily="34" charset="-120"/>
              </a:rPr>
              <a:t>update</a:t>
            </a:r>
            <a:r>
              <a:rPr lang="zh-TW" altLang="en-US" sz="900" dirty="0">
                <a:latin typeface="微軟正黑體" panose="020B0604030504040204" pitchFamily="34" charset="-120"/>
                <a:ea typeface="微軟正黑體" panose="020B0604030504040204" pitchFamily="34" charset="-120"/>
              </a:rPr>
              <a:t>欄位串皆</a:t>
            </a:r>
          </a:p>
        </p:txBody>
      </p:sp>
    </p:spTree>
    <p:extLst>
      <p:ext uri="{BB962C8B-B14F-4D97-AF65-F5344CB8AC3E}">
        <p14:creationId xmlns:p14="http://schemas.microsoft.com/office/powerpoint/2010/main" val="1959361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b="1" dirty="0">
                <a:latin typeface="+mn-ea"/>
                <a:ea typeface="+mn-ea"/>
              </a:rPr>
              <a:t>Data </a:t>
            </a:r>
            <a:r>
              <a:rPr lang="en-US" altLang="zh-TW" b="1" dirty="0" smtClean="0">
                <a:latin typeface="+mn-ea"/>
                <a:ea typeface="+mn-ea"/>
              </a:rPr>
              <a:t>Fusion</a:t>
            </a:r>
            <a:r>
              <a:rPr lang="zh-TW" altLang="en-US" b="1" dirty="0" smtClean="0">
                <a:latin typeface="+mn-ea"/>
                <a:ea typeface="+mn-ea"/>
              </a:rPr>
              <a:t>管理系統</a:t>
            </a:r>
            <a:endParaRPr lang="zh-TW" altLang="en-US" b="1" dirty="0">
              <a:latin typeface="+mn-ea"/>
              <a:ea typeface="+mn-ea"/>
            </a:endParaRPr>
          </a:p>
        </p:txBody>
      </p:sp>
      <p:sp>
        <p:nvSpPr>
          <p:cNvPr id="3" name="文字版面配置區 2"/>
          <p:cNvSpPr>
            <a:spLocks noGrp="1"/>
          </p:cNvSpPr>
          <p:nvPr>
            <p:ph type="body" sz="quarter" idx="10"/>
          </p:nvPr>
        </p:nvSpPr>
        <p:spPr/>
        <p:txBody>
          <a:bodyPr/>
          <a:lstStyle/>
          <a:p>
            <a:pPr marL="342900" indent="-342900">
              <a:buFont typeface="Wingdings" panose="05000000000000000000" pitchFamily="2" charset="2"/>
              <a:buChar char="u"/>
            </a:pPr>
            <a:r>
              <a:rPr lang="en-US" altLang="zh-TW" dirty="0">
                <a:solidFill>
                  <a:schemeClr val="accent1"/>
                </a:solidFill>
                <a:latin typeface="+mn-ea"/>
              </a:rPr>
              <a:t>IMS </a:t>
            </a:r>
            <a:r>
              <a:rPr lang="zh-TW" altLang="en-US" dirty="0">
                <a:solidFill>
                  <a:schemeClr val="accent1"/>
                </a:solidFill>
                <a:latin typeface="+mn-ea"/>
              </a:rPr>
              <a:t>指標維護及改善管理系統</a:t>
            </a:r>
          </a:p>
          <a:p>
            <a:pPr marL="342900" indent="-342900">
              <a:buFont typeface="Wingdings" panose="05000000000000000000" pitchFamily="2" charset="2"/>
              <a:buChar char="u"/>
            </a:pPr>
            <a:r>
              <a:rPr lang="zh-TW" altLang="en-US" dirty="0">
                <a:solidFill>
                  <a:schemeClr val="accent1"/>
                </a:solidFill>
                <a:latin typeface="+mn-ea"/>
              </a:rPr>
              <a:t>入口網頁管理系統</a:t>
            </a:r>
          </a:p>
          <a:p>
            <a:pPr marL="342900" indent="-342900">
              <a:buFont typeface="Wingdings" panose="05000000000000000000" pitchFamily="2" charset="2"/>
              <a:buChar char="u"/>
            </a:pPr>
            <a:r>
              <a:rPr lang="zh-TW" altLang="en-US" dirty="0">
                <a:solidFill>
                  <a:schemeClr val="accent1"/>
                </a:solidFill>
                <a:latin typeface="+mn-ea"/>
              </a:rPr>
              <a:t>專案管理系統</a:t>
            </a:r>
          </a:p>
          <a:p>
            <a:endParaRPr lang="zh-TW" altLang="en-US" dirty="0">
              <a:latin typeface="+mn-ea"/>
            </a:endParaRPr>
          </a:p>
        </p:txBody>
      </p:sp>
    </p:spTree>
    <p:extLst>
      <p:ext uri="{BB962C8B-B14F-4D97-AF65-F5344CB8AC3E}">
        <p14:creationId xmlns:p14="http://schemas.microsoft.com/office/powerpoint/2010/main" val="2359400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smtClean="0">
                <a:latin typeface="+mn-ea"/>
                <a:cs typeface="Arial" panose="020B0604020202020204" pitchFamily="34" charset="0"/>
              </a:rPr>
              <a:t> </a:t>
            </a:r>
            <a:r>
              <a:rPr lang="en-US" altLang="zh-TW" dirty="0">
                <a:latin typeface="+mn-ea"/>
                <a:cs typeface="Arial" panose="020B0604020202020204" pitchFamily="34" charset="0"/>
              </a:rPr>
              <a:t>IMS </a:t>
            </a:r>
            <a:r>
              <a:rPr lang="zh-TW" altLang="en-US" dirty="0">
                <a:latin typeface="+mn-ea"/>
                <a:cs typeface="Arial" panose="020B0604020202020204" pitchFamily="34" charset="0"/>
              </a:rPr>
              <a:t>指標維護及改善管理系統</a:t>
            </a:r>
          </a:p>
        </p:txBody>
      </p:sp>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4" name="圓角矩形 3"/>
          <p:cNvSpPr/>
          <p:nvPr/>
        </p:nvSpPr>
        <p:spPr>
          <a:xfrm>
            <a:off x="4409161" y="707452"/>
            <a:ext cx="4471034" cy="4053698"/>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206515" y="726545"/>
            <a:ext cx="4221827" cy="4013546"/>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261918" y="953732"/>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377891" y="1050996"/>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8" name="矩形 7"/>
          <p:cNvSpPr/>
          <p:nvPr/>
        </p:nvSpPr>
        <p:spPr>
          <a:xfrm>
            <a:off x="4716018" y="984468"/>
            <a:ext cx="1409105" cy="1169551"/>
          </a:xfrm>
          <a:prstGeom prst="rect">
            <a:avLst/>
          </a:prstGeom>
        </p:spPr>
        <p:txBody>
          <a:bodyPr wrap="square">
            <a:spAutoFit/>
          </a:body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技術對策</a:t>
            </a:r>
            <a:r>
              <a:rPr kumimoji="0" lang="en-US" altLang="zh-TW" sz="1600" b="1" dirty="0">
                <a:solidFill>
                  <a:prstClr val="black"/>
                </a:solidFill>
                <a:latin typeface="微軟正黑體" panose="020B0604030504040204" pitchFamily="34" charset="-120"/>
                <a:ea typeface="微軟正黑體" panose="020B0604030504040204" pitchFamily="34" charset="-120"/>
              </a:rPr>
              <a:t>:</a:t>
            </a:r>
          </a:p>
          <a:p>
            <a:pPr eaLnBrk="1" fontAlgn="auto" hangingPunct="1">
              <a:spcBef>
                <a:spcPts val="0"/>
              </a:spcBef>
              <a:spcAft>
                <a:spcPts val="0"/>
              </a:spcAft>
              <a:defRPr/>
            </a:pPr>
            <a:endParaRPr kumimoji="0" lang="en-US" altLang="zh-TW" sz="1800" b="1" kern="0"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b="1" dirty="0">
              <a:solidFill>
                <a:srgbClr val="0000FF"/>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dirty="0">
              <a:solidFill>
                <a:prstClr val="black">
                  <a:lumMod val="95000"/>
                  <a:lumOff val="5000"/>
                </a:prstClr>
              </a:solidFill>
              <a:latin typeface="微軟正黑體" panose="020B0604030504040204" pitchFamily="34" charset="-120"/>
              <a:ea typeface="微軟正黑體" panose="020B0604030504040204" pitchFamily="34" charset="-120"/>
            </a:endParaRPr>
          </a:p>
        </p:txBody>
      </p:sp>
      <p:sp>
        <p:nvSpPr>
          <p:cNvPr id="9" name="矩形 8"/>
          <p:cNvSpPr/>
          <p:nvPr/>
        </p:nvSpPr>
        <p:spPr>
          <a:xfrm>
            <a:off x="4738088" y="1337923"/>
            <a:ext cx="4009018" cy="1246495"/>
          </a:xfrm>
          <a:prstGeom prst="rect">
            <a:avLst/>
          </a:prstGeom>
          <a:noFill/>
        </p:spPr>
        <p:txBody>
          <a:bodyPr wrap="square">
            <a:spAutoFit/>
          </a:bodyPr>
          <a:lstStyle/>
          <a:p>
            <a:pPr>
              <a:lnSpc>
                <a:spcPct val="150000"/>
              </a:lnSpc>
              <a:buClr>
                <a:schemeClr val="tx1"/>
              </a:buClr>
            </a:pPr>
            <a:r>
              <a:rPr lang="zh-TW" altLang="en-US" sz="1000" dirty="0" smtClean="0">
                <a:solidFill>
                  <a:srgbClr val="0000FF"/>
                </a:solidFill>
                <a:latin typeface="微軟正黑體" panose="020B0604030504040204" pitchFamily="34" charset="-120"/>
                <a:ea typeface="微軟正黑體" panose="020B0604030504040204" pitchFamily="34" charset="-120"/>
              </a:rPr>
              <a:t>自主開發系統</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：開發一站式指標監督系統</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a:p>
            <a:pPr>
              <a:lnSpc>
                <a:spcPct val="150000"/>
              </a:lnSpc>
              <a:buClr>
                <a:schemeClr val="tx1"/>
              </a:buClr>
            </a:pPr>
            <a:r>
              <a:rPr lang="zh-TW" altLang="en-US" sz="1000" dirty="0">
                <a:solidFill>
                  <a:srgbClr val="0000FF"/>
                </a:solidFill>
                <a:latin typeface="微軟正黑體" panose="020B0604030504040204" pitchFamily="34" charset="-120"/>
                <a:ea typeface="微軟正黑體" panose="020B0604030504040204" pitchFamily="34" charset="-120"/>
              </a:rPr>
              <a:t>資料庫</a:t>
            </a:r>
            <a:r>
              <a:rPr lang="zh-TW" altLang="en-US" sz="1000" dirty="0" smtClean="0">
                <a:solidFill>
                  <a:srgbClr val="0000FF"/>
                </a:solidFill>
                <a:latin typeface="微軟正黑體" panose="020B0604030504040204" pitchFamily="34" charset="-120"/>
                <a:ea typeface="微軟正黑體" panose="020B0604030504040204" pitchFamily="34" charset="-120"/>
              </a:rPr>
              <a:t>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：建置</a:t>
            </a:r>
            <a:r>
              <a:rPr lang="zh-TW" altLang="en-US" sz="1000" dirty="0" smtClean="0">
                <a:latin typeface="微軟正黑體" panose="020B0604030504040204" pitchFamily="34" charset="-120"/>
                <a:ea typeface="微軟正黑體" panose="020B0604030504040204" pitchFamily="34" charset="-120"/>
              </a:rPr>
              <a:t>資料庫供系統增刪查改</a:t>
            </a:r>
            <a:endParaRPr lang="en-US" altLang="zh-TW" sz="1000" dirty="0" smtClean="0">
              <a:latin typeface="微軟正黑體" panose="020B0604030504040204" pitchFamily="34" charset="-120"/>
              <a:ea typeface="微軟正黑體" panose="020B0604030504040204" pitchFamily="34" charset="-120"/>
            </a:endParaRPr>
          </a:p>
          <a:p>
            <a:pPr>
              <a:lnSpc>
                <a:spcPct val="150000"/>
              </a:lnSpc>
              <a:buClr>
                <a:schemeClr val="tx1"/>
              </a:buClr>
            </a:pPr>
            <a:r>
              <a:rPr lang="zh-TW" altLang="en-US" sz="1000" dirty="0">
                <a:solidFill>
                  <a:srgbClr val="0000FF"/>
                </a:solidFill>
                <a:latin typeface="微軟正黑體" panose="020B0604030504040204" pitchFamily="34" charset="-120"/>
                <a:ea typeface="微軟正黑體" panose="020B0604030504040204" pitchFamily="34" charset="-120"/>
              </a:rPr>
              <a:t>網站</a:t>
            </a:r>
            <a:r>
              <a:rPr lang="zh-TW" altLang="en-US" sz="1000" dirty="0" smtClean="0">
                <a:solidFill>
                  <a:srgbClr val="0000FF"/>
                </a:solidFill>
                <a:latin typeface="微軟正黑體" panose="020B0604030504040204" pitchFamily="34" charset="-120"/>
                <a:ea typeface="微軟正黑體" panose="020B0604030504040204" pitchFamily="34" charset="-120"/>
              </a:rPr>
              <a:t>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 </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a:p>
            <a:pPr marL="857250" lvl="2" indent="-171450">
              <a:lnSpc>
                <a:spcPct val="150000"/>
              </a:lnSpc>
              <a:buClr>
                <a:schemeClr val="tx1"/>
              </a:buClr>
              <a:buFont typeface="Arial" panose="020B0604020202020204" pitchFamily="34" charset="0"/>
              <a:buChar char="•"/>
            </a:pPr>
            <a:r>
              <a:rPr lang="en-US" altLang="zh-TW" sz="1000" dirty="0" smtClean="0">
                <a:latin typeface="微軟正黑體" panose="020B0604030504040204" pitchFamily="34" charset="-120"/>
                <a:ea typeface="微軟正黑體" panose="020B0604030504040204" pitchFamily="34" charset="-120"/>
              </a:rPr>
              <a:t>Fast API</a:t>
            </a:r>
            <a:r>
              <a:rPr lang="zh-TW" altLang="en-US" sz="1000" dirty="0" smtClean="0">
                <a:latin typeface="微軟正黑體" panose="020B0604030504040204" pitchFamily="34" charset="-120"/>
                <a:ea typeface="微軟正黑體" panose="020B0604030504040204" pitchFamily="34" charset="-120"/>
              </a:rPr>
              <a:t>建置後端框架串接資料庫及相關串流功能</a:t>
            </a:r>
            <a:endParaRPr lang="en-US" altLang="zh-TW" sz="1000" dirty="0">
              <a:latin typeface="微軟正黑體" panose="020B0604030504040204" pitchFamily="34" charset="-120"/>
              <a:ea typeface="微軟正黑體" panose="020B0604030504040204" pitchFamily="34" charset="-120"/>
            </a:endParaRPr>
          </a:p>
          <a:p>
            <a:pPr marL="857250" lvl="2" indent="-171450">
              <a:lnSpc>
                <a:spcPct val="150000"/>
              </a:lnSpc>
              <a:buClr>
                <a:schemeClr val="tx1"/>
              </a:buClr>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前端網頁設計及功能開</a:t>
            </a:r>
            <a:r>
              <a:rPr lang="zh-TW" altLang="en-US" sz="1000" dirty="0">
                <a:latin typeface="微軟正黑體" panose="020B0604030504040204" pitchFamily="34" charset="-120"/>
                <a:ea typeface="微軟正黑體" panose="020B0604030504040204" pitchFamily="34" charset="-120"/>
              </a:rPr>
              <a:t>發</a:t>
            </a:r>
            <a:endParaRPr lang="en-US" altLang="zh-TW" sz="1000" dirty="0" smtClean="0">
              <a:latin typeface="微軟正黑體" panose="020B0604030504040204" pitchFamily="34" charset="-120"/>
              <a:ea typeface="微軟正黑體" panose="020B0604030504040204" pitchFamily="34" charset="-120"/>
            </a:endParaRPr>
          </a:p>
        </p:txBody>
      </p:sp>
      <p:sp>
        <p:nvSpPr>
          <p:cNvPr id="10" name="椭圆 66"/>
          <p:cNvSpPr/>
          <p:nvPr/>
        </p:nvSpPr>
        <p:spPr bwMode="auto">
          <a:xfrm rot="4723889">
            <a:off x="1936209" y="401051"/>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11" name="组合 67"/>
          <p:cNvGrpSpPr>
            <a:grpSpLocks/>
          </p:cNvGrpSpPr>
          <p:nvPr/>
        </p:nvGrpSpPr>
        <p:grpSpPr bwMode="auto">
          <a:xfrm rot="5400000">
            <a:off x="1730883" y="424308"/>
            <a:ext cx="951398" cy="1215148"/>
            <a:chOff x="1123476" y="1681897"/>
            <a:chExt cx="3206311" cy="2990785"/>
          </a:xfrm>
        </p:grpSpPr>
        <p:grpSp>
          <p:nvGrpSpPr>
            <p:cNvPr id="12" name="组合 68"/>
            <p:cNvGrpSpPr>
              <a:grpSpLocks/>
            </p:cNvGrpSpPr>
            <p:nvPr/>
          </p:nvGrpSpPr>
          <p:grpSpPr bwMode="auto">
            <a:xfrm>
              <a:off x="1123476" y="1763461"/>
              <a:ext cx="2798050" cy="2798050"/>
              <a:chOff x="1123476" y="1763461"/>
              <a:chExt cx="2798050" cy="2798050"/>
            </a:xfrm>
          </p:grpSpPr>
          <p:sp>
            <p:nvSpPr>
              <p:cNvPr id="18" name="弧形 17"/>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9" name="弧形 18"/>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0" name="弧形 19"/>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1" name="弧形 20"/>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13" name="组合 69"/>
            <p:cNvGrpSpPr>
              <a:grpSpLocks/>
            </p:cNvGrpSpPr>
            <p:nvPr/>
          </p:nvGrpSpPr>
          <p:grpSpPr bwMode="auto">
            <a:xfrm rot="-7200000">
              <a:off x="1273270" y="1616165"/>
              <a:ext cx="2990785" cy="3122249"/>
              <a:chOff x="891209" y="1807143"/>
              <a:chExt cx="2990785" cy="3122249"/>
            </a:xfrm>
          </p:grpSpPr>
          <p:sp>
            <p:nvSpPr>
              <p:cNvPr id="14" name="弧形 13"/>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5" name="弧形 14"/>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6" name="弧形 15"/>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 name="弧形 16"/>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22" name="矩形 21"/>
          <p:cNvSpPr/>
          <p:nvPr/>
        </p:nvSpPr>
        <p:spPr>
          <a:xfrm>
            <a:off x="1674184" y="854828"/>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23" name="椭圆 66"/>
          <p:cNvSpPr/>
          <p:nvPr/>
        </p:nvSpPr>
        <p:spPr bwMode="auto">
          <a:xfrm rot="4723889">
            <a:off x="6563519" y="466402"/>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24" name="组合 67"/>
          <p:cNvGrpSpPr>
            <a:grpSpLocks/>
          </p:cNvGrpSpPr>
          <p:nvPr/>
        </p:nvGrpSpPr>
        <p:grpSpPr bwMode="auto">
          <a:xfrm rot="4723889">
            <a:off x="6488549" y="522475"/>
            <a:ext cx="671560" cy="961309"/>
            <a:chOff x="1123476" y="1681897"/>
            <a:chExt cx="3206311" cy="2990785"/>
          </a:xfrm>
        </p:grpSpPr>
        <p:grpSp>
          <p:nvGrpSpPr>
            <p:cNvPr id="25" name="组合 68"/>
            <p:cNvGrpSpPr>
              <a:grpSpLocks/>
            </p:cNvGrpSpPr>
            <p:nvPr/>
          </p:nvGrpSpPr>
          <p:grpSpPr bwMode="auto">
            <a:xfrm>
              <a:off x="1123476" y="1763461"/>
              <a:ext cx="2798050" cy="2798050"/>
              <a:chOff x="1123476" y="1763461"/>
              <a:chExt cx="2798050" cy="2798050"/>
            </a:xfrm>
          </p:grpSpPr>
          <p:sp>
            <p:nvSpPr>
              <p:cNvPr id="31" name="弧形 30"/>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2" name="弧形 31"/>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3" name="弧形 32"/>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4" name="弧形 33"/>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26" name="组合 69"/>
            <p:cNvGrpSpPr>
              <a:grpSpLocks/>
            </p:cNvGrpSpPr>
            <p:nvPr/>
          </p:nvGrpSpPr>
          <p:grpSpPr bwMode="auto">
            <a:xfrm rot="-7200000">
              <a:off x="1273270" y="1616165"/>
              <a:ext cx="2990785" cy="3122249"/>
              <a:chOff x="891209" y="1807143"/>
              <a:chExt cx="2990785" cy="3122249"/>
            </a:xfrm>
          </p:grpSpPr>
          <p:sp>
            <p:nvSpPr>
              <p:cNvPr id="27" name="弧形 26"/>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8" name="弧形 27"/>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9" name="弧形 28"/>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0" name="弧形 29"/>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35" name="矩形 34"/>
          <p:cNvSpPr/>
          <p:nvPr/>
        </p:nvSpPr>
        <p:spPr>
          <a:xfrm>
            <a:off x="6322968" y="788898"/>
            <a:ext cx="1002724" cy="307777"/>
          </a:xfrm>
          <a:prstGeom prst="rect">
            <a:avLst/>
          </a:prstGeom>
        </p:spPr>
        <p:txBody>
          <a:bodyPr wrap="square">
            <a:spAutoFit/>
          </a:bodyPr>
          <a:lstStyle/>
          <a:p>
            <a:pPr algn="ctr" eaLnBrk="1" fontAlgn="auto" hangingPunct="1">
              <a:spcBef>
                <a:spcPts val="0"/>
              </a:spcBef>
              <a:spcAft>
                <a:spcPts val="0"/>
              </a:spcAft>
              <a:defRPr/>
            </a:pPr>
            <a:r>
              <a:rPr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rPr>
              <a:t>解決方案</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36" name="矩形 35">
            <a:extLst>
              <a:ext uri="{FF2B5EF4-FFF2-40B4-BE49-F238E27FC236}">
                <a16:creationId xmlns:a16="http://schemas.microsoft.com/office/drawing/2014/main" xmlns="" id="{9BE08482-D953-47F4-81A8-BD823C2E476A}"/>
              </a:ext>
            </a:extLst>
          </p:cNvPr>
          <p:cNvSpPr/>
          <p:nvPr/>
        </p:nvSpPr>
        <p:spPr>
          <a:xfrm>
            <a:off x="281719" y="1389983"/>
            <a:ext cx="4006209" cy="1015663"/>
          </a:xfrm>
          <a:prstGeom prst="rect">
            <a:avLst/>
          </a:prstGeom>
          <a:noFill/>
        </p:spPr>
        <p:txBody>
          <a:bodyPr wrap="square">
            <a:spAutoFit/>
          </a:bodyPr>
          <a:lstStyle/>
          <a:p>
            <a:pPr>
              <a:lnSpc>
                <a:spcPct val="150000"/>
              </a:lnSpc>
            </a:pPr>
            <a:r>
              <a:rPr lang="zh-TW" altLang="en-US" sz="1000" b="1" dirty="0">
                <a:latin typeface="微軟正黑體" panose="020B0604030504040204" pitchFamily="34" charset="-120"/>
                <a:ea typeface="微軟正黑體" panose="020B0604030504040204" pitchFamily="34" charset="-120"/>
              </a:rPr>
              <a:t>主管在</a:t>
            </a:r>
            <a:r>
              <a:rPr lang="en-US" altLang="zh-TW" sz="1000" b="1" dirty="0">
                <a:latin typeface="微軟正黑體" panose="020B0604030504040204" pitchFamily="34" charset="-120"/>
                <a:ea typeface="微軟正黑體" panose="020B0604030504040204" pitchFamily="34" charset="-120"/>
              </a:rPr>
              <a:t>review</a:t>
            </a:r>
            <a:r>
              <a:rPr lang="zh-TW" altLang="en-US" sz="1000" b="1" dirty="0">
                <a:latin typeface="微軟正黑體" panose="020B0604030504040204" pitchFamily="34" charset="-120"/>
                <a:ea typeface="微軟正黑體" panose="020B0604030504040204" pitchFamily="34" charset="-120"/>
              </a:rPr>
              <a:t>過往實績及預估</a:t>
            </a:r>
            <a:r>
              <a:rPr lang="en-US" altLang="zh-TW" sz="1000" b="1" dirty="0">
                <a:latin typeface="微軟正黑體" panose="020B0604030504040204" pitchFamily="34" charset="-120"/>
                <a:ea typeface="微軟正黑體" panose="020B0604030504040204" pitchFamily="34" charset="-120"/>
              </a:rPr>
              <a:t>action</a:t>
            </a:r>
            <a:r>
              <a:rPr lang="zh-TW" altLang="en-US" sz="1000" b="1" dirty="0">
                <a:latin typeface="微軟正黑體" panose="020B0604030504040204" pitchFamily="34" charset="-120"/>
                <a:ea typeface="微軟正黑體" panose="020B0604030504040204" pitchFamily="34" charset="-120"/>
              </a:rPr>
              <a:t>時無統一彙整平台可監督管理</a:t>
            </a:r>
            <a:endParaRPr lang="en-US" altLang="zh-TW" sz="1000" b="1" dirty="0" smtClean="0">
              <a:latin typeface="微軟正黑體" panose="020B0604030504040204" pitchFamily="34" charset="-120"/>
              <a:ea typeface="微軟正黑體" panose="020B0604030504040204" pitchFamily="34" charset="-120"/>
            </a:endParaRPr>
          </a:p>
          <a:p>
            <a:pPr marL="228594" indent="-228594">
              <a:lnSpc>
                <a:spcPct val="150000"/>
              </a:lnSpc>
              <a:buFont typeface="Arial" panose="020B0604020202020204" pitchFamily="34" charset="0"/>
              <a:buChar char="•"/>
            </a:pPr>
            <a:r>
              <a:rPr lang="zh-TW" altLang="en-US" sz="1000" b="1" dirty="0" smtClean="0">
                <a:latin typeface="微軟正黑體" panose="020B0604030504040204" pitchFamily="34" charset="-120"/>
                <a:ea typeface="微軟正黑體" panose="020B0604030504040204" pitchFamily="34" charset="-120"/>
              </a:rPr>
              <a:t>廠內部門對應</a:t>
            </a:r>
            <a:r>
              <a:rPr lang="zh-TW" altLang="en-US" sz="1000" b="1" dirty="0">
                <a:latin typeface="微軟正黑體" panose="020B0604030504040204" pitchFamily="34" charset="-120"/>
                <a:ea typeface="微軟正黑體" panose="020B0604030504040204" pitchFamily="34" charset="-120"/>
              </a:rPr>
              <a:t>負責窗口之</a:t>
            </a:r>
            <a:r>
              <a:rPr lang="zh-TW" altLang="en-US" sz="1000" b="1" dirty="0" smtClean="0">
                <a:latin typeface="微軟正黑體" panose="020B0604030504040204" pitchFamily="34" charset="-120"/>
                <a:ea typeface="微軟正黑體" panose="020B0604030504040204" pitchFamily="34" charset="-120"/>
              </a:rPr>
              <a:t>職責、月報績效無有效系統可監控</a:t>
            </a:r>
            <a:endParaRPr lang="en-US" altLang="zh-TW" sz="1000" b="1" dirty="0" smtClean="0">
              <a:latin typeface="微軟正黑體" panose="020B0604030504040204" pitchFamily="34" charset="-120"/>
              <a:ea typeface="微軟正黑體" panose="020B0604030504040204" pitchFamily="34" charset="-120"/>
            </a:endParaRPr>
          </a:p>
          <a:p>
            <a:pPr marL="228594" indent="-228594">
              <a:lnSpc>
                <a:spcPct val="150000"/>
              </a:lnSpc>
              <a:buFont typeface="Arial" panose="020B0604020202020204" pitchFamily="34" charset="0"/>
              <a:buChar char="•"/>
            </a:pPr>
            <a:r>
              <a:rPr lang="zh-TW" altLang="en-US" sz="1000" b="1" dirty="0" smtClean="0">
                <a:latin typeface="微軟正黑體" panose="020B0604030504040204" pitchFamily="34" charset="-120"/>
                <a:ea typeface="微軟正黑體" panose="020B0604030504040204" pitchFamily="34" charset="-120"/>
              </a:rPr>
              <a:t>月報形式無統一格式且難回查及彙整</a:t>
            </a:r>
            <a:endParaRPr lang="en-US" altLang="zh-TW" sz="1000" b="1" dirty="0" smtClean="0">
              <a:latin typeface="微軟正黑體" panose="020B0604030504040204" pitchFamily="34" charset="-120"/>
              <a:ea typeface="微軟正黑體" panose="020B0604030504040204" pitchFamily="34" charset="-120"/>
            </a:endParaRPr>
          </a:p>
          <a:p>
            <a:pPr marL="228594" indent="-228594">
              <a:lnSpc>
                <a:spcPct val="150000"/>
              </a:lnSpc>
              <a:buFont typeface="Arial" panose="020B0604020202020204" pitchFamily="34" charset="0"/>
              <a:buChar char="•"/>
            </a:pPr>
            <a:r>
              <a:rPr lang="zh-TW" altLang="en-US" sz="1000" b="1" dirty="0" smtClean="0">
                <a:latin typeface="微軟正黑體" panose="020B0604030504040204" pitchFamily="34" charset="-120"/>
                <a:ea typeface="微軟正黑體" panose="020B0604030504040204" pitchFamily="34" charset="-120"/>
              </a:rPr>
              <a:t>部門之間</a:t>
            </a:r>
            <a:r>
              <a:rPr lang="en-US" altLang="zh-TW" sz="1000" b="1" dirty="0" smtClean="0">
                <a:latin typeface="微軟正黑體" panose="020B0604030504040204" pitchFamily="34" charset="-120"/>
                <a:ea typeface="微軟正黑體" panose="020B0604030504040204" pitchFamily="34" charset="-120"/>
              </a:rPr>
              <a:t>KPI</a:t>
            </a:r>
            <a:r>
              <a:rPr lang="zh-TW" altLang="en-US" sz="1000" b="1" dirty="0" smtClean="0">
                <a:latin typeface="微軟正黑體" panose="020B0604030504040204" pitchFamily="34" charset="-120"/>
                <a:ea typeface="微軟正黑體" panose="020B0604030504040204" pitchFamily="34" charset="-120"/>
              </a:rPr>
              <a:t>指標方式不一導致監督困難</a:t>
            </a:r>
            <a:endParaRPr lang="en-US" altLang="zh-TW" sz="1000" b="1" dirty="0">
              <a:latin typeface="微軟正黑體" panose="020B0604030504040204" pitchFamily="34" charset="-120"/>
              <a:ea typeface="微軟正黑體" panose="020B0604030504040204" pitchFamily="34" charset="-120"/>
            </a:endParaRPr>
          </a:p>
        </p:txBody>
      </p:sp>
      <p:sp>
        <p:nvSpPr>
          <p:cNvPr id="37" name="矩形 36"/>
          <p:cNvSpPr/>
          <p:nvPr/>
        </p:nvSpPr>
        <p:spPr>
          <a:xfrm>
            <a:off x="5163991" y="3561522"/>
            <a:ext cx="3441568" cy="840661"/>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38" name="群組 37"/>
          <p:cNvGrpSpPr/>
          <p:nvPr/>
        </p:nvGrpSpPr>
        <p:grpSpPr>
          <a:xfrm>
            <a:off x="4689127" y="3372366"/>
            <a:ext cx="657666" cy="408164"/>
            <a:chOff x="109587" y="3086034"/>
            <a:chExt cx="743568" cy="408164"/>
          </a:xfrm>
          <a:solidFill>
            <a:srgbClr val="005087"/>
          </a:solidFill>
        </p:grpSpPr>
        <p:sp>
          <p:nvSpPr>
            <p:cNvPr id="39" name="圓角矩形 38"/>
            <p:cNvSpPr/>
            <p:nvPr/>
          </p:nvSpPr>
          <p:spPr>
            <a:xfrm>
              <a:off x="175333" y="3086034"/>
              <a:ext cx="640538" cy="408164"/>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0" name="矩形 39">
              <a:extLst>
                <a:ext uri="{FF2B5EF4-FFF2-40B4-BE49-F238E27FC236}">
                  <a16:creationId xmlns:a16="http://schemas.microsoft.com/office/drawing/2014/main" xmlns="" id="{2FB82B3E-7C5A-4E57-B159-B07D5CBA84B6}"/>
                </a:ext>
              </a:extLst>
            </p:cNvPr>
            <p:cNvSpPr/>
            <p:nvPr/>
          </p:nvSpPr>
          <p:spPr>
            <a:xfrm>
              <a:off x="109587" y="3160696"/>
              <a:ext cx="743568" cy="276999"/>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sp>
        <p:nvSpPr>
          <p:cNvPr id="41" name="矩形 40"/>
          <p:cNvSpPr/>
          <p:nvPr/>
        </p:nvSpPr>
        <p:spPr>
          <a:xfrm>
            <a:off x="5315834" y="3818359"/>
            <a:ext cx="3297319" cy="577081"/>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zh-TW" altLang="en-US" sz="1050" dirty="0">
                <a:latin typeface="微軟正黑體" panose="020B0604030504040204" pitchFamily="34" charset="-120"/>
                <a:ea typeface="微軟正黑體" panose="020B0604030504040204" pitchFamily="34" charset="-120"/>
              </a:rPr>
              <a:t>系統介面可節省人員每天</a:t>
            </a:r>
            <a:r>
              <a:rPr lang="en-US" altLang="zh-TW" sz="1050" dirty="0">
                <a:latin typeface="微軟正黑體" panose="020B0604030504040204" pitchFamily="34" charset="-120"/>
                <a:ea typeface="微軟正黑體" panose="020B0604030504040204" pitchFamily="34" charset="-120"/>
              </a:rPr>
              <a:t>6</a:t>
            </a:r>
            <a:r>
              <a:rPr lang="zh-TW" altLang="en-US" sz="1050" dirty="0">
                <a:latin typeface="微軟正黑體" panose="020B0604030504040204" pitchFamily="34" charset="-120"/>
                <a:ea typeface="微軟正黑體" panose="020B0604030504040204" pitchFamily="34" charset="-120"/>
              </a:rPr>
              <a:t>分鐘的查找</a:t>
            </a:r>
            <a:r>
              <a:rPr lang="en-US" altLang="zh-TW" sz="1050" dirty="0">
                <a:latin typeface="微軟正黑體" panose="020B0604030504040204" pitchFamily="34" charset="-120"/>
                <a:ea typeface="微軟正黑體" panose="020B0604030504040204" pitchFamily="34" charset="-120"/>
              </a:rPr>
              <a:t>=</a:t>
            </a:r>
            <a:r>
              <a:rPr lang="en-US" altLang="zh-TW" sz="1050" b="1" dirty="0">
                <a:solidFill>
                  <a:schemeClr val="accent1"/>
                </a:solidFill>
                <a:latin typeface="微軟正黑體" panose="020B0604030504040204" pitchFamily="34" charset="-120"/>
                <a:ea typeface="微軟正黑體" panose="020B0604030504040204" pitchFamily="34" charset="-120"/>
              </a:rPr>
              <a:t>3</a:t>
            </a:r>
            <a:r>
              <a:rPr lang="zh-TW" altLang="en-US" sz="1050" b="1" dirty="0">
                <a:solidFill>
                  <a:schemeClr val="accent1"/>
                </a:solidFill>
                <a:latin typeface="微軟正黑體" panose="020B0604030504040204" pitchFamily="34" charset="-120"/>
                <a:ea typeface="微軟正黑體" panose="020B0604030504040204" pitchFamily="34" charset="-120"/>
              </a:rPr>
              <a:t>小時</a:t>
            </a:r>
            <a:r>
              <a:rPr lang="en-US" altLang="zh-TW" sz="1050" b="1" dirty="0">
                <a:solidFill>
                  <a:schemeClr val="accent1"/>
                </a:solidFill>
                <a:latin typeface="微軟正黑體" panose="020B0604030504040204" pitchFamily="34" charset="-120"/>
                <a:ea typeface="微軟正黑體" panose="020B0604030504040204" pitchFamily="34" charset="-120"/>
              </a:rPr>
              <a:t>/</a:t>
            </a:r>
            <a:r>
              <a:rPr lang="zh-TW" altLang="en-US" sz="1050" b="1" dirty="0" smtClean="0">
                <a:solidFill>
                  <a:schemeClr val="accent1"/>
                </a:solidFill>
                <a:latin typeface="微軟正黑體" panose="020B0604030504040204" pitchFamily="34" charset="-120"/>
                <a:ea typeface="微軟正黑體" panose="020B0604030504040204" pitchFamily="34" charset="-120"/>
              </a:rPr>
              <a:t>月</a:t>
            </a:r>
            <a:endParaRPr lang="en-US" altLang="zh-TW" sz="1050" dirty="0" smtClean="0">
              <a:latin typeface="微軟正黑體" panose="020B0604030504040204" pitchFamily="34" charset="-120"/>
              <a:ea typeface="微軟正黑體" panose="020B0604030504040204" pitchFamily="34" charset="-120"/>
            </a:endParaRPr>
          </a:p>
          <a:p>
            <a:pPr>
              <a:lnSpc>
                <a:spcPct val="150000"/>
              </a:lnSpc>
            </a:pPr>
            <a:r>
              <a:rPr lang="zh-TW" altLang="en-US" sz="1050" dirty="0" smtClean="0">
                <a:latin typeface="微軟正黑體" panose="020B0604030504040204" pitchFamily="34" charset="-120"/>
                <a:ea typeface="微軟正黑體" panose="020B0604030504040204" pitchFamily="34" charset="-120"/>
              </a:rPr>
              <a:t>提升</a:t>
            </a:r>
            <a:r>
              <a:rPr lang="en-US" altLang="zh-TW" sz="1050" dirty="0">
                <a:latin typeface="微軟正黑體" panose="020B0604030504040204" pitchFamily="34" charset="-120"/>
                <a:ea typeface="微軟正黑體" panose="020B0604030504040204" pitchFamily="34" charset="-120"/>
              </a:rPr>
              <a:t>IMS</a:t>
            </a:r>
            <a:r>
              <a:rPr lang="zh-TW" altLang="en-US" sz="1050" dirty="0">
                <a:latin typeface="微軟正黑體" panose="020B0604030504040204" pitchFamily="34" charset="-120"/>
                <a:ea typeface="微軟正黑體" panose="020B0604030504040204" pitchFamily="34" charset="-120"/>
              </a:rPr>
              <a:t>指標維護及改善效率</a:t>
            </a:r>
            <a:endParaRPr lang="en-US" altLang="zh-TW" sz="1050" dirty="0" smtClean="0">
              <a:latin typeface="微軟正黑體" panose="020B0604030504040204" pitchFamily="34" charset="-120"/>
              <a:ea typeface="微軟正黑體" panose="020B0604030504040204" pitchFamily="34" charset="-120"/>
            </a:endParaRPr>
          </a:p>
        </p:txBody>
      </p:sp>
      <p:sp>
        <p:nvSpPr>
          <p:cNvPr id="42" name="矩形 41"/>
          <p:cNvSpPr/>
          <p:nvPr/>
        </p:nvSpPr>
        <p:spPr>
          <a:xfrm>
            <a:off x="274954" y="984750"/>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sp>
        <p:nvSpPr>
          <p:cNvPr id="44" name="矩形 43"/>
          <p:cNvSpPr/>
          <p:nvPr/>
        </p:nvSpPr>
        <p:spPr>
          <a:xfrm>
            <a:off x="274953" y="2513612"/>
            <a:ext cx="3756103"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kumimoji="0" lang="zh-TW" altLang="en-US" sz="1600" b="1" dirty="0" smtClean="0">
                <a:solidFill>
                  <a:prstClr val="black"/>
                </a:solidFill>
                <a:latin typeface="微軟正黑體" panose="020B0604030504040204" pitchFamily="34" charset="-120"/>
                <a:ea typeface="微軟正黑體" panose="020B0604030504040204" pitchFamily="34" charset="-120"/>
              </a:rPr>
              <a:t>改善後</a:t>
            </a:r>
            <a:r>
              <a:rPr kumimoji="0" lang="en-US" altLang="zh-TW" sz="1600" b="1" dirty="0" smtClean="0">
                <a:solidFill>
                  <a:prstClr val="black"/>
                </a:solidFill>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 </a:t>
            </a:r>
            <a:r>
              <a:rPr lang="zh-TW" altLang="en-US" sz="1000" b="1" dirty="0">
                <a:latin typeface="微軟正黑體" panose="020B0604030504040204" pitchFamily="34" charset="-120"/>
                <a:ea typeface="微軟正黑體" panose="020B0604030504040204" pitchFamily="34" charset="-120"/>
              </a:rPr>
              <a:t>指標管理系統化</a:t>
            </a:r>
            <a:endParaRPr lang="en-US" altLang="zh-TW" sz="1000" b="1" dirty="0">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pic>
        <p:nvPicPr>
          <p:cNvPr id="45" name="圖片 44"/>
          <p:cNvPicPr>
            <a:picLocks noChangeAspect="1"/>
          </p:cNvPicPr>
          <p:nvPr/>
        </p:nvPicPr>
        <p:blipFill>
          <a:blip r:embed="rId3"/>
          <a:stretch>
            <a:fillRect/>
          </a:stretch>
        </p:blipFill>
        <p:spPr>
          <a:xfrm>
            <a:off x="345123" y="2877283"/>
            <a:ext cx="3944610" cy="1803785"/>
          </a:xfrm>
          <a:prstGeom prst="rect">
            <a:avLst/>
          </a:prstGeom>
        </p:spPr>
      </p:pic>
      <p:sp>
        <p:nvSpPr>
          <p:cNvPr id="46" name="文字方塊 45"/>
          <p:cNvSpPr txBox="1"/>
          <p:nvPr/>
        </p:nvSpPr>
        <p:spPr>
          <a:xfrm>
            <a:off x="5101767" y="3605877"/>
            <a:ext cx="1221201" cy="276999"/>
          </a:xfrm>
          <a:prstGeom prst="rect">
            <a:avLst/>
          </a:prstGeom>
          <a:noFill/>
        </p:spPr>
        <p:txBody>
          <a:bodyPr wrap="square" rtlCol="0">
            <a:spAutoFit/>
          </a:bodyPr>
          <a:lstStyle/>
          <a:p>
            <a:pPr algn="ctr" eaLnBrk="0" fontAlgn="base" hangingPunct="0">
              <a:spcBef>
                <a:spcPct val="0"/>
              </a:spcBef>
              <a:spcAft>
                <a:spcPct val="0"/>
              </a:spcAft>
            </a:pPr>
            <a:r>
              <a:rPr lang="zh-TW" altLang="en-US" sz="1200" b="1" dirty="0" smtClean="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節省工時</a:t>
            </a:r>
            <a:endParaRPr lang="zh-TW" altLang="en-US" sz="1200" b="1" dirty="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endParaRPr>
          </a:p>
        </p:txBody>
      </p:sp>
    </p:spTree>
    <p:extLst>
      <p:ext uri="{BB962C8B-B14F-4D97-AF65-F5344CB8AC3E}">
        <p14:creationId xmlns:p14="http://schemas.microsoft.com/office/powerpoint/2010/main" val="25546750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3" name="圖片 2"/>
          <p:cNvPicPr>
            <a:picLocks noChangeAspect="1"/>
          </p:cNvPicPr>
          <p:nvPr/>
        </p:nvPicPr>
        <p:blipFill>
          <a:blip r:embed="rId3"/>
          <a:stretch>
            <a:fillRect/>
          </a:stretch>
        </p:blipFill>
        <p:spPr>
          <a:xfrm>
            <a:off x="7527935" y="365091"/>
            <a:ext cx="1267055" cy="681134"/>
          </a:xfrm>
          <a:prstGeom prst="rect">
            <a:avLst/>
          </a:prstGeom>
          <a:solidFill>
            <a:schemeClr val="accent3">
              <a:alpha val="34000"/>
            </a:schemeClr>
          </a:solidFill>
          <a:ln w="12700">
            <a:solidFill>
              <a:schemeClr val="accent3"/>
            </a:solidFill>
          </a:ln>
        </p:spPr>
      </p:pic>
      <p:pic>
        <p:nvPicPr>
          <p:cNvPr id="4" name="圖片 3"/>
          <p:cNvPicPr>
            <a:picLocks noChangeAspect="1"/>
          </p:cNvPicPr>
          <p:nvPr/>
        </p:nvPicPr>
        <p:blipFill>
          <a:blip r:embed="rId4"/>
          <a:stretch>
            <a:fillRect/>
          </a:stretch>
        </p:blipFill>
        <p:spPr>
          <a:xfrm>
            <a:off x="387152" y="1753584"/>
            <a:ext cx="1648147" cy="2591405"/>
          </a:xfrm>
          <a:prstGeom prst="rect">
            <a:avLst/>
          </a:prstGeom>
          <a:ln>
            <a:solidFill>
              <a:schemeClr val="accent5"/>
            </a:solidFill>
          </a:ln>
        </p:spPr>
      </p:pic>
      <p:grpSp>
        <p:nvGrpSpPr>
          <p:cNvPr id="5" name="群組 4"/>
          <p:cNvGrpSpPr/>
          <p:nvPr/>
        </p:nvGrpSpPr>
        <p:grpSpPr>
          <a:xfrm>
            <a:off x="2138984" y="1169415"/>
            <a:ext cx="6373194" cy="2848301"/>
            <a:chOff x="188357" y="727880"/>
            <a:chExt cx="4456678" cy="2104220"/>
          </a:xfrm>
        </p:grpSpPr>
        <p:pic>
          <p:nvPicPr>
            <p:cNvPr id="6" name="圖片 5"/>
            <p:cNvPicPr>
              <a:picLocks noChangeAspect="1"/>
            </p:cNvPicPr>
            <p:nvPr/>
          </p:nvPicPr>
          <p:blipFill>
            <a:blip r:embed="rId5"/>
            <a:stretch>
              <a:fillRect/>
            </a:stretch>
          </p:blipFill>
          <p:spPr>
            <a:xfrm>
              <a:off x="188357" y="727880"/>
              <a:ext cx="4456678" cy="2104220"/>
            </a:xfrm>
            <a:prstGeom prst="rect">
              <a:avLst/>
            </a:prstGeom>
          </p:spPr>
        </p:pic>
        <p:sp>
          <p:nvSpPr>
            <p:cNvPr id="7" name="矩形 6"/>
            <p:cNvSpPr/>
            <p:nvPr/>
          </p:nvSpPr>
          <p:spPr>
            <a:xfrm>
              <a:off x="2647950" y="847081"/>
              <a:ext cx="776287" cy="118418"/>
            </a:xfrm>
            <a:prstGeom prst="rect">
              <a:avLst/>
            </a:prstGeom>
            <a:solidFill>
              <a:schemeClr val="accent3">
                <a:alpha val="36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8" name="矩形 7"/>
            <p:cNvSpPr/>
            <p:nvPr/>
          </p:nvSpPr>
          <p:spPr>
            <a:xfrm>
              <a:off x="3467100" y="847081"/>
              <a:ext cx="776287" cy="118418"/>
            </a:xfrm>
            <a:prstGeom prst="rect">
              <a:avLst/>
            </a:prstGeom>
            <a:solidFill>
              <a:schemeClr val="accent3">
                <a:alpha val="36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cxnSp>
        <p:nvCxnSpPr>
          <p:cNvPr id="9" name="直線單箭頭接點 8"/>
          <p:cNvCxnSpPr>
            <a:stCxn id="8" idx="0"/>
          </p:cNvCxnSpPr>
          <p:nvPr/>
        </p:nvCxnSpPr>
        <p:spPr>
          <a:xfrm flipV="1">
            <a:off x="7382751" y="1089848"/>
            <a:ext cx="227553" cy="240919"/>
          </a:xfrm>
          <a:prstGeom prst="straightConnector1">
            <a:avLst/>
          </a:prstGeom>
          <a:ln w="95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204351" y="1330767"/>
            <a:ext cx="459558" cy="112850"/>
          </a:xfrm>
          <a:prstGeom prst="rect">
            <a:avLst/>
          </a:prstGeom>
          <a:solidFill>
            <a:schemeClr val="accent5">
              <a:alpha val="36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11" name="直線單箭頭接點 10"/>
          <p:cNvCxnSpPr>
            <a:stCxn id="10" idx="1"/>
          </p:cNvCxnSpPr>
          <p:nvPr/>
        </p:nvCxnSpPr>
        <p:spPr>
          <a:xfrm flipH="1">
            <a:off x="1650472" y="1387192"/>
            <a:ext cx="553879" cy="807928"/>
          </a:xfrm>
          <a:prstGeom prst="straightConnector1">
            <a:avLst/>
          </a:prstGeom>
          <a:ln w="952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04351" y="1439488"/>
            <a:ext cx="459558" cy="112850"/>
          </a:xfrm>
          <a:prstGeom prst="rect">
            <a:avLst/>
          </a:prstGeom>
          <a:solidFill>
            <a:schemeClr val="accent4">
              <a:alpha val="36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13" name="群組 12"/>
          <p:cNvGrpSpPr/>
          <p:nvPr/>
        </p:nvGrpSpPr>
        <p:grpSpPr>
          <a:xfrm>
            <a:off x="47063" y="896922"/>
            <a:ext cx="1988237" cy="687620"/>
            <a:chOff x="47063" y="896922"/>
            <a:chExt cx="1988237" cy="687620"/>
          </a:xfrm>
        </p:grpSpPr>
        <p:pic>
          <p:nvPicPr>
            <p:cNvPr id="14" name="圖片 13"/>
            <p:cNvPicPr>
              <a:picLocks noChangeAspect="1"/>
            </p:cNvPicPr>
            <p:nvPr/>
          </p:nvPicPr>
          <p:blipFill>
            <a:blip r:embed="rId6"/>
            <a:stretch>
              <a:fillRect/>
            </a:stretch>
          </p:blipFill>
          <p:spPr>
            <a:xfrm>
              <a:off x="47063" y="896922"/>
              <a:ext cx="1988236" cy="687620"/>
            </a:xfrm>
            <a:prstGeom prst="rect">
              <a:avLst/>
            </a:prstGeom>
            <a:ln>
              <a:solidFill>
                <a:schemeClr val="accent4"/>
              </a:solidFill>
            </a:ln>
          </p:spPr>
        </p:pic>
        <p:sp>
          <p:nvSpPr>
            <p:cNvPr id="15" name="矩形 14"/>
            <p:cNvSpPr/>
            <p:nvPr/>
          </p:nvSpPr>
          <p:spPr>
            <a:xfrm>
              <a:off x="1946554" y="898069"/>
              <a:ext cx="88746" cy="686473"/>
            </a:xfrm>
            <a:prstGeom prst="rect">
              <a:avLst/>
            </a:prstGeom>
            <a:solidFill>
              <a:schemeClr val="accent4">
                <a:alpha val="36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16" name="矩形 15"/>
          <p:cNvSpPr/>
          <p:nvPr/>
        </p:nvSpPr>
        <p:spPr>
          <a:xfrm>
            <a:off x="2224841" y="1555864"/>
            <a:ext cx="459558" cy="1607768"/>
          </a:xfrm>
          <a:prstGeom prst="rect">
            <a:avLst/>
          </a:prstGeom>
          <a:solidFill>
            <a:schemeClr val="accent1">
              <a:alpha val="3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17" name="直線單箭頭接點 16"/>
          <p:cNvCxnSpPr>
            <a:stCxn id="12" idx="1"/>
            <a:endCxn id="15" idx="1"/>
          </p:cNvCxnSpPr>
          <p:nvPr/>
        </p:nvCxnSpPr>
        <p:spPr>
          <a:xfrm flipH="1" flipV="1">
            <a:off x="1946554" y="1241306"/>
            <a:ext cx="257797" cy="254607"/>
          </a:xfrm>
          <a:prstGeom prst="straightConnector1">
            <a:avLst/>
          </a:prstGeom>
          <a:ln w="95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8" name="圖片 17"/>
          <p:cNvPicPr>
            <a:picLocks noChangeAspect="1"/>
          </p:cNvPicPr>
          <p:nvPr/>
        </p:nvPicPr>
        <p:blipFill>
          <a:blip r:embed="rId7">
            <a:extLst>
              <a:ext uri="{BEBA8EAE-BF5A-486C-A8C5-ECC9F3942E4B}">
                <a14:imgProps xmlns:a14="http://schemas.microsoft.com/office/drawing/2010/main">
                  <a14:imgLayer r:embed="rId8">
                    <a14:imgEffect>
                      <a14:colorTemperature colorTemp="4700"/>
                    </a14:imgEffect>
                  </a14:imgLayer>
                </a14:imgProps>
              </a:ext>
            </a:extLst>
          </a:blip>
          <a:stretch>
            <a:fillRect/>
          </a:stretch>
        </p:blipFill>
        <p:spPr>
          <a:xfrm>
            <a:off x="5080016" y="1503491"/>
            <a:ext cx="1016054" cy="833931"/>
          </a:xfrm>
          <a:prstGeom prst="rect">
            <a:avLst/>
          </a:prstGeom>
          <a:ln>
            <a:solidFill>
              <a:schemeClr val="accent6"/>
            </a:solidFill>
          </a:ln>
        </p:spPr>
      </p:pic>
      <p:sp>
        <p:nvSpPr>
          <p:cNvPr id="19" name="矩形 18"/>
          <p:cNvSpPr/>
          <p:nvPr/>
        </p:nvSpPr>
        <p:spPr>
          <a:xfrm>
            <a:off x="6096070" y="1682268"/>
            <a:ext cx="718310" cy="338554"/>
          </a:xfrm>
          <a:prstGeom prst="rect">
            <a:avLst/>
          </a:prstGeom>
          <a:solidFill>
            <a:schemeClr val="accent1"/>
          </a:solidFill>
        </p:spPr>
        <p:txBody>
          <a:bodyPr wrap="square">
            <a:spAutoFit/>
          </a:bodyPr>
          <a:lstStyle/>
          <a:p>
            <a:pPr algn="ctr"/>
            <a:r>
              <a:rPr lang="zh-TW" altLang="en-US" sz="800" dirty="0">
                <a:solidFill>
                  <a:schemeClr val="bg2"/>
                </a:solidFill>
                <a:latin typeface="微軟正黑體" panose="020B0604030504040204" pitchFamily="34" charset="-120"/>
                <a:ea typeface="微軟正黑體" panose="020B0604030504040204" pitchFamily="34" charset="-120"/>
              </a:rPr>
              <a:t>根據部門</a:t>
            </a:r>
            <a:r>
              <a:rPr lang="zh-TW" altLang="en-US" sz="800" dirty="0" smtClean="0">
                <a:solidFill>
                  <a:schemeClr val="bg2"/>
                </a:solidFill>
                <a:latin typeface="微軟正黑體" panose="020B0604030504040204" pitchFamily="34" charset="-120"/>
                <a:ea typeface="微軟正黑體" panose="020B0604030504040204" pitchFamily="34" charset="-120"/>
              </a:rPr>
              <a:t>定義</a:t>
            </a:r>
            <a:r>
              <a:rPr lang="en-US" altLang="zh-TW" sz="800" dirty="0" smtClean="0">
                <a:solidFill>
                  <a:schemeClr val="bg2"/>
                </a:solidFill>
                <a:latin typeface="微軟正黑體" panose="020B0604030504040204" pitchFamily="34" charset="-120"/>
                <a:ea typeface="微軟正黑體" panose="020B0604030504040204" pitchFamily="34" charset="-120"/>
              </a:rPr>
              <a:t>KPI</a:t>
            </a:r>
            <a:r>
              <a:rPr lang="zh-TW" altLang="en-US" sz="800" dirty="0" smtClean="0">
                <a:solidFill>
                  <a:schemeClr val="bg2"/>
                </a:solidFill>
                <a:latin typeface="微軟正黑體" panose="020B0604030504040204" pitchFamily="34" charset="-120"/>
                <a:ea typeface="微軟正黑體" panose="020B0604030504040204" pitchFamily="34" charset="-120"/>
              </a:rPr>
              <a:t>標</a:t>
            </a:r>
            <a:r>
              <a:rPr lang="zh-TW" altLang="en-US" sz="800" dirty="0">
                <a:solidFill>
                  <a:schemeClr val="bg2"/>
                </a:solidFill>
                <a:latin typeface="微軟正黑體" panose="020B0604030504040204" pitchFamily="34" charset="-120"/>
                <a:ea typeface="微軟正黑體" panose="020B0604030504040204" pitchFamily="34" charset="-120"/>
              </a:rPr>
              <a:t>準</a:t>
            </a:r>
            <a:endParaRPr lang="en-US" altLang="zh-TW" sz="800" dirty="0">
              <a:solidFill>
                <a:schemeClr val="bg2"/>
              </a:solidFill>
              <a:latin typeface="微軟正黑體" panose="020B0604030504040204" pitchFamily="34" charset="-120"/>
              <a:ea typeface="微軟正黑體" panose="020B0604030504040204" pitchFamily="34" charset="-120"/>
            </a:endParaRPr>
          </a:p>
        </p:txBody>
      </p:sp>
      <p:sp>
        <p:nvSpPr>
          <p:cNvPr id="20" name="矩形 19"/>
          <p:cNvSpPr/>
          <p:nvPr/>
        </p:nvSpPr>
        <p:spPr>
          <a:xfrm>
            <a:off x="5808812" y="1056008"/>
            <a:ext cx="1634698" cy="215444"/>
          </a:xfrm>
          <a:prstGeom prst="rect">
            <a:avLst/>
          </a:prstGeom>
          <a:solidFill>
            <a:schemeClr val="accent1"/>
          </a:solidFill>
        </p:spPr>
        <p:txBody>
          <a:bodyPr wrap="square">
            <a:spAutoFit/>
          </a:bodyPr>
          <a:lstStyle/>
          <a:p>
            <a:pPr algn="ctr"/>
            <a:r>
              <a:rPr lang="zh-TW" altLang="en-US" sz="800" dirty="0" smtClean="0">
                <a:solidFill>
                  <a:schemeClr val="bg2"/>
                </a:solidFill>
                <a:latin typeface="微軟正黑體" panose="020B0604030504040204" pitchFamily="34" charset="-120"/>
                <a:ea typeface="微軟正黑體" panose="020B0604030504040204" pitchFamily="34" charset="-120"/>
              </a:rPr>
              <a:t>歷史資料回查及預估紀錄</a:t>
            </a:r>
            <a:endParaRPr lang="en-US" altLang="zh-TW" sz="800" dirty="0">
              <a:solidFill>
                <a:schemeClr val="bg2"/>
              </a:solidFill>
              <a:latin typeface="微軟正黑體" panose="020B0604030504040204" pitchFamily="34" charset="-120"/>
              <a:ea typeface="微軟正黑體" panose="020B0604030504040204" pitchFamily="34" charset="-120"/>
            </a:endParaRPr>
          </a:p>
        </p:txBody>
      </p:sp>
      <p:sp>
        <p:nvSpPr>
          <p:cNvPr id="21" name="矩形 20"/>
          <p:cNvSpPr/>
          <p:nvPr/>
        </p:nvSpPr>
        <p:spPr>
          <a:xfrm>
            <a:off x="1617122" y="1364569"/>
            <a:ext cx="428422" cy="215444"/>
          </a:xfrm>
          <a:prstGeom prst="rect">
            <a:avLst/>
          </a:prstGeom>
          <a:solidFill>
            <a:schemeClr val="accent1"/>
          </a:solidFill>
        </p:spPr>
        <p:txBody>
          <a:bodyPr wrap="square">
            <a:spAutoFit/>
          </a:bodyPr>
          <a:lstStyle/>
          <a:p>
            <a:pPr algn="ctr"/>
            <a:r>
              <a:rPr lang="zh-TW" altLang="en-US" sz="800" dirty="0" smtClean="0">
                <a:solidFill>
                  <a:schemeClr val="bg2"/>
                </a:solidFill>
                <a:latin typeface="微軟正黑體" panose="020B0604030504040204" pitchFamily="34" charset="-120"/>
                <a:ea typeface="微軟正黑體" panose="020B0604030504040204" pitchFamily="34" charset="-120"/>
              </a:rPr>
              <a:t>刪</a:t>
            </a:r>
            <a:r>
              <a:rPr lang="zh-TW" altLang="en-US" sz="800" dirty="0">
                <a:solidFill>
                  <a:schemeClr val="bg2"/>
                </a:solidFill>
                <a:latin typeface="微軟正黑體" panose="020B0604030504040204" pitchFamily="34" charset="-120"/>
                <a:ea typeface="微軟正黑體" panose="020B0604030504040204" pitchFamily="34" charset="-120"/>
              </a:rPr>
              <a:t>減</a:t>
            </a:r>
            <a:endParaRPr lang="en-US" altLang="zh-TW" sz="800" dirty="0">
              <a:solidFill>
                <a:schemeClr val="bg2"/>
              </a:solidFill>
              <a:latin typeface="微軟正黑體" panose="020B0604030504040204" pitchFamily="34" charset="-120"/>
              <a:ea typeface="微軟正黑體" panose="020B0604030504040204" pitchFamily="34" charset="-120"/>
            </a:endParaRPr>
          </a:p>
        </p:txBody>
      </p:sp>
      <p:sp>
        <p:nvSpPr>
          <p:cNvPr id="22" name="矩形 21"/>
          <p:cNvSpPr/>
          <p:nvPr/>
        </p:nvSpPr>
        <p:spPr>
          <a:xfrm>
            <a:off x="393876" y="4061312"/>
            <a:ext cx="1634698" cy="215444"/>
          </a:xfrm>
          <a:prstGeom prst="rect">
            <a:avLst/>
          </a:prstGeom>
          <a:solidFill>
            <a:schemeClr val="accent1"/>
          </a:solidFill>
        </p:spPr>
        <p:txBody>
          <a:bodyPr wrap="square">
            <a:spAutoFit/>
          </a:bodyPr>
          <a:lstStyle/>
          <a:p>
            <a:pPr algn="ctr"/>
            <a:r>
              <a:rPr lang="zh-TW" altLang="en-US" sz="800" dirty="0" smtClean="0">
                <a:solidFill>
                  <a:schemeClr val="bg2"/>
                </a:solidFill>
                <a:latin typeface="微軟正黑體" panose="020B0604030504040204" pitchFamily="34" charset="-120"/>
                <a:ea typeface="微軟正黑體" panose="020B0604030504040204" pitchFamily="34" charset="-120"/>
              </a:rPr>
              <a:t>監管部門及對應欄位新增</a:t>
            </a:r>
            <a:endParaRPr lang="en-US" altLang="zh-TW" sz="800" dirty="0">
              <a:solidFill>
                <a:schemeClr val="bg2"/>
              </a:solidFill>
              <a:latin typeface="微軟正黑體" panose="020B0604030504040204" pitchFamily="34" charset="-120"/>
              <a:ea typeface="微軟正黑體" panose="020B0604030504040204" pitchFamily="34" charset="-120"/>
            </a:endParaRPr>
          </a:p>
        </p:txBody>
      </p:sp>
      <p:pic>
        <p:nvPicPr>
          <p:cNvPr id="23" name="圖片 22"/>
          <p:cNvPicPr>
            <a:picLocks noChangeAspect="1"/>
          </p:cNvPicPr>
          <p:nvPr/>
        </p:nvPicPr>
        <p:blipFill>
          <a:blip r:embed="rId9"/>
          <a:stretch>
            <a:fillRect/>
          </a:stretch>
        </p:blipFill>
        <p:spPr>
          <a:xfrm>
            <a:off x="5656282" y="2816684"/>
            <a:ext cx="3100169" cy="406152"/>
          </a:xfrm>
          <a:prstGeom prst="rect">
            <a:avLst/>
          </a:prstGeom>
          <a:ln>
            <a:solidFill>
              <a:schemeClr val="accent5"/>
            </a:solidFill>
          </a:ln>
          <a:effectLst>
            <a:outerShdw blurRad="190500" algn="tl" rotWithShape="0">
              <a:srgbClr val="000000">
                <a:alpha val="70000"/>
              </a:srgbClr>
            </a:outerShdw>
          </a:effectLst>
        </p:spPr>
      </p:pic>
      <p:sp>
        <p:nvSpPr>
          <p:cNvPr id="24" name="矩形 23"/>
          <p:cNvSpPr/>
          <p:nvPr/>
        </p:nvSpPr>
        <p:spPr>
          <a:xfrm>
            <a:off x="6303111" y="3163632"/>
            <a:ext cx="1634698" cy="215444"/>
          </a:xfrm>
          <a:prstGeom prst="rect">
            <a:avLst/>
          </a:prstGeom>
          <a:solidFill>
            <a:schemeClr val="accent1"/>
          </a:solidFill>
        </p:spPr>
        <p:txBody>
          <a:bodyPr wrap="square">
            <a:spAutoFit/>
          </a:bodyPr>
          <a:lstStyle/>
          <a:p>
            <a:pPr algn="ctr"/>
            <a:r>
              <a:rPr lang="zh-TW" altLang="en-US" sz="800" dirty="0" smtClean="0">
                <a:solidFill>
                  <a:schemeClr val="bg2"/>
                </a:solidFill>
                <a:latin typeface="微軟正黑體" panose="020B0604030504040204" pitchFamily="34" charset="-120"/>
                <a:ea typeface="微軟正黑體" panose="020B0604030504040204" pitchFamily="34" charset="-120"/>
              </a:rPr>
              <a:t>雙擊表格編輯內容</a:t>
            </a:r>
            <a:endParaRPr lang="en-US" altLang="zh-TW" sz="800" dirty="0">
              <a:solidFill>
                <a:schemeClr val="bg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969354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zh-TW" altLang="en-US" dirty="0"/>
              <a:t>入口網頁管理系統 </a:t>
            </a:r>
            <a:endParaRPr lang="zh-TW" altLang="zh-TW" dirty="0"/>
          </a:p>
        </p:txBody>
      </p:sp>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4" name="圓角矩形 3"/>
          <p:cNvSpPr/>
          <p:nvPr/>
        </p:nvSpPr>
        <p:spPr>
          <a:xfrm>
            <a:off x="4454165" y="617443"/>
            <a:ext cx="4471034" cy="4053698"/>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36" indent="-285736" defTabSz="685783"/>
            <a:endParaRPr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251520" y="636535"/>
            <a:ext cx="4221827" cy="4013546"/>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defTabSz="685783">
              <a:defRPr/>
            </a:pPr>
            <a:endParaRPr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306923" y="863722"/>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783"/>
            <a:endParaRPr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422896" y="960987"/>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783"/>
            <a:endParaRPr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8" name="矩形 7"/>
          <p:cNvSpPr/>
          <p:nvPr/>
        </p:nvSpPr>
        <p:spPr>
          <a:xfrm>
            <a:off x="4761023" y="894459"/>
            <a:ext cx="1409105" cy="1169551"/>
          </a:xfrm>
          <a:prstGeom prst="rect">
            <a:avLst/>
          </a:prstGeom>
        </p:spPr>
        <p:txBody>
          <a:bodyPr wrap="square">
            <a:spAutoFit/>
          </a:bodyPr>
          <a:lstStyle/>
          <a:p>
            <a:pPr defTabSz="685783">
              <a:defRPr/>
            </a:pPr>
            <a:r>
              <a:rPr lang="zh-TW" altLang="en-US" sz="1600" b="1" dirty="0">
                <a:solidFill>
                  <a:prstClr val="black"/>
                </a:solidFill>
                <a:latin typeface="微軟正黑體" panose="020B0604030504040204" pitchFamily="34" charset="-120"/>
                <a:ea typeface="微軟正黑體" panose="020B0604030504040204" pitchFamily="34" charset="-120"/>
              </a:rPr>
              <a:t>技術對策</a:t>
            </a:r>
            <a:r>
              <a:rPr lang="en-US" altLang="zh-TW" sz="1600" b="1" dirty="0">
                <a:solidFill>
                  <a:prstClr val="black"/>
                </a:solidFill>
                <a:latin typeface="微軟正黑體" panose="020B0604030504040204" pitchFamily="34" charset="-120"/>
                <a:ea typeface="微軟正黑體" panose="020B0604030504040204" pitchFamily="34" charset="-120"/>
              </a:rPr>
              <a:t>:</a:t>
            </a:r>
          </a:p>
          <a:p>
            <a:pPr defTabSz="685783">
              <a:defRPr/>
            </a:pPr>
            <a:endParaRPr lang="en-US" altLang="zh-TW" sz="1800" b="1" kern="0" dirty="0">
              <a:solidFill>
                <a:prstClr val="black"/>
              </a:solidFill>
              <a:latin typeface="微軟正黑體" panose="020B0604030504040204" pitchFamily="34" charset="-120"/>
              <a:ea typeface="微軟正黑體" panose="020B0604030504040204" pitchFamily="34" charset="-120"/>
            </a:endParaRPr>
          </a:p>
          <a:p>
            <a:pPr defTabSz="685783">
              <a:defRPr/>
            </a:pPr>
            <a:endParaRPr lang="zh-TW" altLang="en-US" sz="1800" b="1" dirty="0">
              <a:solidFill>
                <a:srgbClr val="0000FF"/>
              </a:solidFill>
              <a:latin typeface="微軟正黑體" panose="020B0604030504040204" pitchFamily="34" charset="-120"/>
              <a:ea typeface="微軟正黑體" panose="020B0604030504040204" pitchFamily="34" charset="-120"/>
            </a:endParaRPr>
          </a:p>
          <a:p>
            <a:pPr defTabSz="685783">
              <a:defRPr/>
            </a:pPr>
            <a:endParaRPr lang="zh-TW" altLang="en-US" sz="1800" dirty="0">
              <a:solidFill>
                <a:prstClr val="black">
                  <a:lumMod val="95000"/>
                  <a:lumOff val="5000"/>
                </a:prstClr>
              </a:solidFill>
              <a:latin typeface="微軟正黑體" panose="020B0604030504040204" pitchFamily="34" charset="-120"/>
              <a:ea typeface="微軟正黑體" panose="020B0604030504040204" pitchFamily="34" charset="-120"/>
            </a:endParaRPr>
          </a:p>
        </p:txBody>
      </p:sp>
      <p:sp>
        <p:nvSpPr>
          <p:cNvPr id="9" name="椭圆 66"/>
          <p:cNvSpPr/>
          <p:nvPr/>
        </p:nvSpPr>
        <p:spPr bwMode="auto">
          <a:xfrm rot="4723889">
            <a:off x="1981214" y="311041"/>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10" name="组合 67"/>
          <p:cNvGrpSpPr>
            <a:grpSpLocks/>
          </p:cNvGrpSpPr>
          <p:nvPr/>
        </p:nvGrpSpPr>
        <p:grpSpPr bwMode="auto">
          <a:xfrm rot="5400000">
            <a:off x="1775888" y="334299"/>
            <a:ext cx="951398" cy="1215148"/>
            <a:chOff x="1123476" y="1681897"/>
            <a:chExt cx="3206311" cy="2990785"/>
          </a:xfrm>
        </p:grpSpPr>
        <p:grpSp>
          <p:nvGrpSpPr>
            <p:cNvPr id="11" name="组合 68"/>
            <p:cNvGrpSpPr>
              <a:grpSpLocks/>
            </p:cNvGrpSpPr>
            <p:nvPr/>
          </p:nvGrpSpPr>
          <p:grpSpPr bwMode="auto">
            <a:xfrm>
              <a:off x="1123476" y="1763461"/>
              <a:ext cx="2798050" cy="2798050"/>
              <a:chOff x="1123476" y="1763461"/>
              <a:chExt cx="2798050" cy="2798050"/>
            </a:xfrm>
          </p:grpSpPr>
          <p:sp>
            <p:nvSpPr>
              <p:cNvPr id="17" name="弧形 16"/>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8" name="弧形 17"/>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9" name="弧形 18"/>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0" name="弧形 19"/>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12" name="组合 69"/>
            <p:cNvGrpSpPr>
              <a:grpSpLocks/>
            </p:cNvGrpSpPr>
            <p:nvPr/>
          </p:nvGrpSpPr>
          <p:grpSpPr bwMode="auto">
            <a:xfrm rot="-7200000">
              <a:off x="1273270" y="1616165"/>
              <a:ext cx="2990785" cy="3122249"/>
              <a:chOff x="891209" y="1807143"/>
              <a:chExt cx="2990785" cy="3122249"/>
            </a:xfrm>
          </p:grpSpPr>
          <p:sp>
            <p:nvSpPr>
              <p:cNvPr id="13" name="弧形 12"/>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4" name="弧形 13"/>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5" name="弧形 14"/>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6" name="弧形 15"/>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21" name="矩形 20"/>
          <p:cNvSpPr/>
          <p:nvPr/>
        </p:nvSpPr>
        <p:spPr>
          <a:xfrm>
            <a:off x="1719188" y="764819"/>
            <a:ext cx="1175874" cy="307777"/>
          </a:xfrm>
          <a:prstGeom prst="rect">
            <a:avLst/>
          </a:prstGeom>
        </p:spPr>
        <p:txBody>
          <a:bodyPr wrap="square">
            <a:spAutoFit/>
          </a:bodyPr>
          <a:lstStyle/>
          <a:p>
            <a:pPr algn="ctr" defTabSz="685783">
              <a:defRPr/>
            </a:pPr>
            <a:r>
              <a:rPr lang="zh-TW" altLang="en-US" b="1" dirty="0">
                <a:solidFill>
                  <a:prstClr val="black">
                    <a:lumMod val="65000"/>
                    <a:lumOff val="35000"/>
                  </a:prstClr>
                </a:solidFill>
                <a:latin typeface="微軟正黑體" panose="020B0604030504040204" pitchFamily="34" charset="-120"/>
                <a:ea typeface="微軟正黑體" panose="020B0604030504040204" pitchFamily="34" charset="-120"/>
              </a:rPr>
              <a:t>現況與痛點</a:t>
            </a:r>
          </a:p>
        </p:txBody>
      </p:sp>
      <p:sp>
        <p:nvSpPr>
          <p:cNvPr id="22" name="椭圆 66"/>
          <p:cNvSpPr/>
          <p:nvPr/>
        </p:nvSpPr>
        <p:spPr bwMode="auto">
          <a:xfrm rot="4723889">
            <a:off x="6608523" y="376392"/>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23" name="组合 67"/>
          <p:cNvGrpSpPr>
            <a:grpSpLocks/>
          </p:cNvGrpSpPr>
          <p:nvPr/>
        </p:nvGrpSpPr>
        <p:grpSpPr bwMode="auto">
          <a:xfrm rot="4723889">
            <a:off x="6533554" y="432466"/>
            <a:ext cx="671560" cy="961309"/>
            <a:chOff x="1123476" y="1681897"/>
            <a:chExt cx="3206311" cy="2990785"/>
          </a:xfrm>
        </p:grpSpPr>
        <p:grpSp>
          <p:nvGrpSpPr>
            <p:cNvPr id="24" name="组合 68"/>
            <p:cNvGrpSpPr>
              <a:grpSpLocks/>
            </p:cNvGrpSpPr>
            <p:nvPr/>
          </p:nvGrpSpPr>
          <p:grpSpPr bwMode="auto">
            <a:xfrm>
              <a:off x="1123476" y="1763461"/>
              <a:ext cx="2798050" cy="2798050"/>
              <a:chOff x="1123476" y="1763461"/>
              <a:chExt cx="2798050" cy="2798050"/>
            </a:xfrm>
          </p:grpSpPr>
          <p:sp>
            <p:nvSpPr>
              <p:cNvPr id="30" name="弧形 29"/>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1" name="弧形 30"/>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2" name="弧形 31"/>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3" name="弧形 32"/>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25" name="组合 69"/>
            <p:cNvGrpSpPr>
              <a:grpSpLocks/>
            </p:cNvGrpSpPr>
            <p:nvPr/>
          </p:nvGrpSpPr>
          <p:grpSpPr bwMode="auto">
            <a:xfrm rot="-7200000">
              <a:off x="1273270" y="1616165"/>
              <a:ext cx="2990785" cy="3122249"/>
              <a:chOff x="891209" y="1807143"/>
              <a:chExt cx="2990785" cy="3122249"/>
            </a:xfrm>
          </p:grpSpPr>
          <p:sp>
            <p:nvSpPr>
              <p:cNvPr id="26" name="弧形 25"/>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7" name="弧形 26"/>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8" name="弧形 27"/>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9" name="弧形 28"/>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34" name="矩形 33"/>
          <p:cNvSpPr/>
          <p:nvPr/>
        </p:nvSpPr>
        <p:spPr>
          <a:xfrm>
            <a:off x="6367972" y="698889"/>
            <a:ext cx="1002724" cy="307777"/>
          </a:xfrm>
          <a:prstGeom prst="rect">
            <a:avLst/>
          </a:prstGeom>
        </p:spPr>
        <p:txBody>
          <a:bodyPr wrap="square">
            <a:spAutoFit/>
          </a:bodyPr>
          <a:lstStyle/>
          <a:p>
            <a:pPr algn="ctr" defTabSz="685783">
              <a:defRPr/>
            </a:pPr>
            <a:r>
              <a:rPr lang="zh-TW" altLang="en-US" b="1" dirty="0">
                <a:solidFill>
                  <a:prstClr val="black">
                    <a:lumMod val="65000"/>
                    <a:lumOff val="35000"/>
                  </a:prstClr>
                </a:solidFill>
                <a:latin typeface="微軟正黑體" panose="020B0604030504040204" pitchFamily="34" charset="-120"/>
                <a:ea typeface="微軟正黑體" panose="020B0604030504040204" pitchFamily="34" charset="-120"/>
              </a:rPr>
              <a:t>解決方案</a:t>
            </a:r>
          </a:p>
        </p:txBody>
      </p:sp>
      <p:sp>
        <p:nvSpPr>
          <p:cNvPr id="35" name="矩形 34">
            <a:extLst>
              <a:ext uri="{FF2B5EF4-FFF2-40B4-BE49-F238E27FC236}">
                <a16:creationId xmlns:a16="http://schemas.microsoft.com/office/drawing/2014/main" xmlns="" id="{9BE08482-D953-47F4-81A8-BD823C2E476A}"/>
              </a:ext>
            </a:extLst>
          </p:cNvPr>
          <p:cNvSpPr/>
          <p:nvPr/>
        </p:nvSpPr>
        <p:spPr>
          <a:xfrm>
            <a:off x="326724" y="1299974"/>
            <a:ext cx="4116378" cy="276999"/>
          </a:xfrm>
          <a:prstGeom prst="rect">
            <a:avLst/>
          </a:prstGeom>
          <a:noFill/>
        </p:spPr>
        <p:txBody>
          <a:bodyPr wrap="square">
            <a:spAutoFit/>
          </a:bodyPr>
          <a:lstStyle/>
          <a:p>
            <a:pPr marL="171446" indent="-171446" defTabSz="685783">
              <a:buFont typeface="Arial" panose="020B0604020202020204" pitchFamily="34" charset="0"/>
              <a:buChar char="•"/>
            </a:pPr>
            <a:r>
              <a:rPr lang="zh-TW" altLang="en-US" sz="1200" dirty="0">
                <a:solidFill>
                  <a:srgbClr val="000000"/>
                </a:solidFill>
                <a:latin typeface="微軟正黑體" panose="020B0604030504040204" pitchFamily="34" charset="-120"/>
                <a:ea typeface="微軟正黑體" panose="020B0604030504040204" pitchFamily="34" charset="-120"/>
              </a:rPr>
              <a:t>廠內各部開發網頁眾多</a:t>
            </a:r>
            <a:r>
              <a:rPr lang="en-US" altLang="zh-TW" sz="1200" dirty="0">
                <a:solidFill>
                  <a:srgbClr val="000000"/>
                </a:solidFill>
                <a:latin typeface="微軟正黑體" panose="020B0604030504040204" pitchFamily="34" charset="-120"/>
                <a:ea typeface="微軟正黑體" panose="020B0604030504040204" pitchFamily="34" charset="-120"/>
              </a:rPr>
              <a:t>,</a:t>
            </a:r>
            <a:r>
              <a:rPr lang="zh-TW" altLang="en-US" sz="1200" dirty="0">
                <a:solidFill>
                  <a:srgbClr val="000000"/>
                </a:solidFill>
                <a:latin typeface="微軟正黑體" panose="020B0604030504040204" pitchFamily="34" charset="-120"/>
                <a:ea typeface="微軟正黑體" panose="020B0604030504040204" pitchFamily="34" charset="-120"/>
              </a:rPr>
              <a:t>缺乏統一入口及名稱無便捷管理</a:t>
            </a:r>
            <a:endParaRPr lang="en-US" altLang="zh-TW" sz="1200" dirty="0">
              <a:solidFill>
                <a:srgbClr val="000000"/>
              </a:solidFill>
              <a:latin typeface="微軟正黑體" panose="020B0604030504040204" pitchFamily="34" charset="-120"/>
              <a:ea typeface="微軟正黑體" panose="020B0604030504040204" pitchFamily="34" charset="-120"/>
            </a:endParaRPr>
          </a:p>
        </p:txBody>
      </p:sp>
      <p:sp>
        <p:nvSpPr>
          <p:cNvPr id="36" name="矩形 35"/>
          <p:cNvSpPr/>
          <p:nvPr/>
        </p:nvSpPr>
        <p:spPr>
          <a:xfrm>
            <a:off x="5208996" y="3682901"/>
            <a:ext cx="3441568" cy="629273"/>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endParaRPr lang="zh-TW" altLang="en-US" sz="1050">
              <a:solidFill>
                <a:srgbClr val="FFFFFF"/>
              </a:solidFill>
              <a:latin typeface="微軟正黑體" panose="020B0604030504040204" pitchFamily="34" charset="-120"/>
              <a:ea typeface="微軟正黑體" panose="020B0604030504040204" pitchFamily="34" charset="-120"/>
            </a:endParaRPr>
          </a:p>
        </p:txBody>
      </p:sp>
      <p:grpSp>
        <p:nvGrpSpPr>
          <p:cNvPr id="37" name="群組 36"/>
          <p:cNvGrpSpPr/>
          <p:nvPr/>
        </p:nvGrpSpPr>
        <p:grpSpPr>
          <a:xfrm>
            <a:off x="4693870" y="3432387"/>
            <a:ext cx="657666" cy="408164"/>
            <a:chOff x="109587" y="3086034"/>
            <a:chExt cx="743568" cy="408164"/>
          </a:xfrm>
          <a:solidFill>
            <a:srgbClr val="005087"/>
          </a:solidFill>
        </p:grpSpPr>
        <p:sp>
          <p:nvSpPr>
            <p:cNvPr id="38" name="圓角矩形 37"/>
            <p:cNvSpPr/>
            <p:nvPr/>
          </p:nvSpPr>
          <p:spPr>
            <a:xfrm>
              <a:off x="175333" y="3086034"/>
              <a:ext cx="640538" cy="408164"/>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endParaRPr lang="zh-TW" altLang="en-US" sz="1050">
                <a:solidFill>
                  <a:srgbClr val="FFFFFF"/>
                </a:solidFill>
                <a:latin typeface="微軟正黑體" panose="020B0604030504040204" pitchFamily="34" charset="-120"/>
                <a:ea typeface="微軟正黑體" panose="020B0604030504040204" pitchFamily="34" charset="-120"/>
              </a:endParaRPr>
            </a:p>
          </p:txBody>
        </p:sp>
        <p:sp>
          <p:nvSpPr>
            <p:cNvPr id="39" name="矩形 38">
              <a:extLst>
                <a:ext uri="{FF2B5EF4-FFF2-40B4-BE49-F238E27FC236}">
                  <a16:creationId xmlns:a16="http://schemas.microsoft.com/office/drawing/2014/main" xmlns="" id="{2FB82B3E-7C5A-4E57-B159-B07D5CBA84B6}"/>
                </a:ext>
              </a:extLst>
            </p:cNvPr>
            <p:cNvSpPr/>
            <p:nvPr/>
          </p:nvSpPr>
          <p:spPr>
            <a:xfrm>
              <a:off x="109587" y="3160696"/>
              <a:ext cx="743568" cy="276999"/>
            </a:xfrm>
            <a:prstGeom prst="rect">
              <a:avLst/>
            </a:prstGeom>
            <a:noFill/>
          </p:spPr>
          <p:txBody>
            <a:bodyPr wrap="square">
              <a:spAutoFit/>
            </a:bodyPr>
            <a:lstStyle/>
            <a:p>
              <a:pPr algn="ctr" defTabSz="685783"/>
              <a:r>
                <a:rPr lang="zh-TW" altLang="en-US" sz="1200" b="1" dirty="0">
                  <a:solidFill>
                    <a:srgbClr val="FFFFFF"/>
                  </a:solidFill>
                  <a:latin typeface="微軟正黑體" panose="020B0604030504040204" pitchFamily="34" charset="-120"/>
                  <a:ea typeface="微軟正黑體" panose="020B0604030504040204" pitchFamily="34" charset="-120"/>
                </a:rPr>
                <a:t>效益</a:t>
              </a:r>
              <a:endParaRPr lang="en-US" altLang="zh-TW" sz="1200" b="1" dirty="0">
                <a:solidFill>
                  <a:srgbClr val="FFFFFF"/>
                </a:solidFill>
                <a:latin typeface="微軟正黑體" panose="020B0604030504040204" pitchFamily="34" charset="-120"/>
                <a:ea typeface="微軟正黑體" panose="020B0604030504040204" pitchFamily="34" charset="-120"/>
              </a:endParaRPr>
            </a:p>
          </p:txBody>
        </p:sp>
      </p:grpSp>
      <p:sp>
        <p:nvSpPr>
          <p:cNvPr id="40" name="文字方塊 39"/>
          <p:cNvSpPr txBox="1"/>
          <p:nvPr/>
        </p:nvSpPr>
        <p:spPr>
          <a:xfrm>
            <a:off x="5091197" y="3702991"/>
            <a:ext cx="1221201" cy="276999"/>
          </a:xfrm>
          <a:prstGeom prst="rect">
            <a:avLst/>
          </a:prstGeom>
          <a:noFill/>
        </p:spPr>
        <p:txBody>
          <a:bodyPr wrap="square" rtlCol="0">
            <a:spAutoFit/>
          </a:bodyPr>
          <a:lstStyle/>
          <a:p>
            <a:pPr algn="ctr" eaLnBrk="0" fontAlgn="base" hangingPunct="0">
              <a:spcBef>
                <a:spcPct val="0"/>
              </a:spcBef>
              <a:spcAft>
                <a:spcPct val="0"/>
              </a:spcAft>
            </a:pPr>
            <a:r>
              <a:rPr lang="zh-TW" altLang="en-US" sz="1200" b="1" dirty="0" smtClean="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節省工時</a:t>
            </a:r>
            <a:endParaRPr lang="zh-TW" altLang="en-US" sz="1200" b="1" dirty="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endParaRPr>
          </a:p>
        </p:txBody>
      </p:sp>
      <p:sp>
        <p:nvSpPr>
          <p:cNvPr id="41" name="矩形 40"/>
          <p:cNvSpPr/>
          <p:nvPr/>
        </p:nvSpPr>
        <p:spPr>
          <a:xfrm>
            <a:off x="5277632" y="3913339"/>
            <a:ext cx="3297319" cy="300082"/>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zh-TW" altLang="en-US" sz="1000" dirty="0" smtClean="0">
                <a:latin typeface="微軟正黑體" panose="020B0604030504040204" pitchFamily="34" charset="-120"/>
                <a:ea typeface="微軟正黑體" panose="020B0604030504040204" pitchFamily="34" charset="-120"/>
              </a:rPr>
              <a:t>可節省人員每天</a:t>
            </a:r>
            <a:r>
              <a:rPr lang="en-US" altLang="zh-TW" sz="1000" dirty="0" smtClean="0">
                <a:latin typeface="微軟正黑體" panose="020B0604030504040204" pitchFamily="34" charset="-120"/>
                <a:ea typeface="微軟正黑體" panose="020B0604030504040204" pitchFamily="34" charset="-120"/>
              </a:rPr>
              <a:t>6</a:t>
            </a:r>
            <a:r>
              <a:rPr lang="zh-TW" altLang="en-US" sz="1000" dirty="0" smtClean="0">
                <a:latin typeface="微軟正黑體" panose="020B0604030504040204" pitchFamily="34" charset="-120"/>
                <a:ea typeface="微軟正黑體" panose="020B0604030504040204" pitchFamily="34" charset="-120"/>
              </a:rPr>
              <a:t>分鐘查找各網站的時間</a:t>
            </a:r>
            <a:r>
              <a:rPr lang="en-US" altLang="zh-TW" sz="1000" dirty="0" smtClean="0">
                <a:latin typeface="微軟正黑體" panose="020B0604030504040204" pitchFamily="34" charset="-120"/>
                <a:ea typeface="微軟正黑體" panose="020B0604030504040204" pitchFamily="34" charset="-120"/>
              </a:rPr>
              <a:t>=</a:t>
            </a:r>
            <a:r>
              <a:rPr lang="en-US" altLang="zh-TW" sz="1000" b="1" dirty="0" smtClean="0">
                <a:solidFill>
                  <a:schemeClr val="accent1"/>
                </a:solidFill>
                <a:latin typeface="微軟正黑體" panose="020B0604030504040204" pitchFamily="34" charset="-120"/>
                <a:ea typeface="微軟正黑體" panose="020B0604030504040204" pitchFamily="34" charset="-120"/>
              </a:rPr>
              <a:t>3</a:t>
            </a:r>
            <a:r>
              <a:rPr lang="zh-TW" altLang="en-US" sz="1000" b="1" dirty="0" smtClean="0">
                <a:solidFill>
                  <a:schemeClr val="accent1"/>
                </a:solidFill>
                <a:latin typeface="微軟正黑體" panose="020B0604030504040204" pitchFamily="34" charset="-120"/>
                <a:ea typeface="微軟正黑體" panose="020B0604030504040204" pitchFamily="34" charset="-120"/>
              </a:rPr>
              <a:t>小時</a:t>
            </a:r>
            <a:r>
              <a:rPr lang="en-US" altLang="zh-TW" sz="1000" b="1" dirty="0" smtClean="0">
                <a:solidFill>
                  <a:schemeClr val="accent1"/>
                </a:solidFill>
                <a:latin typeface="微軟正黑體" panose="020B0604030504040204" pitchFamily="34" charset="-120"/>
                <a:ea typeface="微軟正黑體" panose="020B0604030504040204" pitchFamily="34" charset="-120"/>
              </a:rPr>
              <a:t>/</a:t>
            </a:r>
            <a:r>
              <a:rPr lang="zh-TW" altLang="en-US" sz="1000" b="1" dirty="0" smtClean="0">
                <a:solidFill>
                  <a:schemeClr val="accent1"/>
                </a:solidFill>
                <a:latin typeface="微軟正黑體" panose="020B0604030504040204" pitchFamily="34" charset="-120"/>
                <a:ea typeface="微軟正黑體" panose="020B0604030504040204" pitchFamily="34" charset="-120"/>
              </a:rPr>
              <a:t>月</a:t>
            </a:r>
            <a:endParaRPr lang="zh-TW" altLang="en-US" sz="1000" b="1" dirty="0">
              <a:solidFill>
                <a:schemeClr val="accent1"/>
              </a:solidFill>
              <a:latin typeface="微軟正黑體" panose="020B0604030504040204" pitchFamily="34" charset="-120"/>
              <a:ea typeface="微軟正黑體" panose="020B0604030504040204" pitchFamily="34" charset="-120"/>
            </a:endParaRPr>
          </a:p>
        </p:txBody>
      </p:sp>
      <p:sp>
        <p:nvSpPr>
          <p:cNvPr id="42" name="矩形 41"/>
          <p:cNvSpPr/>
          <p:nvPr/>
        </p:nvSpPr>
        <p:spPr>
          <a:xfrm>
            <a:off x="319958" y="894741"/>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zh-TW" altLang="en-US" sz="1600" b="1" dirty="0">
                <a:solidFill>
                  <a:prstClr val="black"/>
                </a:solidFill>
                <a:latin typeface="微軟正黑體" panose="020B0604030504040204" pitchFamily="34" charset="-120"/>
                <a:ea typeface="微軟正黑體" panose="020B0604030504040204" pitchFamily="34" charset="-120"/>
              </a:rPr>
              <a:t>改善前</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a:p>
            <a:r>
              <a:rPr lang="en-US" altLang="zh-TW" sz="1050" dirty="0">
                <a:solidFill>
                  <a:srgbClr val="FF0000"/>
                </a:solidFill>
                <a:latin typeface="微軟正黑體" panose="020B0604030504040204" pitchFamily="34" charset="-120"/>
                <a:ea typeface="微軟正黑體" panose="020B0604030504040204" pitchFamily="34" charset="-120"/>
              </a:rPr>
              <a:t>	</a:t>
            </a:r>
          </a:p>
        </p:txBody>
      </p:sp>
      <p:sp>
        <p:nvSpPr>
          <p:cNvPr id="44" name="矩形 43"/>
          <p:cNvSpPr/>
          <p:nvPr/>
        </p:nvSpPr>
        <p:spPr>
          <a:xfrm>
            <a:off x="327092" y="1613412"/>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zh-TW" altLang="en-US" sz="1600" b="1" dirty="0">
                <a:solidFill>
                  <a:prstClr val="black"/>
                </a:solidFill>
                <a:latin typeface="微軟正黑體" panose="020B0604030504040204" pitchFamily="34" charset="-120"/>
                <a:ea typeface="微軟正黑體" panose="020B0604030504040204" pitchFamily="34" charset="-120"/>
              </a:rPr>
              <a:t>改善後</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a:p>
            <a:r>
              <a:rPr lang="en-US" altLang="zh-TW" sz="1050" dirty="0">
                <a:solidFill>
                  <a:srgbClr val="FF0000"/>
                </a:solidFill>
                <a:latin typeface="微軟正黑體" panose="020B0604030504040204" pitchFamily="34" charset="-120"/>
                <a:ea typeface="微軟正黑體" panose="020B0604030504040204" pitchFamily="34" charset="-120"/>
              </a:rPr>
              <a:t>	</a:t>
            </a:r>
          </a:p>
        </p:txBody>
      </p:sp>
      <p:pic>
        <p:nvPicPr>
          <p:cNvPr id="45" name="圖片 44"/>
          <p:cNvPicPr>
            <a:picLocks noChangeAspect="1"/>
          </p:cNvPicPr>
          <p:nvPr/>
        </p:nvPicPr>
        <p:blipFill>
          <a:blip r:embed="rId3"/>
          <a:stretch>
            <a:fillRect/>
          </a:stretch>
        </p:blipFill>
        <p:spPr>
          <a:xfrm>
            <a:off x="297618" y="2063823"/>
            <a:ext cx="4009742" cy="1893083"/>
          </a:xfrm>
          <a:prstGeom prst="rect">
            <a:avLst/>
          </a:prstGeom>
        </p:spPr>
      </p:pic>
      <p:sp>
        <p:nvSpPr>
          <p:cNvPr id="46" name="矩形 45"/>
          <p:cNvSpPr/>
          <p:nvPr/>
        </p:nvSpPr>
        <p:spPr>
          <a:xfrm>
            <a:off x="664496" y="3975998"/>
            <a:ext cx="2533066" cy="253916"/>
          </a:xfrm>
          <a:prstGeom prst="rect">
            <a:avLst/>
          </a:prstGeom>
          <a:solidFill>
            <a:schemeClr val="accent1"/>
          </a:solidFill>
          <a:ln>
            <a:solidFill>
              <a:schemeClr val="accent1"/>
            </a:solidFill>
          </a:ln>
        </p:spPr>
        <p:txBody>
          <a:bodyPr wrap="none">
            <a:spAutoFit/>
          </a:bodyPr>
          <a:lstStyle/>
          <a:p>
            <a:pPr defTabSz="685783">
              <a:buClr>
                <a:srgbClr val="000000"/>
              </a:buClr>
            </a:pPr>
            <a:r>
              <a:rPr lang="en-US" altLang="zh-TW" sz="1050" dirty="0">
                <a:solidFill>
                  <a:schemeClr val="bg1"/>
                </a:solidFill>
                <a:latin typeface="微軟正黑體" panose="020B0604030504040204" pitchFamily="34" charset="-120"/>
                <a:ea typeface="微軟正黑體" panose="020B0604030504040204" pitchFamily="34" charset="-120"/>
              </a:rPr>
              <a:t>BY </a:t>
            </a:r>
            <a:r>
              <a:rPr lang="zh-TW" altLang="en-US" sz="1050" dirty="0">
                <a:solidFill>
                  <a:schemeClr val="bg1"/>
                </a:solidFill>
                <a:latin typeface="微軟正黑體" panose="020B0604030504040204" pitchFamily="34" charset="-120"/>
                <a:ea typeface="微軟正黑體" panose="020B0604030504040204" pitchFamily="34" charset="-120"/>
              </a:rPr>
              <a:t>部門及功能分群設計並標註對應窗口</a:t>
            </a:r>
            <a:endParaRPr lang="en-US" altLang="zh-TW" sz="1050" dirty="0">
              <a:solidFill>
                <a:schemeClr val="bg1"/>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4755695" y="1312612"/>
            <a:ext cx="3661105" cy="1754326"/>
          </a:xfrm>
          <a:prstGeom prst="rect">
            <a:avLst/>
          </a:prstGeom>
          <a:noFill/>
        </p:spPr>
        <p:txBody>
          <a:bodyPr wrap="square">
            <a:spAutoFit/>
          </a:bodyPr>
          <a:lstStyle/>
          <a:p>
            <a:pPr>
              <a:lnSpc>
                <a:spcPct val="150000"/>
              </a:lnSpc>
              <a:buClr>
                <a:schemeClr val="tx1"/>
              </a:buClr>
            </a:pPr>
            <a:r>
              <a:rPr lang="zh-TW" altLang="en-US" sz="1200" dirty="0">
                <a:solidFill>
                  <a:srgbClr val="0000FF"/>
                </a:solidFill>
                <a:latin typeface="微軟正黑體" panose="020B0604030504040204" pitchFamily="34" charset="-120"/>
                <a:ea typeface="微軟正黑體" panose="020B0604030504040204" pitchFamily="34" charset="-120"/>
              </a:rPr>
              <a:t>自主開發系統</a:t>
            </a:r>
            <a:r>
              <a:rPr lang="zh-TW" altLang="en-US" sz="1200" dirty="0">
                <a:latin typeface="微軟正黑體" panose="020B0604030504040204" pitchFamily="34" charset="-120"/>
                <a:ea typeface="微軟正黑體" panose="020B0604030504040204" pitchFamily="34" charset="-120"/>
                <a:sym typeface="Wingdings" panose="05000000000000000000" pitchFamily="2" charset="2"/>
              </a:rPr>
              <a:t>：開發一站式指標監督系統</a:t>
            </a: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a:lnSpc>
                <a:spcPct val="150000"/>
              </a:lnSpc>
              <a:buClr>
                <a:schemeClr val="tx1"/>
              </a:buClr>
            </a:pPr>
            <a:r>
              <a:rPr lang="zh-TW" altLang="en-US" sz="1200" dirty="0">
                <a:solidFill>
                  <a:srgbClr val="0000FF"/>
                </a:solidFill>
                <a:latin typeface="微軟正黑體" panose="020B0604030504040204" pitchFamily="34" charset="-120"/>
                <a:ea typeface="微軟正黑體" panose="020B0604030504040204" pitchFamily="34" charset="-120"/>
              </a:rPr>
              <a:t>資料庫建置</a:t>
            </a:r>
            <a:r>
              <a:rPr lang="zh-TW" altLang="en-US" sz="1200" dirty="0">
                <a:latin typeface="微軟正黑體" panose="020B0604030504040204" pitchFamily="34" charset="-120"/>
                <a:ea typeface="微軟正黑體" panose="020B0604030504040204" pitchFamily="34" charset="-120"/>
                <a:sym typeface="Wingdings" panose="05000000000000000000" pitchFamily="2" charset="2"/>
              </a:rPr>
              <a:t>：建置</a:t>
            </a:r>
            <a:r>
              <a:rPr lang="zh-TW" altLang="en-US" sz="1200" dirty="0">
                <a:latin typeface="微軟正黑體" panose="020B0604030504040204" pitchFamily="34" charset="-120"/>
                <a:ea typeface="微軟正黑體" panose="020B0604030504040204" pitchFamily="34" charset="-120"/>
              </a:rPr>
              <a:t>資料庫供系統增刪查改</a:t>
            </a:r>
            <a:endParaRPr lang="en-US" altLang="zh-TW" sz="1200" dirty="0">
              <a:latin typeface="微軟正黑體" panose="020B0604030504040204" pitchFamily="34" charset="-120"/>
              <a:ea typeface="微軟正黑體" panose="020B0604030504040204" pitchFamily="34" charset="-120"/>
            </a:endParaRPr>
          </a:p>
          <a:p>
            <a:pPr>
              <a:lnSpc>
                <a:spcPct val="150000"/>
              </a:lnSpc>
              <a:buClr>
                <a:schemeClr val="tx1"/>
              </a:buClr>
            </a:pPr>
            <a:r>
              <a:rPr lang="zh-TW" altLang="en-US" sz="1200" dirty="0">
                <a:solidFill>
                  <a:srgbClr val="0000FF"/>
                </a:solidFill>
                <a:latin typeface="微軟正黑體" panose="020B0604030504040204" pitchFamily="34" charset="-120"/>
                <a:ea typeface="微軟正黑體" panose="020B0604030504040204" pitchFamily="34" charset="-120"/>
              </a:rPr>
              <a:t>網站建置</a:t>
            </a:r>
            <a:r>
              <a:rPr lang="zh-TW" altLang="en-US" sz="1200" dirty="0">
                <a:latin typeface="微軟正黑體" panose="020B0604030504040204" pitchFamily="34" charset="-120"/>
                <a:ea typeface="微軟正黑體" panose="020B0604030504040204" pitchFamily="34" charset="-120"/>
                <a:sym typeface="Wingdings" panose="05000000000000000000" pitchFamily="2" charset="2"/>
              </a:rPr>
              <a:t>： </a:t>
            </a: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marL="642938" lvl="2" indent="-128588">
              <a:lnSpc>
                <a:spcPct val="150000"/>
              </a:lnSpc>
              <a:buClr>
                <a:schemeClr val="tx1"/>
              </a:buClr>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Fast API</a:t>
            </a:r>
            <a:r>
              <a:rPr lang="zh-TW" altLang="en-US" sz="1200" dirty="0">
                <a:latin typeface="微軟正黑體" panose="020B0604030504040204" pitchFamily="34" charset="-120"/>
                <a:ea typeface="微軟正黑體" panose="020B0604030504040204" pitchFamily="34" charset="-120"/>
              </a:rPr>
              <a:t>建置後端框架串接資料庫及相關串流功能</a:t>
            </a:r>
            <a:endParaRPr lang="en-US" altLang="zh-TW" sz="1200" dirty="0">
              <a:latin typeface="微軟正黑體" panose="020B0604030504040204" pitchFamily="34" charset="-120"/>
              <a:ea typeface="微軟正黑體" panose="020B0604030504040204" pitchFamily="34" charset="-120"/>
            </a:endParaRPr>
          </a:p>
          <a:p>
            <a:pPr marL="642938" lvl="2" indent="-128588">
              <a:lnSpc>
                <a:spcPct val="150000"/>
              </a:lnSpc>
              <a:buClr>
                <a:schemeClr val="tx1"/>
              </a:buCl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前端網頁設計及功能開發</a:t>
            </a:r>
            <a:endParaRPr lang="en-US" altLang="zh-TW" sz="12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7374162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grpSp>
        <p:nvGrpSpPr>
          <p:cNvPr id="3" name="群組 2"/>
          <p:cNvGrpSpPr/>
          <p:nvPr/>
        </p:nvGrpSpPr>
        <p:grpSpPr>
          <a:xfrm>
            <a:off x="63520" y="684779"/>
            <a:ext cx="6994506" cy="4214622"/>
            <a:chOff x="79939" y="917539"/>
            <a:chExt cx="10631204" cy="5846244"/>
          </a:xfrm>
        </p:grpSpPr>
        <p:pic>
          <p:nvPicPr>
            <p:cNvPr id="4" name="圖片 3"/>
            <p:cNvPicPr>
              <a:picLocks noChangeAspect="1"/>
            </p:cNvPicPr>
            <p:nvPr/>
          </p:nvPicPr>
          <p:blipFill>
            <a:blip r:embed="rId3"/>
            <a:stretch>
              <a:fillRect/>
            </a:stretch>
          </p:blipFill>
          <p:spPr>
            <a:xfrm>
              <a:off x="228035" y="1109656"/>
              <a:ext cx="10483108" cy="5036978"/>
            </a:xfrm>
            <a:prstGeom prst="rect">
              <a:avLst/>
            </a:prstGeom>
          </p:spPr>
        </p:pic>
        <p:pic>
          <p:nvPicPr>
            <p:cNvPr id="5" name="圖片 4"/>
            <p:cNvPicPr>
              <a:picLocks noChangeAspect="1"/>
            </p:cNvPicPr>
            <p:nvPr/>
          </p:nvPicPr>
          <p:blipFill>
            <a:blip r:embed="rId4"/>
            <a:stretch>
              <a:fillRect/>
            </a:stretch>
          </p:blipFill>
          <p:spPr>
            <a:xfrm>
              <a:off x="9553812" y="1816094"/>
              <a:ext cx="1025230" cy="4829695"/>
            </a:xfrm>
            <a:prstGeom prst="rect">
              <a:avLst/>
            </a:prstGeom>
          </p:spPr>
        </p:pic>
        <p:cxnSp>
          <p:nvCxnSpPr>
            <p:cNvPr id="6" name="肘形接點 5"/>
            <p:cNvCxnSpPr>
              <a:stCxn id="4" idx="1"/>
              <a:endCxn id="11" idx="1"/>
            </p:cNvCxnSpPr>
            <p:nvPr/>
          </p:nvCxnSpPr>
          <p:spPr>
            <a:xfrm rot="10800000" flipH="1" flipV="1">
              <a:off x="228036" y="3628145"/>
              <a:ext cx="7617593" cy="2959530"/>
            </a:xfrm>
            <a:prstGeom prst="bentConnector3">
              <a:avLst>
                <a:gd name="adj1" fmla="val -456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28036" y="1903891"/>
              <a:ext cx="823926" cy="3522814"/>
            </a:xfrm>
            <a:prstGeom prst="rect">
              <a:avLst/>
            </a:prstGeom>
            <a:noFill/>
            <a:ln w="1905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79939" y="2592855"/>
              <a:ext cx="1099333" cy="576351"/>
            </a:xfrm>
            <a:prstGeom prst="rect">
              <a:avLst/>
            </a:prstGeom>
            <a:solidFill>
              <a:schemeClr val="bg1"/>
            </a:solidFill>
          </p:spPr>
          <p:txBody>
            <a:bodyPr wrap="none" rtlCol="0">
              <a:spAutoFit/>
            </a:bodyPr>
            <a:lstStyle/>
            <a:p>
              <a:pPr algn="ctr"/>
              <a:r>
                <a:rPr lang="zh-TW" altLang="en-US" sz="1050" b="1" dirty="0">
                  <a:latin typeface="微軟正黑體" panose="020B0604030504040204" pitchFamily="34" charset="-120"/>
                  <a:ea typeface="微軟正黑體" panose="020B0604030504040204" pitchFamily="34" charset="-120"/>
                </a:rPr>
                <a:t>項目引導</a:t>
              </a:r>
              <a:endParaRPr lang="en-US" altLang="zh-TW" sz="1050" b="1" dirty="0">
                <a:latin typeface="微軟正黑體" panose="020B0604030504040204" pitchFamily="34" charset="-120"/>
                <a:ea typeface="微軟正黑體" panose="020B0604030504040204" pitchFamily="34" charset="-120"/>
              </a:endParaRPr>
            </a:p>
            <a:p>
              <a:pPr algn="ctr"/>
              <a:r>
                <a:rPr lang="zh-TW" altLang="en-US" sz="1050" b="1" dirty="0">
                  <a:latin typeface="微軟正黑體" panose="020B0604030504040204" pitchFamily="34" charset="-120"/>
                  <a:ea typeface="微軟正黑體" panose="020B0604030504040204" pitchFamily="34" charset="-120"/>
                </a:rPr>
                <a:t>快捷鍵</a:t>
              </a:r>
              <a:endParaRPr lang="en-US" altLang="zh-TW" sz="1050" b="1" dirty="0">
                <a:latin typeface="微軟正黑體" panose="020B0604030504040204" pitchFamily="34" charset="-120"/>
                <a:ea typeface="微軟正黑體" panose="020B0604030504040204" pitchFamily="34" charset="-120"/>
              </a:endParaRPr>
            </a:p>
          </p:txBody>
        </p:sp>
        <p:cxnSp>
          <p:nvCxnSpPr>
            <p:cNvPr id="9" name="肘形接點 8"/>
            <p:cNvCxnSpPr/>
            <p:nvPr/>
          </p:nvCxnSpPr>
          <p:spPr>
            <a:xfrm>
              <a:off x="833515" y="6081943"/>
              <a:ext cx="756000" cy="1"/>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402667" y="1792482"/>
              <a:ext cx="370008" cy="270406"/>
            </a:xfrm>
            <a:prstGeom prst="rect">
              <a:avLst/>
            </a:prstGeom>
            <a:noFill/>
            <a:ln w="1905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latin typeface="微軟正黑體" panose="020B0604030504040204" pitchFamily="34" charset="-120"/>
                <a:ea typeface="微軟正黑體" panose="020B0604030504040204" pitchFamily="34" charset="-120"/>
              </a:endParaRPr>
            </a:p>
          </p:txBody>
        </p:sp>
        <p:sp>
          <p:nvSpPr>
            <p:cNvPr id="11" name="文字方塊 10"/>
            <p:cNvSpPr txBox="1"/>
            <p:nvPr/>
          </p:nvSpPr>
          <p:spPr>
            <a:xfrm>
              <a:off x="7845628" y="6411568"/>
              <a:ext cx="2525149" cy="352215"/>
            </a:xfrm>
            <a:prstGeom prst="rect">
              <a:avLst/>
            </a:prstGeom>
            <a:solidFill>
              <a:schemeClr val="bg1"/>
            </a:solidFill>
          </p:spPr>
          <p:txBody>
            <a:bodyPr wrap="none" rtlCol="0">
              <a:spAutoFit/>
            </a:bodyPr>
            <a:lstStyle/>
            <a:p>
              <a:pPr marL="128588" indent="-128588">
                <a:buFont typeface="Arial" panose="020B0604020202020204" pitchFamily="34" charset="0"/>
                <a:buChar char="•"/>
              </a:pPr>
              <a:r>
                <a:rPr lang="zh-TW" altLang="en-US" sz="1050" b="1" dirty="0">
                  <a:latin typeface="微軟正黑體" panose="020B0604030504040204" pitchFamily="34" charset="-120"/>
                  <a:ea typeface="微軟正黑體" panose="020B0604030504040204" pitchFamily="34" charset="-120"/>
                </a:rPr>
                <a:t>雙擊左側導覽空白區域</a:t>
              </a:r>
            </a:p>
          </p:txBody>
        </p:sp>
        <p:sp>
          <p:nvSpPr>
            <p:cNvPr id="12" name="文字方塊 11"/>
            <p:cNvSpPr txBox="1"/>
            <p:nvPr/>
          </p:nvSpPr>
          <p:spPr>
            <a:xfrm>
              <a:off x="118667" y="5603025"/>
              <a:ext cx="1713321" cy="352215"/>
            </a:xfrm>
            <a:prstGeom prst="rect">
              <a:avLst/>
            </a:prstGeom>
            <a:solidFill>
              <a:schemeClr val="bg1"/>
            </a:solidFill>
          </p:spPr>
          <p:txBody>
            <a:bodyPr wrap="none" rtlCol="0">
              <a:spAutoFit/>
            </a:bodyPr>
            <a:lstStyle/>
            <a:p>
              <a:r>
                <a:rPr lang="zh-TW" altLang="en-US" sz="1050" b="1" u="sng" dirty="0">
                  <a:latin typeface="微軟正黑體" panose="020B0604030504040204" pitchFamily="34" charset="-120"/>
                  <a:ea typeface="微軟正黑體" panose="020B0604030504040204" pitchFamily="34" charset="-120"/>
                </a:rPr>
                <a:t>新增資料功能鍵</a:t>
              </a:r>
              <a:endParaRPr lang="en-US" altLang="zh-TW" sz="1050" b="1" u="sng" dirty="0">
                <a:latin typeface="微軟正黑體" panose="020B0604030504040204" pitchFamily="34" charset="-120"/>
                <a:ea typeface="微軟正黑體" panose="020B0604030504040204" pitchFamily="34" charset="-120"/>
              </a:endParaRPr>
            </a:p>
          </p:txBody>
        </p:sp>
        <p:sp>
          <p:nvSpPr>
            <p:cNvPr id="13" name="文字方塊 12"/>
            <p:cNvSpPr txBox="1"/>
            <p:nvPr/>
          </p:nvSpPr>
          <p:spPr>
            <a:xfrm>
              <a:off x="2051337" y="1360692"/>
              <a:ext cx="1508657" cy="352215"/>
            </a:xfrm>
            <a:prstGeom prst="rect">
              <a:avLst/>
            </a:prstGeom>
            <a:solidFill>
              <a:schemeClr val="bg1"/>
            </a:solidFill>
          </p:spPr>
          <p:txBody>
            <a:bodyPr wrap="none" rtlCol="0">
              <a:spAutoFit/>
            </a:bodyPr>
            <a:lstStyle/>
            <a:p>
              <a:r>
                <a:rPr lang="zh-TW" altLang="en-US" sz="1050" b="1" u="sng" dirty="0">
                  <a:latin typeface="微軟正黑體" panose="020B0604030504040204" pitchFamily="34" charset="-120"/>
                  <a:ea typeface="微軟正黑體" panose="020B0604030504040204" pitchFamily="34" charset="-120"/>
                </a:rPr>
                <a:t>雙擊刪除內容</a:t>
              </a:r>
            </a:p>
          </p:txBody>
        </p:sp>
        <p:pic>
          <p:nvPicPr>
            <p:cNvPr id="14" name="圖片 13"/>
            <p:cNvPicPr>
              <a:picLocks noChangeAspect="1"/>
            </p:cNvPicPr>
            <p:nvPr/>
          </p:nvPicPr>
          <p:blipFill>
            <a:blip r:embed="rId5"/>
            <a:stretch>
              <a:fillRect/>
            </a:stretch>
          </p:blipFill>
          <p:spPr>
            <a:xfrm>
              <a:off x="2211680" y="3377550"/>
              <a:ext cx="2418590" cy="3315809"/>
            </a:xfrm>
            <a:prstGeom prst="rect">
              <a:avLst/>
            </a:prstGeom>
            <a:ln w="19050" cap="sq">
              <a:solidFill>
                <a:srgbClr val="000000"/>
              </a:solidFill>
              <a:miter lim="800000"/>
            </a:ln>
            <a:effectLst>
              <a:outerShdw blurRad="57150" dist="50800" dir="2700000" algn="tl" rotWithShape="0">
                <a:srgbClr val="000000">
                  <a:alpha val="40000"/>
                </a:srgbClr>
              </a:outerShdw>
            </a:effectLst>
          </p:spPr>
        </p:pic>
        <p:sp>
          <p:nvSpPr>
            <p:cNvPr id="15" name="矩形 14"/>
            <p:cNvSpPr/>
            <p:nvPr/>
          </p:nvSpPr>
          <p:spPr>
            <a:xfrm>
              <a:off x="463506" y="5950534"/>
              <a:ext cx="370008" cy="270406"/>
            </a:xfrm>
            <a:prstGeom prst="rect">
              <a:avLst/>
            </a:prstGeom>
            <a:noFill/>
            <a:ln w="1905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latin typeface="微軟正黑體" panose="020B0604030504040204" pitchFamily="34" charset="-120"/>
                <a:ea typeface="微軟正黑體" panose="020B0604030504040204" pitchFamily="34" charset="-120"/>
              </a:endParaRPr>
            </a:p>
          </p:txBody>
        </p:sp>
        <p:sp>
          <p:nvSpPr>
            <p:cNvPr id="16" name="文字方塊 15"/>
            <p:cNvSpPr txBox="1"/>
            <p:nvPr/>
          </p:nvSpPr>
          <p:spPr>
            <a:xfrm>
              <a:off x="4090296" y="917539"/>
              <a:ext cx="5609225" cy="352215"/>
            </a:xfrm>
            <a:prstGeom prst="rect">
              <a:avLst/>
            </a:prstGeom>
            <a:solidFill>
              <a:schemeClr val="bg1"/>
            </a:solidFill>
          </p:spPr>
          <p:txBody>
            <a:bodyPr wrap="none" rtlCol="0">
              <a:spAutoFit/>
            </a:bodyPr>
            <a:lstStyle/>
            <a:p>
              <a:r>
                <a:rPr lang="zh-TW" altLang="en-US" sz="1050" b="1" u="sng" dirty="0">
                  <a:latin typeface="微軟正黑體" panose="020B0604030504040204" pitchFamily="34" charset="-120"/>
                  <a:ea typeface="微軟正黑體" panose="020B0604030504040204" pitchFamily="34" charset="-120"/>
                </a:rPr>
                <a:t>若新增 </a:t>
              </a:r>
              <a:r>
                <a:rPr lang="en-US" altLang="zh-TW" sz="1050" b="1" u="sng" dirty="0">
                  <a:latin typeface="微軟正黑體" panose="020B0604030504040204" pitchFamily="34" charset="-120"/>
                  <a:ea typeface="微軟正黑體" panose="020B0604030504040204" pitchFamily="34" charset="-120"/>
                </a:rPr>
                <a:t>or </a:t>
              </a:r>
              <a:r>
                <a:rPr lang="zh-TW" altLang="en-US" sz="1050" b="1" u="sng" dirty="0">
                  <a:latin typeface="微軟正黑體" panose="020B0604030504040204" pitchFamily="34" charset="-120"/>
                  <a:ea typeface="微軟正黑體" panose="020B0604030504040204" pitchFamily="34" charset="-120"/>
                </a:rPr>
                <a:t>刪除內容後頁面跑版 或無該有變動 煩請重新整理</a:t>
              </a:r>
            </a:p>
          </p:txBody>
        </p:sp>
        <p:cxnSp>
          <p:nvCxnSpPr>
            <p:cNvPr id="17" name="肘形接點 16"/>
            <p:cNvCxnSpPr>
              <a:stCxn id="10" idx="2"/>
              <a:endCxn id="18" idx="1"/>
            </p:cNvCxnSpPr>
            <p:nvPr/>
          </p:nvCxnSpPr>
          <p:spPr>
            <a:xfrm rot="16200000" flipH="1">
              <a:off x="1653301" y="1997258"/>
              <a:ext cx="987304" cy="111856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8" name="圖片 17"/>
          <p:cNvPicPr>
            <a:picLocks noChangeAspect="1"/>
          </p:cNvPicPr>
          <p:nvPr/>
        </p:nvPicPr>
        <p:blipFill>
          <a:blip r:embed="rId6"/>
          <a:stretch>
            <a:fillRect/>
          </a:stretch>
        </p:blipFill>
        <p:spPr>
          <a:xfrm>
            <a:off x="1791418" y="1805579"/>
            <a:ext cx="4108396" cy="833307"/>
          </a:xfrm>
          <a:prstGeom prst="rect">
            <a:avLst/>
          </a:prstGeom>
          <a:ln>
            <a:noFill/>
          </a:ln>
          <a:effectLst>
            <a:outerShdw blurRad="292100" dist="139700" dir="2700000" algn="tl" rotWithShape="0">
              <a:srgbClr val="333333">
                <a:alpha val="65000"/>
              </a:srgbClr>
            </a:outerShdw>
          </a:effectLst>
        </p:spPr>
      </p:pic>
      <p:pic>
        <p:nvPicPr>
          <p:cNvPr id="19" name="圖片 18"/>
          <p:cNvPicPr>
            <a:picLocks noChangeAspect="1"/>
          </p:cNvPicPr>
          <p:nvPr/>
        </p:nvPicPr>
        <p:blipFill>
          <a:blip r:embed="rId7"/>
          <a:stretch>
            <a:fillRect/>
          </a:stretch>
        </p:blipFill>
        <p:spPr>
          <a:xfrm>
            <a:off x="5832140" y="3179042"/>
            <a:ext cx="3123639" cy="1481347"/>
          </a:xfrm>
          <a:prstGeom prst="rect">
            <a:avLst/>
          </a:prstGeom>
        </p:spPr>
      </p:pic>
      <p:sp>
        <p:nvSpPr>
          <p:cNvPr id="20" name="向下箭號 19"/>
          <p:cNvSpPr/>
          <p:nvPr/>
        </p:nvSpPr>
        <p:spPr>
          <a:xfrm rot="16200000">
            <a:off x="5413359" y="4412753"/>
            <a:ext cx="270030" cy="275256"/>
          </a:xfrm>
          <a:prstGeom prst="downArrow">
            <a:avLst/>
          </a:prstGeom>
          <a:solidFill>
            <a:srgbClr val="449E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b="1">
              <a:latin typeface="微軟正黑體" panose="020B0604030504040204" pitchFamily="34" charset="-120"/>
              <a:ea typeface="微軟正黑體" panose="020B0604030504040204" pitchFamily="34" charset="-120"/>
            </a:endParaRPr>
          </a:p>
        </p:txBody>
      </p:sp>
      <p:sp>
        <p:nvSpPr>
          <p:cNvPr id="21" name="矩形 218"/>
          <p:cNvSpPr>
            <a:spLocks noChangeArrowheads="1"/>
          </p:cNvSpPr>
          <p:nvPr/>
        </p:nvSpPr>
        <p:spPr bwMode="auto">
          <a:xfrm>
            <a:off x="5708248" y="4401326"/>
            <a:ext cx="1226258" cy="289441"/>
          </a:xfrm>
          <a:prstGeom prst="roundRect">
            <a:avLst/>
          </a:prstGeom>
          <a:solidFill>
            <a:schemeClr val="accent3"/>
          </a:solidFill>
          <a:ln>
            <a:noFill/>
          </a:ln>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fontAlgn="auto" hangingPunct="1">
              <a:spcBef>
                <a:spcPts val="0"/>
              </a:spcBef>
              <a:spcAft>
                <a:spcPts val="0"/>
              </a:spcAft>
            </a:pPr>
            <a:r>
              <a:rPr lang="zh-TW" altLang="en-US" sz="1100" b="1" dirty="0" smtClean="0">
                <a:solidFill>
                  <a:prstClr val="black"/>
                </a:solidFill>
                <a:latin typeface="微軟正黑體" panose="020B0604030504040204" pitchFamily="34" charset="-120"/>
                <a:ea typeface="微軟正黑體" panose="020B0604030504040204" pitchFamily="34" charset="-120"/>
              </a:rPr>
              <a:t>部門內模板套用</a:t>
            </a:r>
            <a:endParaRPr lang="en-US" altLang="zh-TW" sz="1100" b="1" dirty="0">
              <a:solidFill>
                <a:prstClr val="black"/>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968506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zh-TW" altLang="en-US" dirty="0">
                <a:cs typeface="Arial" panose="020B0604020202020204" pitchFamily="34" charset="0"/>
              </a:rPr>
              <a:t>專案管理系統</a:t>
            </a:r>
            <a:endParaRPr lang="zh-TW" altLang="zh-TW" dirty="0"/>
          </a:p>
        </p:txBody>
      </p:sp>
      <p:sp>
        <p:nvSpPr>
          <p:cNvPr id="50" name="矩形 49"/>
          <p:cNvSpPr/>
          <p:nvPr/>
        </p:nvSpPr>
        <p:spPr>
          <a:xfrm>
            <a:off x="8117757" y="4905339"/>
            <a:ext cx="1026243" cy="215444"/>
          </a:xfrm>
          <a:prstGeom prst="rect">
            <a:avLst/>
          </a:prstGeom>
        </p:spPr>
        <p:txBody>
          <a:bodyPr wrap="none">
            <a:spAutoFit/>
          </a:bodyPr>
          <a:lstStyle/>
          <a:p>
            <a:r>
              <a:rPr lang="en-US" altLang="zh-TW" sz="800" dirty="0" smtClean="0"/>
              <a:t>CAPA: </a:t>
            </a:r>
            <a:r>
              <a:rPr lang="zh-TW" altLang="en-US" sz="800" dirty="0" smtClean="0"/>
              <a:t>產能達成率</a:t>
            </a:r>
            <a:endParaRPr lang="en-US" altLang="zh-TW" sz="800" dirty="0"/>
          </a:p>
        </p:txBody>
      </p:sp>
      <p:sp>
        <p:nvSpPr>
          <p:cNvPr id="4" name="圓角矩形 3"/>
          <p:cNvSpPr/>
          <p:nvPr/>
        </p:nvSpPr>
        <p:spPr>
          <a:xfrm>
            <a:off x="4375786" y="722066"/>
            <a:ext cx="4471034" cy="4053698"/>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173140" y="741159"/>
            <a:ext cx="4221827" cy="4013546"/>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228543" y="968346"/>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344516" y="1065610"/>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8" name="矩形 7"/>
          <p:cNvSpPr/>
          <p:nvPr/>
        </p:nvSpPr>
        <p:spPr>
          <a:xfrm>
            <a:off x="4682643" y="999082"/>
            <a:ext cx="1409105" cy="1169551"/>
          </a:xfrm>
          <a:prstGeom prst="rect">
            <a:avLst/>
          </a:prstGeom>
        </p:spPr>
        <p:txBody>
          <a:bodyPr wrap="square">
            <a:spAutoFit/>
          </a:body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技術對策</a:t>
            </a:r>
            <a:r>
              <a:rPr kumimoji="0" lang="en-US" altLang="zh-TW" sz="1600" b="1" dirty="0">
                <a:solidFill>
                  <a:prstClr val="black"/>
                </a:solidFill>
                <a:latin typeface="微軟正黑體" panose="020B0604030504040204" pitchFamily="34" charset="-120"/>
                <a:ea typeface="微軟正黑體" panose="020B0604030504040204" pitchFamily="34" charset="-120"/>
              </a:rPr>
              <a:t>:</a:t>
            </a:r>
          </a:p>
          <a:p>
            <a:pPr eaLnBrk="1" fontAlgn="auto" hangingPunct="1">
              <a:spcBef>
                <a:spcPts val="0"/>
              </a:spcBef>
              <a:spcAft>
                <a:spcPts val="0"/>
              </a:spcAft>
              <a:defRPr/>
            </a:pPr>
            <a:endParaRPr kumimoji="0" lang="en-US" altLang="zh-TW" sz="1800" b="1" kern="0"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b="1" dirty="0">
              <a:solidFill>
                <a:srgbClr val="0000FF"/>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defRPr/>
            </a:pPr>
            <a:endParaRPr kumimoji="0" lang="zh-TW" altLang="en-US" sz="1800" dirty="0">
              <a:solidFill>
                <a:prstClr val="black">
                  <a:lumMod val="95000"/>
                  <a:lumOff val="5000"/>
                </a:prstClr>
              </a:solidFill>
              <a:latin typeface="微軟正黑體" panose="020B0604030504040204" pitchFamily="34" charset="-120"/>
              <a:ea typeface="微軟正黑體" panose="020B0604030504040204" pitchFamily="34" charset="-120"/>
            </a:endParaRPr>
          </a:p>
        </p:txBody>
      </p:sp>
      <p:sp>
        <p:nvSpPr>
          <p:cNvPr id="9" name="矩形 8"/>
          <p:cNvSpPr/>
          <p:nvPr/>
        </p:nvSpPr>
        <p:spPr>
          <a:xfrm>
            <a:off x="4704713" y="1352537"/>
            <a:ext cx="4009018" cy="1015663"/>
          </a:xfrm>
          <a:prstGeom prst="rect">
            <a:avLst/>
          </a:prstGeom>
          <a:noFill/>
        </p:spPr>
        <p:txBody>
          <a:bodyPr wrap="square">
            <a:spAutoFit/>
          </a:bodyPr>
          <a:lstStyle/>
          <a:p>
            <a:pPr>
              <a:lnSpc>
                <a:spcPct val="150000"/>
              </a:lnSpc>
              <a:buClr>
                <a:schemeClr val="tx1"/>
              </a:buClr>
            </a:pPr>
            <a:r>
              <a:rPr lang="zh-TW" altLang="en-US" sz="1000" dirty="0" smtClean="0">
                <a:solidFill>
                  <a:srgbClr val="0000FF"/>
                </a:solidFill>
                <a:latin typeface="微軟正黑體" panose="020B0604030504040204" pitchFamily="34" charset="-120"/>
                <a:ea typeface="微軟正黑體" panose="020B0604030504040204" pitchFamily="34" charset="-120"/>
              </a:rPr>
              <a:t>資料庫建置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：建置</a:t>
            </a:r>
            <a:r>
              <a:rPr lang="zh-TW" altLang="en-US" sz="1000" dirty="0" smtClean="0">
                <a:latin typeface="微軟正黑體" panose="020B0604030504040204" pitchFamily="34" charset="-120"/>
                <a:ea typeface="微軟正黑體" panose="020B0604030504040204" pitchFamily="34" charset="-120"/>
              </a:rPr>
              <a:t>資料庫儲存相關資料</a:t>
            </a:r>
            <a:endParaRPr lang="en-US" altLang="zh-TW" sz="1000" dirty="0" smtClean="0">
              <a:latin typeface="微軟正黑體" panose="020B0604030504040204" pitchFamily="34" charset="-120"/>
              <a:ea typeface="微軟正黑體" panose="020B0604030504040204" pitchFamily="34" charset="-120"/>
            </a:endParaRPr>
          </a:p>
          <a:p>
            <a:pPr>
              <a:lnSpc>
                <a:spcPct val="150000"/>
              </a:lnSpc>
              <a:buClr>
                <a:schemeClr val="tx1"/>
              </a:buClr>
            </a:pPr>
            <a:r>
              <a:rPr lang="zh-TW" altLang="en-US" sz="1000" dirty="0" smtClean="0">
                <a:solidFill>
                  <a:srgbClr val="0000FF"/>
                </a:solidFill>
                <a:latin typeface="微軟正黑體" panose="020B0604030504040204" pitchFamily="34" charset="-120"/>
                <a:ea typeface="微軟正黑體" panose="020B0604030504040204" pitchFamily="34" charset="-120"/>
              </a:rPr>
              <a:t>網站建置</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 </a:t>
            </a:r>
            <a:endPar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endParaRPr>
          </a:p>
          <a:p>
            <a:pPr marL="857250" lvl="2" indent="-171450">
              <a:lnSpc>
                <a:spcPct val="150000"/>
              </a:lnSpc>
              <a:buClr>
                <a:schemeClr val="tx1"/>
              </a:buClr>
              <a:buFont typeface="Arial" panose="020B0604020202020204" pitchFamily="34" charset="0"/>
              <a:buChar char="•"/>
            </a:pPr>
            <a:r>
              <a:rPr lang="en-US" altLang="zh-TW" sz="1000" dirty="0" smtClean="0">
                <a:latin typeface="微軟正黑體" panose="020B0604030504040204" pitchFamily="34" charset="-120"/>
                <a:ea typeface="微軟正黑體" panose="020B0604030504040204" pitchFamily="34" charset="-120"/>
              </a:rPr>
              <a:t>Fast API</a:t>
            </a:r>
            <a:r>
              <a:rPr lang="zh-TW" altLang="en-US" sz="1000" dirty="0" smtClean="0">
                <a:latin typeface="微軟正黑體" panose="020B0604030504040204" pitchFamily="34" charset="-120"/>
                <a:ea typeface="微軟正黑體" panose="020B0604030504040204" pitchFamily="34" charset="-120"/>
              </a:rPr>
              <a:t>建置後端框架串接資料庫及相關串流功能</a:t>
            </a:r>
            <a:endParaRPr lang="en-US" altLang="zh-TW" sz="1000" dirty="0">
              <a:latin typeface="微軟正黑體" panose="020B0604030504040204" pitchFamily="34" charset="-120"/>
              <a:ea typeface="微軟正黑體" panose="020B0604030504040204" pitchFamily="34" charset="-120"/>
            </a:endParaRPr>
          </a:p>
          <a:p>
            <a:pPr marL="857250" lvl="2" indent="-171450">
              <a:lnSpc>
                <a:spcPct val="150000"/>
              </a:lnSpc>
              <a:buClr>
                <a:schemeClr val="tx1"/>
              </a:buClr>
              <a:buFont typeface="Arial" panose="020B0604020202020204" pitchFamily="34" charset="0"/>
              <a:buChar char="•"/>
            </a:pPr>
            <a:r>
              <a:rPr lang="zh-TW" altLang="en-US" sz="1000" dirty="0" smtClean="0">
                <a:latin typeface="微軟正黑體" panose="020B0604030504040204" pitchFamily="34" charset="-120"/>
                <a:ea typeface="微軟正黑體" panose="020B0604030504040204" pitchFamily="34" charset="-120"/>
              </a:rPr>
              <a:t>前端網頁設計及功能開發</a:t>
            </a:r>
            <a:endParaRPr lang="en-US" altLang="zh-TW" sz="1000" dirty="0" smtClean="0">
              <a:latin typeface="微軟正黑體" panose="020B0604030504040204" pitchFamily="34" charset="-120"/>
              <a:ea typeface="微軟正黑體" panose="020B0604030504040204" pitchFamily="34" charset="-120"/>
            </a:endParaRPr>
          </a:p>
        </p:txBody>
      </p:sp>
      <p:sp>
        <p:nvSpPr>
          <p:cNvPr id="10" name="椭圆 66"/>
          <p:cNvSpPr/>
          <p:nvPr/>
        </p:nvSpPr>
        <p:spPr bwMode="auto">
          <a:xfrm rot="4723889">
            <a:off x="1902834" y="415665"/>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11" name="组合 67"/>
          <p:cNvGrpSpPr>
            <a:grpSpLocks/>
          </p:cNvGrpSpPr>
          <p:nvPr/>
        </p:nvGrpSpPr>
        <p:grpSpPr bwMode="auto">
          <a:xfrm rot="5400000">
            <a:off x="1697508" y="438922"/>
            <a:ext cx="951398" cy="1215148"/>
            <a:chOff x="1123476" y="1681897"/>
            <a:chExt cx="3206311" cy="2990785"/>
          </a:xfrm>
        </p:grpSpPr>
        <p:grpSp>
          <p:nvGrpSpPr>
            <p:cNvPr id="12" name="组合 68"/>
            <p:cNvGrpSpPr>
              <a:grpSpLocks/>
            </p:cNvGrpSpPr>
            <p:nvPr/>
          </p:nvGrpSpPr>
          <p:grpSpPr bwMode="auto">
            <a:xfrm>
              <a:off x="1123476" y="1763461"/>
              <a:ext cx="2798050" cy="2798050"/>
              <a:chOff x="1123476" y="1763461"/>
              <a:chExt cx="2798050" cy="2798050"/>
            </a:xfrm>
          </p:grpSpPr>
          <p:sp>
            <p:nvSpPr>
              <p:cNvPr id="18" name="弧形 17"/>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9" name="弧形 18"/>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0" name="弧形 19"/>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1" name="弧形 20"/>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13" name="组合 69"/>
            <p:cNvGrpSpPr>
              <a:grpSpLocks/>
            </p:cNvGrpSpPr>
            <p:nvPr/>
          </p:nvGrpSpPr>
          <p:grpSpPr bwMode="auto">
            <a:xfrm rot="-7200000">
              <a:off x="1273270" y="1616165"/>
              <a:ext cx="2990785" cy="3122249"/>
              <a:chOff x="891209" y="1807143"/>
              <a:chExt cx="2990785" cy="3122249"/>
            </a:xfrm>
          </p:grpSpPr>
          <p:sp>
            <p:nvSpPr>
              <p:cNvPr id="14" name="弧形 13"/>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5" name="弧形 14"/>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6" name="弧形 15"/>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7" name="弧形 16"/>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22" name="矩形 21"/>
          <p:cNvSpPr/>
          <p:nvPr/>
        </p:nvSpPr>
        <p:spPr>
          <a:xfrm>
            <a:off x="1640809" y="869442"/>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23" name="椭圆 66"/>
          <p:cNvSpPr/>
          <p:nvPr/>
        </p:nvSpPr>
        <p:spPr bwMode="auto">
          <a:xfrm rot="4723889">
            <a:off x="6530144" y="481016"/>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24" name="组合 67"/>
          <p:cNvGrpSpPr>
            <a:grpSpLocks/>
          </p:cNvGrpSpPr>
          <p:nvPr/>
        </p:nvGrpSpPr>
        <p:grpSpPr bwMode="auto">
          <a:xfrm rot="4723889">
            <a:off x="6455174" y="537089"/>
            <a:ext cx="671560" cy="961309"/>
            <a:chOff x="1123476" y="1681897"/>
            <a:chExt cx="3206311" cy="2990785"/>
          </a:xfrm>
        </p:grpSpPr>
        <p:grpSp>
          <p:nvGrpSpPr>
            <p:cNvPr id="25" name="组合 68"/>
            <p:cNvGrpSpPr>
              <a:grpSpLocks/>
            </p:cNvGrpSpPr>
            <p:nvPr/>
          </p:nvGrpSpPr>
          <p:grpSpPr bwMode="auto">
            <a:xfrm>
              <a:off x="1123476" y="1763461"/>
              <a:ext cx="2798050" cy="2798050"/>
              <a:chOff x="1123476" y="1763461"/>
              <a:chExt cx="2798050" cy="2798050"/>
            </a:xfrm>
          </p:grpSpPr>
          <p:sp>
            <p:nvSpPr>
              <p:cNvPr id="31" name="弧形 30"/>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2" name="弧形 31"/>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3" name="弧形 32"/>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4" name="弧形 33"/>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26" name="组合 69"/>
            <p:cNvGrpSpPr>
              <a:grpSpLocks/>
            </p:cNvGrpSpPr>
            <p:nvPr/>
          </p:nvGrpSpPr>
          <p:grpSpPr bwMode="auto">
            <a:xfrm rot="-7200000">
              <a:off x="1273270" y="1616165"/>
              <a:ext cx="2990785" cy="3122249"/>
              <a:chOff x="891209" y="1807143"/>
              <a:chExt cx="2990785" cy="3122249"/>
            </a:xfrm>
          </p:grpSpPr>
          <p:sp>
            <p:nvSpPr>
              <p:cNvPr id="27" name="弧形 26"/>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8" name="弧形 27"/>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29" name="弧形 28"/>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30" name="弧形 29"/>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35" name="矩形 34"/>
          <p:cNvSpPr/>
          <p:nvPr/>
        </p:nvSpPr>
        <p:spPr>
          <a:xfrm>
            <a:off x="6289593" y="803512"/>
            <a:ext cx="1002724" cy="307777"/>
          </a:xfrm>
          <a:prstGeom prst="rect">
            <a:avLst/>
          </a:prstGeom>
        </p:spPr>
        <p:txBody>
          <a:bodyPr wrap="square">
            <a:spAutoFit/>
          </a:bodyPr>
          <a:lstStyle/>
          <a:p>
            <a:pPr algn="ctr" eaLnBrk="1" fontAlgn="auto" hangingPunct="1">
              <a:spcBef>
                <a:spcPts val="0"/>
              </a:spcBef>
              <a:spcAft>
                <a:spcPts val="0"/>
              </a:spcAft>
              <a:defRPr/>
            </a:pPr>
            <a:r>
              <a:rPr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rPr>
              <a:t>解決方案</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36" name="矩形 35">
            <a:extLst>
              <a:ext uri="{FF2B5EF4-FFF2-40B4-BE49-F238E27FC236}">
                <a16:creationId xmlns:a16="http://schemas.microsoft.com/office/drawing/2014/main" xmlns="" id="{9BE08482-D953-47F4-81A8-BD823C2E476A}"/>
              </a:ext>
            </a:extLst>
          </p:cNvPr>
          <p:cNvSpPr/>
          <p:nvPr/>
        </p:nvSpPr>
        <p:spPr>
          <a:xfrm>
            <a:off x="248344" y="1404597"/>
            <a:ext cx="4006209" cy="784830"/>
          </a:xfrm>
          <a:prstGeom prst="rect">
            <a:avLst/>
          </a:prstGeom>
          <a:noFill/>
        </p:spPr>
        <p:txBody>
          <a:bodyPr wrap="square">
            <a:spAutoFit/>
          </a:bodyPr>
          <a:lstStyle/>
          <a:p>
            <a:pPr>
              <a:lnSpc>
                <a:spcPct val="150000"/>
              </a:lnSpc>
            </a:pPr>
            <a:r>
              <a:rPr lang="zh-TW" altLang="en-US" sz="1000" b="1" dirty="0" smtClean="0">
                <a:latin typeface="微軟正黑體" panose="020B0604030504040204" pitchFamily="34" charset="-120"/>
                <a:ea typeface="微軟正黑體" panose="020B0604030504040204" pitchFamily="34" charset="-120"/>
              </a:rPr>
              <a:t>部門成員每周於</a:t>
            </a:r>
            <a:r>
              <a:rPr lang="en-US" altLang="zh-TW" sz="1000" b="1" dirty="0" smtClean="0">
                <a:latin typeface="微軟正黑體" panose="020B0604030504040204" pitchFamily="34" charset="-120"/>
                <a:ea typeface="微軟正黑體" panose="020B0604030504040204" pitchFamily="34" charset="-120"/>
              </a:rPr>
              <a:t>Excel</a:t>
            </a:r>
            <a:r>
              <a:rPr lang="zh-TW" altLang="en-US" sz="1000" b="1" dirty="0" smtClean="0">
                <a:latin typeface="微軟正黑體" panose="020B0604030504040204" pitchFamily="34" charset="-120"/>
                <a:ea typeface="微軟正黑體" panose="020B0604030504040204" pitchFamily="34" charset="-120"/>
              </a:rPr>
              <a:t>內填寫專案進度、並於專案期間填寫效益及相關欄位；主管管理專案繁雜且統計效益、彙整報告需耗費大量時間及歷史專案回查不易</a:t>
            </a:r>
            <a:endParaRPr lang="en-US" altLang="zh-TW" sz="1000" b="1" dirty="0">
              <a:latin typeface="微軟正黑體" panose="020B0604030504040204" pitchFamily="34" charset="-120"/>
              <a:ea typeface="微軟正黑體" panose="020B0604030504040204" pitchFamily="34" charset="-120"/>
            </a:endParaRPr>
          </a:p>
        </p:txBody>
      </p:sp>
      <p:sp>
        <p:nvSpPr>
          <p:cNvPr id="37" name="矩形 36"/>
          <p:cNvSpPr/>
          <p:nvPr/>
        </p:nvSpPr>
        <p:spPr>
          <a:xfrm>
            <a:off x="5130616" y="3787524"/>
            <a:ext cx="3441568" cy="629273"/>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38" name="群組 37"/>
          <p:cNvGrpSpPr/>
          <p:nvPr/>
        </p:nvGrpSpPr>
        <p:grpSpPr>
          <a:xfrm>
            <a:off x="4615491" y="3537010"/>
            <a:ext cx="657666" cy="408164"/>
            <a:chOff x="109587" y="3086034"/>
            <a:chExt cx="743568" cy="408164"/>
          </a:xfrm>
          <a:solidFill>
            <a:srgbClr val="005087"/>
          </a:solidFill>
        </p:grpSpPr>
        <p:sp>
          <p:nvSpPr>
            <p:cNvPr id="39" name="圓角矩形 38"/>
            <p:cNvSpPr/>
            <p:nvPr/>
          </p:nvSpPr>
          <p:spPr>
            <a:xfrm>
              <a:off x="175333" y="3086034"/>
              <a:ext cx="640538" cy="408164"/>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0" name="矩形 39">
              <a:extLst>
                <a:ext uri="{FF2B5EF4-FFF2-40B4-BE49-F238E27FC236}">
                  <a16:creationId xmlns:a16="http://schemas.microsoft.com/office/drawing/2014/main" xmlns="" id="{2FB82B3E-7C5A-4E57-B159-B07D5CBA84B6}"/>
                </a:ext>
              </a:extLst>
            </p:cNvPr>
            <p:cNvSpPr/>
            <p:nvPr/>
          </p:nvSpPr>
          <p:spPr>
            <a:xfrm>
              <a:off x="109587" y="3160696"/>
              <a:ext cx="743568" cy="276999"/>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sp>
        <p:nvSpPr>
          <p:cNvPr id="41" name="矩形 40"/>
          <p:cNvSpPr/>
          <p:nvPr/>
        </p:nvSpPr>
        <p:spPr>
          <a:xfrm>
            <a:off x="5097344" y="4081498"/>
            <a:ext cx="3297319" cy="253916"/>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zh-TW" altLang="en-US" sz="1050" dirty="0" smtClean="0">
                <a:latin typeface="微軟正黑體" panose="020B0604030504040204" pitchFamily="34" charset="-120"/>
                <a:ea typeface="微軟正黑體" panose="020B0604030504040204" pitchFamily="34" charset="-120"/>
              </a:rPr>
              <a:t>系統介面可節省人員每天</a:t>
            </a:r>
            <a:r>
              <a:rPr lang="en-US" altLang="zh-TW" sz="1050" dirty="0" smtClean="0">
                <a:latin typeface="微軟正黑體" panose="020B0604030504040204" pitchFamily="34" charset="-120"/>
                <a:ea typeface="微軟正黑體" panose="020B0604030504040204" pitchFamily="34" charset="-120"/>
              </a:rPr>
              <a:t>6</a:t>
            </a:r>
            <a:r>
              <a:rPr lang="zh-TW" altLang="en-US" sz="1050" dirty="0" smtClean="0">
                <a:latin typeface="微軟正黑體" panose="020B0604030504040204" pitchFamily="34" charset="-120"/>
                <a:ea typeface="微軟正黑體" panose="020B0604030504040204" pitchFamily="34" charset="-120"/>
              </a:rPr>
              <a:t>分鐘的查找</a:t>
            </a:r>
            <a:r>
              <a:rPr lang="en-US" altLang="zh-TW" sz="1050" dirty="0" smtClean="0">
                <a:latin typeface="微軟正黑體" panose="020B0604030504040204" pitchFamily="34" charset="-120"/>
                <a:ea typeface="微軟正黑體" panose="020B0604030504040204" pitchFamily="34" charset="-120"/>
              </a:rPr>
              <a:t>=</a:t>
            </a:r>
            <a:r>
              <a:rPr lang="en-US" altLang="zh-TW" sz="1050" b="1" dirty="0" smtClean="0">
                <a:solidFill>
                  <a:schemeClr val="accent1"/>
                </a:solidFill>
                <a:latin typeface="微軟正黑體" panose="020B0604030504040204" pitchFamily="34" charset="-120"/>
                <a:ea typeface="微軟正黑體" panose="020B0604030504040204" pitchFamily="34" charset="-120"/>
              </a:rPr>
              <a:t>3</a:t>
            </a:r>
            <a:r>
              <a:rPr lang="zh-TW" altLang="en-US" sz="1050" b="1" dirty="0">
                <a:solidFill>
                  <a:schemeClr val="accent1"/>
                </a:solidFill>
                <a:latin typeface="微軟正黑體" panose="020B0604030504040204" pitchFamily="34" charset="-120"/>
                <a:ea typeface="微軟正黑體" panose="020B0604030504040204" pitchFamily="34" charset="-120"/>
              </a:rPr>
              <a:t>小時</a:t>
            </a:r>
            <a:r>
              <a:rPr lang="en-US" altLang="zh-TW" sz="1050" b="1" dirty="0">
                <a:solidFill>
                  <a:schemeClr val="accent1"/>
                </a:solidFill>
                <a:latin typeface="微軟正黑體" panose="020B0604030504040204" pitchFamily="34" charset="-120"/>
                <a:ea typeface="微軟正黑體" panose="020B0604030504040204" pitchFamily="34" charset="-120"/>
              </a:rPr>
              <a:t>/</a:t>
            </a:r>
            <a:r>
              <a:rPr lang="zh-TW" altLang="en-US" sz="1050" b="1" dirty="0">
                <a:solidFill>
                  <a:schemeClr val="accent1"/>
                </a:solidFill>
                <a:latin typeface="微軟正黑體" panose="020B0604030504040204" pitchFamily="34" charset="-120"/>
                <a:ea typeface="微軟正黑體" panose="020B0604030504040204" pitchFamily="34" charset="-120"/>
              </a:rPr>
              <a:t>月</a:t>
            </a:r>
            <a:endParaRPr lang="en-US" altLang="zh-TW" sz="1050" b="1" dirty="0" smtClean="0">
              <a:solidFill>
                <a:schemeClr val="accent1"/>
              </a:solidFill>
              <a:latin typeface="微軟正黑體" panose="020B0604030504040204" pitchFamily="34" charset="-120"/>
              <a:ea typeface="微軟正黑體" panose="020B0604030504040204" pitchFamily="34" charset="-120"/>
            </a:endParaRPr>
          </a:p>
        </p:txBody>
      </p:sp>
      <p:sp>
        <p:nvSpPr>
          <p:cNvPr id="42" name="矩形 41"/>
          <p:cNvSpPr/>
          <p:nvPr/>
        </p:nvSpPr>
        <p:spPr>
          <a:xfrm>
            <a:off x="241579" y="999364"/>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pic>
        <p:nvPicPr>
          <p:cNvPr id="44" name="圖片 43"/>
          <p:cNvPicPr>
            <a:picLocks noChangeAspect="1"/>
          </p:cNvPicPr>
          <p:nvPr/>
        </p:nvPicPr>
        <p:blipFill>
          <a:blip r:embed="rId3"/>
          <a:stretch>
            <a:fillRect/>
          </a:stretch>
        </p:blipFill>
        <p:spPr>
          <a:xfrm>
            <a:off x="372378" y="2229949"/>
            <a:ext cx="3959919" cy="1788014"/>
          </a:xfrm>
          <a:prstGeom prst="rect">
            <a:avLst/>
          </a:prstGeom>
        </p:spPr>
      </p:pic>
      <p:pic>
        <p:nvPicPr>
          <p:cNvPr id="45" name="圖片 44"/>
          <p:cNvPicPr>
            <a:picLocks noChangeAspect="1"/>
          </p:cNvPicPr>
          <p:nvPr/>
        </p:nvPicPr>
        <p:blipFill>
          <a:blip r:embed="rId4"/>
          <a:stretch>
            <a:fillRect/>
          </a:stretch>
        </p:blipFill>
        <p:spPr>
          <a:xfrm>
            <a:off x="4988641" y="2409127"/>
            <a:ext cx="3264504" cy="1032071"/>
          </a:xfrm>
          <a:prstGeom prst="rect">
            <a:avLst/>
          </a:prstGeom>
        </p:spPr>
      </p:pic>
      <p:sp>
        <p:nvSpPr>
          <p:cNvPr id="46" name="文字方塊 45"/>
          <p:cNvSpPr txBox="1"/>
          <p:nvPr/>
        </p:nvSpPr>
        <p:spPr>
          <a:xfrm>
            <a:off x="5060562" y="3814410"/>
            <a:ext cx="1221201" cy="276999"/>
          </a:xfrm>
          <a:prstGeom prst="rect">
            <a:avLst/>
          </a:prstGeom>
          <a:noFill/>
        </p:spPr>
        <p:txBody>
          <a:bodyPr wrap="square" rtlCol="0">
            <a:spAutoFit/>
          </a:bodyPr>
          <a:lstStyle/>
          <a:p>
            <a:pPr algn="ctr" eaLnBrk="0" fontAlgn="base" hangingPunct="0">
              <a:spcBef>
                <a:spcPct val="0"/>
              </a:spcBef>
              <a:spcAft>
                <a:spcPct val="0"/>
              </a:spcAft>
            </a:pPr>
            <a:r>
              <a:rPr lang="zh-TW" altLang="en-US" sz="1200" b="1" dirty="0" smtClean="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節省工時</a:t>
            </a:r>
            <a:endParaRPr lang="zh-TW" altLang="en-US" sz="1200" b="1" dirty="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endParaRPr>
          </a:p>
        </p:txBody>
      </p:sp>
    </p:spTree>
    <p:extLst>
      <p:ext uri="{BB962C8B-B14F-4D97-AF65-F5344CB8AC3E}">
        <p14:creationId xmlns:p14="http://schemas.microsoft.com/office/powerpoint/2010/main" val="19515495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en-US" altLang="zh-TW" b="1" dirty="0" smtClean="0">
                <a:latin typeface="+mj-ea"/>
              </a:rPr>
              <a:t>ETL &amp; Data Fusion</a:t>
            </a:r>
            <a:endParaRPr lang="zh-TW" altLang="en-US" b="1" dirty="0">
              <a:latin typeface="+mj-ea"/>
            </a:endParaRPr>
          </a:p>
        </p:txBody>
      </p:sp>
      <p:sp>
        <p:nvSpPr>
          <p:cNvPr id="85" name="矩形 84"/>
          <p:cNvSpPr/>
          <p:nvPr/>
        </p:nvSpPr>
        <p:spPr>
          <a:xfrm>
            <a:off x="188357" y="2204433"/>
            <a:ext cx="4204998" cy="261610"/>
          </a:xfrm>
          <a:prstGeom prst="rect">
            <a:avLst/>
          </a:prstGeom>
        </p:spPr>
        <p:txBody>
          <a:bodyPr wrap="none">
            <a:spAutoFit/>
          </a:bodyPr>
          <a:lstStyle/>
          <a:p>
            <a:pPr marL="171450" indent="-171450" algn="ctr">
              <a:buFont typeface="Arial" panose="020B0604020202020204" pitchFamily="34" charset="0"/>
              <a:buChar char="•"/>
            </a:pPr>
            <a:r>
              <a:rPr lang="zh-TW" altLang="en-US" sz="1100" dirty="0" smtClean="0">
                <a:latin typeface="+mn-ea"/>
                <a:ea typeface="+mn-ea"/>
              </a:rPr>
              <a:t>專案效益資料表</a:t>
            </a:r>
            <a:r>
              <a:rPr lang="en-US" altLang="zh-TW" sz="1100" dirty="0" smtClean="0">
                <a:latin typeface="+mn-ea"/>
                <a:ea typeface="+mn-ea"/>
              </a:rPr>
              <a:t>:</a:t>
            </a:r>
            <a:r>
              <a:rPr lang="zh-TW" altLang="en-US" sz="1100" dirty="0" smtClean="0">
                <a:latin typeface="+mn-ea"/>
                <a:ea typeface="+mn-ea"/>
              </a:rPr>
              <a:t> 專案相關資訊</a:t>
            </a:r>
            <a:r>
              <a:rPr lang="en-US" altLang="zh-TW" sz="1100" dirty="0" smtClean="0">
                <a:latin typeface="+mn-ea"/>
                <a:ea typeface="+mn-ea"/>
              </a:rPr>
              <a:t>(Merge:</a:t>
            </a:r>
            <a:r>
              <a:rPr lang="zh-TW" altLang="en-US" sz="1100" dirty="0" smtClean="0">
                <a:latin typeface="+mn-ea"/>
                <a:ea typeface="+mn-ea"/>
              </a:rPr>
              <a:t> 組別</a:t>
            </a:r>
            <a:r>
              <a:rPr lang="en-US" altLang="zh-TW" sz="1100" dirty="0" smtClean="0">
                <a:latin typeface="+mn-ea"/>
                <a:ea typeface="+mn-ea"/>
              </a:rPr>
              <a:t>|</a:t>
            </a:r>
            <a:r>
              <a:rPr lang="zh-TW" altLang="en-US" sz="1100" dirty="0" smtClean="0">
                <a:latin typeface="+mn-ea"/>
                <a:ea typeface="+mn-ea"/>
              </a:rPr>
              <a:t>負責人</a:t>
            </a:r>
            <a:r>
              <a:rPr lang="en-US" altLang="zh-TW" sz="1100" dirty="0" smtClean="0">
                <a:latin typeface="+mn-ea"/>
                <a:ea typeface="+mn-ea"/>
              </a:rPr>
              <a:t>|</a:t>
            </a:r>
            <a:r>
              <a:rPr lang="zh-TW" altLang="en-US" sz="1100" dirty="0">
                <a:latin typeface="+mn-ea"/>
                <a:ea typeface="+mn-ea"/>
              </a:rPr>
              <a:t>專案名稱</a:t>
            </a:r>
            <a:r>
              <a:rPr lang="en-US" altLang="zh-TW" sz="1100" dirty="0" smtClean="0">
                <a:latin typeface="+mn-ea"/>
                <a:ea typeface="+mn-ea"/>
              </a:rPr>
              <a:t>)</a:t>
            </a:r>
            <a:endParaRPr lang="en-US" altLang="zh-TW" sz="1100" dirty="0">
              <a:latin typeface="+mn-ea"/>
              <a:ea typeface="+mn-ea"/>
            </a:endParaRPr>
          </a:p>
        </p:txBody>
      </p:sp>
      <p:pic>
        <p:nvPicPr>
          <p:cNvPr id="89" name="圖片 88"/>
          <p:cNvPicPr>
            <a:picLocks noChangeAspect="1"/>
          </p:cNvPicPr>
          <p:nvPr/>
        </p:nvPicPr>
        <p:blipFill rotWithShape="1">
          <a:blip r:embed="rId3"/>
          <a:srcRect b="53167"/>
          <a:stretch/>
        </p:blipFill>
        <p:spPr>
          <a:xfrm>
            <a:off x="221468" y="2492988"/>
            <a:ext cx="8615786" cy="857970"/>
          </a:xfrm>
          <a:prstGeom prst="rect">
            <a:avLst/>
          </a:prstGeom>
        </p:spPr>
      </p:pic>
      <p:sp>
        <p:nvSpPr>
          <p:cNvPr id="95" name="矩形 94"/>
          <p:cNvSpPr/>
          <p:nvPr/>
        </p:nvSpPr>
        <p:spPr>
          <a:xfrm>
            <a:off x="221468" y="3523236"/>
            <a:ext cx="5178020" cy="261610"/>
          </a:xfrm>
          <a:prstGeom prst="rect">
            <a:avLst/>
          </a:prstGeom>
        </p:spPr>
        <p:txBody>
          <a:bodyPr wrap="none">
            <a:spAutoFit/>
          </a:bodyPr>
          <a:lstStyle/>
          <a:p>
            <a:pPr marL="171450" indent="-171450" algn="ctr">
              <a:buFont typeface="Arial" panose="020B0604020202020204" pitchFamily="34" charset="0"/>
              <a:buChar char="•"/>
            </a:pPr>
            <a:r>
              <a:rPr lang="zh-TW" altLang="en-US" sz="1100" dirty="0" smtClean="0">
                <a:latin typeface="+mn-ea"/>
                <a:ea typeface="+mn-ea"/>
              </a:rPr>
              <a:t>專案狀態回</a:t>
            </a:r>
            <a:r>
              <a:rPr lang="zh-TW" altLang="en-US" sz="1100" dirty="0">
                <a:latin typeface="+mn-ea"/>
                <a:ea typeface="+mn-ea"/>
              </a:rPr>
              <a:t>報</a:t>
            </a:r>
            <a:r>
              <a:rPr lang="zh-TW" altLang="en-US" sz="1100" dirty="0" smtClean="0">
                <a:latin typeface="+mn-ea"/>
                <a:ea typeface="+mn-ea"/>
              </a:rPr>
              <a:t>資料表</a:t>
            </a:r>
            <a:r>
              <a:rPr lang="en-US" altLang="zh-TW" sz="1100" dirty="0" smtClean="0">
                <a:latin typeface="+mn-ea"/>
                <a:ea typeface="+mn-ea"/>
              </a:rPr>
              <a:t>:</a:t>
            </a:r>
            <a:r>
              <a:rPr lang="zh-TW" altLang="en-US" sz="1100" dirty="0" smtClean="0">
                <a:latin typeface="+mn-ea"/>
                <a:ea typeface="+mn-ea"/>
              </a:rPr>
              <a:t> </a:t>
            </a:r>
            <a:r>
              <a:rPr lang="en-US" altLang="zh-TW" sz="1100" dirty="0" smtClean="0">
                <a:latin typeface="+mn-ea"/>
                <a:ea typeface="+mn-ea"/>
              </a:rPr>
              <a:t>LCD1</a:t>
            </a:r>
            <a:r>
              <a:rPr lang="zh-TW" altLang="en-US" sz="1100" dirty="0" smtClean="0">
                <a:latin typeface="+mn-ea"/>
                <a:ea typeface="+mn-ea"/>
              </a:rPr>
              <a:t>專案狀態</a:t>
            </a:r>
            <a:r>
              <a:rPr lang="en-US" altLang="zh-TW" sz="1100" dirty="0" smtClean="0">
                <a:latin typeface="+mn-ea"/>
                <a:ea typeface="+mn-ea"/>
              </a:rPr>
              <a:t>&amp;</a:t>
            </a:r>
            <a:r>
              <a:rPr lang="zh-TW" altLang="en-US" sz="1100" dirty="0" smtClean="0">
                <a:latin typeface="+mn-ea"/>
                <a:ea typeface="+mn-ea"/>
              </a:rPr>
              <a:t>回報值資訊</a:t>
            </a:r>
            <a:r>
              <a:rPr lang="en-US" altLang="zh-TW" sz="1100" dirty="0">
                <a:latin typeface="+mn-ea"/>
                <a:ea typeface="+mn-ea"/>
              </a:rPr>
              <a:t>(Merge:</a:t>
            </a:r>
            <a:r>
              <a:rPr lang="zh-TW" altLang="en-US" sz="1100" dirty="0" smtClean="0">
                <a:latin typeface="+mn-ea"/>
                <a:ea typeface="+mn-ea"/>
              </a:rPr>
              <a:t> 專案連結</a:t>
            </a:r>
            <a:r>
              <a:rPr lang="en-US" altLang="zh-TW" sz="1100" dirty="0" smtClean="0">
                <a:latin typeface="+mn-ea"/>
                <a:ea typeface="+mn-ea"/>
              </a:rPr>
              <a:t>|</a:t>
            </a:r>
            <a:r>
              <a:rPr lang="zh-TW" altLang="en-US" sz="1100" dirty="0" smtClean="0">
                <a:latin typeface="+mn-ea"/>
                <a:ea typeface="+mn-ea"/>
              </a:rPr>
              <a:t>專案狀態</a:t>
            </a:r>
            <a:r>
              <a:rPr lang="en-US" altLang="zh-TW" sz="1100" dirty="0" smtClean="0">
                <a:latin typeface="+mn-ea"/>
                <a:ea typeface="+mn-ea"/>
              </a:rPr>
              <a:t>)</a:t>
            </a:r>
            <a:endParaRPr lang="en-US" altLang="zh-TW" sz="1100" dirty="0">
              <a:latin typeface="+mn-ea"/>
              <a:ea typeface="+mn-ea"/>
            </a:endParaRPr>
          </a:p>
        </p:txBody>
      </p:sp>
      <p:sp>
        <p:nvSpPr>
          <p:cNvPr id="97" name="矩形 96"/>
          <p:cNvSpPr/>
          <p:nvPr/>
        </p:nvSpPr>
        <p:spPr>
          <a:xfrm>
            <a:off x="188357" y="754825"/>
            <a:ext cx="4204997" cy="261610"/>
          </a:xfrm>
          <a:prstGeom prst="rect">
            <a:avLst/>
          </a:prstGeom>
        </p:spPr>
        <p:txBody>
          <a:bodyPr wrap="none">
            <a:spAutoFit/>
          </a:bodyPr>
          <a:lstStyle/>
          <a:p>
            <a:pPr marL="171450" indent="-171450" algn="ctr">
              <a:buFont typeface="Arial" panose="020B0604020202020204" pitchFamily="34" charset="0"/>
              <a:buChar char="•"/>
            </a:pPr>
            <a:r>
              <a:rPr lang="zh-TW" altLang="en-US" sz="1100" dirty="0" smtClean="0">
                <a:latin typeface="+mn-ea"/>
                <a:ea typeface="+mn-ea"/>
              </a:rPr>
              <a:t>專案週進度資料表</a:t>
            </a:r>
            <a:r>
              <a:rPr lang="en-US" altLang="zh-TW" sz="1100" dirty="0" smtClean="0">
                <a:latin typeface="+mn-ea"/>
                <a:ea typeface="+mn-ea"/>
              </a:rPr>
              <a:t>:</a:t>
            </a:r>
            <a:r>
              <a:rPr lang="zh-TW" altLang="en-US" sz="1100" dirty="0" smtClean="0">
                <a:latin typeface="+mn-ea"/>
                <a:ea typeface="+mn-ea"/>
              </a:rPr>
              <a:t> 專案進度</a:t>
            </a:r>
            <a:r>
              <a:rPr lang="en-US" altLang="zh-TW" sz="1100" dirty="0" smtClean="0">
                <a:latin typeface="+mn-ea"/>
                <a:ea typeface="+mn-ea"/>
              </a:rPr>
              <a:t>(</a:t>
            </a:r>
            <a:r>
              <a:rPr lang="en-US" altLang="zh-TW" sz="1100" dirty="0">
                <a:latin typeface="+mn-ea"/>
                <a:ea typeface="+mn-ea"/>
              </a:rPr>
              <a:t>Merge:</a:t>
            </a:r>
            <a:r>
              <a:rPr lang="zh-TW" altLang="en-US" sz="1100" dirty="0">
                <a:latin typeface="+mn-ea"/>
                <a:ea typeface="+mn-ea"/>
              </a:rPr>
              <a:t> 組別</a:t>
            </a:r>
            <a:r>
              <a:rPr lang="en-US" altLang="zh-TW" sz="1100" dirty="0">
                <a:latin typeface="+mn-ea"/>
                <a:ea typeface="+mn-ea"/>
              </a:rPr>
              <a:t>|</a:t>
            </a:r>
            <a:r>
              <a:rPr lang="zh-TW" altLang="en-US" sz="1100" dirty="0">
                <a:latin typeface="+mn-ea"/>
                <a:ea typeface="+mn-ea"/>
              </a:rPr>
              <a:t>負責人</a:t>
            </a:r>
            <a:r>
              <a:rPr lang="en-US" altLang="zh-TW" sz="1100" dirty="0">
                <a:latin typeface="+mn-ea"/>
                <a:ea typeface="+mn-ea"/>
              </a:rPr>
              <a:t>|</a:t>
            </a:r>
            <a:r>
              <a:rPr lang="zh-TW" altLang="en-US" sz="1100" dirty="0">
                <a:latin typeface="+mn-ea"/>
                <a:ea typeface="+mn-ea"/>
              </a:rPr>
              <a:t>專案名稱</a:t>
            </a:r>
            <a:r>
              <a:rPr lang="en-US" altLang="zh-TW" sz="1100" dirty="0" smtClean="0">
                <a:latin typeface="+mn-ea"/>
                <a:ea typeface="+mn-ea"/>
              </a:rPr>
              <a:t>)</a:t>
            </a:r>
            <a:endParaRPr lang="en-US" altLang="zh-TW" sz="1100" dirty="0">
              <a:latin typeface="+mn-ea"/>
              <a:ea typeface="+mn-ea"/>
            </a:endParaRPr>
          </a:p>
        </p:txBody>
      </p:sp>
      <p:pic>
        <p:nvPicPr>
          <p:cNvPr id="99" name="圖片 98"/>
          <p:cNvPicPr>
            <a:picLocks noChangeAspect="1"/>
          </p:cNvPicPr>
          <p:nvPr/>
        </p:nvPicPr>
        <p:blipFill rotWithShape="1">
          <a:blip r:embed="rId4"/>
          <a:srcRect b="50458"/>
          <a:stretch/>
        </p:blipFill>
        <p:spPr>
          <a:xfrm>
            <a:off x="221468" y="1149843"/>
            <a:ext cx="8615786" cy="1002305"/>
          </a:xfrm>
          <a:prstGeom prst="rect">
            <a:avLst/>
          </a:prstGeom>
        </p:spPr>
      </p:pic>
      <p:sp>
        <p:nvSpPr>
          <p:cNvPr id="102" name="圓柱 101"/>
          <p:cNvSpPr/>
          <p:nvPr/>
        </p:nvSpPr>
        <p:spPr>
          <a:xfrm>
            <a:off x="775952" y="3957124"/>
            <a:ext cx="338202" cy="319413"/>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n-ea"/>
            </a:endParaRPr>
          </a:p>
        </p:txBody>
      </p:sp>
      <p:sp>
        <p:nvSpPr>
          <p:cNvPr id="103" name="矩形 102"/>
          <p:cNvSpPr/>
          <p:nvPr/>
        </p:nvSpPr>
        <p:spPr>
          <a:xfrm>
            <a:off x="395864" y="4276537"/>
            <a:ext cx="1098378" cy="261610"/>
          </a:xfrm>
          <a:prstGeom prst="rect">
            <a:avLst/>
          </a:prstGeom>
        </p:spPr>
        <p:txBody>
          <a:bodyPr wrap="none">
            <a:spAutoFit/>
          </a:bodyPr>
          <a:lstStyle/>
          <a:p>
            <a:pPr algn="ctr"/>
            <a:r>
              <a:rPr lang="en-US" altLang="zh-TW" sz="1100" dirty="0" smtClean="0">
                <a:latin typeface="+mn-ea"/>
                <a:ea typeface="+mn-ea"/>
              </a:rPr>
              <a:t>LCD1</a:t>
            </a:r>
            <a:r>
              <a:rPr lang="zh-TW" altLang="en-US" sz="1100" dirty="0" smtClean="0">
                <a:latin typeface="+mn-ea"/>
                <a:ea typeface="+mn-ea"/>
              </a:rPr>
              <a:t>專案平台</a:t>
            </a:r>
            <a:endParaRPr lang="en-US" altLang="zh-TW" sz="1100" dirty="0">
              <a:latin typeface="+mn-ea"/>
              <a:ea typeface="+mn-ea"/>
            </a:endParaRPr>
          </a:p>
        </p:txBody>
      </p:sp>
      <p:sp>
        <p:nvSpPr>
          <p:cNvPr id="106" name="圓柱 105"/>
          <p:cNvSpPr/>
          <p:nvPr/>
        </p:nvSpPr>
        <p:spPr>
          <a:xfrm>
            <a:off x="1912698" y="3961693"/>
            <a:ext cx="338202" cy="319413"/>
          </a:xfrm>
          <a:prstGeom prst="ca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latin typeface="+mn-ea"/>
            </a:endParaRPr>
          </a:p>
        </p:txBody>
      </p:sp>
      <p:sp>
        <p:nvSpPr>
          <p:cNvPr id="108" name="矩形 107"/>
          <p:cNvSpPr/>
          <p:nvPr/>
        </p:nvSpPr>
        <p:spPr>
          <a:xfrm>
            <a:off x="1645624" y="4281106"/>
            <a:ext cx="872355" cy="261610"/>
          </a:xfrm>
          <a:prstGeom prst="rect">
            <a:avLst/>
          </a:prstGeom>
        </p:spPr>
        <p:txBody>
          <a:bodyPr wrap="none">
            <a:spAutoFit/>
          </a:bodyPr>
          <a:lstStyle/>
          <a:p>
            <a:pPr algn="ctr"/>
            <a:r>
              <a:rPr lang="en-US" altLang="zh-TW" sz="1100" dirty="0" smtClean="0">
                <a:latin typeface="+mn-ea"/>
                <a:ea typeface="+mn-ea"/>
              </a:rPr>
              <a:t>AM</a:t>
            </a:r>
            <a:r>
              <a:rPr lang="zh-TW" altLang="en-US" sz="1100" dirty="0" smtClean="0">
                <a:latin typeface="+mn-ea"/>
                <a:ea typeface="+mn-ea"/>
              </a:rPr>
              <a:t> </a:t>
            </a:r>
            <a:r>
              <a:rPr lang="en-US" altLang="zh-TW" sz="1100" dirty="0" smtClean="0">
                <a:latin typeface="+mn-ea"/>
                <a:ea typeface="+mn-ea"/>
              </a:rPr>
              <a:t>Server</a:t>
            </a:r>
            <a:endParaRPr lang="en-US" altLang="zh-TW" sz="1100" dirty="0">
              <a:latin typeface="+mn-ea"/>
              <a:ea typeface="+mn-ea"/>
            </a:endParaRPr>
          </a:p>
        </p:txBody>
      </p:sp>
      <p:sp>
        <p:nvSpPr>
          <p:cNvPr id="116" name="文字方塊 115"/>
          <p:cNvSpPr txBox="1"/>
          <p:nvPr/>
        </p:nvSpPr>
        <p:spPr>
          <a:xfrm>
            <a:off x="2653797" y="3769475"/>
            <a:ext cx="3751127" cy="1304203"/>
          </a:xfrm>
          <a:prstGeom prst="rect">
            <a:avLst/>
          </a:prstGeom>
          <a:noFill/>
        </p:spPr>
        <p:txBody>
          <a:bodyPr wrap="square" rtlCol="0">
            <a:spAutoFit/>
          </a:bodyPr>
          <a:lstStyle>
            <a:defPPr>
              <a:defRPr lang="zh-TW"/>
            </a:defPPr>
            <a:lvl1pPr>
              <a:defRPr sz="400">
                <a:latin typeface="+mj-ea"/>
                <a:ea typeface="+mj-ea"/>
              </a:defRPr>
            </a:lvl1pPr>
          </a:lstStyle>
          <a:p>
            <a:pPr>
              <a:lnSpc>
                <a:spcPct val="150000"/>
              </a:lnSpc>
            </a:pPr>
            <a:r>
              <a:rPr lang="zh-TW" altLang="en-US" sz="1050" dirty="0">
                <a:latin typeface="+mn-ea"/>
                <a:ea typeface="+mn-ea"/>
              </a:rPr>
              <a:t>設定排程定期將</a:t>
            </a:r>
            <a:r>
              <a:rPr lang="en-US" altLang="zh-TW" sz="1050" u="sng" dirty="0">
                <a:latin typeface="+mn-ea"/>
                <a:ea typeface="+mn-ea"/>
              </a:rPr>
              <a:t>AM</a:t>
            </a:r>
            <a:r>
              <a:rPr lang="zh-TW" altLang="en-US" sz="1050" u="sng" dirty="0">
                <a:latin typeface="+mn-ea"/>
                <a:ea typeface="+mn-ea"/>
              </a:rPr>
              <a:t>已完成</a:t>
            </a:r>
            <a:r>
              <a:rPr lang="en-US" altLang="zh-TW" sz="1050" dirty="0">
                <a:latin typeface="+mn-ea"/>
                <a:ea typeface="+mn-ea"/>
              </a:rPr>
              <a:t>&amp;</a:t>
            </a:r>
            <a:r>
              <a:rPr lang="en-US" altLang="zh-TW" sz="1050" u="sng" dirty="0">
                <a:latin typeface="+mn-ea"/>
                <a:ea typeface="+mn-ea"/>
              </a:rPr>
              <a:t>LCD1</a:t>
            </a:r>
            <a:r>
              <a:rPr lang="zh-TW" altLang="en-US" sz="1050" u="sng" dirty="0">
                <a:latin typeface="+mn-ea"/>
                <a:ea typeface="+mn-ea"/>
              </a:rPr>
              <a:t>平台已完成</a:t>
            </a:r>
            <a:r>
              <a:rPr lang="zh-TW" altLang="en-US" sz="1050" dirty="0">
                <a:latin typeface="+mn-ea"/>
                <a:ea typeface="+mn-ea"/>
              </a:rPr>
              <a:t>專案進行</a:t>
            </a:r>
            <a:r>
              <a:rPr lang="zh-TW" altLang="en-US" sz="1050" dirty="0" smtClean="0">
                <a:latin typeface="+mn-ea"/>
                <a:ea typeface="+mn-ea"/>
              </a:rPr>
              <a:t>回報</a:t>
            </a:r>
            <a:endParaRPr lang="en-US" altLang="zh-TW" sz="1050" dirty="0" smtClean="0">
              <a:latin typeface="+mn-ea"/>
              <a:ea typeface="+mn-ea"/>
            </a:endParaRPr>
          </a:p>
          <a:p>
            <a:pPr marL="228600" indent="-228600">
              <a:lnSpc>
                <a:spcPct val="150000"/>
              </a:lnSpc>
              <a:buFont typeface="Wingdings" panose="05000000000000000000" pitchFamily="2" charset="2"/>
              <a:buAutoNum type="circleNumWdWhitePlain"/>
            </a:pPr>
            <a:r>
              <a:rPr lang="en-US" altLang="zh-TW" sz="1050" dirty="0" smtClean="0">
                <a:latin typeface="+mn-ea"/>
                <a:ea typeface="+mn-ea"/>
              </a:rPr>
              <a:t>API</a:t>
            </a:r>
            <a:r>
              <a:rPr lang="zh-TW" altLang="en-US" sz="1050" dirty="0" smtClean="0">
                <a:latin typeface="+mn-ea"/>
                <a:ea typeface="+mn-ea"/>
              </a:rPr>
              <a:t>撈取</a:t>
            </a:r>
            <a:r>
              <a:rPr lang="en-US" altLang="zh-TW" sz="1050" dirty="0" smtClean="0">
                <a:latin typeface="+mn-ea"/>
                <a:ea typeface="+mn-ea"/>
              </a:rPr>
              <a:t>AM Owner</a:t>
            </a:r>
            <a:r>
              <a:rPr lang="zh-TW" altLang="en-US" sz="1050" dirty="0" smtClean="0">
                <a:latin typeface="+mn-ea"/>
                <a:ea typeface="+mn-ea"/>
              </a:rPr>
              <a:t>所有專案代碼及專案相關資訊</a:t>
            </a:r>
            <a:endParaRPr lang="en-US" altLang="zh-TW" sz="1050" dirty="0" smtClean="0">
              <a:latin typeface="+mn-ea"/>
              <a:ea typeface="+mn-ea"/>
            </a:endParaRPr>
          </a:p>
          <a:p>
            <a:pPr marL="228600" indent="-228600">
              <a:lnSpc>
                <a:spcPct val="150000"/>
              </a:lnSpc>
              <a:buFont typeface="Wingdings" panose="05000000000000000000" pitchFamily="2" charset="2"/>
              <a:buAutoNum type="circleNumWdWhitePlain"/>
            </a:pPr>
            <a:r>
              <a:rPr lang="zh-TW" altLang="en-US" sz="1050" dirty="0" smtClean="0">
                <a:latin typeface="+mn-ea"/>
                <a:ea typeface="+mn-ea"/>
              </a:rPr>
              <a:t>篩選</a:t>
            </a:r>
            <a:r>
              <a:rPr lang="en-US" altLang="zh-TW" sz="1050" dirty="0" smtClean="0">
                <a:latin typeface="+mn-ea"/>
                <a:ea typeface="+mn-ea"/>
              </a:rPr>
              <a:t>AM</a:t>
            </a:r>
            <a:r>
              <a:rPr lang="zh-TW" altLang="en-US" sz="1050" dirty="0">
                <a:latin typeface="+mn-ea"/>
                <a:ea typeface="+mn-ea"/>
              </a:rPr>
              <a:t> </a:t>
            </a:r>
            <a:r>
              <a:rPr lang="en-US" altLang="zh-TW" sz="1050" dirty="0" smtClean="0">
                <a:latin typeface="+mn-ea"/>
                <a:ea typeface="+mn-ea"/>
              </a:rPr>
              <a:t>Owner</a:t>
            </a:r>
            <a:r>
              <a:rPr lang="zh-TW" altLang="en-US" sz="1050" dirty="0" smtClean="0">
                <a:latin typeface="+mn-ea"/>
                <a:ea typeface="+mn-ea"/>
              </a:rPr>
              <a:t>填需協助回報之專案</a:t>
            </a:r>
            <a:r>
              <a:rPr lang="en-US" altLang="zh-TW" sz="1050" dirty="0" smtClean="0">
                <a:latin typeface="+mn-ea"/>
                <a:ea typeface="+mn-ea"/>
              </a:rPr>
              <a:t>&gt;</a:t>
            </a:r>
            <a:r>
              <a:rPr lang="zh-TW" altLang="en-US" sz="1050" dirty="0" smtClean="0">
                <a:latin typeface="+mn-ea"/>
                <a:ea typeface="+mn-ea"/>
              </a:rPr>
              <a:t>取得連結、回報值</a:t>
            </a:r>
            <a:endParaRPr lang="en-US" altLang="zh-TW" sz="1050" dirty="0" smtClean="0">
              <a:latin typeface="+mn-ea"/>
              <a:ea typeface="+mn-ea"/>
            </a:endParaRPr>
          </a:p>
          <a:p>
            <a:pPr marL="228600" indent="-228600">
              <a:lnSpc>
                <a:spcPct val="150000"/>
              </a:lnSpc>
              <a:buFont typeface="Wingdings" panose="05000000000000000000" pitchFamily="2" charset="2"/>
              <a:buAutoNum type="circleNumWdWhitePlain"/>
            </a:pPr>
            <a:r>
              <a:rPr lang="en-US" altLang="zh-TW" sz="1050" dirty="0" smtClean="0">
                <a:latin typeface="+mn-ea"/>
                <a:ea typeface="+mn-ea"/>
              </a:rPr>
              <a:t>Merge LCD1</a:t>
            </a:r>
            <a:r>
              <a:rPr lang="zh-TW" altLang="en-US" sz="1050" dirty="0" smtClean="0">
                <a:latin typeface="+mn-ea"/>
                <a:ea typeface="+mn-ea"/>
              </a:rPr>
              <a:t>已完成且須協助回報之專案進行</a:t>
            </a:r>
            <a:r>
              <a:rPr lang="en-US" altLang="zh-TW" sz="1050" dirty="0" smtClean="0">
                <a:latin typeface="+mn-ea"/>
                <a:ea typeface="+mn-ea"/>
              </a:rPr>
              <a:t>API</a:t>
            </a:r>
            <a:r>
              <a:rPr lang="zh-TW" altLang="en-US" sz="1050" dirty="0" smtClean="0">
                <a:latin typeface="+mn-ea"/>
                <a:ea typeface="+mn-ea"/>
              </a:rPr>
              <a:t>回報</a:t>
            </a:r>
            <a:endParaRPr lang="en-US" altLang="zh-TW" sz="1050" dirty="0" smtClean="0">
              <a:latin typeface="+mn-ea"/>
              <a:ea typeface="+mn-ea"/>
            </a:endParaRPr>
          </a:p>
          <a:p>
            <a:pPr marL="228600" indent="-228600">
              <a:lnSpc>
                <a:spcPct val="150000"/>
              </a:lnSpc>
              <a:buFont typeface="Wingdings" panose="05000000000000000000" pitchFamily="2" charset="2"/>
              <a:buAutoNum type="circleNumWdWhitePlain"/>
            </a:pPr>
            <a:r>
              <a:rPr lang="zh-TW" altLang="en-US" sz="1050" dirty="0" smtClean="0">
                <a:latin typeface="+mn-ea"/>
                <a:ea typeface="+mn-ea"/>
              </a:rPr>
              <a:t>記錄回報資</a:t>
            </a:r>
            <a:r>
              <a:rPr lang="zh-TW" altLang="en-US" sz="1050" dirty="0">
                <a:latin typeface="+mn-ea"/>
                <a:ea typeface="+mn-ea"/>
              </a:rPr>
              <a:t>訊</a:t>
            </a:r>
            <a:endParaRPr lang="en-US" altLang="zh-TW" sz="1050" dirty="0" smtClean="0">
              <a:latin typeface="+mn-ea"/>
              <a:ea typeface="+mn-ea"/>
            </a:endParaRPr>
          </a:p>
        </p:txBody>
      </p:sp>
      <p:cxnSp>
        <p:nvCxnSpPr>
          <p:cNvPr id="117" name="直線單箭頭接點 116"/>
          <p:cNvCxnSpPr/>
          <p:nvPr/>
        </p:nvCxnSpPr>
        <p:spPr>
          <a:xfrm>
            <a:off x="1304925" y="4198045"/>
            <a:ext cx="4191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p:cNvCxnSpPr/>
          <p:nvPr/>
        </p:nvCxnSpPr>
        <p:spPr>
          <a:xfrm flipH="1">
            <a:off x="1284692" y="4030691"/>
            <a:ext cx="419100"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6963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rotWithShape="1">
          <a:blip r:embed="rId3"/>
          <a:srcRect l="21582" b="51840"/>
          <a:stretch/>
        </p:blipFill>
        <p:spPr>
          <a:xfrm>
            <a:off x="342900" y="3225534"/>
            <a:ext cx="4499275" cy="510814"/>
          </a:xfrm>
          <a:prstGeom prst="rect">
            <a:avLst/>
          </a:prstGeom>
        </p:spPr>
      </p:pic>
      <p:pic>
        <p:nvPicPr>
          <p:cNvPr id="4" name="圖片 3"/>
          <p:cNvPicPr>
            <a:picLocks noChangeAspect="1"/>
          </p:cNvPicPr>
          <p:nvPr/>
        </p:nvPicPr>
        <p:blipFill rotWithShape="1">
          <a:blip r:embed="rId4"/>
          <a:srcRect b="57206"/>
          <a:stretch/>
        </p:blipFill>
        <p:spPr>
          <a:xfrm>
            <a:off x="1582455" y="3650673"/>
            <a:ext cx="3259720" cy="458108"/>
          </a:xfrm>
          <a:prstGeom prst="rect">
            <a:avLst/>
          </a:prstGeom>
        </p:spPr>
      </p:pic>
      <p:pic>
        <p:nvPicPr>
          <p:cNvPr id="5" name="圖片 4"/>
          <p:cNvPicPr>
            <a:picLocks noChangeAspect="1"/>
          </p:cNvPicPr>
          <p:nvPr/>
        </p:nvPicPr>
        <p:blipFill rotWithShape="1">
          <a:blip r:embed="rId5"/>
          <a:srcRect b="56114"/>
          <a:stretch/>
        </p:blipFill>
        <p:spPr>
          <a:xfrm>
            <a:off x="1941342" y="3955547"/>
            <a:ext cx="2900833" cy="478721"/>
          </a:xfrm>
          <a:prstGeom prst="rect">
            <a:avLst/>
          </a:prstGeom>
        </p:spPr>
      </p:pic>
      <p:pic>
        <p:nvPicPr>
          <p:cNvPr id="6" name="圖片 5"/>
          <p:cNvPicPr>
            <a:picLocks noChangeAspect="1"/>
          </p:cNvPicPr>
          <p:nvPr/>
        </p:nvPicPr>
        <p:blipFill rotWithShape="1">
          <a:blip r:embed="rId6"/>
          <a:srcRect b="65695"/>
          <a:stretch/>
        </p:blipFill>
        <p:spPr>
          <a:xfrm>
            <a:off x="2084504" y="4194907"/>
            <a:ext cx="2768281" cy="490222"/>
          </a:xfrm>
          <a:prstGeom prst="rect">
            <a:avLst/>
          </a:prstGeom>
        </p:spPr>
      </p:pic>
      <p:pic>
        <p:nvPicPr>
          <p:cNvPr id="7" name="圖片 6"/>
          <p:cNvPicPr>
            <a:picLocks noChangeAspect="1"/>
          </p:cNvPicPr>
          <p:nvPr/>
        </p:nvPicPr>
        <p:blipFill rotWithShape="1">
          <a:blip r:embed="rId7"/>
          <a:srcRect b="55638"/>
          <a:stretch/>
        </p:blipFill>
        <p:spPr>
          <a:xfrm>
            <a:off x="2354437" y="4484994"/>
            <a:ext cx="2487738" cy="617118"/>
          </a:xfrm>
          <a:prstGeom prst="rect">
            <a:avLst/>
          </a:prstGeom>
        </p:spPr>
      </p:pic>
      <p:grpSp>
        <p:nvGrpSpPr>
          <p:cNvPr id="8" name="群組 7"/>
          <p:cNvGrpSpPr/>
          <p:nvPr/>
        </p:nvGrpSpPr>
        <p:grpSpPr>
          <a:xfrm>
            <a:off x="726510" y="833353"/>
            <a:ext cx="7424481" cy="2143542"/>
            <a:chOff x="505910" y="786293"/>
            <a:chExt cx="7645081" cy="2190602"/>
          </a:xfrm>
        </p:grpSpPr>
        <p:pic>
          <p:nvPicPr>
            <p:cNvPr id="9" name="圖片 8"/>
            <p:cNvPicPr>
              <a:picLocks noChangeAspect="1"/>
            </p:cNvPicPr>
            <p:nvPr/>
          </p:nvPicPr>
          <p:blipFill>
            <a:blip r:embed="rId8"/>
            <a:stretch>
              <a:fillRect/>
            </a:stretch>
          </p:blipFill>
          <p:spPr>
            <a:xfrm>
              <a:off x="505910" y="786293"/>
              <a:ext cx="7645081" cy="2190602"/>
            </a:xfrm>
            <a:prstGeom prst="rect">
              <a:avLst/>
            </a:prstGeom>
          </p:spPr>
        </p:pic>
        <p:sp>
          <p:nvSpPr>
            <p:cNvPr id="10" name="文字方塊 9"/>
            <p:cNvSpPr txBox="1"/>
            <p:nvPr/>
          </p:nvSpPr>
          <p:spPr>
            <a:xfrm>
              <a:off x="5714691" y="1403596"/>
              <a:ext cx="1587809" cy="471801"/>
            </a:xfrm>
            <a:prstGeom prst="rect">
              <a:avLst/>
            </a:prstGeom>
            <a:solidFill>
              <a:schemeClr val="accent4"/>
            </a:solidFill>
          </p:spPr>
          <p:txBody>
            <a:bodyPr wrap="square" rtlCol="0">
              <a:spAutoFit/>
            </a:bodyPr>
            <a:lstStyle>
              <a:defPPr>
                <a:defRPr lang="zh-TW"/>
              </a:defPPr>
              <a:lvl1pPr>
                <a:defRPr sz="400">
                  <a:latin typeface="+mj-ea"/>
                  <a:ea typeface="+mj-ea"/>
                </a:defRPr>
              </a:lvl1pPr>
            </a:lstStyle>
            <a:p>
              <a:r>
                <a:rPr lang="zh-TW" altLang="en-US" sz="800" dirty="0" smtClean="0">
                  <a:latin typeface="微軟正黑體" panose="020B0604030504040204" pitchFamily="34" charset="-120"/>
                  <a:ea typeface="微軟正黑體" panose="020B0604030504040204" pitchFamily="34" charset="-120"/>
                </a:rPr>
                <a:t>預設登入後頁面</a:t>
              </a:r>
              <a:endParaRPr lang="en-US" altLang="zh-TW" sz="800" dirty="0" smtClean="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800" dirty="0" smtClean="0">
                  <a:latin typeface="微軟正黑體" panose="020B0604030504040204" pitchFamily="34" charset="-120"/>
                  <a:ea typeface="微軟正黑體" panose="020B0604030504040204" pitchFamily="34" charset="-120"/>
                </a:rPr>
                <a:t>登入者進行中專案列表</a:t>
              </a:r>
              <a:endParaRPr lang="en-US" altLang="zh-TW" sz="800" dirty="0" smtClean="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800" dirty="0" smtClean="0">
                  <a:latin typeface="微軟正黑體" panose="020B0604030504040204" pitchFamily="34" charset="-120"/>
                  <a:ea typeface="微軟正黑體" panose="020B0604030504040204" pitchFamily="34" charset="-120"/>
                </a:rPr>
                <a:t>上週、當週及下週記錄列</a:t>
              </a:r>
              <a:endParaRPr lang="en-US" altLang="zh-TW" sz="800" dirty="0" smtClean="0">
                <a:latin typeface="微軟正黑體" panose="020B0604030504040204" pitchFamily="34" charset="-120"/>
                <a:ea typeface="微軟正黑體" panose="020B0604030504040204" pitchFamily="34" charset="-120"/>
              </a:endParaRPr>
            </a:p>
          </p:txBody>
        </p:sp>
      </p:grpSp>
      <p:sp>
        <p:nvSpPr>
          <p:cNvPr id="11" name="文字方塊 10"/>
          <p:cNvSpPr txBox="1"/>
          <p:nvPr/>
        </p:nvSpPr>
        <p:spPr>
          <a:xfrm>
            <a:off x="257532" y="2980572"/>
            <a:ext cx="1934523" cy="253916"/>
          </a:xfrm>
          <a:prstGeom prst="rect">
            <a:avLst/>
          </a:prstGeom>
          <a:noFill/>
          <a:ln>
            <a:noFill/>
          </a:ln>
        </p:spPr>
        <p:txBody>
          <a:bodyPr wrap="square" rtlCol="0">
            <a:spAutoFit/>
          </a:bodyPr>
          <a:lstStyle>
            <a:defPPr>
              <a:defRPr lang="zh-TW"/>
            </a:defPPr>
            <a:lvl1pPr>
              <a:defRPr sz="400">
                <a:latin typeface="+mj-ea"/>
                <a:ea typeface="+mj-ea"/>
              </a:defRPr>
            </a:lvl1pPr>
          </a:lstStyle>
          <a:p>
            <a:pPr marL="171450" indent="-171450">
              <a:buFont typeface="Wingdings" panose="05000000000000000000" pitchFamily="2" charset="2"/>
              <a:buChar char="Ø"/>
            </a:pPr>
            <a:r>
              <a:rPr lang="zh-TW" altLang="en-US" sz="1050" b="1" dirty="0" smtClean="0">
                <a:latin typeface="微軟正黑體" panose="020B0604030504040204" pitchFamily="34" charset="-120"/>
                <a:ea typeface="微軟正黑體" panose="020B0604030504040204" pitchFamily="34" charset="-120"/>
              </a:rPr>
              <a:t>隱藏</a:t>
            </a:r>
            <a:r>
              <a:rPr lang="en-US" altLang="zh-TW" sz="1050" b="1" dirty="0" smtClean="0">
                <a:latin typeface="微軟正黑體" panose="020B0604030504040204" pitchFamily="34" charset="-120"/>
                <a:ea typeface="微軟正黑體" panose="020B0604030504040204" pitchFamily="34" charset="-120"/>
              </a:rPr>
              <a:t>/</a:t>
            </a:r>
            <a:r>
              <a:rPr lang="zh-TW" altLang="en-US" sz="1050" b="1" dirty="0" smtClean="0">
                <a:latin typeface="微軟正黑體" panose="020B0604030504040204" pitchFamily="34" charset="-120"/>
                <a:ea typeface="微軟正黑體" panose="020B0604030504040204" pitchFamily="34" charset="-120"/>
              </a:rPr>
              <a:t>展開欄位分群</a:t>
            </a:r>
            <a:r>
              <a:rPr lang="en-US" altLang="zh-TW" sz="1050" b="1" dirty="0" smtClean="0">
                <a:latin typeface="微軟正黑體" panose="020B0604030504040204" pitchFamily="34" charset="-120"/>
                <a:ea typeface="微軟正黑體" panose="020B0604030504040204" pitchFamily="34" charset="-120"/>
              </a:rPr>
              <a:t>(</a:t>
            </a:r>
            <a:r>
              <a:rPr lang="zh-TW" altLang="en-US" sz="1050" b="1" dirty="0">
                <a:latin typeface="微軟正黑體" panose="020B0604030504040204" pitchFamily="34" charset="-120"/>
                <a:ea typeface="微軟正黑體" panose="020B0604030504040204" pitchFamily="34" charset="-120"/>
              </a:rPr>
              <a:t>列</a:t>
            </a:r>
            <a:r>
              <a:rPr lang="en-US" altLang="zh-TW" sz="1050" b="1" dirty="0" smtClean="0">
                <a:latin typeface="微軟正黑體" panose="020B0604030504040204" pitchFamily="34" charset="-120"/>
                <a:ea typeface="微軟正黑體" panose="020B0604030504040204" pitchFamily="34" charset="-120"/>
              </a:rPr>
              <a:t>)</a:t>
            </a:r>
          </a:p>
        </p:txBody>
      </p:sp>
      <p:sp>
        <p:nvSpPr>
          <p:cNvPr id="12" name="文字方塊 11"/>
          <p:cNvSpPr txBox="1"/>
          <p:nvPr/>
        </p:nvSpPr>
        <p:spPr>
          <a:xfrm>
            <a:off x="342900" y="3216030"/>
            <a:ext cx="492443" cy="215444"/>
          </a:xfrm>
          <a:prstGeom prst="rect">
            <a:avLst/>
          </a:prstGeom>
          <a:solidFill>
            <a:schemeClr val="accent4"/>
          </a:solidFill>
        </p:spPr>
        <p:txBody>
          <a:bodyPr wrap="square" rtlCol="0">
            <a:spAutoFit/>
          </a:bodyPr>
          <a:lstStyle>
            <a:defPPr>
              <a:defRPr lang="zh-TW"/>
            </a:defPPr>
            <a:lvl1pPr>
              <a:defRPr sz="800">
                <a:latin typeface="+mj-ea"/>
                <a:ea typeface="+mj-ea"/>
              </a:defRPr>
            </a:lvl1pPr>
          </a:lstStyle>
          <a:p>
            <a:r>
              <a:rPr lang="zh-TW" altLang="en-US" dirty="0">
                <a:latin typeface="微軟正黑體" panose="020B0604030504040204" pitchFamily="34" charset="-120"/>
                <a:ea typeface="微軟正黑體" panose="020B0604030504040204" pitchFamily="34" charset="-120"/>
              </a:rPr>
              <a:t>最簡化</a:t>
            </a:r>
            <a:endParaRPr lang="en-US" altLang="zh-TW" dirty="0">
              <a:latin typeface="微軟正黑體" panose="020B0604030504040204" pitchFamily="34" charset="-120"/>
              <a:ea typeface="微軟正黑體" panose="020B0604030504040204" pitchFamily="34" charset="-120"/>
            </a:endParaRPr>
          </a:p>
        </p:txBody>
      </p:sp>
      <p:sp>
        <p:nvSpPr>
          <p:cNvPr id="13" name="文字方塊 12"/>
          <p:cNvSpPr txBox="1"/>
          <p:nvPr/>
        </p:nvSpPr>
        <p:spPr>
          <a:xfrm>
            <a:off x="257532" y="588391"/>
            <a:ext cx="1374417" cy="253916"/>
          </a:xfrm>
          <a:prstGeom prst="rect">
            <a:avLst/>
          </a:prstGeom>
          <a:noFill/>
          <a:ln>
            <a:noFill/>
          </a:ln>
        </p:spPr>
        <p:txBody>
          <a:bodyPr wrap="square" rtlCol="0">
            <a:spAutoFit/>
          </a:bodyPr>
          <a:lstStyle>
            <a:defPPr>
              <a:defRPr lang="zh-TW"/>
            </a:defPPr>
            <a:lvl1pPr>
              <a:defRPr sz="400">
                <a:latin typeface="+mj-ea"/>
                <a:ea typeface="+mj-ea"/>
              </a:defRPr>
            </a:lvl1pPr>
          </a:lstStyle>
          <a:p>
            <a:pPr marL="171450" indent="-171450">
              <a:buFont typeface="Wingdings" panose="05000000000000000000" pitchFamily="2" charset="2"/>
              <a:buChar char="Ø"/>
            </a:pPr>
            <a:r>
              <a:rPr lang="zh-TW" altLang="en-US" sz="1050" b="1" dirty="0" smtClean="0">
                <a:latin typeface="微軟正黑體" panose="020B0604030504040204" pitchFamily="34" charset="-120"/>
                <a:ea typeface="微軟正黑體" panose="020B0604030504040204" pitchFamily="34" charset="-120"/>
              </a:rPr>
              <a:t>初始登入頁面</a:t>
            </a:r>
            <a:endParaRPr lang="en-US" altLang="zh-TW" sz="1050" b="1" dirty="0" smtClean="0">
              <a:latin typeface="微軟正黑體" panose="020B0604030504040204" pitchFamily="34" charset="-120"/>
              <a:ea typeface="微軟正黑體" panose="020B0604030504040204" pitchFamily="34" charset="-120"/>
            </a:endParaRPr>
          </a:p>
        </p:txBody>
      </p:sp>
      <p:sp>
        <p:nvSpPr>
          <p:cNvPr id="14" name="文字方塊 13"/>
          <p:cNvSpPr txBox="1"/>
          <p:nvPr/>
        </p:nvSpPr>
        <p:spPr>
          <a:xfrm>
            <a:off x="342900" y="3658253"/>
            <a:ext cx="594730" cy="215444"/>
          </a:xfrm>
          <a:prstGeom prst="rect">
            <a:avLst/>
          </a:prstGeom>
          <a:solidFill>
            <a:schemeClr val="accent4"/>
          </a:solidFill>
        </p:spPr>
        <p:txBody>
          <a:bodyPr wrap="square" rtlCol="0">
            <a:spAutoFit/>
          </a:bodyPr>
          <a:lstStyle>
            <a:defPPr>
              <a:defRPr lang="zh-TW"/>
            </a:defPPr>
            <a:lvl1pPr>
              <a:defRPr sz="800">
                <a:latin typeface="+mj-ea"/>
                <a:ea typeface="+mj-ea"/>
              </a:defRPr>
            </a:lvl1pPr>
          </a:lstStyle>
          <a:p>
            <a:pPr algn="ctr"/>
            <a:r>
              <a:rPr lang="zh-TW" altLang="en-US" dirty="0" smtClean="0">
                <a:latin typeface="微軟正黑體" panose="020B0604030504040204" pitchFamily="34" charset="-120"/>
                <a:ea typeface="微軟正黑體" panose="020B0604030504040204" pitchFamily="34" charset="-120"/>
              </a:rPr>
              <a:t>效益欄位</a:t>
            </a:r>
            <a:endParaRPr lang="en-US" altLang="zh-TW" dirty="0">
              <a:latin typeface="微軟正黑體" panose="020B0604030504040204" pitchFamily="34" charset="-120"/>
              <a:ea typeface="微軟正黑體" panose="020B0604030504040204" pitchFamily="34" charset="-120"/>
            </a:endParaRPr>
          </a:p>
        </p:txBody>
      </p:sp>
      <p:sp>
        <p:nvSpPr>
          <p:cNvPr id="15" name="文字方塊 14"/>
          <p:cNvSpPr txBox="1"/>
          <p:nvPr/>
        </p:nvSpPr>
        <p:spPr>
          <a:xfrm>
            <a:off x="334453" y="3963127"/>
            <a:ext cx="594730" cy="215444"/>
          </a:xfrm>
          <a:prstGeom prst="rect">
            <a:avLst/>
          </a:prstGeom>
          <a:solidFill>
            <a:schemeClr val="accent4"/>
          </a:solidFill>
        </p:spPr>
        <p:txBody>
          <a:bodyPr wrap="square" rtlCol="0">
            <a:spAutoFit/>
          </a:bodyPr>
          <a:lstStyle>
            <a:defPPr>
              <a:defRPr lang="zh-TW"/>
            </a:defPPr>
            <a:lvl1pPr>
              <a:defRPr sz="800">
                <a:latin typeface="+mj-ea"/>
                <a:ea typeface="+mj-ea"/>
              </a:defRPr>
            </a:lvl1pPr>
          </a:lstStyle>
          <a:p>
            <a:pPr algn="ctr"/>
            <a:r>
              <a:rPr lang="zh-TW" altLang="en-US" dirty="0" smtClean="0">
                <a:latin typeface="微軟正黑體" panose="020B0604030504040204" pitchFamily="34" charset="-120"/>
                <a:ea typeface="微軟正黑體" panose="020B0604030504040204" pitchFamily="34" charset="-120"/>
              </a:rPr>
              <a:t>狀態欄位</a:t>
            </a:r>
            <a:endParaRPr lang="en-US" altLang="zh-TW" dirty="0">
              <a:latin typeface="微軟正黑體" panose="020B0604030504040204" pitchFamily="34" charset="-120"/>
              <a:ea typeface="微軟正黑體" panose="020B0604030504040204" pitchFamily="34" charset="-120"/>
            </a:endParaRPr>
          </a:p>
        </p:txBody>
      </p:sp>
      <p:sp>
        <p:nvSpPr>
          <p:cNvPr id="16" name="文字方塊 15"/>
          <p:cNvSpPr txBox="1"/>
          <p:nvPr/>
        </p:nvSpPr>
        <p:spPr>
          <a:xfrm>
            <a:off x="340844" y="4325943"/>
            <a:ext cx="594730" cy="215444"/>
          </a:xfrm>
          <a:prstGeom prst="rect">
            <a:avLst/>
          </a:prstGeom>
          <a:solidFill>
            <a:schemeClr val="accent4"/>
          </a:solidFill>
        </p:spPr>
        <p:txBody>
          <a:bodyPr wrap="square" rtlCol="0">
            <a:spAutoFit/>
          </a:bodyPr>
          <a:lstStyle>
            <a:defPPr>
              <a:defRPr lang="zh-TW"/>
            </a:defPPr>
            <a:lvl1pPr>
              <a:defRPr sz="800">
                <a:latin typeface="+mj-ea"/>
                <a:ea typeface="+mj-ea"/>
              </a:defRPr>
            </a:lvl1pPr>
          </a:lstStyle>
          <a:p>
            <a:pPr algn="ctr"/>
            <a:r>
              <a:rPr lang="zh-TW" altLang="en-US" dirty="0" smtClean="0">
                <a:latin typeface="微軟正黑體" panose="020B0604030504040204" pitchFamily="34" charset="-120"/>
                <a:ea typeface="微軟正黑體" panose="020B0604030504040204" pitchFamily="34" charset="-120"/>
              </a:rPr>
              <a:t>進度欄位</a:t>
            </a:r>
            <a:endParaRPr lang="en-US" altLang="zh-TW" dirty="0">
              <a:latin typeface="微軟正黑體" panose="020B0604030504040204" pitchFamily="34" charset="-120"/>
              <a:ea typeface="微軟正黑體" panose="020B0604030504040204" pitchFamily="34" charset="-120"/>
            </a:endParaRPr>
          </a:p>
        </p:txBody>
      </p:sp>
      <p:sp>
        <p:nvSpPr>
          <p:cNvPr id="17" name="文字方塊 16"/>
          <p:cNvSpPr txBox="1"/>
          <p:nvPr/>
        </p:nvSpPr>
        <p:spPr>
          <a:xfrm>
            <a:off x="342900" y="4776471"/>
            <a:ext cx="594730" cy="215444"/>
          </a:xfrm>
          <a:prstGeom prst="rect">
            <a:avLst/>
          </a:prstGeom>
          <a:solidFill>
            <a:schemeClr val="accent4"/>
          </a:solidFill>
        </p:spPr>
        <p:txBody>
          <a:bodyPr wrap="square" rtlCol="0">
            <a:spAutoFit/>
          </a:bodyPr>
          <a:lstStyle>
            <a:defPPr>
              <a:defRPr lang="zh-TW"/>
            </a:defPPr>
            <a:lvl1pPr>
              <a:defRPr sz="800">
                <a:latin typeface="+mj-ea"/>
                <a:ea typeface="+mj-ea"/>
              </a:defRPr>
            </a:lvl1pPr>
          </a:lstStyle>
          <a:p>
            <a:pPr algn="ctr"/>
            <a:r>
              <a:rPr lang="zh-TW" altLang="en-US" dirty="0" smtClean="0">
                <a:latin typeface="微軟正黑體" panose="020B0604030504040204" pitchFamily="34" charset="-120"/>
                <a:ea typeface="微軟正黑體" panose="020B0604030504040204" pitchFamily="34" charset="-120"/>
              </a:rPr>
              <a:t>回報欄位</a:t>
            </a:r>
            <a:endParaRPr lang="en-US" altLang="zh-TW" dirty="0">
              <a:latin typeface="微軟正黑體" panose="020B0604030504040204" pitchFamily="34" charset="-120"/>
              <a:ea typeface="微軟正黑體" panose="020B0604030504040204" pitchFamily="34" charset="-120"/>
            </a:endParaRPr>
          </a:p>
        </p:txBody>
      </p:sp>
      <p:pic>
        <p:nvPicPr>
          <p:cNvPr id="18" name="圖片 17"/>
          <p:cNvPicPr>
            <a:picLocks noChangeAspect="1"/>
          </p:cNvPicPr>
          <p:nvPr/>
        </p:nvPicPr>
        <p:blipFill>
          <a:blip r:embed="rId9"/>
          <a:stretch>
            <a:fillRect/>
          </a:stretch>
        </p:blipFill>
        <p:spPr>
          <a:xfrm>
            <a:off x="5270500" y="3303874"/>
            <a:ext cx="2145138" cy="816558"/>
          </a:xfrm>
          <a:prstGeom prst="rect">
            <a:avLst/>
          </a:prstGeom>
        </p:spPr>
      </p:pic>
      <p:pic>
        <p:nvPicPr>
          <p:cNvPr id="19" name="圖片 18"/>
          <p:cNvPicPr>
            <a:picLocks noChangeAspect="1"/>
          </p:cNvPicPr>
          <p:nvPr/>
        </p:nvPicPr>
        <p:blipFill>
          <a:blip r:embed="rId10"/>
          <a:stretch>
            <a:fillRect/>
          </a:stretch>
        </p:blipFill>
        <p:spPr>
          <a:xfrm>
            <a:off x="5270474" y="4117229"/>
            <a:ext cx="1980063" cy="646739"/>
          </a:xfrm>
          <a:prstGeom prst="rect">
            <a:avLst/>
          </a:prstGeom>
        </p:spPr>
      </p:pic>
      <p:pic>
        <p:nvPicPr>
          <p:cNvPr id="20" name="圖片 19"/>
          <p:cNvPicPr>
            <a:picLocks noChangeAspect="1"/>
          </p:cNvPicPr>
          <p:nvPr/>
        </p:nvPicPr>
        <p:blipFill>
          <a:blip r:embed="rId11"/>
          <a:stretch>
            <a:fillRect/>
          </a:stretch>
        </p:blipFill>
        <p:spPr>
          <a:xfrm>
            <a:off x="6927631" y="3303874"/>
            <a:ext cx="2051269" cy="646246"/>
          </a:xfrm>
          <a:prstGeom prst="rect">
            <a:avLst/>
          </a:prstGeom>
        </p:spPr>
      </p:pic>
      <p:pic>
        <p:nvPicPr>
          <p:cNvPr id="21" name="圖片 20"/>
          <p:cNvPicPr>
            <a:picLocks noChangeAspect="1"/>
          </p:cNvPicPr>
          <p:nvPr/>
        </p:nvPicPr>
        <p:blipFill>
          <a:blip r:embed="rId12"/>
          <a:stretch>
            <a:fillRect/>
          </a:stretch>
        </p:blipFill>
        <p:spPr>
          <a:xfrm>
            <a:off x="6882725" y="4081773"/>
            <a:ext cx="2112816" cy="682195"/>
          </a:xfrm>
          <a:prstGeom prst="rect">
            <a:avLst/>
          </a:prstGeom>
        </p:spPr>
      </p:pic>
      <p:sp>
        <p:nvSpPr>
          <p:cNvPr id="22" name="文字方塊 21"/>
          <p:cNvSpPr txBox="1"/>
          <p:nvPr/>
        </p:nvSpPr>
        <p:spPr>
          <a:xfrm>
            <a:off x="5097782" y="2974257"/>
            <a:ext cx="1374417" cy="253916"/>
          </a:xfrm>
          <a:prstGeom prst="rect">
            <a:avLst/>
          </a:prstGeom>
          <a:noFill/>
          <a:ln>
            <a:noFill/>
          </a:ln>
        </p:spPr>
        <p:txBody>
          <a:bodyPr wrap="square" rtlCol="0">
            <a:spAutoFit/>
          </a:bodyPr>
          <a:lstStyle>
            <a:defPPr>
              <a:defRPr lang="zh-TW"/>
            </a:defPPr>
            <a:lvl1pPr>
              <a:defRPr sz="400">
                <a:latin typeface="+mj-ea"/>
                <a:ea typeface="+mj-ea"/>
              </a:defRPr>
            </a:lvl1pPr>
          </a:lstStyle>
          <a:p>
            <a:pPr marL="171450" indent="-171450">
              <a:buFont typeface="Wingdings" panose="05000000000000000000" pitchFamily="2" charset="2"/>
              <a:buChar char="Ø"/>
            </a:pPr>
            <a:r>
              <a:rPr lang="zh-TW" altLang="en-US" sz="1050" b="1" dirty="0" smtClean="0">
                <a:latin typeface="微軟正黑體" panose="020B0604030504040204" pitchFamily="34" charset="-120"/>
                <a:ea typeface="微軟正黑體" panose="020B0604030504040204" pitchFamily="34" charset="-120"/>
              </a:rPr>
              <a:t>組別分群</a:t>
            </a:r>
            <a:r>
              <a:rPr lang="en-US" altLang="zh-TW" sz="1050" b="1" dirty="0" smtClean="0">
                <a:latin typeface="微軟正黑體" panose="020B0604030504040204" pitchFamily="34" charset="-120"/>
                <a:ea typeface="微軟正黑體" panose="020B0604030504040204" pitchFamily="34" charset="-120"/>
              </a:rPr>
              <a:t>(</a:t>
            </a:r>
            <a:r>
              <a:rPr lang="zh-TW" altLang="en-US" sz="1050" b="1" dirty="0">
                <a:latin typeface="微軟正黑體" panose="020B0604030504040204" pitchFamily="34" charset="-120"/>
                <a:ea typeface="微軟正黑體" panose="020B0604030504040204" pitchFamily="34" charset="-120"/>
              </a:rPr>
              <a:t>行</a:t>
            </a:r>
            <a:r>
              <a:rPr lang="en-US" altLang="zh-TW" sz="1050" b="1" dirty="0" smtClean="0">
                <a:latin typeface="微軟正黑體" panose="020B0604030504040204" pitchFamily="34" charset="-120"/>
                <a:ea typeface="微軟正黑體" panose="020B0604030504040204" pitchFamily="34" charset="-120"/>
              </a:rPr>
              <a:t>)</a:t>
            </a:r>
          </a:p>
        </p:txBody>
      </p:sp>
      <p:sp>
        <p:nvSpPr>
          <p:cNvPr id="23" name="標題 22"/>
          <p:cNvSpPr>
            <a:spLocks noGrp="1"/>
          </p:cNvSpPr>
          <p:nvPr>
            <p:ph type="ctrTitle"/>
          </p:nvPr>
        </p:nvSpPr>
        <p:spPr/>
        <p:txBody>
          <a:bodyPr/>
          <a:lstStyle/>
          <a:p>
            <a:r>
              <a:rPr lang="zh-TW" altLang="en-US" b="1" dirty="0"/>
              <a:t>系統</a:t>
            </a:r>
            <a:r>
              <a:rPr lang="zh-TW" altLang="en-US" b="1" dirty="0" smtClean="0"/>
              <a:t>功能</a:t>
            </a:r>
            <a:endParaRPr lang="zh-TW" altLang="en-US" b="1" dirty="0"/>
          </a:p>
        </p:txBody>
      </p:sp>
      <p:sp>
        <p:nvSpPr>
          <p:cNvPr id="24" name="標題 1"/>
          <p:cNvSpPr txBox="1">
            <a:spLocks/>
          </p:cNvSpPr>
          <p:nvPr/>
        </p:nvSpPr>
        <p:spPr>
          <a:xfrm>
            <a:off x="386220" y="0"/>
            <a:ext cx="8482972" cy="680785"/>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3200" kern="1200">
                <a:solidFill>
                  <a:srgbClr val="005087"/>
                </a:solidFill>
                <a:latin typeface="+mj-lt"/>
                <a:ea typeface="+mj-ea"/>
                <a:cs typeface="+mj-cs"/>
              </a:defRPr>
            </a:lvl1pPr>
          </a:lstStyle>
          <a:p>
            <a:endParaRPr lang="zh-TW" altLang="en-US" dirty="0"/>
          </a:p>
        </p:txBody>
      </p:sp>
    </p:spTree>
    <p:extLst>
      <p:ext uri="{BB962C8B-B14F-4D97-AF65-F5344CB8AC3E}">
        <p14:creationId xmlns:p14="http://schemas.microsoft.com/office/powerpoint/2010/main" val="2856113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pic>
        <p:nvPicPr>
          <p:cNvPr id="3" name="圖片 2"/>
          <p:cNvPicPr>
            <a:picLocks noChangeAspect="1"/>
          </p:cNvPicPr>
          <p:nvPr/>
        </p:nvPicPr>
        <p:blipFill rotWithShape="1">
          <a:blip r:embed="rId3"/>
          <a:srcRect r="92826" b="78782"/>
          <a:stretch/>
        </p:blipFill>
        <p:spPr>
          <a:xfrm>
            <a:off x="316885" y="907797"/>
            <a:ext cx="1117359" cy="842707"/>
          </a:xfrm>
          <a:prstGeom prst="rect">
            <a:avLst/>
          </a:prstGeom>
        </p:spPr>
      </p:pic>
      <p:pic>
        <p:nvPicPr>
          <p:cNvPr id="4" name="圖片 3"/>
          <p:cNvPicPr>
            <a:picLocks noChangeAspect="1"/>
          </p:cNvPicPr>
          <p:nvPr/>
        </p:nvPicPr>
        <p:blipFill>
          <a:blip r:embed="rId4"/>
          <a:stretch>
            <a:fillRect/>
          </a:stretch>
        </p:blipFill>
        <p:spPr>
          <a:xfrm>
            <a:off x="418901" y="2103845"/>
            <a:ext cx="6027448" cy="983154"/>
          </a:xfrm>
          <a:prstGeom prst="rect">
            <a:avLst/>
          </a:prstGeom>
        </p:spPr>
      </p:pic>
      <p:sp>
        <p:nvSpPr>
          <p:cNvPr id="5" name="文字方塊 4"/>
          <p:cNvSpPr txBox="1"/>
          <p:nvPr/>
        </p:nvSpPr>
        <p:spPr>
          <a:xfrm>
            <a:off x="1564384" y="687369"/>
            <a:ext cx="1374417" cy="253916"/>
          </a:xfrm>
          <a:prstGeom prst="rect">
            <a:avLst/>
          </a:prstGeom>
          <a:noFill/>
          <a:ln>
            <a:noFill/>
          </a:ln>
        </p:spPr>
        <p:txBody>
          <a:bodyPr wrap="square" rtlCol="0">
            <a:spAutoFit/>
          </a:bodyPr>
          <a:lstStyle>
            <a:defPPr>
              <a:defRPr lang="zh-TW"/>
            </a:defPPr>
            <a:lvl1pPr>
              <a:defRPr sz="400">
                <a:latin typeface="+mj-ea"/>
                <a:ea typeface="+mj-ea"/>
              </a:defRPr>
            </a:lvl1pPr>
          </a:lstStyle>
          <a:p>
            <a:pPr marL="171450" indent="-171450">
              <a:buFont typeface="Wingdings" panose="05000000000000000000" pitchFamily="2" charset="2"/>
              <a:buChar char="Ø"/>
            </a:pPr>
            <a:r>
              <a:rPr lang="zh-TW" altLang="en-US" sz="1050" b="1" dirty="0" smtClean="0">
                <a:latin typeface="微軟正黑體" panose="020B0604030504040204" pitchFamily="34" charset="-120"/>
                <a:ea typeface="微軟正黑體" panose="020B0604030504040204" pitchFamily="34" charset="-120"/>
              </a:rPr>
              <a:t>編輯功能</a:t>
            </a:r>
            <a:endParaRPr lang="en-US" altLang="zh-TW" sz="1050" b="1" dirty="0" smtClean="0">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a:blip r:embed="rId5"/>
          <a:stretch>
            <a:fillRect/>
          </a:stretch>
        </p:blipFill>
        <p:spPr>
          <a:xfrm>
            <a:off x="6730575" y="920162"/>
            <a:ext cx="2108625" cy="3918725"/>
          </a:xfrm>
          <a:prstGeom prst="rect">
            <a:avLst/>
          </a:prstGeom>
        </p:spPr>
      </p:pic>
      <p:sp>
        <p:nvSpPr>
          <p:cNvPr id="7" name="文字方塊 6"/>
          <p:cNvSpPr txBox="1"/>
          <p:nvPr/>
        </p:nvSpPr>
        <p:spPr>
          <a:xfrm>
            <a:off x="6620232" y="656297"/>
            <a:ext cx="1374417" cy="253916"/>
          </a:xfrm>
          <a:prstGeom prst="rect">
            <a:avLst/>
          </a:prstGeom>
          <a:noFill/>
          <a:ln>
            <a:noFill/>
          </a:ln>
        </p:spPr>
        <p:txBody>
          <a:bodyPr wrap="square" rtlCol="0">
            <a:spAutoFit/>
          </a:bodyPr>
          <a:lstStyle>
            <a:defPPr>
              <a:defRPr lang="zh-TW"/>
            </a:defPPr>
            <a:lvl1pPr>
              <a:defRPr sz="400">
                <a:latin typeface="+mj-ea"/>
                <a:ea typeface="+mj-ea"/>
              </a:defRPr>
            </a:lvl1pPr>
          </a:lstStyle>
          <a:p>
            <a:pPr marL="171450" indent="-171450">
              <a:buFont typeface="Wingdings" panose="05000000000000000000" pitchFamily="2" charset="2"/>
              <a:buChar char="Ø"/>
            </a:pPr>
            <a:r>
              <a:rPr lang="zh-TW" altLang="en-US" sz="1050" b="1" dirty="0" smtClean="0">
                <a:latin typeface="微軟正黑體" panose="020B0604030504040204" pitchFamily="34" charset="-120"/>
                <a:ea typeface="微軟正黑體" panose="020B0604030504040204" pitchFamily="34" charset="-120"/>
              </a:rPr>
              <a:t>新增專案功能</a:t>
            </a:r>
            <a:endParaRPr lang="en-US" altLang="zh-TW" sz="1050" b="1" dirty="0" smtClean="0">
              <a:latin typeface="微軟正黑體" panose="020B0604030504040204" pitchFamily="34" charset="-120"/>
              <a:ea typeface="微軟正黑體" panose="020B0604030504040204" pitchFamily="34" charset="-120"/>
            </a:endParaRPr>
          </a:p>
        </p:txBody>
      </p:sp>
      <p:pic>
        <p:nvPicPr>
          <p:cNvPr id="8" name="圖片 7"/>
          <p:cNvPicPr>
            <a:picLocks noChangeAspect="1"/>
          </p:cNvPicPr>
          <p:nvPr/>
        </p:nvPicPr>
        <p:blipFill rotWithShape="1">
          <a:blip r:embed="rId3"/>
          <a:srcRect l="85807" t="14160" b="53525"/>
          <a:stretch/>
        </p:blipFill>
        <p:spPr>
          <a:xfrm>
            <a:off x="1675483" y="971310"/>
            <a:ext cx="1676400" cy="973357"/>
          </a:xfrm>
          <a:prstGeom prst="rect">
            <a:avLst/>
          </a:prstGeom>
        </p:spPr>
      </p:pic>
      <p:sp>
        <p:nvSpPr>
          <p:cNvPr id="9" name="矩形 8"/>
          <p:cNvSpPr/>
          <p:nvPr/>
        </p:nvSpPr>
        <p:spPr>
          <a:xfrm>
            <a:off x="2443544" y="960204"/>
            <a:ext cx="821939" cy="977471"/>
          </a:xfrm>
          <a:prstGeom prst="rect">
            <a:avLst/>
          </a:prstGeom>
          <a:solidFill>
            <a:schemeClr val="accent4">
              <a:lumMod val="20000"/>
              <a:lumOff val="80000"/>
              <a:alpha val="36000"/>
            </a:schemeClr>
          </a:solidFill>
          <a:ln>
            <a:solidFill>
              <a:schemeClr val="accent4">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10" name="群組 9"/>
          <p:cNvGrpSpPr/>
          <p:nvPr/>
        </p:nvGrpSpPr>
        <p:grpSpPr>
          <a:xfrm>
            <a:off x="261966" y="3352172"/>
            <a:ext cx="3613765" cy="1068999"/>
            <a:chOff x="316885" y="3306151"/>
            <a:chExt cx="3613765" cy="1068999"/>
          </a:xfrm>
        </p:grpSpPr>
        <p:sp>
          <p:nvSpPr>
            <p:cNvPr id="11" name="文字方塊 10"/>
            <p:cNvSpPr txBox="1"/>
            <p:nvPr/>
          </p:nvSpPr>
          <p:spPr>
            <a:xfrm>
              <a:off x="316885" y="3306151"/>
              <a:ext cx="1374417" cy="253916"/>
            </a:xfrm>
            <a:prstGeom prst="rect">
              <a:avLst/>
            </a:prstGeom>
            <a:noFill/>
            <a:ln>
              <a:noFill/>
            </a:ln>
          </p:spPr>
          <p:txBody>
            <a:bodyPr wrap="square" rtlCol="0">
              <a:spAutoFit/>
            </a:bodyPr>
            <a:lstStyle>
              <a:defPPr>
                <a:defRPr lang="zh-TW"/>
              </a:defPPr>
              <a:lvl1pPr>
                <a:defRPr sz="400">
                  <a:latin typeface="+mj-ea"/>
                  <a:ea typeface="+mj-ea"/>
                </a:defRPr>
              </a:lvl1pPr>
            </a:lstStyle>
            <a:p>
              <a:pPr marL="171450" indent="-171450">
                <a:buFont typeface="Wingdings" panose="05000000000000000000" pitchFamily="2" charset="2"/>
                <a:buChar char="Ø"/>
              </a:pPr>
              <a:r>
                <a:rPr lang="zh-TW" altLang="en-US" sz="1050" b="1" dirty="0" smtClean="0">
                  <a:latin typeface="微軟正黑體" panose="020B0604030504040204" pitchFamily="34" charset="-120"/>
                  <a:ea typeface="微軟正黑體" panose="020B0604030504040204" pitchFamily="34" charset="-120"/>
                </a:rPr>
                <a:t>刪除專</a:t>
              </a:r>
              <a:r>
                <a:rPr lang="zh-TW" altLang="en-US" sz="1050" b="1" dirty="0">
                  <a:latin typeface="微軟正黑體" panose="020B0604030504040204" pitchFamily="34" charset="-120"/>
                  <a:ea typeface="微軟正黑體" panose="020B0604030504040204" pitchFamily="34" charset="-120"/>
                </a:rPr>
                <a:t>案</a:t>
              </a:r>
              <a:r>
                <a:rPr lang="zh-TW" altLang="en-US" sz="1050" b="1" dirty="0" smtClean="0">
                  <a:latin typeface="微軟正黑體" panose="020B0604030504040204" pitchFamily="34" charset="-120"/>
                  <a:ea typeface="微軟正黑體" panose="020B0604030504040204" pitchFamily="34" charset="-120"/>
                </a:rPr>
                <a:t>功能</a:t>
              </a:r>
              <a:endParaRPr lang="en-US" altLang="zh-TW" sz="1050" b="1" dirty="0" smtClean="0">
                <a:latin typeface="微軟正黑體" panose="020B0604030504040204" pitchFamily="34" charset="-120"/>
                <a:ea typeface="微軟正黑體" panose="020B0604030504040204" pitchFamily="34" charset="-120"/>
              </a:endParaRPr>
            </a:p>
          </p:txBody>
        </p:sp>
        <p:grpSp>
          <p:nvGrpSpPr>
            <p:cNvPr id="12" name="群組 11"/>
            <p:cNvGrpSpPr/>
            <p:nvPr/>
          </p:nvGrpSpPr>
          <p:grpSpPr>
            <a:xfrm>
              <a:off x="434720" y="3531105"/>
              <a:ext cx="3495930" cy="844045"/>
              <a:chOff x="434720" y="3531105"/>
              <a:chExt cx="4779520" cy="1135205"/>
            </a:xfrm>
          </p:grpSpPr>
          <p:pic>
            <p:nvPicPr>
              <p:cNvPr id="13" name="圖片 12"/>
              <p:cNvPicPr>
                <a:picLocks noChangeAspect="1"/>
              </p:cNvPicPr>
              <p:nvPr/>
            </p:nvPicPr>
            <p:blipFill>
              <a:blip r:embed="rId6"/>
              <a:stretch>
                <a:fillRect/>
              </a:stretch>
            </p:blipFill>
            <p:spPr>
              <a:xfrm>
                <a:off x="434720" y="3531105"/>
                <a:ext cx="4779520" cy="1135205"/>
              </a:xfrm>
              <a:prstGeom prst="rect">
                <a:avLst/>
              </a:prstGeom>
            </p:spPr>
          </p:pic>
          <p:sp>
            <p:nvSpPr>
              <p:cNvPr id="14" name="矩形 13"/>
              <p:cNvSpPr/>
              <p:nvPr/>
            </p:nvSpPr>
            <p:spPr>
              <a:xfrm>
                <a:off x="4741909" y="3560067"/>
                <a:ext cx="472331" cy="1106243"/>
              </a:xfrm>
              <a:prstGeom prst="rect">
                <a:avLst/>
              </a:prstGeom>
              <a:solidFill>
                <a:schemeClr val="accent4">
                  <a:lumMod val="20000"/>
                  <a:lumOff val="80000"/>
                  <a:alpha val="36000"/>
                </a:schemeClr>
              </a:solidFill>
              <a:ln>
                <a:solidFill>
                  <a:schemeClr val="accent4">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sp>
        <p:nvSpPr>
          <p:cNvPr id="15" name="文字方塊 14"/>
          <p:cNvSpPr txBox="1"/>
          <p:nvPr/>
        </p:nvSpPr>
        <p:spPr>
          <a:xfrm>
            <a:off x="3432625" y="1048260"/>
            <a:ext cx="3071998" cy="819455"/>
          </a:xfrm>
          <a:prstGeom prst="rect">
            <a:avLst/>
          </a:prstGeom>
          <a:noFill/>
        </p:spPr>
        <p:txBody>
          <a:bodyPr wrap="square" rtlCol="0">
            <a:spAutoFit/>
          </a:bodyPr>
          <a:lstStyle>
            <a:defPPr>
              <a:defRPr lang="zh-TW"/>
            </a:defPPr>
            <a:lvl1pPr>
              <a:defRPr sz="400">
                <a:latin typeface="+mj-ea"/>
                <a:ea typeface="+mj-ea"/>
              </a:defRPr>
            </a:lvl1pPr>
          </a:lstStyle>
          <a:p>
            <a:pPr marL="171450" indent="-171450">
              <a:lnSpc>
                <a:spcPct val="150000"/>
              </a:lnSpc>
              <a:buFont typeface="Arial" panose="020B0604020202020204" pitchFamily="34" charset="0"/>
              <a:buChar char="•"/>
            </a:pPr>
            <a:r>
              <a:rPr lang="zh-TW" altLang="en-US" sz="1050" dirty="0" smtClean="0">
                <a:latin typeface="微軟正黑體" panose="020B0604030504040204" pitchFamily="34" charset="-120"/>
                <a:ea typeface="微軟正黑體" panose="020B0604030504040204" pitchFamily="34" charset="-120"/>
              </a:rPr>
              <a:t>效益限制下拉式選單單位避免統計困難</a:t>
            </a:r>
            <a:endParaRPr lang="en-US" altLang="zh-TW" sz="1050" dirty="0" smtClean="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050" dirty="0" smtClean="0">
                <a:latin typeface="微軟正黑體" panose="020B0604030504040204" pitchFamily="34" charset="-120"/>
                <a:ea typeface="微軟正黑體" panose="020B0604030504040204" pitchFamily="34" charset="-120"/>
              </a:rPr>
              <a:t>時</a:t>
            </a:r>
            <a:r>
              <a:rPr lang="zh-TW" altLang="en-US" sz="1050" dirty="0">
                <a:latin typeface="微軟正黑體" panose="020B0604030504040204" pitchFamily="34" charset="-120"/>
                <a:ea typeface="微軟正黑體" panose="020B0604030504040204" pitchFamily="34" charset="-120"/>
              </a:rPr>
              <a:t>程</a:t>
            </a:r>
            <a:r>
              <a:rPr lang="zh-TW" altLang="en-US" sz="1050" dirty="0" smtClean="0">
                <a:latin typeface="微軟正黑體" panose="020B0604030504040204" pitchFamily="34" charset="-120"/>
                <a:ea typeface="微軟正黑體" panose="020B0604030504040204" pitchFamily="34" charset="-120"/>
              </a:rPr>
              <a:t>及進度預設格式</a:t>
            </a:r>
            <a:endParaRPr lang="en-US" altLang="zh-TW" sz="1050" dirty="0" smtClean="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050" dirty="0" smtClean="0">
                <a:latin typeface="微軟正黑體" panose="020B0604030504040204" pitchFamily="34" charset="-120"/>
                <a:ea typeface="微軟正黑體" panose="020B0604030504040204" pitchFamily="34" charset="-120"/>
              </a:rPr>
              <a:t>專案連結串</a:t>
            </a:r>
            <a:r>
              <a:rPr lang="en-US" altLang="zh-TW" sz="1050" dirty="0" smtClean="0">
                <a:latin typeface="微軟正黑體" panose="020B0604030504040204" pitchFamily="34" charset="-120"/>
                <a:ea typeface="微軟正黑體" panose="020B0604030504040204" pitchFamily="34" charset="-120"/>
              </a:rPr>
              <a:t>LCD1</a:t>
            </a:r>
            <a:r>
              <a:rPr lang="zh-TW" altLang="en-US" sz="1050" dirty="0" smtClean="0">
                <a:latin typeface="微軟正黑體" panose="020B0604030504040204" pitchFamily="34" charset="-120"/>
                <a:ea typeface="微軟正黑體" panose="020B0604030504040204" pitchFamily="34" charset="-120"/>
              </a:rPr>
              <a:t>回報功能僅限專案平台連結</a:t>
            </a:r>
            <a:endParaRPr lang="en-US" altLang="zh-TW" sz="1050" dirty="0" smtClean="0">
              <a:latin typeface="微軟正黑體" panose="020B0604030504040204" pitchFamily="34" charset="-120"/>
              <a:ea typeface="微軟正黑體" panose="020B0604030504040204" pitchFamily="34" charset="-120"/>
            </a:endParaRPr>
          </a:p>
        </p:txBody>
      </p:sp>
      <p:sp>
        <p:nvSpPr>
          <p:cNvPr id="16" name="向右箭號 15"/>
          <p:cNvSpPr/>
          <p:nvPr/>
        </p:nvSpPr>
        <p:spPr>
          <a:xfrm rot="5400000">
            <a:off x="2598756" y="1903994"/>
            <a:ext cx="185100" cy="252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17" name="圖片 16"/>
          <p:cNvPicPr>
            <a:picLocks noChangeAspect="1"/>
          </p:cNvPicPr>
          <p:nvPr/>
        </p:nvPicPr>
        <p:blipFill>
          <a:blip r:embed="rId7"/>
          <a:stretch>
            <a:fillRect/>
          </a:stretch>
        </p:blipFill>
        <p:spPr>
          <a:xfrm>
            <a:off x="4137546" y="3531105"/>
            <a:ext cx="1658161" cy="931859"/>
          </a:xfrm>
          <a:prstGeom prst="rect">
            <a:avLst/>
          </a:prstGeom>
        </p:spPr>
      </p:pic>
      <p:sp>
        <p:nvSpPr>
          <p:cNvPr id="18" name="文字方塊 17"/>
          <p:cNvSpPr txBox="1"/>
          <p:nvPr/>
        </p:nvSpPr>
        <p:spPr>
          <a:xfrm>
            <a:off x="4056398" y="3246177"/>
            <a:ext cx="1374417" cy="253916"/>
          </a:xfrm>
          <a:prstGeom prst="rect">
            <a:avLst/>
          </a:prstGeom>
          <a:noFill/>
          <a:ln>
            <a:noFill/>
          </a:ln>
        </p:spPr>
        <p:txBody>
          <a:bodyPr wrap="square" rtlCol="0">
            <a:spAutoFit/>
          </a:bodyPr>
          <a:lstStyle>
            <a:defPPr>
              <a:defRPr lang="zh-TW"/>
            </a:defPPr>
            <a:lvl1pPr>
              <a:defRPr sz="400">
                <a:latin typeface="+mj-ea"/>
                <a:ea typeface="+mj-ea"/>
              </a:defRPr>
            </a:lvl1pPr>
          </a:lstStyle>
          <a:p>
            <a:pPr marL="171450" indent="-171450">
              <a:buFont typeface="Wingdings" panose="05000000000000000000" pitchFamily="2" charset="2"/>
              <a:buChar char="Ø"/>
            </a:pPr>
            <a:r>
              <a:rPr lang="en-US" altLang="zh-TW" sz="1050" b="1" dirty="0" smtClean="0">
                <a:latin typeface="微軟正黑體" panose="020B0604030504040204" pitchFamily="34" charset="-120"/>
                <a:ea typeface="微軟正黑體" panose="020B0604030504040204" pitchFamily="34" charset="-120"/>
              </a:rPr>
              <a:t>LCD1</a:t>
            </a:r>
            <a:r>
              <a:rPr lang="zh-TW" altLang="en-US" sz="1050" b="1" dirty="0" smtClean="0">
                <a:latin typeface="微軟正黑體" panose="020B0604030504040204" pitchFamily="34" charset="-120"/>
                <a:ea typeface="微軟正黑體" panose="020B0604030504040204" pitchFamily="34" charset="-120"/>
              </a:rPr>
              <a:t>回報功能</a:t>
            </a:r>
            <a:endParaRPr lang="en-US" altLang="zh-TW" sz="1050" b="1" dirty="0" smtClean="0">
              <a:latin typeface="微軟正黑體" panose="020B0604030504040204" pitchFamily="34" charset="-120"/>
              <a:ea typeface="微軟正黑體" panose="020B0604030504040204" pitchFamily="34" charset="-120"/>
            </a:endParaRPr>
          </a:p>
        </p:txBody>
      </p:sp>
      <p:sp>
        <p:nvSpPr>
          <p:cNvPr id="19" name="矩形 18"/>
          <p:cNvSpPr/>
          <p:nvPr/>
        </p:nvSpPr>
        <p:spPr>
          <a:xfrm>
            <a:off x="2228850" y="2109528"/>
            <a:ext cx="336225" cy="977471"/>
          </a:xfrm>
          <a:prstGeom prst="rect">
            <a:avLst/>
          </a:prstGeom>
          <a:solidFill>
            <a:schemeClr val="accent5">
              <a:alpha val="36000"/>
            </a:schemeClr>
          </a:solidFill>
          <a:ln>
            <a:solidFill>
              <a:schemeClr val="accent5"/>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0" name="矩形 19"/>
          <p:cNvSpPr/>
          <p:nvPr/>
        </p:nvSpPr>
        <p:spPr>
          <a:xfrm>
            <a:off x="3389628" y="2122776"/>
            <a:ext cx="610872" cy="977471"/>
          </a:xfrm>
          <a:prstGeom prst="rect">
            <a:avLst/>
          </a:prstGeom>
          <a:solidFill>
            <a:schemeClr val="accent5">
              <a:alpha val="36000"/>
            </a:schemeClr>
          </a:solidFill>
          <a:ln>
            <a:solidFill>
              <a:schemeClr val="accent5"/>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1" name="矩形 20"/>
          <p:cNvSpPr/>
          <p:nvPr/>
        </p:nvSpPr>
        <p:spPr>
          <a:xfrm>
            <a:off x="3084192" y="2096853"/>
            <a:ext cx="181291" cy="977471"/>
          </a:xfrm>
          <a:prstGeom prst="rect">
            <a:avLst/>
          </a:prstGeom>
          <a:solidFill>
            <a:schemeClr val="accent5">
              <a:alpha val="36000"/>
            </a:schemeClr>
          </a:solidFill>
          <a:ln>
            <a:solidFill>
              <a:schemeClr val="accent5"/>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22" name="肘形接點 21"/>
          <p:cNvCxnSpPr>
            <a:stCxn id="20" idx="2"/>
            <a:endCxn id="18" idx="1"/>
          </p:cNvCxnSpPr>
          <p:nvPr/>
        </p:nvCxnSpPr>
        <p:spPr>
          <a:xfrm rot="16200000" flipH="1">
            <a:off x="3739287" y="3056024"/>
            <a:ext cx="272888" cy="361334"/>
          </a:xfrm>
          <a:prstGeom prst="bentConnector2">
            <a:avLst/>
          </a:prstGeom>
          <a:ln w="127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肘形接點 22"/>
          <p:cNvCxnSpPr>
            <a:stCxn id="21" idx="2"/>
            <a:endCxn id="18" idx="1"/>
          </p:cNvCxnSpPr>
          <p:nvPr/>
        </p:nvCxnSpPr>
        <p:spPr>
          <a:xfrm rot="16200000" flipH="1">
            <a:off x="3466213" y="2782949"/>
            <a:ext cx="298811" cy="881560"/>
          </a:xfrm>
          <a:prstGeom prst="bentConnector2">
            <a:avLst/>
          </a:prstGeom>
          <a:ln w="127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肘形接點 23"/>
          <p:cNvCxnSpPr>
            <a:stCxn id="19" idx="2"/>
            <a:endCxn id="18" idx="1"/>
          </p:cNvCxnSpPr>
          <p:nvPr/>
        </p:nvCxnSpPr>
        <p:spPr>
          <a:xfrm rot="16200000" flipH="1">
            <a:off x="3083612" y="2400349"/>
            <a:ext cx="286136" cy="1659435"/>
          </a:xfrm>
          <a:prstGeom prst="bentConnector2">
            <a:avLst/>
          </a:prstGeom>
          <a:ln w="127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4137546" y="4493976"/>
            <a:ext cx="2482686" cy="715581"/>
          </a:xfrm>
          <a:prstGeom prst="rect">
            <a:avLst/>
          </a:prstGeom>
          <a:noFill/>
        </p:spPr>
        <p:txBody>
          <a:bodyPr wrap="square" rtlCol="0">
            <a:spAutoFit/>
          </a:bodyPr>
          <a:lstStyle>
            <a:defPPr>
              <a:defRPr lang="zh-TW"/>
            </a:defPPr>
            <a:lvl1pPr marL="171450" indent="-171450">
              <a:lnSpc>
                <a:spcPct val="150000"/>
              </a:lnSpc>
              <a:buFont typeface="Arial" panose="020B0604020202020204" pitchFamily="34" charset="0"/>
              <a:buChar char="•"/>
              <a:defRPr sz="1050">
                <a:latin typeface="+mj-ea"/>
                <a:ea typeface="+mj-ea"/>
              </a:defRPr>
            </a:lvl1pPr>
          </a:lstStyle>
          <a:p>
            <a:r>
              <a:rPr lang="zh-TW" altLang="en-US" sz="900" dirty="0">
                <a:latin typeface="微軟正黑體" panose="020B0604030504040204" pitchFamily="34" charset="-120"/>
                <a:ea typeface="微軟正黑體" panose="020B0604030504040204" pitchFamily="34" charset="-120"/>
              </a:rPr>
              <a:t>程試回報為專案自主回報</a:t>
            </a:r>
            <a:endParaRPr lang="en-US" altLang="zh-TW" sz="900" dirty="0">
              <a:latin typeface="微軟正黑體" panose="020B0604030504040204" pitchFamily="34" charset="-120"/>
              <a:ea typeface="微軟正黑體" panose="020B0604030504040204" pitchFamily="34" charset="-120"/>
            </a:endParaRPr>
          </a:p>
          <a:p>
            <a:r>
              <a:rPr lang="zh-TW" altLang="en-US" sz="900" dirty="0">
                <a:latin typeface="微軟正黑體" panose="020B0604030504040204" pitchFamily="34" charset="-120"/>
                <a:ea typeface="微軟正黑體" panose="020B0604030504040204" pitchFamily="34" charset="-120"/>
              </a:rPr>
              <a:t>專案為持續性質材須回報</a:t>
            </a:r>
            <a:endParaRPr lang="en-US" altLang="zh-TW" sz="900" dirty="0">
              <a:latin typeface="微軟正黑體" panose="020B0604030504040204" pitchFamily="34" charset="-120"/>
              <a:ea typeface="微軟正黑體" panose="020B0604030504040204" pitchFamily="34" charset="-120"/>
            </a:endParaRPr>
          </a:p>
          <a:p>
            <a:r>
              <a:rPr lang="zh-TW" altLang="en-US" sz="900" dirty="0">
                <a:latin typeface="微軟正黑體" panose="020B0604030504040204" pitchFamily="34" charset="-120"/>
                <a:ea typeface="微軟正黑體" panose="020B0604030504040204" pitchFamily="34" charset="-120"/>
              </a:rPr>
              <a:t>回報如無填寫回報值則預設</a:t>
            </a:r>
            <a:r>
              <a:rPr lang="en-US" altLang="zh-TW" sz="900" dirty="0">
                <a:latin typeface="微軟正黑體" panose="020B0604030504040204" pitchFamily="34" charset="-120"/>
                <a:ea typeface="微軟正黑體" panose="020B0604030504040204" pitchFamily="34" charset="-120"/>
              </a:rPr>
              <a:t>0.5</a:t>
            </a:r>
          </a:p>
        </p:txBody>
      </p:sp>
    </p:spTree>
    <p:extLst>
      <p:ext uri="{BB962C8B-B14F-4D97-AF65-F5344CB8AC3E}">
        <p14:creationId xmlns:p14="http://schemas.microsoft.com/office/powerpoint/2010/main" val="1165897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zh-TW" altLang="en-US" b="1" dirty="0"/>
              <a:t>影像</a:t>
            </a:r>
            <a:r>
              <a:rPr lang="zh-TW" altLang="en-US" b="1" dirty="0" smtClean="0"/>
              <a:t>辨識監控</a:t>
            </a:r>
            <a:r>
              <a:rPr lang="zh-TW" altLang="en-US" b="1" dirty="0"/>
              <a:t>系統</a:t>
            </a:r>
          </a:p>
        </p:txBody>
      </p:sp>
      <p:sp>
        <p:nvSpPr>
          <p:cNvPr id="3" name="文字版面配置區 2"/>
          <p:cNvSpPr>
            <a:spLocks noGrp="1"/>
          </p:cNvSpPr>
          <p:nvPr>
            <p:ph type="body" sz="quarter" idx="10"/>
          </p:nvPr>
        </p:nvSpPr>
        <p:spPr/>
        <p:txBody>
          <a:bodyPr/>
          <a:lstStyle/>
          <a:p>
            <a:pPr marL="342900" indent="-342900">
              <a:buFont typeface="Wingdings" panose="05000000000000000000" pitchFamily="2" charset="2"/>
              <a:buChar char="u"/>
            </a:pPr>
            <a:r>
              <a:rPr lang="en-US" altLang="zh-TW" dirty="0">
                <a:solidFill>
                  <a:schemeClr val="accent1"/>
                </a:solidFill>
                <a:latin typeface="+mn-ea"/>
              </a:rPr>
              <a:t>CF</a:t>
            </a:r>
            <a:r>
              <a:rPr lang="zh-TW" altLang="en-US" dirty="0">
                <a:solidFill>
                  <a:schemeClr val="accent1"/>
                </a:solidFill>
                <a:latin typeface="+mn-ea"/>
              </a:rPr>
              <a:t>鷹</a:t>
            </a:r>
            <a:r>
              <a:rPr lang="zh-TW" altLang="en-US" dirty="0" smtClean="0">
                <a:solidFill>
                  <a:schemeClr val="accent1"/>
                </a:solidFill>
                <a:latin typeface="+mn-ea"/>
              </a:rPr>
              <a:t>眼</a:t>
            </a:r>
            <a:endParaRPr lang="zh-TW" altLang="en-US" dirty="0">
              <a:solidFill>
                <a:schemeClr val="accent1"/>
              </a:solidFill>
              <a:latin typeface="+mn-ea"/>
            </a:endParaRPr>
          </a:p>
          <a:p>
            <a:pPr marL="342900" indent="-342900">
              <a:buFont typeface="Wingdings" panose="05000000000000000000" pitchFamily="2" charset="2"/>
              <a:buChar char="u"/>
            </a:pPr>
            <a:r>
              <a:rPr lang="en-US" altLang="zh-TW" dirty="0" smtClean="0">
                <a:solidFill>
                  <a:schemeClr val="accent1"/>
                </a:solidFill>
                <a:latin typeface="+mn-ea"/>
              </a:rPr>
              <a:t>CHIPID&amp;2DCODE</a:t>
            </a:r>
            <a:endParaRPr lang="en-US" altLang="zh-TW" dirty="0" smtClean="0">
              <a:latin typeface="+mn-ea"/>
            </a:endParaRPr>
          </a:p>
          <a:p>
            <a:pPr marL="342900" indent="-342900">
              <a:buFont typeface="Wingdings" panose="05000000000000000000" pitchFamily="2" charset="2"/>
              <a:buChar char="u"/>
            </a:pPr>
            <a:r>
              <a:rPr lang="en-US" altLang="zh-TW" dirty="0" smtClean="0">
                <a:solidFill>
                  <a:schemeClr val="accent1"/>
                </a:solidFill>
                <a:latin typeface="+mn-ea"/>
              </a:rPr>
              <a:t>R2R</a:t>
            </a:r>
          </a:p>
        </p:txBody>
      </p:sp>
    </p:spTree>
    <p:extLst>
      <p:ext uri="{BB962C8B-B14F-4D97-AF65-F5344CB8AC3E}">
        <p14:creationId xmlns:p14="http://schemas.microsoft.com/office/powerpoint/2010/main" val="21677204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4330066" y="463161"/>
            <a:ext cx="4471034" cy="2241179"/>
          </a:xfrm>
          <a:prstGeom prst="roundRect">
            <a:avLst>
              <a:gd name="adj" fmla="val 3265"/>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lstStyle/>
          <a:p>
            <a:pPr marL="285743" indent="-285743" eaLnBrk="1" fontAlgn="auto" hangingPunct="1">
              <a:spcBef>
                <a:spcPts val="0"/>
              </a:spcBef>
              <a:spcAft>
                <a:spcPts val="0"/>
              </a:spcAft>
            </a:pPr>
            <a:endParaRPr kumimoji="0" lang="zh-TW" altLang="en-US" sz="1200" b="1" dirty="0">
              <a:solidFill>
                <a:prstClr val="black"/>
              </a:solidFill>
              <a:latin typeface="微軟正黑體" panose="020B0604030504040204" pitchFamily="34" charset="-120"/>
              <a:ea typeface="微軟正黑體" panose="020B0604030504040204" pitchFamily="34" charset="-120"/>
            </a:endParaRPr>
          </a:p>
        </p:txBody>
      </p:sp>
      <p:sp>
        <p:nvSpPr>
          <p:cNvPr id="4" name="圓角矩形 3"/>
          <p:cNvSpPr/>
          <p:nvPr/>
        </p:nvSpPr>
        <p:spPr>
          <a:xfrm>
            <a:off x="127421" y="482254"/>
            <a:ext cx="4094388" cy="2103190"/>
          </a:xfrm>
          <a:prstGeom prst="roundRect">
            <a:avLst>
              <a:gd name="adj" fmla="val 4101"/>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effectLst>
        </p:spPr>
        <p:txBody>
          <a:bodyPr anchor="ctr"/>
          <a:lstStyle/>
          <a:p>
            <a:pPr algn="ctr" eaLnBrk="1" fontAlgn="auto" hangingPunct="1">
              <a:spcBef>
                <a:spcPts val="0"/>
              </a:spcBef>
              <a:spcAft>
                <a:spcPts val="0"/>
              </a:spcAft>
              <a:defRPr/>
            </a:pPr>
            <a:endParaRPr kumimoji="0" lang="zh-TW" altLang="en-US" sz="1500" b="1" kern="0" dirty="0">
              <a:solidFill>
                <a:srgbClr val="FFFFFF"/>
              </a:solidFill>
              <a:latin typeface="微軟正黑體" panose="020B0604030504040204" pitchFamily="34" charset="-120"/>
              <a:ea typeface="微軟正黑體" panose="020B0604030504040204" pitchFamily="34" charset="-120"/>
            </a:endParaRPr>
          </a:p>
        </p:txBody>
      </p:sp>
      <p:sp>
        <p:nvSpPr>
          <p:cNvPr id="6" name="Freeform 9"/>
          <p:cNvSpPr>
            <a:spLocks noEditPoints="1"/>
          </p:cNvSpPr>
          <p:nvPr/>
        </p:nvSpPr>
        <p:spPr bwMode="auto">
          <a:xfrm rot="19467343">
            <a:off x="4182823" y="709441"/>
            <a:ext cx="378619" cy="32385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7" name="Freeform 10"/>
          <p:cNvSpPr>
            <a:spLocks/>
          </p:cNvSpPr>
          <p:nvPr/>
        </p:nvSpPr>
        <p:spPr bwMode="auto">
          <a:xfrm rot="19467343">
            <a:off x="4298796" y="806705"/>
            <a:ext cx="153169" cy="131012"/>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pPr>
            <a:endParaRPr kumimoji="0"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9" name="矩形 8"/>
          <p:cNvSpPr/>
          <p:nvPr/>
        </p:nvSpPr>
        <p:spPr>
          <a:xfrm>
            <a:off x="99016" y="2594589"/>
            <a:ext cx="1409105" cy="338554"/>
          </a:xfrm>
          <a:prstGeom prst="rect">
            <a:avLst/>
          </a:prstGeom>
        </p:spPr>
        <p:txBody>
          <a:bodyPr wrap="square">
            <a:spAutoFit/>
          </a:body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技術對策</a:t>
            </a:r>
            <a:r>
              <a:rPr kumimoji="0" lang="en-US" altLang="zh-TW" sz="1600" b="1" dirty="0" smtClean="0">
                <a:solidFill>
                  <a:prstClr val="black"/>
                </a:solidFill>
                <a:latin typeface="微軟正黑體" panose="020B0604030504040204" pitchFamily="34" charset="-120"/>
                <a:ea typeface="微軟正黑體" panose="020B0604030504040204" pitchFamily="34" charset="-120"/>
              </a:rPr>
              <a:t>:</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p:txBody>
      </p:sp>
      <p:sp>
        <p:nvSpPr>
          <p:cNvPr id="41" name="矩形 40"/>
          <p:cNvSpPr/>
          <p:nvPr/>
        </p:nvSpPr>
        <p:spPr>
          <a:xfrm>
            <a:off x="394115" y="2857039"/>
            <a:ext cx="4009018" cy="553998"/>
          </a:xfrm>
          <a:prstGeom prst="rect">
            <a:avLst/>
          </a:prstGeom>
          <a:noFill/>
        </p:spPr>
        <p:txBody>
          <a:bodyPr wrap="square">
            <a:spAutoFit/>
          </a:bodyPr>
          <a:lstStyle/>
          <a:p>
            <a:pPr marL="228600" indent="-228600">
              <a:buClr>
                <a:schemeClr val="tx1"/>
              </a:buClr>
              <a:buFont typeface="+mj-lt"/>
              <a:buAutoNum type="arabicPeriod"/>
            </a:pPr>
            <a:r>
              <a:rPr lang="zh-TW" altLang="en-US" sz="1000" b="1" dirty="0" smtClean="0">
                <a:solidFill>
                  <a:srgbClr val="0000FF"/>
                </a:solidFill>
                <a:latin typeface="微軟正黑體" panose="020B0604030504040204" pitchFamily="34" charset="-120"/>
                <a:ea typeface="微軟正黑體" panose="020B0604030504040204" pitchFamily="34" charset="-120"/>
              </a:rPr>
              <a:t>自主開發</a:t>
            </a:r>
            <a:r>
              <a:rPr lang="en-US" altLang="zh-TW" sz="1000" b="1" dirty="0" smtClean="0">
                <a:solidFill>
                  <a:srgbClr val="0000FF"/>
                </a:solidFill>
                <a:latin typeface="微軟正黑體" panose="020B0604030504040204" pitchFamily="34" charset="-120"/>
                <a:ea typeface="微軟正黑體" panose="020B0604030504040204" pitchFamily="34" charset="-120"/>
              </a:rPr>
              <a:t>AI</a:t>
            </a:r>
            <a:r>
              <a:rPr lang="zh-TW" altLang="en-US" sz="1000" b="1" dirty="0" smtClean="0">
                <a:solidFill>
                  <a:srgbClr val="0000FF"/>
                </a:solidFill>
                <a:latin typeface="微軟正黑體" panose="020B0604030504040204" pitchFamily="34" charset="-120"/>
                <a:ea typeface="微軟正黑體" panose="020B0604030504040204" pitchFamily="34" charset="-120"/>
              </a:rPr>
              <a:t>影像辨識系統</a:t>
            </a:r>
            <a:r>
              <a:rPr lang="zh-TW" altLang="en-US" sz="10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提升攔檢率，降低報廢率</a:t>
            </a:r>
            <a:endParaRPr lang="en-US" altLang="zh-TW" sz="1000" dirty="0" smtClean="0">
              <a:latin typeface="微軟正黑體" panose="020B0604030504040204" pitchFamily="34" charset="-120"/>
              <a:ea typeface="微軟正黑體" panose="020B0604030504040204" pitchFamily="34" charset="-120"/>
            </a:endParaRPr>
          </a:p>
          <a:p>
            <a:pPr marL="228600" indent="-228600">
              <a:buClr>
                <a:schemeClr val="tx1"/>
              </a:buClr>
              <a:buFont typeface="+mj-lt"/>
              <a:buAutoNum type="arabicPeriod"/>
            </a:pPr>
            <a:r>
              <a:rPr lang="zh-TW" altLang="en-US" sz="1000" b="1" dirty="0" smtClean="0">
                <a:solidFill>
                  <a:srgbClr val="0000FF"/>
                </a:solidFill>
                <a:latin typeface="微軟正黑體" panose="020B0604030504040204" pitchFamily="34" charset="-120"/>
                <a:ea typeface="微軟正黑體" panose="020B0604030504040204" pitchFamily="34" charset="-120"/>
              </a:rPr>
              <a:t>影像分區辨識</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：保留</a:t>
            </a:r>
            <a:r>
              <a:rPr lang="en-US" altLang="zh-TW" sz="1000" dirty="0" smtClean="0">
                <a:latin typeface="微軟正黑體" panose="020B0604030504040204" pitchFamily="34" charset="-120"/>
                <a:ea typeface="微軟正黑體" panose="020B0604030504040204" pitchFamily="34" charset="-120"/>
                <a:sym typeface="Wingdings" panose="05000000000000000000" pitchFamily="2" charset="2"/>
              </a:rPr>
              <a:t>Mura</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特徵，提升辨識準確率</a:t>
            </a:r>
            <a:endParaRPr lang="en-US" altLang="zh-TW" sz="1000" dirty="0" smtClean="0">
              <a:solidFill>
                <a:srgbClr val="0000FF"/>
              </a:solidFill>
              <a:latin typeface="微軟正黑體" panose="020B0604030504040204" pitchFamily="34" charset="-120"/>
              <a:ea typeface="微軟正黑體" panose="020B0604030504040204" pitchFamily="34" charset="-120"/>
            </a:endParaRPr>
          </a:p>
          <a:p>
            <a:pPr marL="228600" indent="-228600">
              <a:buClr>
                <a:schemeClr val="tx1"/>
              </a:buClr>
              <a:buFont typeface="+mj-lt"/>
              <a:buAutoNum type="arabicPeriod"/>
            </a:pPr>
            <a:r>
              <a:rPr lang="zh-TW" altLang="en-US" sz="1000" b="1" dirty="0" smtClean="0">
                <a:solidFill>
                  <a:srgbClr val="0000FF"/>
                </a:solidFill>
                <a:latin typeface="微軟正黑體" panose="020B0604030504040204" pitchFamily="34" charset="-120"/>
                <a:ea typeface="微軟正黑體" panose="020B0604030504040204" pitchFamily="34" charset="-120"/>
              </a:rPr>
              <a:t>網頁監控</a:t>
            </a:r>
            <a:r>
              <a:rPr lang="zh-TW" altLang="en-US" sz="1000" dirty="0" smtClean="0">
                <a:latin typeface="微軟正黑體" panose="020B0604030504040204" pitchFamily="34" charset="-120"/>
                <a:ea typeface="微軟正黑體" panose="020B0604030504040204" pitchFamily="34" charset="-120"/>
                <a:sym typeface="Wingdings" panose="05000000000000000000" pitchFamily="2" charset="2"/>
              </a:rPr>
              <a:t>：資料上拋，閉環管理</a:t>
            </a:r>
            <a:endParaRPr lang="en-US" altLang="zh-TW" sz="1000" dirty="0">
              <a:latin typeface="微軟正黑體" panose="020B0604030504040204" pitchFamily="34" charset="-120"/>
              <a:ea typeface="微軟正黑體" panose="020B0604030504040204" pitchFamily="34" charset="-120"/>
            </a:endParaRPr>
          </a:p>
        </p:txBody>
      </p:sp>
      <p:sp>
        <p:nvSpPr>
          <p:cNvPr id="52" name="椭圆 66"/>
          <p:cNvSpPr/>
          <p:nvPr/>
        </p:nvSpPr>
        <p:spPr bwMode="auto">
          <a:xfrm rot="4723889">
            <a:off x="1857114" y="156760"/>
            <a:ext cx="586477" cy="1215044"/>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3" name="组合 67"/>
          <p:cNvGrpSpPr>
            <a:grpSpLocks/>
          </p:cNvGrpSpPr>
          <p:nvPr/>
        </p:nvGrpSpPr>
        <p:grpSpPr bwMode="auto">
          <a:xfrm rot="5400000">
            <a:off x="1651788" y="180017"/>
            <a:ext cx="951398" cy="1215148"/>
            <a:chOff x="1123476" y="1681897"/>
            <a:chExt cx="3206311" cy="2990785"/>
          </a:xfrm>
        </p:grpSpPr>
        <p:grpSp>
          <p:nvGrpSpPr>
            <p:cNvPr id="54" name="组合 68"/>
            <p:cNvGrpSpPr>
              <a:grpSpLocks/>
            </p:cNvGrpSpPr>
            <p:nvPr/>
          </p:nvGrpSpPr>
          <p:grpSpPr bwMode="auto">
            <a:xfrm>
              <a:off x="1123476" y="1763461"/>
              <a:ext cx="2798050" cy="2798050"/>
              <a:chOff x="1123476" y="1763461"/>
              <a:chExt cx="2798050" cy="2798050"/>
            </a:xfrm>
          </p:grpSpPr>
          <p:sp>
            <p:nvSpPr>
              <p:cNvPr id="60" name="弧形 59"/>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1" name="弧形 60"/>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5" name="组合 69"/>
            <p:cNvGrpSpPr>
              <a:grpSpLocks/>
            </p:cNvGrpSpPr>
            <p:nvPr/>
          </p:nvGrpSpPr>
          <p:grpSpPr bwMode="auto">
            <a:xfrm rot="-7200000">
              <a:off x="1273270" y="1616165"/>
              <a:ext cx="2990785" cy="3122249"/>
              <a:chOff x="891209" y="1807143"/>
              <a:chExt cx="2990785" cy="3122249"/>
            </a:xfrm>
          </p:grpSpPr>
          <p:sp>
            <p:nvSpPr>
              <p:cNvPr id="56" name="弧形 55"/>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7" name="弧形 56"/>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64" name="矩形 63"/>
          <p:cNvSpPr/>
          <p:nvPr/>
        </p:nvSpPr>
        <p:spPr>
          <a:xfrm>
            <a:off x="1595089" y="610537"/>
            <a:ext cx="117587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現況與痛點</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65" name="椭圆 66"/>
          <p:cNvSpPr/>
          <p:nvPr/>
        </p:nvSpPr>
        <p:spPr bwMode="auto">
          <a:xfrm rot="4723889">
            <a:off x="6484424" y="222111"/>
            <a:ext cx="523674" cy="976618"/>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6" name="组合 67"/>
          <p:cNvGrpSpPr>
            <a:grpSpLocks/>
          </p:cNvGrpSpPr>
          <p:nvPr/>
        </p:nvGrpSpPr>
        <p:grpSpPr bwMode="auto">
          <a:xfrm rot="4723889">
            <a:off x="6409454" y="278184"/>
            <a:ext cx="671560" cy="961309"/>
            <a:chOff x="1123476" y="1681897"/>
            <a:chExt cx="3206311" cy="2990785"/>
          </a:xfrm>
        </p:grpSpPr>
        <p:grpSp>
          <p:nvGrpSpPr>
            <p:cNvPr id="67" name="组合 68"/>
            <p:cNvGrpSpPr>
              <a:grpSpLocks/>
            </p:cNvGrpSpPr>
            <p:nvPr/>
          </p:nvGrpSpPr>
          <p:grpSpPr bwMode="auto">
            <a:xfrm>
              <a:off x="1123476" y="1763461"/>
              <a:ext cx="2798050" cy="2798050"/>
              <a:chOff x="1123476" y="1763461"/>
              <a:chExt cx="2798050" cy="2798050"/>
            </a:xfrm>
          </p:grpSpPr>
          <p:sp>
            <p:nvSpPr>
              <p:cNvPr id="73" name="弧形 72"/>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4" name="弧形 73"/>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8" name="组合 69"/>
            <p:cNvGrpSpPr>
              <a:grpSpLocks/>
            </p:cNvGrpSpPr>
            <p:nvPr/>
          </p:nvGrpSpPr>
          <p:grpSpPr bwMode="auto">
            <a:xfrm rot="-7200000">
              <a:off x="1273270" y="1616165"/>
              <a:ext cx="2990785" cy="3122249"/>
              <a:chOff x="891209" y="1807143"/>
              <a:chExt cx="2990785" cy="3122249"/>
            </a:xfrm>
          </p:grpSpPr>
          <p:sp>
            <p:nvSpPr>
              <p:cNvPr id="69" name="弧形 68"/>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0" name="弧形 69"/>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kumimoji="0" lang="zh-CN" altLang="en-US" sz="1650">
                  <a:solidFill>
                    <a:prstClr val="black"/>
                  </a:solidFill>
                  <a:latin typeface="微軟正黑體" panose="020B0604030504040204" pitchFamily="34" charset="-120"/>
                  <a:ea typeface="微軟正黑體" panose="020B0604030504040204" pitchFamily="34" charset="-120"/>
                </a:endParaRPr>
              </a:p>
            </p:txBody>
          </p:sp>
        </p:grpSp>
      </p:grpSp>
      <p:sp>
        <p:nvSpPr>
          <p:cNvPr id="77" name="矩形 76"/>
          <p:cNvSpPr/>
          <p:nvPr/>
        </p:nvSpPr>
        <p:spPr>
          <a:xfrm>
            <a:off x="6243873" y="544607"/>
            <a:ext cx="1002724" cy="307777"/>
          </a:xfrm>
          <a:prstGeom prst="rect">
            <a:avLst/>
          </a:prstGeom>
        </p:spPr>
        <p:txBody>
          <a:bodyPr wrap="square">
            <a:spAutoFit/>
          </a:bodyPr>
          <a:lstStyle/>
          <a:p>
            <a:pPr algn="ctr" eaLnBrk="1" fontAlgn="auto" hangingPunct="1">
              <a:spcBef>
                <a:spcPts val="0"/>
              </a:spcBef>
              <a:spcAft>
                <a:spcPts val="0"/>
              </a:spcAft>
              <a:defRPr/>
            </a:pPr>
            <a:r>
              <a:rPr kumimoji="0" lang="zh-TW" altLang="en-US" sz="1400" b="1" dirty="0" smtClean="0">
                <a:solidFill>
                  <a:prstClr val="black">
                    <a:lumMod val="65000"/>
                    <a:lumOff val="35000"/>
                  </a:prstClr>
                </a:solidFill>
                <a:latin typeface="微軟正黑體" panose="020B0604030504040204" pitchFamily="34" charset="-120"/>
                <a:ea typeface="微軟正黑體" panose="020B0604030504040204" pitchFamily="34" charset="-120"/>
              </a:rPr>
              <a:t>改善後</a:t>
            </a:r>
            <a:endParaRPr kumimoji="0" lang="zh-TW" altLang="en-US" sz="1400" b="1" dirty="0">
              <a:solidFill>
                <a:prstClr val="black">
                  <a:lumMod val="65000"/>
                  <a:lumOff val="35000"/>
                </a:prstClr>
              </a:solidFill>
              <a:latin typeface="微軟正黑體" panose="020B0604030504040204" pitchFamily="34" charset="-120"/>
              <a:ea typeface="微軟正黑體" panose="020B0604030504040204" pitchFamily="34" charset="-120"/>
            </a:endParaRPr>
          </a:p>
        </p:txBody>
      </p:sp>
      <p:sp>
        <p:nvSpPr>
          <p:cNvPr id="79" name="矩形 78">
            <a:extLst>
              <a:ext uri="{FF2B5EF4-FFF2-40B4-BE49-F238E27FC236}">
                <a16:creationId xmlns="" xmlns:a16="http://schemas.microsoft.com/office/drawing/2014/main" id="{9BE08482-D953-47F4-81A8-BD823C2E476A}"/>
              </a:ext>
            </a:extLst>
          </p:cNvPr>
          <p:cNvSpPr/>
          <p:nvPr/>
        </p:nvSpPr>
        <p:spPr>
          <a:xfrm>
            <a:off x="202624" y="1145692"/>
            <a:ext cx="4006209" cy="800219"/>
          </a:xfrm>
          <a:prstGeom prst="rect">
            <a:avLst/>
          </a:prstGeom>
          <a:noFill/>
        </p:spPr>
        <p:txBody>
          <a:bodyPr wrap="square">
            <a:spAutoFit/>
          </a:bodyPr>
          <a:lstStyle/>
          <a:p>
            <a:pPr marL="171450" lvl="0" indent="-17145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目前 </a:t>
            </a:r>
            <a:r>
              <a:rPr lang="en-US" altLang="zh-TW" sz="1000" dirty="0">
                <a:latin typeface="微軟正黑體" panose="020B0604030504040204" pitchFamily="34" charset="-120"/>
                <a:ea typeface="微軟正黑體" panose="020B0604030504040204" pitchFamily="34" charset="-120"/>
              </a:rPr>
              <a:t>Mura</a:t>
            </a:r>
            <a:r>
              <a:rPr lang="zh-TW" altLang="en-US" sz="1000" dirty="0">
                <a:latin typeface="微軟正黑體" panose="020B0604030504040204" pitchFamily="34" charset="-120"/>
                <a:ea typeface="微軟正黑體" panose="020B0604030504040204" pitchFamily="34" charset="-120"/>
              </a:rPr>
              <a:t> 檢查機</a:t>
            </a:r>
            <a:r>
              <a:rPr lang="zh-TW" altLang="zh-TW" sz="1000" dirty="0">
                <a:latin typeface="微軟正黑體" panose="020B0604030504040204" pitchFamily="34" charset="-120"/>
                <a:ea typeface="微軟正黑體" panose="020B0604030504040204" pitchFamily="34" charset="-120"/>
              </a:rPr>
              <a:t>在判定</a:t>
            </a:r>
            <a:r>
              <a:rPr lang="zh-TW" altLang="en-US" sz="1000" dirty="0">
                <a:latin typeface="微軟正黑體" panose="020B0604030504040204" pitchFamily="34" charset="-120"/>
                <a:ea typeface="微軟正黑體" panose="020B0604030504040204" pitchFamily="34" charset="-120"/>
              </a:rPr>
              <a:t> </a:t>
            </a:r>
            <a:r>
              <a:rPr lang="en-US" altLang="zh-TW" sz="1000" dirty="0">
                <a:latin typeface="微軟正黑體" panose="020B0604030504040204" pitchFamily="34" charset="-120"/>
                <a:ea typeface="微軟正黑體" panose="020B0604030504040204" pitchFamily="34" charset="-120"/>
              </a:rPr>
              <a:t>Mura</a:t>
            </a:r>
            <a:r>
              <a:rPr lang="zh-TW" altLang="en-US" sz="1000" dirty="0">
                <a:latin typeface="微軟正黑體" panose="020B0604030504040204" pitchFamily="34" charset="-120"/>
                <a:ea typeface="微軟正黑體" panose="020B0604030504040204" pitchFamily="34" charset="-120"/>
              </a:rPr>
              <a:t> </a:t>
            </a:r>
            <a:r>
              <a:rPr lang="zh-TW" altLang="zh-TW" sz="1000" dirty="0">
                <a:latin typeface="微軟正黑體" panose="020B0604030504040204" pitchFamily="34" charset="-120"/>
                <a:ea typeface="微軟正黑體" panose="020B0604030504040204" pitchFamily="34" charset="-120"/>
              </a:rPr>
              <a:t>上存在誤判與漏檢的風險</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約</a:t>
            </a:r>
            <a:r>
              <a:rPr lang="en-US" altLang="zh-TW" sz="1000" dirty="0">
                <a:latin typeface="微軟正黑體" panose="020B0604030504040204" pitchFamily="34" charset="-120"/>
                <a:ea typeface="微軟正黑體" panose="020B0604030504040204" pitchFamily="34" charset="-120"/>
              </a:rPr>
              <a:t>30</a:t>
            </a:r>
            <a:r>
              <a:rPr lang="en-US" altLang="zh-TW" sz="1000" dirty="0" smtClean="0">
                <a:latin typeface="微軟正黑體" panose="020B0604030504040204" pitchFamily="34" charset="-120"/>
                <a:ea typeface="微軟正黑體" panose="020B0604030504040204" pitchFamily="34" charset="-120"/>
              </a:rPr>
              <a:t>%)</a:t>
            </a:r>
          </a:p>
          <a:p>
            <a:pPr marL="171450" indent="-171450">
              <a:buFont typeface="Wingdings" panose="05000000000000000000" pitchFamily="2" charset="2"/>
              <a:buChar char="Ø"/>
            </a:pPr>
            <a:r>
              <a:rPr lang="zh-TW" altLang="en-US" sz="800" dirty="0" smtClean="0">
                <a:latin typeface="微軟正黑體" panose="020B0604030504040204" pitchFamily="34" charset="-120"/>
                <a:ea typeface="微軟正黑體" panose="020B0604030504040204" pitchFamily="34" charset="-120"/>
              </a:rPr>
              <a:t>太嚴謹會過殺</a:t>
            </a:r>
            <a:r>
              <a:rPr lang="en-US" altLang="zh-TW" sz="8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800" dirty="0" smtClean="0">
                <a:latin typeface="微軟正黑體" panose="020B0604030504040204" pitchFamily="34" charset="-120"/>
                <a:ea typeface="微軟正黑體" panose="020B0604030504040204" pitchFamily="34" charset="-120"/>
              </a:rPr>
              <a:t>False Alarm</a:t>
            </a:r>
            <a:r>
              <a:rPr lang="en-US" altLang="zh-TW" sz="8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800" dirty="0" smtClean="0">
                <a:latin typeface="微軟正黑體" panose="020B0604030504040204" pitchFamily="34" charset="-120"/>
                <a:ea typeface="微軟正黑體" panose="020B0604030504040204" pitchFamily="34" charset="-120"/>
              </a:rPr>
              <a:t>增加值班 </a:t>
            </a:r>
            <a:r>
              <a:rPr lang="en-US" altLang="zh-TW" sz="800" dirty="0" smtClean="0">
                <a:latin typeface="微軟正黑體" panose="020B0604030504040204" pitchFamily="34" charset="-120"/>
                <a:ea typeface="微軟正黑體" panose="020B0604030504040204" pitchFamily="34" charset="-120"/>
              </a:rPr>
              <a:t>Loading </a:t>
            </a:r>
            <a:r>
              <a:rPr lang="en-US" altLang="zh-TW" sz="8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800" dirty="0" smtClean="0">
                <a:latin typeface="微軟正黑體" panose="020B0604030504040204" pitchFamily="34" charset="-120"/>
                <a:ea typeface="微軟正黑體" panose="020B0604030504040204" pitchFamily="34" charset="-120"/>
              </a:rPr>
              <a:t>Judge Stop Suffer CF </a:t>
            </a:r>
            <a:r>
              <a:rPr lang="zh-TW" altLang="en-US" sz="800" dirty="0" smtClean="0">
                <a:latin typeface="微軟正黑體" panose="020B0604030504040204" pitchFamily="34" charset="-120"/>
                <a:ea typeface="微軟正黑體" panose="020B0604030504040204" pitchFamily="34" charset="-120"/>
              </a:rPr>
              <a:t>產能</a:t>
            </a:r>
            <a:endParaRPr lang="en-US" altLang="zh-TW" sz="800" dirty="0" smtClean="0">
              <a:latin typeface="微軟正黑體" panose="020B0604030504040204" pitchFamily="34" charset="-120"/>
              <a:ea typeface="微軟正黑體" panose="020B0604030504040204" pitchFamily="34" charset="-120"/>
            </a:endParaRPr>
          </a:p>
          <a:p>
            <a:pPr marL="171450" indent="-171450">
              <a:buFont typeface="Wingdings" panose="05000000000000000000" pitchFamily="2" charset="2"/>
              <a:buChar char="Ø"/>
            </a:pPr>
            <a:r>
              <a:rPr lang="zh-TW" altLang="en-US" sz="800" dirty="0">
                <a:latin typeface="微軟正黑體" panose="020B0604030504040204" pitchFamily="34" charset="-120"/>
                <a:ea typeface="微軟正黑體" panose="020B0604030504040204" pitchFamily="34" charset="-120"/>
              </a:rPr>
              <a:t>太鬆散會錯</a:t>
            </a:r>
            <a:r>
              <a:rPr lang="zh-TW" altLang="en-US" sz="800" dirty="0" smtClean="0">
                <a:latin typeface="微軟正黑體" panose="020B0604030504040204" pitchFamily="34" charset="-120"/>
                <a:ea typeface="微軟正黑體" panose="020B0604030504040204" pitchFamily="34" charset="-120"/>
              </a:rPr>
              <a:t>放</a:t>
            </a:r>
            <a:r>
              <a:rPr lang="en-US" altLang="zh-TW" sz="8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800" dirty="0" smtClean="0">
                <a:latin typeface="微軟正黑體" panose="020B0604030504040204" pitchFamily="34" charset="-120"/>
                <a:ea typeface="微軟正黑體" panose="020B0604030504040204" pitchFamily="34" charset="-120"/>
              </a:rPr>
              <a:t>Leakage</a:t>
            </a:r>
            <a:r>
              <a:rPr lang="en-US" altLang="zh-TW" sz="8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800" dirty="0" smtClean="0">
                <a:latin typeface="微軟正黑體" panose="020B0604030504040204" pitchFamily="34" charset="-120"/>
                <a:ea typeface="微軟正黑體" panose="020B0604030504040204" pitchFamily="34" charset="-120"/>
              </a:rPr>
              <a:t>產出</a:t>
            </a:r>
            <a:r>
              <a:rPr lang="zh-TW" altLang="en-US" sz="800" dirty="0">
                <a:latin typeface="微軟正黑體" panose="020B0604030504040204" pitchFamily="34" charset="-120"/>
                <a:ea typeface="微軟正黑體" panose="020B0604030504040204" pitchFamily="34" charset="-120"/>
              </a:rPr>
              <a:t>異常貨</a:t>
            </a:r>
            <a:endParaRPr lang="en-US" altLang="zh-TW" sz="800" dirty="0" smtClean="0">
              <a:latin typeface="微軟正黑體" panose="020B0604030504040204" pitchFamily="34" charset="-120"/>
              <a:ea typeface="微軟正黑體" panose="020B0604030504040204" pitchFamily="34" charset="-120"/>
            </a:endParaRPr>
          </a:p>
          <a:p>
            <a:pPr marL="171450" lvl="0" indent="-171450">
              <a:buFont typeface="Arial" panose="020B0604020202020204" pitchFamily="34" charset="0"/>
              <a:buChar char="•"/>
            </a:pPr>
            <a:r>
              <a:rPr lang="zh-HK" altLang="zh-TW" sz="1000" dirty="0" smtClean="0">
                <a:latin typeface="微軟正黑體" panose="020B0604030504040204" pitchFamily="34" charset="-120"/>
                <a:ea typeface="微軟正黑體" panose="020B0604030504040204" pitchFamily="34" charset="-120"/>
              </a:rPr>
              <a:t>人員每</a:t>
            </a:r>
            <a:r>
              <a:rPr lang="en-US" altLang="zh-TW" sz="1000" dirty="0" smtClean="0">
                <a:latin typeface="微軟正黑體" panose="020B0604030504040204" pitchFamily="34" charset="-120"/>
                <a:ea typeface="微軟正黑體" panose="020B0604030504040204" pitchFamily="34" charset="-120"/>
              </a:rPr>
              <a:t>4</a:t>
            </a:r>
            <a:r>
              <a:rPr lang="zh-HK" altLang="zh-TW" sz="1000" dirty="0" smtClean="0">
                <a:latin typeface="微軟正黑體" panose="020B0604030504040204" pitchFamily="34" charset="-120"/>
                <a:ea typeface="微軟正黑體" panose="020B0604030504040204" pitchFamily="34" charset="-120"/>
              </a:rPr>
              <a:t>小時</a:t>
            </a:r>
            <a:r>
              <a:rPr lang="zh-TW" altLang="en-US" sz="1000" dirty="0" smtClean="0">
                <a:latin typeface="微軟正黑體" panose="020B0604030504040204" pitchFamily="34" charset="-120"/>
                <a:ea typeface="微軟正黑體" panose="020B0604030504040204" pitchFamily="34" charset="-120"/>
              </a:rPr>
              <a:t>、</a:t>
            </a:r>
            <a:r>
              <a:rPr lang="en-US" altLang="zh-TW" sz="1000" dirty="0" smtClean="0">
                <a:latin typeface="微軟正黑體" panose="020B0604030504040204" pitchFamily="34" charset="-120"/>
                <a:ea typeface="微軟正黑體" panose="020B0604030504040204" pitchFamily="34" charset="-120"/>
              </a:rPr>
              <a:t>PM &amp;</a:t>
            </a:r>
            <a:r>
              <a:rPr lang="zh-TW" altLang="en-US" sz="1000" dirty="0" smtClean="0">
                <a:latin typeface="微軟正黑體" panose="020B0604030504040204" pitchFamily="34" charset="-120"/>
                <a:ea typeface="微軟正黑體" panose="020B0604030504040204" pitchFamily="34" charset="-120"/>
              </a:rPr>
              <a:t> </a:t>
            </a:r>
            <a:r>
              <a:rPr lang="zh-HK" altLang="zh-TW" sz="1000" dirty="0" smtClean="0">
                <a:latin typeface="微軟正黑體" panose="020B0604030504040204" pitchFamily="34" charset="-120"/>
                <a:ea typeface="微軟正黑體" panose="020B0604030504040204" pitchFamily="34" charset="-120"/>
              </a:rPr>
              <a:t>換線</a:t>
            </a:r>
            <a:r>
              <a:rPr lang="en-US" altLang="zh-TW" sz="1000" dirty="0" smtClean="0">
                <a:latin typeface="微軟正黑體" panose="020B0604030504040204" pitchFamily="34" charset="-120"/>
                <a:ea typeface="微軟正黑體" panose="020B0604030504040204" pitchFamily="34" charset="-120"/>
              </a:rPr>
              <a:t> Review </a:t>
            </a:r>
            <a:r>
              <a:rPr lang="zh-HK" altLang="zh-TW" sz="1000" dirty="0" smtClean="0">
                <a:latin typeface="微軟正黑體" panose="020B0604030504040204" pitchFamily="34" charset="-120"/>
                <a:ea typeface="微軟正黑體" panose="020B0604030504040204" pitchFamily="34" charset="-120"/>
              </a:rPr>
              <a:t>一次</a:t>
            </a:r>
            <a:r>
              <a:rPr lang="zh-TW" altLang="en-US" sz="1000" dirty="0" smtClean="0">
                <a:latin typeface="微軟正黑體" panose="020B0604030504040204" pitchFamily="34" charset="-120"/>
                <a:ea typeface="微軟正黑體" panose="020B0604030504040204" pitchFamily="34" charset="-120"/>
              </a:rPr>
              <a:t>，有異常則通報</a:t>
            </a:r>
            <a:endParaRPr lang="en-US" altLang="zh-TW" sz="1000" dirty="0" smtClean="0">
              <a:latin typeface="微軟正黑體" panose="020B0604030504040204" pitchFamily="34" charset="-120"/>
              <a:ea typeface="微軟正黑體" panose="020B0604030504040204" pitchFamily="34" charset="-120"/>
            </a:endParaRPr>
          </a:p>
          <a:p>
            <a:pPr marL="171450" lvl="0" indent="-171450">
              <a:buFont typeface="Arial" panose="020B0604020202020204" pitchFamily="34" charset="0"/>
              <a:buChar char="•"/>
            </a:pPr>
            <a:endParaRPr lang="en-US" altLang="zh-TW" sz="1000" dirty="0">
              <a:latin typeface="微軟正黑體" panose="020B0604030504040204" pitchFamily="34" charset="-120"/>
              <a:ea typeface="微軟正黑體" panose="020B0604030504040204" pitchFamily="34" charset="-120"/>
            </a:endParaRPr>
          </a:p>
        </p:txBody>
      </p:sp>
      <p:sp>
        <p:nvSpPr>
          <p:cNvPr id="90" name="矩形 89"/>
          <p:cNvSpPr/>
          <p:nvPr/>
        </p:nvSpPr>
        <p:spPr>
          <a:xfrm>
            <a:off x="5068145" y="3028332"/>
            <a:ext cx="3689295" cy="1723057"/>
          </a:xfrm>
          <a:prstGeom prst="rect">
            <a:avLst/>
          </a:prstGeom>
          <a:solidFill>
            <a:schemeClr val="bg2"/>
          </a:solidFill>
          <a:ln>
            <a:solidFill>
              <a:srgbClr val="005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5" name="文字方塊 94"/>
          <p:cNvSpPr txBox="1"/>
          <p:nvPr/>
        </p:nvSpPr>
        <p:spPr>
          <a:xfrm>
            <a:off x="4986619" y="3044581"/>
            <a:ext cx="1182826" cy="276999"/>
          </a:xfrm>
          <a:prstGeom prst="rect">
            <a:avLst/>
          </a:prstGeom>
          <a:noFill/>
        </p:spPr>
        <p:txBody>
          <a:bodyPr wrap="square" rtlCol="0">
            <a:spAutoFit/>
          </a:bodyPr>
          <a:lstStyle/>
          <a:p>
            <a:pPr algn="ctr" defTabSz="914400" eaLnBrk="0" fontAlgn="base" hangingPunct="0">
              <a:spcBef>
                <a:spcPct val="0"/>
              </a:spcBef>
              <a:spcAft>
                <a:spcPct val="0"/>
              </a:spcAft>
            </a:pPr>
            <a:r>
              <a:rPr kumimoji="1" lang="zh-TW" altLang="en-US" sz="1200" b="1" dirty="0" smtClean="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減少報</a:t>
            </a:r>
            <a:r>
              <a:rPr kumimoji="1" lang="zh-TW" altLang="en-US" sz="1200" b="1" dirty="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廢</a:t>
            </a:r>
          </a:p>
        </p:txBody>
      </p:sp>
      <p:sp>
        <p:nvSpPr>
          <p:cNvPr id="108" name="矩形 107"/>
          <p:cNvSpPr/>
          <p:nvPr/>
        </p:nvSpPr>
        <p:spPr>
          <a:xfrm>
            <a:off x="5145460" y="3258779"/>
            <a:ext cx="3534663" cy="769441"/>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zh-TW" altLang="en-US" sz="1100" dirty="0" smtClean="0">
                <a:latin typeface="微軟正黑體" panose="020B0604030504040204" pitchFamily="34" charset="-120"/>
                <a:ea typeface="微軟正黑體" panose="020B0604030504040204" pitchFamily="34" charset="-120"/>
              </a:rPr>
              <a:t>據以往經驗一批約</a:t>
            </a:r>
            <a:r>
              <a:rPr lang="en-US" altLang="zh-TW" sz="1100" dirty="0" smtClean="0">
                <a:latin typeface="微軟正黑體" panose="020B0604030504040204" pitchFamily="34" charset="-120"/>
                <a:ea typeface="微軟正黑體" panose="020B0604030504040204" pitchFamily="34" charset="-120"/>
              </a:rPr>
              <a:t>1000</a:t>
            </a:r>
            <a:r>
              <a:rPr lang="zh-TW" altLang="en-US" sz="1100" dirty="0">
                <a:latin typeface="微軟正黑體" panose="020B0604030504040204" pitchFamily="34" charset="-120"/>
                <a:ea typeface="微軟正黑體" panose="020B0604030504040204" pitchFamily="34" charset="-120"/>
              </a:rPr>
              <a:t> </a:t>
            </a:r>
            <a:r>
              <a:rPr lang="en-US" altLang="zh-TW" sz="1100" dirty="0" smtClean="0">
                <a:latin typeface="微軟正黑體" panose="020B0604030504040204" pitchFamily="34" charset="-120"/>
                <a:ea typeface="微軟正黑體" panose="020B0604030504040204" pitchFamily="34" charset="-120"/>
              </a:rPr>
              <a:t>Sheet</a:t>
            </a:r>
          </a:p>
          <a:p>
            <a:r>
              <a:rPr lang="en-US" altLang="zh-TW" sz="11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1100" dirty="0" smtClean="0">
                <a:latin typeface="微軟正黑體" panose="020B0604030504040204" pitchFamily="34" charset="-120"/>
                <a:ea typeface="微軟正黑體" panose="020B0604030504040204" pitchFamily="34" charset="-120"/>
              </a:rPr>
              <a:t>1000x30%(Mura</a:t>
            </a:r>
            <a:r>
              <a:rPr lang="zh-TW" altLang="en-US" sz="1100" dirty="0" smtClean="0">
                <a:latin typeface="微軟正黑體" panose="020B0604030504040204" pitchFamily="34" charset="-120"/>
                <a:ea typeface="微軟正黑體" panose="020B0604030504040204" pitchFamily="34" charset="-120"/>
              </a:rPr>
              <a:t>機漏檢率</a:t>
            </a:r>
            <a:r>
              <a:rPr lang="en-US" altLang="zh-TW" sz="1100" dirty="0" smtClean="0">
                <a:latin typeface="微軟正黑體" panose="020B0604030504040204" pitchFamily="34" charset="-120"/>
                <a:ea typeface="微軟正黑體" panose="020B0604030504040204" pitchFamily="34" charset="-120"/>
              </a:rPr>
              <a:t>)x850=</a:t>
            </a:r>
            <a:r>
              <a:rPr lang="en-US" altLang="zh-TW" sz="1100" b="1" dirty="0" smtClean="0">
                <a:solidFill>
                  <a:srgbClr val="FF0000"/>
                </a:solidFill>
                <a:latin typeface="微軟正黑體" panose="020B0604030504040204" pitchFamily="34" charset="-120"/>
                <a:ea typeface="微軟正黑體" panose="020B0604030504040204" pitchFamily="34" charset="-120"/>
              </a:rPr>
              <a:t>255,000</a:t>
            </a:r>
            <a:r>
              <a:rPr lang="zh-TW" altLang="en-US" sz="1100" dirty="0" smtClean="0">
                <a:latin typeface="微軟正黑體" panose="020B0604030504040204" pitchFamily="34" charset="-120"/>
                <a:ea typeface="微軟正黑體" panose="020B0604030504040204" pitchFamily="34" charset="-120"/>
              </a:rPr>
              <a:t>元</a:t>
            </a:r>
            <a:r>
              <a:rPr lang="en-US" altLang="zh-TW" sz="1100" dirty="0" smtClean="0">
                <a:latin typeface="微軟正黑體" panose="020B0604030504040204" pitchFamily="34" charset="-120"/>
                <a:ea typeface="微軟正黑體" panose="020B0604030504040204" pitchFamily="34" charset="-120"/>
              </a:rPr>
              <a:t>/</a:t>
            </a:r>
            <a:r>
              <a:rPr lang="zh-TW" altLang="en-US" sz="1100" dirty="0" smtClean="0">
                <a:latin typeface="微軟正黑體" panose="020B0604030504040204" pitchFamily="34" charset="-120"/>
                <a:ea typeface="微軟正黑體" panose="020B0604030504040204" pitchFamily="34" charset="-120"/>
              </a:rPr>
              <a:t>次</a:t>
            </a:r>
            <a:endParaRPr lang="en-US" altLang="zh-TW" sz="1100" dirty="0" smtClean="0">
              <a:latin typeface="微軟正黑體" panose="020B0604030504040204" pitchFamily="34" charset="-120"/>
              <a:ea typeface="微軟正黑體" panose="020B0604030504040204" pitchFamily="34" charset="-120"/>
            </a:endParaRPr>
          </a:p>
          <a:p>
            <a:r>
              <a:rPr lang="en-US" altLang="zh-TW" sz="1100" dirty="0" smtClean="0">
                <a:latin typeface="微軟正黑體" panose="020B0604030504040204" pitchFamily="34" charset="-120"/>
                <a:ea typeface="微軟正黑體" panose="020B0604030504040204" pitchFamily="34" charset="-120"/>
              </a:rPr>
              <a:t>(</a:t>
            </a:r>
            <a:r>
              <a:rPr lang="en-US" altLang="zh-TW" sz="1100" dirty="0">
                <a:latin typeface="微軟正黑體" panose="020B0604030504040204" pitchFamily="34" charset="-120"/>
                <a:ea typeface="微軟正黑體" panose="020B0604030504040204" pitchFamily="34" charset="-120"/>
              </a:rPr>
              <a:t>1000 Sheet*30% = 300 sheet/</a:t>
            </a:r>
            <a:r>
              <a:rPr lang="zh-TW" altLang="zh-TW" sz="1100" dirty="0" smtClean="0">
                <a:latin typeface="微軟正黑體" panose="020B0604030504040204" pitchFamily="34" charset="-120"/>
                <a:ea typeface="微軟正黑體" panose="020B0604030504040204" pitchFamily="34" charset="-120"/>
              </a:rPr>
              <a:t>次</a:t>
            </a:r>
            <a:r>
              <a:rPr lang="en-US" altLang="zh-TW" sz="1100" dirty="0" smtClean="0">
                <a:latin typeface="微軟正黑體" panose="020B0604030504040204" pitchFamily="34" charset="-120"/>
                <a:ea typeface="微軟正黑體" panose="020B0604030504040204" pitchFamily="34" charset="-120"/>
              </a:rPr>
              <a:t>)</a:t>
            </a:r>
            <a:endParaRPr lang="en-US" altLang="zh-TW" sz="1100" dirty="0">
              <a:latin typeface="微軟正黑體" panose="020B0604030504040204" pitchFamily="34" charset="-120"/>
              <a:ea typeface="微軟正黑體" panose="020B0604030504040204" pitchFamily="34" charset="-120"/>
            </a:endParaRPr>
          </a:p>
          <a:p>
            <a:endParaRPr lang="en-US" altLang="zh-TW" sz="1100" dirty="0" smtClean="0">
              <a:latin typeface="微軟正黑體" panose="020B0604030504040204" pitchFamily="34" charset="-120"/>
              <a:ea typeface="微軟正黑體" panose="020B0604030504040204" pitchFamily="34" charset="-120"/>
            </a:endParaRPr>
          </a:p>
        </p:txBody>
      </p:sp>
      <p:sp>
        <p:nvSpPr>
          <p:cNvPr id="179" name="矩形 178"/>
          <p:cNvSpPr/>
          <p:nvPr/>
        </p:nvSpPr>
        <p:spPr>
          <a:xfrm>
            <a:off x="195859" y="740459"/>
            <a:ext cx="1012832" cy="500137"/>
          </a:xfrm>
          <a:prstGeom prst="rect">
            <a:avLst/>
          </a:prstGeom>
        </p:spPr>
        <p:txBody>
          <a:bodyPr wrap="square">
            <a:spAutoFit/>
          </a:bodyPr>
          <a:lst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fontAlgn="auto" hangingPunct="1">
              <a:spcBef>
                <a:spcPts val="0"/>
              </a:spcBef>
              <a:spcAft>
                <a:spcPts val="0"/>
              </a:spcAft>
              <a:defRPr/>
            </a:pPr>
            <a:r>
              <a:rPr kumimoji="0" lang="zh-TW" altLang="en-US" sz="1600" b="1" dirty="0">
                <a:solidFill>
                  <a:prstClr val="black"/>
                </a:solidFill>
                <a:latin typeface="微軟正黑體" panose="020B0604030504040204" pitchFamily="34" charset="-120"/>
                <a:ea typeface="微軟正黑體" panose="020B0604030504040204" pitchFamily="34" charset="-120"/>
              </a:rPr>
              <a:t>改善前</a:t>
            </a:r>
            <a:r>
              <a:rPr kumimoji="0" lang="en-US" altLang="zh-TW" sz="1600" b="1" dirty="0">
                <a:solidFill>
                  <a:prstClr val="black"/>
                </a:solidFill>
                <a:latin typeface="微軟正黑體" panose="020B0604030504040204" pitchFamily="34" charset="-120"/>
                <a:ea typeface="微軟正黑體" panose="020B0604030504040204" pitchFamily="34" charset="-120"/>
              </a:rPr>
              <a:t>:</a:t>
            </a:r>
            <a:r>
              <a:rPr kumimoji="0" lang="zh-TW" altLang="en-US" sz="1600" b="1" dirty="0">
                <a:solidFill>
                  <a:prstClr val="black"/>
                </a:solidFill>
                <a:latin typeface="微軟正黑體" panose="020B0604030504040204" pitchFamily="34" charset="-120"/>
                <a:ea typeface="微軟正黑體" panose="020B0604030504040204" pitchFamily="34" charset="-120"/>
              </a:rPr>
              <a:t> </a:t>
            </a:r>
            <a:endParaRPr kumimoji="0" lang="en-US" altLang="zh-TW" sz="1600" b="1" dirty="0">
              <a:solidFill>
                <a:prstClr val="black"/>
              </a:solidFill>
              <a:latin typeface="微軟正黑體" panose="020B0604030504040204" pitchFamily="34" charset="-120"/>
              <a:ea typeface="微軟正黑體" panose="020B0604030504040204" pitchFamily="34" charset="-120"/>
            </a:endParaRPr>
          </a:p>
          <a:p>
            <a:pPr eaLnBrk="1" fontAlgn="auto" hangingPunct="1">
              <a:spcBef>
                <a:spcPts val="0"/>
              </a:spcBef>
              <a:spcAft>
                <a:spcPts val="0"/>
              </a:spcAft>
            </a:pPr>
            <a:r>
              <a:rPr kumimoji="0" lang="en-US" altLang="zh-TW" sz="1050" dirty="0">
                <a:solidFill>
                  <a:srgbClr val="FF0000"/>
                </a:solidFill>
                <a:latin typeface="微軟正黑體" panose="020B0604030504040204" pitchFamily="34" charset="-120"/>
                <a:ea typeface="微軟正黑體" panose="020B0604030504040204" pitchFamily="34" charset="-120"/>
              </a:rPr>
              <a:t>	</a:t>
            </a:r>
          </a:p>
        </p:txBody>
      </p:sp>
      <p:pic>
        <p:nvPicPr>
          <p:cNvPr id="5" name="圖片 4"/>
          <p:cNvPicPr>
            <a:picLocks noChangeAspect="1"/>
          </p:cNvPicPr>
          <p:nvPr/>
        </p:nvPicPr>
        <p:blipFill>
          <a:blip r:embed="rId3"/>
          <a:stretch>
            <a:fillRect/>
          </a:stretch>
        </p:blipFill>
        <p:spPr>
          <a:xfrm>
            <a:off x="1591732" y="1884723"/>
            <a:ext cx="2189793" cy="636083"/>
          </a:xfrm>
          <a:prstGeom prst="rect">
            <a:avLst/>
          </a:prstGeom>
        </p:spPr>
      </p:pic>
      <p:pic>
        <p:nvPicPr>
          <p:cNvPr id="15" name="圖片 14"/>
          <p:cNvPicPr>
            <a:picLocks noChangeAspect="1"/>
          </p:cNvPicPr>
          <p:nvPr/>
        </p:nvPicPr>
        <p:blipFill>
          <a:blip r:embed="rId4"/>
          <a:stretch>
            <a:fillRect/>
          </a:stretch>
        </p:blipFill>
        <p:spPr>
          <a:xfrm>
            <a:off x="122916" y="1769073"/>
            <a:ext cx="1361306" cy="773718"/>
          </a:xfrm>
          <a:prstGeom prst="rect">
            <a:avLst/>
          </a:prstGeom>
        </p:spPr>
      </p:pic>
      <p:pic>
        <p:nvPicPr>
          <p:cNvPr id="27" name="圖片 26"/>
          <p:cNvPicPr>
            <a:picLocks noChangeAspect="1"/>
          </p:cNvPicPr>
          <p:nvPr/>
        </p:nvPicPr>
        <p:blipFill>
          <a:blip r:embed="rId5"/>
          <a:stretch>
            <a:fillRect/>
          </a:stretch>
        </p:blipFill>
        <p:spPr>
          <a:xfrm>
            <a:off x="4555250" y="1461793"/>
            <a:ext cx="3903997" cy="1027928"/>
          </a:xfrm>
          <a:prstGeom prst="rect">
            <a:avLst/>
          </a:prstGeom>
        </p:spPr>
      </p:pic>
      <p:pic>
        <p:nvPicPr>
          <p:cNvPr id="28" name="圖片 27"/>
          <p:cNvPicPr>
            <a:picLocks noChangeAspect="1"/>
          </p:cNvPicPr>
          <p:nvPr/>
        </p:nvPicPr>
        <p:blipFill>
          <a:blip r:embed="rId6"/>
          <a:stretch>
            <a:fillRect/>
          </a:stretch>
        </p:blipFill>
        <p:spPr>
          <a:xfrm>
            <a:off x="2456395" y="3473628"/>
            <a:ext cx="2059150" cy="1532711"/>
          </a:xfrm>
          <a:prstGeom prst="rect">
            <a:avLst/>
          </a:prstGeom>
        </p:spPr>
      </p:pic>
      <p:sp>
        <p:nvSpPr>
          <p:cNvPr id="29" name="文字方塊 28"/>
          <p:cNvSpPr txBox="1"/>
          <p:nvPr/>
        </p:nvSpPr>
        <p:spPr>
          <a:xfrm>
            <a:off x="4337285" y="997069"/>
            <a:ext cx="1659429" cy="261610"/>
          </a:xfrm>
          <a:prstGeom prst="rect">
            <a:avLst/>
          </a:prstGeom>
          <a:noFill/>
        </p:spPr>
        <p:txBody>
          <a:bodyPr wrap="none" rtlCol="0">
            <a:spAutoFit/>
          </a:bodyPr>
          <a:lstStyle/>
          <a:p>
            <a:pPr marL="285750" indent="-285750">
              <a:buFont typeface="Arial" panose="020B0604020202020204" pitchFamily="34" charset="0"/>
              <a:buChar char="•"/>
            </a:pPr>
            <a:r>
              <a:rPr lang="en-US" altLang="zh-TW" sz="1100" b="1" dirty="0" smtClean="0">
                <a:latin typeface="微軟正黑體" panose="020B0604030504040204" pitchFamily="34" charset="-120"/>
                <a:ea typeface="微軟正黑體" panose="020B0604030504040204" pitchFamily="34" charset="-120"/>
              </a:rPr>
              <a:t>AI</a:t>
            </a:r>
            <a:r>
              <a:rPr lang="zh-TW" altLang="en-US" sz="1100" b="1" dirty="0" smtClean="0">
                <a:latin typeface="微軟正黑體" panose="020B0604030504040204" pitchFamily="34" charset="-120"/>
                <a:ea typeface="微軟正黑體" panose="020B0604030504040204" pitchFamily="34" charset="-120"/>
              </a:rPr>
              <a:t>判讀 </a:t>
            </a:r>
            <a:r>
              <a:rPr lang="en-US" altLang="zh-TW" sz="1100" b="1" dirty="0" smtClean="0">
                <a:latin typeface="微軟正黑體" panose="020B0604030504040204" pitchFamily="34" charset="-120"/>
                <a:ea typeface="微軟正黑體" panose="020B0604030504040204" pitchFamily="34" charset="-120"/>
              </a:rPr>
              <a:t>&amp;</a:t>
            </a:r>
            <a:r>
              <a:rPr lang="zh-TW" altLang="en-US" sz="1100" b="1" dirty="0" smtClean="0">
                <a:latin typeface="微軟正黑體" panose="020B0604030504040204" pitchFamily="34" charset="-120"/>
                <a:ea typeface="微軟正黑體" panose="020B0604030504040204" pitchFamily="34" charset="-120"/>
              </a:rPr>
              <a:t> 網頁監控</a:t>
            </a:r>
            <a:endParaRPr lang="zh-TW" altLang="en-US" sz="1100" b="1" dirty="0">
              <a:latin typeface="微軟正黑體" panose="020B0604030504040204" pitchFamily="34" charset="-120"/>
              <a:ea typeface="微軟正黑體" panose="020B0604030504040204" pitchFamily="34" charset="-120"/>
            </a:endParaRPr>
          </a:p>
        </p:txBody>
      </p:sp>
      <p:sp>
        <p:nvSpPr>
          <p:cNvPr id="133" name="文字方塊 132"/>
          <p:cNvSpPr txBox="1"/>
          <p:nvPr/>
        </p:nvSpPr>
        <p:spPr>
          <a:xfrm>
            <a:off x="5065673" y="3872193"/>
            <a:ext cx="1359768" cy="276999"/>
          </a:xfrm>
          <a:prstGeom prst="rect">
            <a:avLst/>
          </a:prstGeom>
          <a:noFill/>
        </p:spPr>
        <p:txBody>
          <a:bodyPr wrap="square" rtlCol="0">
            <a:spAutoFit/>
          </a:bodyPr>
          <a:lstStyle/>
          <a:p>
            <a:pPr algn="ctr" defTabSz="914400" eaLnBrk="0" fontAlgn="base" hangingPunct="0">
              <a:spcBef>
                <a:spcPct val="0"/>
              </a:spcBef>
              <a:spcAft>
                <a:spcPct val="0"/>
              </a:spcAft>
            </a:pPr>
            <a:r>
              <a:rPr kumimoji="1" lang="en-US" altLang="zh-TW" sz="1200" b="1" dirty="0" smtClean="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AI</a:t>
            </a:r>
            <a:r>
              <a:rPr kumimoji="1" lang="zh-TW" altLang="en-US" sz="1200" b="1" dirty="0" smtClean="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rPr>
              <a:t>判降低漏檢</a:t>
            </a:r>
            <a:endParaRPr kumimoji="1" lang="zh-TW" altLang="en-US" sz="1200" b="1" dirty="0">
              <a:solidFill>
                <a:srgbClr val="005087"/>
              </a:solidFill>
              <a:latin typeface="微軟正黑體" panose="020B0604030504040204" pitchFamily="34" charset="-120"/>
              <a:ea typeface="微軟正黑體" panose="020B0604030504040204" pitchFamily="34" charset="-120"/>
              <a:cs typeface="Arial Unicode MS" panose="020B0604020202020204" pitchFamily="34" charset="-120"/>
            </a:endParaRPr>
          </a:p>
        </p:txBody>
      </p:sp>
      <p:sp>
        <p:nvSpPr>
          <p:cNvPr id="135" name="矩形 134"/>
          <p:cNvSpPr/>
          <p:nvPr/>
        </p:nvSpPr>
        <p:spPr>
          <a:xfrm>
            <a:off x="5206591" y="4106548"/>
            <a:ext cx="3534663" cy="430887"/>
          </a:xfrm>
          <a:prstGeom prst="rect">
            <a:avLst/>
          </a:prstGeom>
        </p:spPr>
        <p:txBody>
          <a:bodyPr wrap="square">
            <a:spAutoFit/>
          </a:bodyPr>
          <a:lstStyle/>
          <a:p>
            <a:r>
              <a:rPr lang="zh-TW" altLang="en-US" sz="1100" dirty="0">
                <a:latin typeface="微軟正黑體" panose="020B0604030504040204" pitchFamily="34" charset="-120"/>
                <a:ea typeface="微軟正黑體" panose="020B0604030504040204" pitchFamily="34" charset="-120"/>
              </a:rPr>
              <a:t>無法人眼無法檢出之</a:t>
            </a:r>
            <a:r>
              <a:rPr lang="en-US" altLang="zh-TW" sz="1100" dirty="0" smtClean="0">
                <a:latin typeface="微軟正黑體" panose="020B0604030504040204" pitchFamily="34" charset="-120"/>
                <a:ea typeface="微軟正黑體" panose="020B0604030504040204" pitchFamily="34" charset="-120"/>
              </a:rPr>
              <a:t>Mura</a:t>
            </a:r>
            <a:r>
              <a:rPr lang="en-US" altLang="zh-TW" sz="1100" dirty="0">
                <a:latin typeface="微軟正黑體" panose="020B0604030504040204" pitchFamily="34" charset="-120"/>
                <a:ea typeface="微軟正黑體" panose="020B0604030504040204" pitchFamily="34" charset="-120"/>
                <a:sym typeface="Wingdings" panose="05000000000000000000" pitchFamily="2" charset="2"/>
              </a:rPr>
              <a:t> </a:t>
            </a:r>
            <a:r>
              <a:rPr lang="en-US" altLang="zh-TW" sz="1100" dirty="0" smtClean="0">
                <a:latin typeface="微軟正黑體" panose="020B0604030504040204" pitchFamily="34" charset="-120"/>
                <a:ea typeface="微軟正黑體" panose="020B0604030504040204" pitchFamily="34" charset="-120"/>
                <a:sym typeface="Wingdings" panose="05000000000000000000" pitchFamily="2" charset="2"/>
              </a:rPr>
              <a:t>BF/</a:t>
            </a:r>
            <a:r>
              <a:rPr lang="zh-TW" altLang="en-US" sz="1100" dirty="0" smtClean="0">
                <a:latin typeface="微軟正黑體" panose="020B0604030504040204" pitchFamily="34" charset="-120"/>
                <a:ea typeface="微軟正黑體" panose="020B0604030504040204" pitchFamily="34" charset="-120"/>
                <a:sym typeface="Wingdings" panose="05000000000000000000" pitchFamily="2" charset="2"/>
              </a:rPr>
              <a:t>邊框邊緣</a:t>
            </a:r>
            <a:r>
              <a:rPr lang="en-US" altLang="zh-TW" sz="1100" dirty="0" smtClean="0">
                <a:latin typeface="微軟正黑體" panose="020B0604030504040204" pitchFamily="34" charset="-120"/>
                <a:ea typeface="微軟正黑體" panose="020B0604030504040204" pitchFamily="34" charset="-120"/>
                <a:sym typeface="Wingdings" panose="05000000000000000000" pitchFamily="2" charset="2"/>
              </a:rPr>
              <a:t>Mura</a:t>
            </a:r>
          </a:p>
          <a:p>
            <a:r>
              <a:rPr lang="zh-TW" altLang="zh-TW" sz="1100" dirty="0">
                <a:latin typeface="微軟正黑體" panose="020B0604030504040204" pitchFamily="34" charset="-120"/>
                <a:ea typeface="微軟正黑體" panose="020B0604030504040204" pitchFamily="34" charset="-120"/>
              </a:rPr>
              <a:t>加強</a:t>
            </a:r>
            <a:r>
              <a:rPr lang="en-US" altLang="zh-TW" sz="1100" dirty="0">
                <a:latin typeface="微軟正黑體" panose="020B0604030504040204" pitchFamily="34" charset="-120"/>
                <a:ea typeface="微軟正黑體" panose="020B0604030504040204" pitchFamily="34" charset="-120"/>
              </a:rPr>
              <a:t>~30%</a:t>
            </a:r>
            <a:r>
              <a:rPr lang="zh-TW" altLang="zh-TW" sz="1100" dirty="0">
                <a:latin typeface="微軟正黑體" panose="020B0604030504040204" pitchFamily="34" charset="-120"/>
                <a:ea typeface="微軟正黑體" panose="020B0604030504040204" pitchFamily="34" charset="-120"/>
              </a:rPr>
              <a:t>的坵</a:t>
            </a:r>
            <a:r>
              <a:rPr lang="en-US" altLang="zh-TW" sz="1100" dirty="0">
                <a:latin typeface="微軟正黑體" panose="020B0604030504040204" pitchFamily="34" charset="-120"/>
                <a:ea typeface="微軟正黑體" panose="020B0604030504040204" pitchFamily="34" charset="-120"/>
              </a:rPr>
              <a:t>Mura+</a:t>
            </a:r>
            <a:r>
              <a:rPr lang="zh-TW" altLang="zh-TW" sz="1100" dirty="0">
                <a:latin typeface="微軟正黑體" panose="020B0604030504040204" pitchFamily="34" charset="-120"/>
                <a:ea typeface="微軟正黑體" panose="020B0604030504040204" pitchFamily="34" charset="-120"/>
              </a:rPr>
              <a:t>邊框邊緣</a:t>
            </a:r>
            <a:r>
              <a:rPr lang="en-US" altLang="zh-TW" sz="1100" dirty="0">
                <a:latin typeface="微軟正黑體" panose="020B0604030504040204" pitchFamily="34" charset="-120"/>
                <a:ea typeface="微軟正黑體" panose="020B0604030504040204" pitchFamily="34" charset="-120"/>
              </a:rPr>
              <a:t>Mura</a:t>
            </a:r>
            <a:r>
              <a:rPr lang="zh-TW" altLang="zh-TW" sz="1100" dirty="0">
                <a:latin typeface="微軟正黑體" panose="020B0604030504040204" pitchFamily="34" charset="-120"/>
                <a:ea typeface="微軟正黑體" panose="020B0604030504040204" pitchFamily="34" charset="-120"/>
              </a:rPr>
              <a:t>的漏檢率</a:t>
            </a:r>
            <a:endParaRPr lang="zh-TW" altLang="en-US" sz="1100" dirty="0">
              <a:latin typeface="微軟正黑體" panose="020B0604030504040204" pitchFamily="34" charset="-120"/>
              <a:ea typeface="微軟正黑體" panose="020B0604030504040204" pitchFamily="34" charset="-120"/>
            </a:endParaRPr>
          </a:p>
        </p:txBody>
      </p:sp>
      <p:grpSp>
        <p:nvGrpSpPr>
          <p:cNvPr id="91" name="群組 90"/>
          <p:cNvGrpSpPr/>
          <p:nvPr/>
        </p:nvGrpSpPr>
        <p:grpSpPr>
          <a:xfrm>
            <a:off x="4536937" y="3692666"/>
            <a:ext cx="705005" cy="529879"/>
            <a:chOff x="109587" y="3086034"/>
            <a:chExt cx="743568" cy="408164"/>
          </a:xfrm>
          <a:solidFill>
            <a:srgbClr val="005087"/>
          </a:solidFill>
        </p:grpSpPr>
        <p:sp>
          <p:nvSpPr>
            <p:cNvPr id="92" name="圓角矩形 91"/>
            <p:cNvSpPr/>
            <p:nvPr/>
          </p:nvSpPr>
          <p:spPr>
            <a:xfrm>
              <a:off x="175333" y="3086034"/>
              <a:ext cx="640538" cy="408164"/>
            </a:xfrm>
            <a:prstGeom prst="roundRect">
              <a:avLst>
                <a:gd name="adj" fmla="val 71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3" name="矩形 92">
              <a:extLst>
                <a:ext uri="{FF2B5EF4-FFF2-40B4-BE49-F238E27FC236}">
                  <a16:creationId xmlns="" xmlns:a16="http://schemas.microsoft.com/office/drawing/2014/main" id="{2FB82B3E-7C5A-4E57-B159-B07D5CBA84B6}"/>
                </a:ext>
              </a:extLst>
            </p:cNvPr>
            <p:cNvSpPr/>
            <p:nvPr/>
          </p:nvSpPr>
          <p:spPr>
            <a:xfrm>
              <a:off x="109587" y="3160696"/>
              <a:ext cx="743568" cy="213371"/>
            </a:xfrm>
            <a:prstGeom prst="rect">
              <a:avLst/>
            </a:prstGeom>
            <a:noFill/>
          </p:spPr>
          <p:txBody>
            <a:bodyPr wrap="square">
              <a:spAutoFit/>
            </a:bodyPr>
            <a:lstStyle/>
            <a:p>
              <a:pPr algn="ctr"/>
              <a:r>
                <a:rPr lang="zh-TW" altLang="en-US" sz="1200" b="1" dirty="0" smtClean="0">
                  <a:solidFill>
                    <a:schemeClr val="bg1"/>
                  </a:solidFill>
                  <a:latin typeface="微軟正黑體" panose="020B0604030504040204" pitchFamily="34" charset="-120"/>
                  <a:ea typeface="微軟正黑體" panose="020B0604030504040204" pitchFamily="34" charset="-120"/>
                </a:rPr>
                <a:t>效益</a:t>
              </a:r>
              <a:endParaRPr lang="en-US" altLang="zh-TW" sz="1200" b="1" dirty="0">
                <a:solidFill>
                  <a:schemeClr val="bg1"/>
                </a:solidFill>
                <a:latin typeface="微軟正黑體" panose="020B0604030504040204" pitchFamily="34" charset="-120"/>
                <a:ea typeface="微軟正黑體" panose="020B0604030504040204" pitchFamily="34" charset="-120"/>
              </a:endParaRPr>
            </a:p>
          </p:txBody>
        </p:sp>
      </p:grpSp>
      <p:pic>
        <p:nvPicPr>
          <p:cNvPr id="34" name="圖片 33"/>
          <p:cNvPicPr>
            <a:picLocks noChangeAspect="1"/>
          </p:cNvPicPr>
          <p:nvPr/>
        </p:nvPicPr>
        <p:blipFill>
          <a:blip r:embed="rId7"/>
          <a:stretch>
            <a:fillRect/>
          </a:stretch>
        </p:blipFill>
        <p:spPr>
          <a:xfrm>
            <a:off x="170475" y="4191088"/>
            <a:ext cx="2219681" cy="988355"/>
          </a:xfrm>
          <a:prstGeom prst="rect">
            <a:avLst/>
          </a:prstGeom>
        </p:spPr>
      </p:pic>
      <p:pic>
        <p:nvPicPr>
          <p:cNvPr id="35" name="圖片 34"/>
          <p:cNvPicPr>
            <a:picLocks noChangeAspect="1"/>
          </p:cNvPicPr>
          <p:nvPr/>
        </p:nvPicPr>
        <p:blipFill>
          <a:blip r:embed="rId8"/>
          <a:stretch>
            <a:fillRect/>
          </a:stretch>
        </p:blipFill>
        <p:spPr>
          <a:xfrm>
            <a:off x="1227576" y="3490782"/>
            <a:ext cx="1138670" cy="610971"/>
          </a:xfrm>
          <a:prstGeom prst="rect">
            <a:avLst/>
          </a:prstGeom>
        </p:spPr>
      </p:pic>
      <p:pic>
        <p:nvPicPr>
          <p:cNvPr id="36" name="圖片 35"/>
          <p:cNvPicPr>
            <a:picLocks noChangeAspect="1"/>
          </p:cNvPicPr>
          <p:nvPr/>
        </p:nvPicPr>
        <p:blipFill>
          <a:blip r:embed="rId9"/>
          <a:stretch>
            <a:fillRect/>
          </a:stretch>
        </p:blipFill>
        <p:spPr>
          <a:xfrm>
            <a:off x="202624" y="3465083"/>
            <a:ext cx="951872" cy="745131"/>
          </a:xfrm>
          <a:prstGeom prst="rect">
            <a:avLst/>
          </a:prstGeom>
        </p:spPr>
      </p:pic>
      <p:sp>
        <p:nvSpPr>
          <p:cNvPr id="80"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a:cs typeface="Arial" panose="020B0604020202020204" pitchFamily="34" charset="0"/>
              </a:rPr>
              <a:t>CF</a:t>
            </a:r>
            <a:r>
              <a:rPr lang="zh-TW" altLang="en-US" dirty="0">
                <a:cs typeface="Arial" panose="020B0604020202020204" pitchFamily="34" charset="0"/>
              </a:rPr>
              <a:t>鷹眼</a:t>
            </a:r>
          </a:p>
        </p:txBody>
      </p:sp>
    </p:spTree>
    <p:extLst>
      <p:ext uri="{BB962C8B-B14F-4D97-AF65-F5344CB8AC3E}">
        <p14:creationId xmlns:p14="http://schemas.microsoft.com/office/powerpoint/2010/main" val="12789556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圖片 67"/>
          <p:cNvPicPr>
            <a:picLocks noChangeAspect="1"/>
          </p:cNvPicPr>
          <p:nvPr/>
        </p:nvPicPr>
        <p:blipFill>
          <a:blip r:embed="rId2"/>
          <a:stretch>
            <a:fillRect/>
          </a:stretch>
        </p:blipFill>
        <p:spPr>
          <a:xfrm>
            <a:off x="3043063" y="2509734"/>
            <a:ext cx="3656330" cy="1780023"/>
          </a:xfrm>
          <a:prstGeom prst="rect">
            <a:avLst/>
          </a:prstGeom>
        </p:spPr>
      </p:pic>
      <p:sp>
        <p:nvSpPr>
          <p:cNvPr id="63" name="手繪多邊形 62"/>
          <p:cNvSpPr/>
          <p:nvPr/>
        </p:nvSpPr>
        <p:spPr>
          <a:xfrm>
            <a:off x="114300" y="894804"/>
            <a:ext cx="3300335" cy="3880317"/>
          </a:xfrm>
          <a:custGeom>
            <a:avLst/>
            <a:gdLst>
              <a:gd name="connsiteX0" fmla="*/ 0 w 3300335"/>
              <a:gd name="connsiteY0" fmla="*/ 0 h 3944362"/>
              <a:gd name="connsiteX1" fmla="*/ 2524125 w 3300335"/>
              <a:gd name="connsiteY1" fmla="*/ 0 h 3944362"/>
              <a:gd name="connsiteX2" fmla="*/ 2524125 w 3300335"/>
              <a:gd name="connsiteY2" fmla="*/ 1195001 h 3944362"/>
              <a:gd name="connsiteX3" fmla="*/ 3300335 w 3300335"/>
              <a:gd name="connsiteY3" fmla="*/ 1195001 h 3944362"/>
              <a:gd name="connsiteX4" fmla="*/ 3300335 w 3300335"/>
              <a:gd name="connsiteY4" fmla="*/ 1589856 h 3944362"/>
              <a:gd name="connsiteX5" fmla="*/ 2524125 w 3300335"/>
              <a:gd name="connsiteY5" fmla="*/ 1589856 h 3944362"/>
              <a:gd name="connsiteX6" fmla="*/ 2524125 w 3300335"/>
              <a:gd name="connsiteY6" fmla="*/ 3944362 h 3944362"/>
              <a:gd name="connsiteX7" fmla="*/ 0 w 3300335"/>
              <a:gd name="connsiteY7" fmla="*/ 3944362 h 394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00335" h="3944362">
                <a:moveTo>
                  <a:pt x="0" y="0"/>
                </a:moveTo>
                <a:lnTo>
                  <a:pt x="2524125" y="0"/>
                </a:lnTo>
                <a:lnTo>
                  <a:pt x="2524125" y="1195001"/>
                </a:lnTo>
                <a:lnTo>
                  <a:pt x="3300335" y="1195001"/>
                </a:lnTo>
                <a:lnTo>
                  <a:pt x="3300335" y="1589856"/>
                </a:lnTo>
                <a:lnTo>
                  <a:pt x="2524125" y="1589856"/>
                </a:lnTo>
                <a:lnTo>
                  <a:pt x="2524125" y="3944362"/>
                </a:lnTo>
                <a:lnTo>
                  <a:pt x="0" y="3944362"/>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7" name="肘形接點 6"/>
          <p:cNvCxnSpPr>
            <a:stCxn id="65" idx="0"/>
            <a:endCxn id="22" idx="1"/>
          </p:cNvCxnSpPr>
          <p:nvPr/>
        </p:nvCxnSpPr>
        <p:spPr>
          <a:xfrm rot="5400000" flipH="1" flipV="1">
            <a:off x="3025701" y="1137321"/>
            <a:ext cx="915733" cy="927139"/>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 name="直線單箭頭接點 8"/>
          <p:cNvCxnSpPr>
            <a:endCxn id="27" idx="1"/>
          </p:cNvCxnSpPr>
          <p:nvPr/>
        </p:nvCxnSpPr>
        <p:spPr>
          <a:xfrm>
            <a:off x="3414635" y="2192529"/>
            <a:ext cx="486887"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矩形 9"/>
          <p:cNvSpPr/>
          <p:nvPr/>
        </p:nvSpPr>
        <p:spPr>
          <a:xfrm>
            <a:off x="3819044" y="1409791"/>
            <a:ext cx="1584088" cy="400110"/>
          </a:xfrm>
          <a:prstGeom prst="rect">
            <a:avLst/>
          </a:prstGeom>
        </p:spPr>
        <p:txBody>
          <a:bodyPr wrap="none">
            <a:spAutoFit/>
          </a:bodyPr>
          <a:lstStyle/>
          <a:p>
            <a:pPr marL="171450" indent="-171450">
              <a:buFont typeface="Wingdings" panose="05000000000000000000" pitchFamily="2" charset="2"/>
              <a:buChar char="Ø"/>
            </a:pPr>
            <a:r>
              <a:rPr lang="en-US" altLang="zh-TW" sz="1000" dirty="0" smtClean="0">
                <a:latin typeface="微軟正黑體" panose="020B0604030504040204" pitchFamily="34" charset="-120"/>
                <a:ea typeface="微軟正黑體" panose="020B0604030504040204" pitchFamily="34" charset="-120"/>
              </a:rPr>
              <a:t>Mura</a:t>
            </a:r>
            <a:r>
              <a:rPr lang="zh-TW" altLang="en-US" sz="1000" dirty="0" smtClean="0">
                <a:latin typeface="微軟正黑體" panose="020B0604030504040204" pitchFamily="34" charset="-120"/>
                <a:ea typeface="微軟正黑體" panose="020B0604030504040204" pitchFamily="34" charset="-120"/>
              </a:rPr>
              <a:t>照片供模型優化</a:t>
            </a:r>
            <a:endParaRPr lang="en-US" altLang="zh-TW" sz="1000" dirty="0" smtClean="0">
              <a:latin typeface="微軟正黑體" panose="020B0604030504040204" pitchFamily="34" charset="-120"/>
              <a:ea typeface="微軟正黑體" panose="020B0604030504040204" pitchFamily="34" charset="-120"/>
            </a:endParaRPr>
          </a:p>
          <a:p>
            <a:pPr marL="171450" indent="-171450">
              <a:buFont typeface="Wingdings" panose="05000000000000000000" pitchFamily="2" charset="2"/>
              <a:buChar char="Ø"/>
            </a:pPr>
            <a:r>
              <a:rPr lang="zh-TW" altLang="en-US" sz="1000" dirty="0" smtClean="0">
                <a:latin typeface="微軟正黑體" panose="020B0604030504040204" pitchFamily="34" charset="-120"/>
                <a:ea typeface="微軟正黑體" panose="020B0604030504040204" pitchFamily="34" charset="-120"/>
              </a:rPr>
              <a:t>大阪照片供網頁呈現</a:t>
            </a:r>
            <a:endParaRPr lang="zh-TW" altLang="en-US" sz="1000" dirty="0">
              <a:latin typeface="微軟正黑體" panose="020B0604030504040204" pitchFamily="34" charset="-120"/>
              <a:ea typeface="微軟正黑體" panose="020B0604030504040204" pitchFamily="34" charset="-120"/>
            </a:endParaRPr>
          </a:p>
        </p:txBody>
      </p:sp>
      <p:cxnSp>
        <p:nvCxnSpPr>
          <p:cNvPr id="13" name="肘形接點 12"/>
          <p:cNvCxnSpPr>
            <a:stCxn id="65" idx="2"/>
            <a:endCxn id="35" idx="1"/>
          </p:cNvCxnSpPr>
          <p:nvPr/>
        </p:nvCxnSpPr>
        <p:spPr>
          <a:xfrm rot="16200000" flipH="1">
            <a:off x="2398718" y="3074890"/>
            <a:ext cx="2124084" cy="881525"/>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肘形接點 20"/>
          <p:cNvCxnSpPr>
            <a:stCxn id="22" idx="3"/>
            <a:endCxn id="57" idx="1"/>
          </p:cNvCxnSpPr>
          <p:nvPr/>
        </p:nvCxnSpPr>
        <p:spPr>
          <a:xfrm flipV="1">
            <a:off x="5113571" y="1112863"/>
            <a:ext cx="525189" cy="0"/>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6" name="肘形接點 25"/>
          <p:cNvCxnSpPr>
            <a:stCxn id="27" idx="3"/>
            <a:endCxn id="57" idx="1"/>
          </p:cNvCxnSpPr>
          <p:nvPr/>
        </p:nvCxnSpPr>
        <p:spPr>
          <a:xfrm flipV="1">
            <a:off x="5113571" y="1112863"/>
            <a:ext cx="525189" cy="1079667"/>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矩形 21"/>
          <p:cNvSpPr/>
          <p:nvPr/>
        </p:nvSpPr>
        <p:spPr>
          <a:xfrm>
            <a:off x="3947137" y="894805"/>
            <a:ext cx="1166434" cy="496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altLang="zh-TW" sz="1200" b="1" dirty="0" smtClean="0">
                <a:latin typeface="微軟正黑體" panose="020B0604030504040204" pitchFamily="34" charset="-120"/>
                <a:ea typeface="微軟正黑體" panose="020B0604030504040204" pitchFamily="34" charset="-120"/>
              </a:rPr>
              <a:t>Mura</a:t>
            </a:r>
            <a:r>
              <a:rPr lang="zh-TW" altLang="en-US" sz="1200" b="1" dirty="0" smtClean="0">
                <a:latin typeface="微軟正黑體" panose="020B0604030504040204" pitchFamily="34" charset="-120"/>
                <a:ea typeface="微軟正黑體" panose="020B0604030504040204" pitchFamily="34" charset="-120"/>
              </a:rPr>
              <a:t>照片</a:t>
            </a:r>
            <a:endParaRPr lang="en-US" altLang="zh-TW" sz="1200" b="1" dirty="0" smtClean="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b="1" dirty="0" smtClean="0">
                <a:latin typeface="微軟正黑體" panose="020B0604030504040204" pitchFamily="34" charset="-120"/>
                <a:ea typeface="微軟正黑體" panose="020B0604030504040204" pitchFamily="34" charset="-120"/>
              </a:rPr>
              <a:t>大板照片</a:t>
            </a:r>
            <a:endParaRPr lang="en-US" altLang="zh-TW" sz="1200" b="1" dirty="0" smtClean="0">
              <a:latin typeface="微軟正黑體" panose="020B0604030504040204" pitchFamily="34" charset="-120"/>
              <a:ea typeface="微軟正黑體" panose="020B0604030504040204" pitchFamily="34" charset="-120"/>
            </a:endParaRPr>
          </a:p>
        </p:txBody>
      </p:sp>
      <p:sp>
        <p:nvSpPr>
          <p:cNvPr id="27" name="矩形 26"/>
          <p:cNvSpPr/>
          <p:nvPr/>
        </p:nvSpPr>
        <p:spPr>
          <a:xfrm>
            <a:off x="3901522" y="1995102"/>
            <a:ext cx="1212049" cy="39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smtClean="0">
                <a:latin typeface="微軟正黑體" panose="020B0604030504040204" pitchFamily="34" charset="-120"/>
                <a:ea typeface="微軟正黑體" panose="020B0604030504040204" pitchFamily="34" charset="-120"/>
              </a:rPr>
              <a:t>儲存</a:t>
            </a:r>
            <a:endParaRPr lang="en-US" altLang="zh-TW" sz="1200" b="1" dirty="0" smtClean="0">
              <a:latin typeface="微軟正黑體" panose="020B0604030504040204" pitchFamily="34" charset="-120"/>
              <a:ea typeface="微軟正黑體" panose="020B0604030504040204" pitchFamily="34" charset="-120"/>
            </a:endParaRPr>
          </a:p>
          <a:p>
            <a:pPr algn="ctr"/>
            <a:r>
              <a:rPr lang="zh-TW" altLang="en-US" sz="1200" b="1" dirty="0" smtClean="0">
                <a:latin typeface="微軟正黑體" panose="020B0604030504040204" pitchFamily="34" charset="-120"/>
                <a:ea typeface="微軟正黑體" panose="020B0604030504040204" pitchFamily="34" charset="-120"/>
              </a:rPr>
              <a:t>辨識結果資</a:t>
            </a:r>
            <a:r>
              <a:rPr lang="zh-TW" altLang="en-US" sz="1200" b="1" dirty="0">
                <a:latin typeface="微軟正黑體" panose="020B0604030504040204" pitchFamily="34" charset="-120"/>
                <a:ea typeface="微軟正黑體" panose="020B0604030504040204" pitchFamily="34" charset="-120"/>
              </a:rPr>
              <a:t>訊</a:t>
            </a:r>
            <a:endParaRPr lang="en-US" altLang="zh-TW" sz="1200" b="1" dirty="0" smtClean="0">
              <a:latin typeface="微軟正黑體" panose="020B0604030504040204" pitchFamily="34" charset="-120"/>
              <a:ea typeface="微軟正黑體" panose="020B0604030504040204" pitchFamily="34" charset="-120"/>
            </a:endParaRPr>
          </a:p>
        </p:txBody>
      </p:sp>
      <p:sp>
        <p:nvSpPr>
          <p:cNvPr id="35" name="矩形 34"/>
          <p:cNvSpPr/>
          <p:nvPr/>
        </p:nvSpPr>
        <p:spPr>
          <a:xfrm>
            <a:off x="3901523" y="4380267"/>
            <a:ext cx="1075356" cy="39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smtClean="0">
                <a:solidFill>
                  <a:schemeClr val="bg1"/>
                </a:solidFill>
                <a:latin typeface="微軟正黑體" panose="020B0604030504040204" pitchFamily="34" charset="-120"/>
                <a:ea typeface="微軟正黑體" panose="020B0604030504040204" pitchFamily="34" charset="-120"/>
              </a:rPr>
              <a:t>E-Stone</a:t>
            </a:r>
            <a:r>
              <a:rPr lang="zh-TW" altLang="en-US" sz="1000" b="1" dirty="0">
                <a:solidFill>
                  <a:schemeClr val="bg1"/>
                </a:solidFill>
                <a:latin typeface="微軟正黑體" panose="020B0604030504040204" pitchFamily="34" charset="-120"/>
                <a:ea typeface="微軟正黑體" panose="020B0604030504040204" pitchFamily="34" charset="-120"/>
              </a:rPr>
              <a:t>通報</a:t>
            </a:r>
          </a:p>
        </p:txBody>
      </p:sp>
      <p:sp>
        <p:nvSpPr>
          <p:cNvPr id="57" name="矩形 56"/>
          <p:cNvSpPr/>
          <p:nvPr/>
        </p:nvSpPr>
        <p:spPr>
          <a:xfrm>
            <a:off x="5638760" y="915435"/>
            <a:ext cx="1075356" cy="39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smtClean="0">
                <a:latin typeface="微軟正黑體" panose="020B0604030504040204" pitchFamily="34" charset="-120"/>
                <a:ea typeface="微軟正黑體" panose="020B0604030504040204" pitchFamily="34" charset="-120"/>
              </a:rPr>
              <a:t>網頁監控</a:t>
            </a:r>
            <a:endParaRPr lang="en-US" altLang="zh-TW" sz="1200" b="1" dirty="0" smtClean="0">
              <a:latin typeface="微軟正黑體" panose="020B0604030504040204" pitchFamily="34" charset="-120"/>
              <a:ea typeface="微軟正黑體" panose="020B0604030504040204" pitchFamily="34" charset="-120"/>
            </a:endParaRPr>
          </a:p>
        </p:txBody>
      </p:sp>
      <p:grpSp>
        <p:nvGrpSpPr>
          <p:cNvPr id="15" name="群組 14"/>
          <p:cNvGrpSpPr/>
          <p:nvPr/>
        </p:nvGrpSpPr>
        <p:grpSpPr>
          <a:xfrm>
            <a:off x="5617598" y="1391693"/>
            <a:ext cx="3349318" cy="2894457"/>
            <a:chOff x="128903" y="609289"/>
            <a:chExt cx="7274107" cy="4439549"/>
          </a:xfrm>
        </p:grpSpPr>
        <p:pic>
          <p:nvPicPr>
            <p:cNvPr id="46" name="圖片 45"/>
            <p:cNvPicPr>
              <a:picLocks noChangeAspect="1"/>
            </p:cNvPicPr>
            <p:nvPr/>
          </p:nvPicPr>
          <p:blipFill>
            <a:blip r:embed="rId3"/>
            <a:stretch>
              <a:fillRect/>
            </a:stretch>
          </p:blipFill>
          <p:spPr>
            <a:xfrm>
              <a:off x="128903" y="609289"/>
              <a:ext cx="5766584" cy="1410011"/>
            </a:xfrm>
            <a:prstGeom prst="rect">
              <a:avLst/>
            </a:prstGeom>
          </p:spPr>
        </p:pic>
        <p:pic>
          <p:nvPicPr>
            <p:cNvPr id="28" name="圖片 27"/>
            <p:cNvPicPr>
              <a:picLocks noChangeAspect="1"/>
            </p:cNvPicPr>
            <p:nvPr/>
          </p:nvPicPr>
          <p:blipFill>
            <a:blip r:embed="rId4"/>
            <a:stretch>
              <a:fillRect/>
            </a:stretch>
          </p:blipFill>
          <p:spPr>
            <a:xfrm>
              <a:off x="128903" y="2114551"/>
              <a:ext cx="4511518" cy="2874004"/>
            </a:xfrm>
            <a:prstGeom prst="rect">
              <a:avLst/>
            </a:prstGeom>
          </p:spPr>
        </p:pic>
        <p:sp>
          <p:nvSpPr>
            <p:cNvPr id="29" name="矩形 28"/>
            <p:cNvSpPr/>
            <p:nvPr/>
          </p:nvSpPr>
          <p:spPr>
            <a:xfrm>
              <a:off x="3834431" y="3144657"/>
              <a:ext cx="364189" cy="117812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grpSp>
          <p:nvGrpSpPr>
            <p:cNvPr id="30" name="群組 29"/>
            <p:cNvGrpSpPr/>
            <p:nvPr/>
          </p:nvGrpSpPr>
          <p:grpSpPr>
            <a:xfrm>
              <a:off x="4660298" y="1443082"/>
              <a:ext cx="2742712" cy="3605756"/>
              <a:chOff x="4426505" y="1412664"/>
              <a:chExt cx="2753566" cy="3733026"/>
            </a:xfrm>
          </p:grpSpPr>
          <p:pic>
            <p:nvPicPr>
              <p:cNvPr id="32" name="圖片 31"/>
              <p:cNvPicPr>
                <a:picLocks noChangeAspect="1"/>
              </p:cNvPicPr>
              <p:nvPr/>
            </p:nvPicPr>
            <p:blipFill rotWithShape="1">
              <a:blip r:embed="rId5"/>
              <a:srcRect b="22617"/>
              <a:stretch/>
            </p:blipFill>
            <p:spPr>
              <a:xfrm>
                <a:off x="4730388" y="2114551"/>
                <a:ext cx="2301161" cy="2023855"/>
              </a:xfrm>
              <a:prstGeom prst="rect">
                <a:avLst/>
              </a:prstGeom>
            </p:spPr>
          </p:pic>
          <p:pic>
            <p:nvPicPr>
              <p:cNvPr id="33" name="圖片 32"/>
              <p:cNvPicPr>
                <a:picLocks noChangeAspect="1"/>
              </p:cNvPicPr>
              <p:nvPr/>
            </p:nvPicPr>
            <p:blipFill rotWithShape="1">
              <a:blip r:embed="rId6"/>
              <a:srcRect r="27107" b="45355"/>
              <a:stretch/>
            </p:blipFill>
            <p:spPr>
              <a:xfrm>
                <a:off x="4724787" y="4145122"/>
                <a:ext cx="1095259" cy="937244"/>
              </a:xfrm>
              <a:prstGeom prst="rect">
                <a:avLst/>
              </a:prstGeom>
            </p:spPr>
          </p:pic>
          <p:pic>
            <p:nvPicPr>
              <p:cNvPr id="36" name="圖片 35"/>
              <p:cNvPicPr>
                <a:picLocks noChangeAspect="1"/>
              </p:cNvPicPr>
              <p:nvPr/>
            </p:nvPicPr>
            <p:blipFill rotWithShape="1">
              <a:blip r:embed="rId7"/>
              <a:srcRect r="23913"/>
              <a:stretch/>
            </p:blipFill>
            <p:spPr>
              <a:xfrm>
                <a:off x="5871911" y="4115699"/>
                <a:ext cx="1169719" cy="937244"/>
              </a:xfrm>
              <a:prstGeom prst="rect">
                <a:avLst/>
              </a:prstGeom>
            </p:spPr>
          </p:pic>
          <p:sp>
            <p:nvSpPr>
              <p:cNvPr id="39" name="矩形 38"/>
              <p:cNvSpPr/>
              <p:nvPr/>
            </p:nvSpPr>
            <p:spPr>
              <a:xfrm>
                <a:off x="4715936" y="2107835"/>
                <a:ext cx="421214" cy="188746"/>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40" name="矩形 39"/>
              <p:cNvSpPr/>
              <p:nvPr/>
            </p:nvSpPr>
            <p:spPr>
              <a:xfrm>
                <a:off x="5145619" y="2107835"/>
                <a:ext cx="393982" cy="18874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41" name="矩形 40"/>
              <p:cNvSpPr/>
              <p:nvPr/>
            </p:nvSpPr>
            <p:spPr>
              <a:xfrm>
                <a:off x="5539601" y="2107835"/>
                <a:ext cx="269141" cy="19546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43" name="矩形 42"/>
              <p:cNvSpPr/>
              <p:nvPr/>
            </p:nvSpPr>
            <p:spPr>
              <a:xfrm>
                <a:off x="5355792" y="4852450"/>
                <a:ext cx="591391" cy="293240"/>
              </a:xfrm>
              <a:prstGeom prst="rect">
                <a:avLst/>
              </a:prstGeom>
              <a:solidFill>
                <a:schemeClr val="accent1"/>
              </a:solidFill>
              <a:ln>
                <a:solidFill>
                  <a:srgbClr val="D3D8DF"/>
                </a:solidFill>
              </a:ln>
            </p:spPr>
            <p:txBody>
              <a:bodyPr wrap="none" rtlCol="0">
                <a:spAutoFit/>
              </a:bodyPr>
              <a:lstStyle/>
              <a:p>
                <a:pPr algn="ctr"/>
                <a:r>
                  <a:rPr lang="en-US" altLang="zh-TW" sz="600" b="1" dirty="0" smtClean="0">
                    <a:solidFill>
                      <a:schemeClr val="bg1"/>
                    </a:solidFill>
                    <a:latin typeface="微軟正黑體" panose="020B0604030504040204" pitchFamily="34" charset="-120"/>
                    <a:ea typeface="微軟正黑體" panose="020B0604030504040204" pitchFamily="34" charset="-120"/>
                  </a:rPr>
                  <a:t>2x</a:t>
                </a:r>
                <a:endParaRPr lang="zh-TW" altLang="en-US" sz="600" b="1" dirty="0">
                  <a:solidFill>
                    <a:schemeClr val="bg1"/>
                  </a:solidFill>
                  <a:latin typeface="微軟正黑體" panose="020B0604030504040204" pitchFamily="34" charset="-120"/>
                  <a:ea typeface="微軟正黑體" panose="020B0604030504040204" pitchFamily="34" charset="-120"/>
                </a:endParaRPr>
              </a:p>
            </p:txBody>
          </p:sp>
          <p:sp>
            <p:nvSpPr>
              <p:cNvPr id="44" name="矩形 43"/>
              <p:cNvSpPr/>
              <p:nvPr/>
            </p:nvSpPr>
            <p:spPr>
              <a:xfrm>
                <a:off x="6588680" y="4819716"/>
                <a:ext cx="591391" cy="293240"/>
              </a:xfrm>
              <a:prstGeom prst="rect">
                <a:avLst/>
              </a:prstGeom>
              <a:solidFill>
                <a:schemeClr val="accent1"/>
              </a:solidFill>
              <a:ln>
                <a:solidFill>
                  <a:srgbClr val="D3D8DF"/>
                </a:solidFill>
              </a:ln>
            </p:spPr>
            <p:txBody>
              <a:bodyPr wrap="none" rtlCol="0">
                <a:spAutoFit/>
              </a:bodyPr>
              <a:lstStyle/>
              <a:p>
                <a:pPr algn="ctr"/>
                <a:r>
                  <a:rPr lang="en-US" altLang="zh-TW" sz="600" b="1" dirty="0">
                    <a:solidFill>
                      <a:schemeClr val="bg1"/>
                    </a:solidFill>
                    <a:latin typeface="微軟正黑體" panose="020B0604030504040204" pitchFamily="34" charset="-120"/>
                    <a:ea typeface="微軟正黑體" panose="020B0604030504040204" pitchFamily="34" charset="-120"/>
                  </a:rPr>
                  <a:t>3</a:t>
                </a:r>
                <a:r>
                  <a:rPr lang="en-US" altLang="zh-TW" sz="600" b="1" dirty="0" smtClean="0">
                    <a:solidFill>
                      <a:schemeClr val="bg1"/>
                    </a:solidFill>
                    <a:latin typeface="微軟正黑體" panose="020B0604030504040204" pitchFamily="34" charset="-120"/>
                    <a:ea typeface="微軟正黑體" panose="020B0604030504040204" pitchFamily="34" charset="-120"/>
                  </a:rPr>
                  <a:t>x</a:t>
                </a:r>
                <a:endParaRPr lang="zh-TW" altLang="en-US" sz="600" b="1" dirty="0">
                  <a:solidFill>
                    <a:schemeClr val="bg1"/>
                  </a:solidFill>
                  <a:latin typeface="微軟正黑體" panose="020B0604030504040204" pitchFamily="34" charset="-120"/>
                  <a:ea typeface="微軟正黑體" panose="020B0604030504040204" pitchFamily="34" charset="-120"/>
                </a:endParaRPr>
              </a:p>
            </p:txBody>
          </p:sp>
          <p:sp>
            <p:nvSpPr>
              <p:cNvPr id="45" name="橢圓 44"/>
              <p:cNvSpPr/>
              <p:nvPr/>
            </p:nvSpPr>
            <p:spPr>
              <a:xfrm>
                <a:off x="5060622" y="2279958"/>
                <a:ext cx="131523" cy="12695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38" name="文字方塊 37"/>
              <p:cNvSpPr txBox="1"/>
              <p:nvPr/>
            </p:nvSpPr>
            <p:spPr>
              <a:xfrm>
                <a:off x="4426505" y="1412664"/>
                <a:ext cx="1972233" cy="733100"/>
              </a:xfrm>
              <a:prstGeom prst="rect">
                <a:avLst/>
              </a:prstGeom>
              <a:solidFill>
                <a:srgbClr val="5D7387"/>
              </a:solidFill>
              <a:ln>
                <a:solidFill>
                  <a:srgbClr val="D3D8DF"/>
                </a:solidFill>
              </a:ln>
            </p:spPr>
            <p:txBody>
              <a:bodyPr wrap="square" rtlCol="0">
                <a:spAutoFit/>
              </a:bodyPr>
              <a:lstStyle/>
              <a:p>
                <a:pPr marL="228600" indent="-228600">
                  <a:buAutoNum type="arabicPeriod"/>
                </a:pPr>
                <a:r>
                  <a:rPr lang="zh-TW" altLang="en-US" sz="600" b="1" dirty="0" smtClean="0">
                    <a:solidFill>
                      <a:schemeClr val="accent5"/>
                    </a:solidFill>
                    <a:latin typeface="微軟正黑體" panose="020B0604030504040204" pitchFamily="34" charset="-120"/>
                    <a:ea typeface="微軟正黑體" panose="020B0604030504040204" pitchFamily="34" charset="-120"/>
                  </a:rPr>
                  <a:t>移除系統判讀</a:t>
                </a:r>
                <a:r>
                  <a:rPr lang="en-US" altLang="zh-TW" sz="600" b="1" dirty="0" smtClean="0">
                    <a:solidFill>
                      <a:schemeClr val="accent5"/>
                    </a:solidFill>
                    <a:latin typeface="微軟正黑體" panose="020B0604030504040204" pitchFamily="34" charset="-120"/>
                    <a:ea typeface="微軟正黑體" panose="020B0604030504040204" pitchFamily="34" charset="-120"/>
                  </a:rPr>
                  <a:t>NG</a:t>
                </a:r>
                <a:r>
                  <a:rPr lang="zh-TW" altLang="en-US" sz="600" b="1" dirty="0" smtClean="0">
                    <a:solidFill>
                      <a:schemeClr val="accent5"/>
                    </a:solidFill>
                    <a:latin typeface="微軟正黑體" panose="020B0604030504040204" pitchFamily="34" charset="-120"/>
                    <a:ea typeface="微軟正黑體" panose="020B0604030504040204" pitchFamily="34" charset="-120"/>
                  </a:rPr>
                  <a:t>框選</a:t>
                </a:r>
                <a:endParaRPr lang="en-US" altLang="zh-TW" sz="600" b="1" dirty="0" smtClean="0">
                  <a:solidFill>
                    <a:schemeClr val="accent5"/>
                  </a:solidFill>
                  <a:latin typeface="微軟正黑體" panose="020B0604030504040204" pitchFamily="34" charset="-120"/>
                  <a:ea typeface="微軟正黑體" panose="020B0604030504040204" pitchFamily="34" charset="-120"/>
                </a:endParaRPr>
              </a:p>
              <a:p>
                <a:pPr marL="228600" indent="-228600">
                  <a:buAutoNum type="arabicPeriod"/>
                </a:pPr>
                <a:r>
                  <a:rPr lang="zh-TW" altLang="en-US" sz="600" b="1" dirty="0" smtClean="0">
                    <a:solidFill>
                      <a:schemeClr val="accent4"/>
                    </a:solidFill>
                    <a:latin typeface="微軟正黑體" panose="020B0604030504040204" pitchFamily="34" charset="-120"/>
                    <a:ea typeface="微軟正黑體" panose="020B0604030504040204" pitchFamily="34" charset="-120"/>
                  </a:rPr>
                  <a:t>滾動縮放影像</a:t>
                </a:r>
                <a:endParaRPr lang="en-US" altLang="zh-TW" sz="600" b="1" dirty="0" smtClean="0">
                  <a:solidFill>
                    <a:schemeClr val="accent4"/>
                  </a:solidFill>
                  <a:latin typeface="微軟正黑體" panose="020B0604030504040204" pitchFamily="34" charset="-120"/>
                  <a:ea typeface="微軟正黑體" panose="020B0604030504040204" pitchFamily="34" charset="-120"/>
                </a:endParaRPr>
              </a:p>
              <a:p>
                <a:pPr marL="228600" indent="-228600">
                  <a:buAutoNum type="arabicPeriod"/>
                </a:pPr>
                <a:r>
                  <a:rPr lang="zh-TW" altLang="en-US" sz="600" b="1" dirty="0" smtClean="0">
                    <a:solidFill>
                      <a:schemeClr val="accent3"/>
                    </a:solidFill>
                    <a:latin typeface="微軟正黑體" panose="020B0604030504040204" pitchFamily="34" charset="-120"/>
                    <a:ea typeface="微軟正黑體" panose="020B0604030504040204" pitchFamily="34" charset="-120"/>
                  </a:rPr>
                  <a:t>框選倍率</a:t>
                </a:r>
                <a:endParaRPr lang="en-US" altLang="zh-TW" sz="600" b="1" dirty="0">
                  <a:solidFill>
                    <a:schemeClr val="accent3"/>
                  </a:solidFill>
                  <a:latin typeface="微軟正黑體" panose="020B0604030504040204" pitchFamily="34" charset="-120"/>
                  <a:ea typeface="微軟正黑體" panose="020B0604030504040204" pitchFamily="34" charset="-120"/>
                </a:endParaRPr>
              </a:p>
            </p:txBody>
          </p:sp>
        </p:grpSp>
        <p:sp>
          <p:nvSpPr>
            <p:cNvPr id="47" name="矩形 46"/>
            <p:cNvSpPr/>
            <p:nvPr/>
          </p:nvSpPr>
          <p:spPr>
            <a:xfrm>
              <a:off x="417001" y="790342"/>
              <a:ext cx="5175870" cy="167899"/>
            </a:xfrm>
            <a:prstGeom prst="rect">
              <a:avLst/>
            </a:prstGeom>
            <a:noFill/>
            <a:ln w="19050">
              <a:solidFill>
                <a:srgbClr val="ED9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48" name="矩形 47"/>
            <p:cNvSpPr/>
            <p:nvPr/>
          </p:nvSpPr>
          <p:spPr>
            <a:xfrm>
              <a:off x="128903" y="2482133"/>
              <a:ext cx="2194675" cy="2506422"/>
            </a:xfrm>
            <a:prstGeom prst="rect">
              <a:avLst/>
            </a:prstGeom>
            <a:noFill/>
            <a:ln w="19050">
              <a:solidFill>
                <a:srgbClr val="ED9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49" name="文字方塊 48"/>
            <p:cNvSpPr txBox="1"/>
            <p:nvPr/>
          </p:nvSpPr>
          <p:spPr>
            <a:xfrm>
              <a:off x="5131593" y="743487"/>
              <a:ext cx="898907" cy="283243"/>
            </a:xfrm>
            <a:prstGeom prst="rect">
              <a:avLst/>
            </a:prstGeom>
            <a:solidFill>
              <a:srgbClr val="ED9159"/>
            </a:solidFill>
            <a:ln>
              <a:solidFill>
                <a:srgbClr val="ED9159"/>
              </a:solidFill>
            </a:ln>
          </p:spPr>
          <p:txBody>
            <a:bodyPr wrap="none" rtlCol="0">
              <a:spAutoFit/>
            </a:bodyPr>
            <a:lstStyle/>
            <a:p>
              <a:pPr algn="ctr"/>
              <a:r>
                <a:rPr lang="en-US" altLang="zh-TW" sz="600" b="1" dirty="0" smtClean="0">
                  <a:solidFill>
                    <a:schemeClr val="bg1"/>
                  </a:solidFill>
                  <a:latin typeface="微軟正黑體" panose="020B0604030504040204" pitchFamily="34" charset="-120"/>
                  <a:ea typeface="微軟正黑體" panose="020B0604030504040204" pitchFamily="34" charset="-120"/>
                </a:rPr>
                <a:t>Line</a:t>
              </a:r>
              <a:r>
                <a:rPr lang="zh-TW" altLang="en-US" sz="600" b="1" dirty="0" smtClean="0">
                  <a:solidFill>
                    <a:schemeClr val="bg1"/>
                  </a:solidFill>
                  <a:latin typeface="微軟正黑體" panose="020B0604030504040204" pitchFamily="34" charset="-120"/>
                  <a:ea typeface="微軟正黑體" panose="020B0604030504040204" pitchFamily="34" charset="-120"/>
                </a:rPr>
                <a:t>別</a:t>
              </a:r>
              <a:endParaRPr lang="zh-TW" altLang="en-US" sz="600" b="1" dirty="0">
                <a:solidFill>
                  <a:schemeClr val="bg1"/>
                </a:solidFill>
                <a:latin typeface="微軟正黑體" panose="020B0604030504040204" pitchFamily="34" charset="-120"/>
                <a:ea typeface="微軟正黑體" panose="020B0604030504040204" pitchFamily="34" charset="-120"/>
              </a:endParaRPr>
            </a:p>
          </p:txBody>
        </p:sp>
        <p:sp>
          <p:nvSpPr>
            <p:cNvPr id="50" name="文字方塊 49"/>
            <p:cNvSpPr txBox="1"/>
            <p:nvPr/>
          </p:nvSpPr>
          <p:spPr>
            <a:xfrm>
              <a:off x="5872776" y="3782200"/>
              <a:ext cx="1375864" cy="283243"/>
            </a:xfrm>
            <a:prstGeom prst="rect">
              <a:avLst/>
            </a:prstGeom>
            <a:solidFill>
              <a:srgbClr val="ED9159"/>
            </a:solidFill>
            <a:ln>
              <a:solidFill>
                <a:srgbClr val="ED9159"/>
              </a:solidFill>
            </a:ln>
          </p:spPr>
          <p:txBody>
            <a:bodyPr wrap="none" rtlCol="0">
              <a:spAutoFit/>
            </a:bodyPr>
            <a:lstStyle/>
            <a:p>
              <a:pPr algn="ctr"/>
              <a:r>
                <a:rPr lang="en-US" altLang="zh-TW" sz="600" b="1" dirty="0" smtClean="0">
                  <a:solidFill>
                    <a:schemeClr val="bg1"/>
                  </a:solidFill>
                  <a:latin typeface="微軟正黑體" panose="020B0604030504040204" pitchFamily="34" charset="-120"/>
                  <a:ea typeface="微軟正黑體" panose="020B0604030504040204" pitchFamily="34" charset="-120"/>
                </a:rPr>
                <a:t>Glass Image</a:t>
              </a:r>
              <a:endParaRPr lang="zh-TW" altLang="en-US" sz="600" b="1" dirty="0">
                <a:solidFill>
                  <a:schemeClr val="bg1"/>
                </a:solidFill>
                <a:latin typeface="微軟正黑體" panose="020B0604030504040204" pitchFamily="34" charset="-120"/>
                <a:ea typeface="微軟正黑體" panose="020B0604030504040204" pitchFamily="34" charset="-120"/>
              </a:endParaRPr>
            </a:p>
          </p:txBody>
        </p:sp>
        <p:sp>
          <p:nvSpPr>
            <p:cNvPr id="51" name="矩形 50"/>
            <p:cNvSpPr/>
            <p:nvPr/>
          </p:nvSpPr>
          <p:spPr>
            <a:xfrm>
              <a:off x="2384662" y="2482133"/>
              <a:ext cx="2255759" cy="569663"/>
            </a:xfrm>
            <a:prstGeom prst="rect">
              <a:avLst/>
            </a:prstGeom>
            <a:noFill/>
            <a:ln w="19050">
              <a:solidFill>
                <a:srgbClr val="ED9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52" name="矩形 51"/>
            <p:cNvSpPr/>
            <p:nvPr/>
          </p:nvSpPr>
          <p:spPr>
            <a:xfrm>
              <a:off x="2385747" y="3055323"/>
              <a:ext cx="2255759" cy="1172211"/>
            </a:xfrm>
            <a:prstGeom prst="rect">
              <a:avLst/>
            </a:prstGeom>
            <a:noFill/>
            <a:ln w="19050">
              <a:solidFill>
                <a:srgbClr val="ED91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sp>
          <p:nvSpPr>
            <p:cNvPr id="53" name="文字方塊 52"/>
            <p:cNvSpPr txBox="1"/>
            <p:nvPr/>
          </p:nvSpPr>
          <p:spPr>
            <a:xfrm>
              <a:off x="2115794" y="3535715"/>
              <a:ext cx="1988592" cy="283243"/>
            </a:xfrm>
            <a:prstGeom prst="rect">
              <a:avLst/>
            </a:prstGeom>
            <a:solidFill>
              <a:srgbClr val="ED9159"/>
            </a:solidFill>
            <a:ln>
              <a:solidFill>
                <a:srgbClr val="ED9159"/>
              </a:solidFill>
            </a:ln>
          </p:spPr>
          <p:txBody>
            <a:bodyPr wrap="none" rtlCol="0">
              <a:spAutoFit/>
            </a:bodyPr>
            <a:lstStyle/>
            <a:p>
              <a:pPr algn="ctr"/>
              <a:r>
                <a:rPr lang="en-US" altLang="zh-TW" sz="600" b="1" dirty="0" smtClean="0">
                  <a:solidFill>
                    <a:schemeClr val="bg1"/>
                  </a:solidFill>
                  <a:latin typeface="微軟正黑體" panose="020B0604030504040204" pitchFamily="34" charset="-120"/>
                  <a:ea typeface="微軟正黑體" panose="020B0604030504040204" pitchFamily="34" charset="-120"/>
                </a:rPr>
                <a:t>NG Glass Axis Table</a:t>
              </a:r>
              <a:endParaRPr lang="zh-TW" altLang="en-US" sz="600" b="1" dirty="0">
                <a:solidFill>
                  <a:schemeClr val="bg1"/>
                </a:solidFill>
                <a:latin typeface="微軟正黑體" panose="020B0604030504040204" pitchFamily="34" charset="-120"/>
                <a:ea typeface="微軟正黑體" panose="020B0604030504040204" pitchFamily="34" charset="-120"/>
              </a:endParaRPr>
            </a:p>
          </p:txBody>
        </p:sp>
        <p:sp>
          <p:nvSpPr>
            <p:cNvPr id="54" name="橢圓 53"/>
            <p:cNvSpPr/>
            <p:nvPr/>
          </p:nvSpPr>
          <p:spPr>
            <a:xfrm>
              <a:off x="2479732" y="3273631"/>
              <a:ext cx="131523" cy="12695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600">
                <a:latin typeface="微軟正黑體" panose="020B0604030504040204" pitchFamily="34" charset="-120"/>
                <a:ea typeface="微軟正黑體" panose="020B0604030504040204" pitchFamily="34" charset="-120"/>
              </a:endParaRPr>
            </a:p>
          </p:txBody>
        </p:sp>
        <p:cxnSp>
          <p:nvCxnSpPr>
            <p:cNvPr id="55" name="肘形接點 54"/>
            <p:cNvCxnSpPr>
              <a:stCxn id="54" idx="0"/>
              <a:endCxn id="45" idx="2"/>
            </p:cNvCxnSpPr>
            <p:nvPr/>
          </p:nvCxnSpPr>
          <p:spPr>
            <a:xfrm rot="5400000" flipH="1" flipV="1">
              <a:off x="3452950" y="1434667"/>
              <a:ext cx="931509" cy="2746420"/>
            </a:xfrm>
            <a:prstGeom prst="bentConnector2">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文字方塊 55"/>
            <p:cNvSpPr txBox="1"/>
            <p:nvPr/>
          </p:nvSpPr>
          <p:spPr>
            <a:xfrm>
              <a:off x="2481796" y="2385742"/>
              <a:ext cx="2253185" cy="283243"/>
            </a:xfrm>
            <a:prstGeom prst="rect">
              <a:avLst/>
            </a:prstGeom>
            <a:solidFill>
              <a:srgbClr val="ED9159"/>
            </a:solidFill>
            <a:ln>
              <a:solidFill>
                <a:srgbClr val="ED9159"/>
              </a:solidFill>
            </a:ln>
          </p:spPr>
          <p:txBody>
            <a:bodyPr wrap="none" rtlCol="0">
              <a:spAutoFit/>
            </a:bodyPr>
            <a:lstStyle/>
            <a:p>
              <a:pPr algn="ctr"/>
              <a:r>
                <a:rPr lang="zh-TW" altLang="en-US" sz="600" b="1" dirty="0" smtClean="0">
                  <a:solidFill>
                    <a:schemeClr val="bg1"/>
                  </a:solidFill>
                  <a:latin typeface="微軟正黑體" panose="020B0604030504040204" pitchFamily="34" charset="-120"/>
                  <a:ea typeface="微軟正黑體" panose="020B0604030504040204" pitchFamily="34" charset="-120"/>
                </a:rPr>
                <a:t>單日 </a:t>
              </a:r>
              <a:r>
                <a:rPr lang="en-US" altLang="zh-TW" sz="600" b="1" dirty="0" smtClean="0">
                  <a:solidFill>
                    <a:schemeClr val="bg1"/>
                  </a:solidFill>
                  <a:latin typeface="微軟正黑體" panose="020B0604030504040204" pitchFamily="34" charset="-120"/>
                  <a:ea typeface="微軟正黑體" panose="020B0604030504040204" pitchFamily="34" charset="-120"/>
                </a:rPr>
                <a:t>Inline </a:t>
              </a:r>
              <a:r>
                <a:rPr lang="zh-TW" altLang="en-US" sz="600" b="1" dirty="0" smtClean="0">
                  <a:solidFill>
                    <a:schemeClr val="bg1"/>
                  </a:solidFill>
                  <a:latin typeface="微軟正黑體" panose="020B0604030504040204" pitchFamily="34" charset="-120"/>
                  <a:ea typeface="微軟正黑體" panose="020B0604030504040204" pitchFamily="34" charset="-120"/>
                </a:rPr>
                <a:t> </a:t>
              </a:r>
              <a:r>
                <a:rPr lang="en-US" altLang="zh-TW" sz="600" b="1" dirty="0" smtClean="0">
                  <a:solidFill>
                    <a:schemeClr val="bg1"/>
                  </a:solidFill>
                  <a:latin typeface="微軟正黑體" panose="020B0604030504040204" pitchFamily="34" charset="-120"/>
                  <a:ea typeface="微軟正黑體" panose="020B0604030504040204" pitchFamily="34" charset="-120"/>
                </a:rPr>
                <a:t>Glass Table</a:t>
              </a:r>
              <a:r>
                <a:rPr lang="zh-TW" altLang="en-US" sz="600" b="1" dirty="0" smtClean="0">
                  <a:solidFill>
                    <a:schemeClr val="bg1"/>
                  </a:solidFill>
                  <a:latin typeface="微軟正黑體" panose="020B0604030504040204" pitchFamily="34" charset="-120"/>
                  <a:ea typeface="微軟正黑體" panose="020B0604030504040204" pitchFamily="34" charset="-120"/>
                </a:rPr>
                <a:t> </a:t>
              </a:r>
              <a:endParaRPr lang="zh-TW" altLang="en-US" sz="600" b="1" dirty="0">
                <a:solidFill>
                  <a:schemeClr val="bg1"/>
                </a:solidFill>
                <a:latin typeface="微軟正黑體" panose="020B0604030504040204" pitchFamily="34" charset="-120"/>
                <a:ea typeface="微軟正黑體" panose="020B0604030504040204" pitchFamily="34" charset="-120"/>
              </a:endParaRPr>
            </a:p>
          </p:txBody>
        </p:sp>
        <p:sp>
          <p:nvSpPr>
            <p:cNvPr id="58" name="矩形 57"/>
            <p:cNvSpPr/>
            <p:nvPr/>
          </p:nvSpPr>
          <p:spPr>
            <a:xfrm>
              <a:off x="4371844" y="3059303"/>
              <a:ext cx="1079819" cy="424864"/>
            </a:xfrm>
            <a:prstGeom prst="rect">
              <a:avLst/>
            </a:prstGeom>
            <a:solidFill>
              <a:srgbClr val="5D7387"/>
            </a:solidFill>
            <a:ln>
              <a:solidFill>
                <a:srgbClr val="D3D8DF"/>
              </a:solidFill>
            </a:ln>
          </p:spPr>
          <p:txBody>
            <a:bodyPr wrap="square" rtlCol="0">
              <a:spAutoFit/>
            </a:bodyPr>
            <a:lstStyle/>
            <a:p>
              <a:pPr algn="ctr"/>
              <a:r>
                <a:rPr lang="en-US" altLang="zh-TW" sz="600" b="1" dirty="0" smtClean="0">
                  <a:solidFill>
                    <a:schemeClr val="bg1"/>
                  </a:solidFill>
                  <a:latin typeface="微軟正黑體" panose="020B0604030504040204" pitchFamily="34" charset="-120"/>
                  <a:ea typeface="微軟正黑體" panose="020B0604030504040204" pitchFamily="34" charset="-120"/>
                </a:rPr>
                <a:t>Glass </a:t>
              </a:r>
              <a:r>
                <a:rPr lang="zh-TW" altLang="en-US" sz="600" b="1" dirty="0">
                  <a:solidFill>
                    <a:schemeClr val="bg1"/>
                  </a:solidFill>
                  <a:latin typeface="微軟正黑體" panose="020B0604030504040204" pitchFamily="34" charset="-120"/>
                  <a:ea typeface="微軟正黑體" panose="020B0604030504040204" pitchFamily="34" charset="-120"/>
                </a:rPr>
                <a:t>資訊 </a:t>
              </a:r>
              <a:endParaRPr lang="en-US" altLang="zh-TW" sz="600" b="1" dirty="0" smtClean="0">
                <a:solidFill>
                  <a:schemeClr val="bg1"/>
                </a:solidFill>
                <a:latin typeface="微軟正黑體" panose="020B0604030504040204" pitchFamily="34" charset="-120"/>
                <a:ea typeface="微軟正黑體" panose="020B0604030504040204" pitchFamily="34" charset="-120"/>
              </a:endParaRPr>
            </a:p>
          </p:txBody>
        </p:sp>
        <p:sp>
          <p:nvSpPr>
            <p:cNvPr id="59" name="矩形 58"/>
            <p:cNvSpPr/>
            <p:nvPr/>
          </p:nvSpPr>
          <p:spPr>
            <a:xfrm>
              <a:off x="3644613" y="3891803"/>
              <a:ext cx="1382503" cy="423758"/>
            </a:xfrm>
            <a:prstGeom prst="rect">
              <a:avLst/>
            </a:prstGeom>
            <a:solidFill>
              <a:srgbClr val="5D7387"/>
            </a:solidFill>
            <a:ln>
              <a:solidFill>
                <a:srgbClr val="D3D8DF"/>
              </a:solidFill>
            </a:ln>
          </p:spPr>
          <p:txBody>
            <a:bodyPr wrap="square" rtlCol="0">
              <a:spAutoFit/>
            </a:bodyPr>
            <a:lstStyle/>
            <a:p>
              <a:pPr algn="ctr"/>
              <a:r>
                <a:rPr lang="en-US" altLang="zh-TW" sz="600" b="1" dirty="0" smtClean="0">
                  <a:solidFill>
                    <a:schemeClr val="bg1"/>
                  </a:solidFill>
                  <a:latin typeface="微軟正黑體" panose="020B0604030504040204" pitchFamily="34" charset="-120"/>
                  <a:ea typeface="微軟正黑體" panose="020B0604030504040204" pitchFamily="34" charset="-120"/>
                </a:rPr>
                <a:t>AI</a:t>
              </a:r>
              <a:r>
                <a:rPr lang="zh-TW" altLang="en-US" sz="600" b="1" dirty="0" smtClean="0">
                  <a:solidFill>
                    <a:schemeClr val="bg1"/>
                  </a:solidFill>
                  <a:latin typeface="微軟正黑體" panose="020B0604030504040204" pitchFamily="34" charset="-120"/>
                  <a:ea typeface="微軟正黑體" panose="020B0604030504040204" pitchFamily="34" charset="-120"/>
                </a:rPr>
                <a:t>判讀</a:t>
              </a:r>
              <a:endParaRPr lang="en-US" altLang="zh-TW" sz="600" b="1" dirty="0" smtClean="0">
                <a:solidFill>
                  <a:schemeClr val="bg1"/>
                </a:solidFill>
                <a:latin typeface="微軟正黑體" panose="020B0604030504040204" pitchFamily="34" charset="-120"/>
                <a:ea typeface="微軟正黑體" panose="020B0604030504040204" pitchFamily="34" charset="-120"/>
              </a:endParaRPr>
            </a:p>
            <a:p>
              <a:pPr algn="ctr"/>
              <a:r>
                <a:rPr lang="en-US" altLang="zh-TW" sz="600" b="1" dirty="0" smtClean="0">
                  <a:solidFill>
                    <a:schemeClr val="bg1"/>
                  </a:solidFill>
                  <a:latin typeface="微軟正黑體" panose="020B0604030504040204" pitchFamily="34" charset="-120"/>
                  <a:ea typeface="微軟正黑體" panose="020B0604030504040204" pitchFamily="34" charset="-120"/>
                </a:rPr>
                <a:t>defect</a:t>
              </a:r>
              <a:r>
                <a:rPr lang="zh-TW" altLang="en-US" sz="600" b="1" dirty="0" smtClean="0">
                  <a:solidFill>
                    <a:schemeClr val="bg1"/>
                  </a:solidFill>
                  <a:latin typeface="微軟正黑體" panose="020B0604030504040204" pitchFamily="34" charset="-120"/>
                  <a:ea typeface="微軟正黑體" panose="020B0604030504040204" pitchFamily="34" charset="-120"/>
                </a:rPr>
                <a:t>類別</a:t>
              </a:r>
              <a:endParaRPr lang="zh-TW" altLang="en-US" sz="600" b="1" dirty="0">
                <a:solidFill>
                  <a:schemeClr val="bg1"/>
                </a:solidFill>
                <a:latin typeface="微軟正黑體" panose="020B0604030504040204" pitchFamily="34" charset="-120"/>
                <a:ea typeface="微軟正黑體" panose="020B0604030504040204" pitchFamily="34" charset="-120"/>
              </a:endParaRPr>
            </a:p>
          </p:txBody>
        </p:sp>
        <p:cxnSp>
          <p:nvCxnSpPr>
            <p:cNvPr id="60" name="肘形接點 59"/>
            <p:cNvCxnSpPr>
              <a:stCxn id="51" idx="3"/>
              <a:endCxn id="58" idx="0"/>
            </p:cNvCxnSpPr>
            <p:nvPr/>
          </p:nvCxnSpPr>
          <p:spPr>
            <a:xfrm>
              <a:off x="4640419" y="2766965"/>
              <a:ext cx="271334" cy="292338"/>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1"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endParaRPr lang="zh-TW" altLang="zh-TW" dirty="0">
              <a:solidFill>
                <a:schemeClr val="accent2"/>
              </a:solidFill>
            </a:endParaRPr>
          </a:p>
        </p:txBody>
      </p:sp>
      <p:sp>
        <p:nvSpPr>
          <p:cNvPr id="31" name="文字方塊 30"/>
          <p:cNvSpPr txBox="1"/>
          <p:nvPr/>
        </p:nvSpPr>
        <p:spPr>
          <a:xfrm>
            <a:off x="5613119" y="3728799"/>
            <a:ext cx="1548032" cy="1200329"/>
          </a:xfrm>
          <a:prstGeom prst="rect">
            <a:avLst/>
          </a:prstGeom>
          <a:solidFill>
            <a:srgbClr val="E3F1F3"/>
          </a:solidFill>
        </p:spPr>
        <p:txBody>
          <a:bodyPr wrap="square" rtlCol="0">
            <a:spAutoFit/>
          </a:bodyPr>
          <a:lstStyle/>
          <a:p>
            <a:r>
              <a:rPr lang="zh-TW" altLang="zh-TW" sz="1200" dirty="0">
                <a:latin typeface="微軟正黑體" panose="020B0604030504040204" pitchFamily="34" charset="-120"/>
                <a:ea typeface="微軟正黑體" panose="020B0604030504040204" pitchFamily="34" charset="-120"/>
              </a:rPr>
              <a:t>可點選各</a:t>
            </a:r>
            <a:r>
              <a:rPr lang="en-US" altLang="zh-TW" sz="1200" dirty="0">
                <a:latin typeface="微軟正黑體" panose="020B0604030504040204" pitchFamily="34" charset="-120"/>
                <a:ea typeface="微軟正黑體" panose="020B0604030504040204" pitchFamily="34" charset="-120"/>
              </a:rPr>
              <a:t>line</a:t>
            </a:r>
            <a:r>
              <a:rPr lang="zh-TW" altLang="zh-TW" sz="1200" dirty="0">
                <a:latin typeface="微軟正黑體" panose="020B0604030504040204" pitchFamily="34" charset="-120"/>
                <a:ea typeface="微軟正黑體" panose="020B0604030504040204" pitchFamily="34" charset="-120"/>
              </a:rPr>
              <a:t>別</a:t>
            </a:r>
            <a:r>
              <a:rPr lang="zh-TW" altLang="zh-TW" sz="1200" dirty="0" smtClean="0">
                <a:latin typeface="微軟正黑體" panose="020B0604030504040204" pitchFamily="34" charset="-120"/>
                <a:ea typeface="微軟正黑體" panose="020B0604030504040204" pitchFamily="34" charset="-120"/>
              </a:rPr>
              <a:t>狀況</a:t>
            </a:r>
            <a:endParaRPr lang="en-US" altLang="zh-TW" sz="1200" dirty="0" smtClean="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zh-TW" sz="1200" dirty="0" smtClean="0">
                <a:latin typeface="微軟正黑體" panose="020B0604030504040204" pitchFamily="34" charset="-120"/>
                <a:ea typeface="微軟正黑體" panose="020B0604030504040204" pitchFamily="34" charset="-120"/>
              </a:rPr>
              <a:t>玻璃資料</a:t>
            </a:r>
            <a:endParaRPr lang="en-US" altLang="zh-TW" sz="1200" dirty="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zh-TW" sz="1200" dirty="0" smtClean="0">
                <a:latin typeface="微軟正黑體" panose="020B0604030504040204" pitchFamily="34" charset="-120"/>
                <a:ea typeface="微軟正黑體" panose="020B0604030504040204" pitchFamily="34" charset="-120"/>
              </a:rPr>
              <a:t>大</a:t>
            </a:r>
            <a:r>
              <a:rPr lang="zh-TW" altLang="zh-TW" sz="1200" dirty="0">
                <a:latin typeface="微軟正黑體" panose="020B0604030504040204" pitchFamily="34" charset="-120"/>
                <a:ea typeface="微軟正黑體" panose="020B0604030504040204" pitchFamily="34" charset="-120"/>
              </a:rPr>
              <a:t>板玻璃</a:t>
            </a:r>
            <a:r>
              <a:rPr lang="zh-TW" altLang="zh-TW" sz="1200" dirty="0" smtClean="0">
                <a:latin typeface="微軟正黑體" panose="020B0604030504040204" pitchFamily="34" charset="-120"/>
                <a:ea typeface="微軟正黑體" panose="020B0604030504040204" pitchFamily="34" charset="-120"/>
              </a:rPr>
              <a:t>示意圖</a:t>
            </a:r>
            <a:endParaRPr lang="en-US" altLang="zh-TW" sz="1200" dirty="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200" dirty="0" smtClean="0">
                <a:latin typeface="微軟正黑體" panose="020B0604030504040204" pitchFamily="34" charset="-120"/>
                <a:ea typeface="微軟正黑體" panose="020B0604030504040204" pitchFamily="34" charset="-120"/>
              </a:rPr>
              <a:t>Defect type</a:t>
            </a:r>
            <a:endParaRPr lang="en-US" altLang="zh-TW" sz="1200" dirty="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200" dirty="0" smtClean="0">
                <a:latin typeface="微軟正黑體" panose="020B0604030504040204" pitchFamily="34" charset="-120"/>
                <a:ea typeface="微軟正黑體" panose="020B0604030504040204" pitchFamily="34" charset="-120"/>
              </a:rPr>
              <a:t>大板</a:t>
            </a:r>
            <a:r>
              <a:rPr lang="en-US" altLang="zh-TW" sz="1200" dirty="0" smtClean="0">
                <a:latin typeface="微軟正黑體" panose="020B0604030504040204" pitchFamily="34" charset="-120"/>
                <a:ea typeface="微軟正黑體" panose="020B0604030504040204" pitchFamily="34" charset="-120"/>
              </a:rPr>
              <a:t>Defect</a:t>
            </a:r>
            <a:r>
              <a:rPr lang="zh-TW" altLang="zh-TW" sz="1200" dirty="0" smtClean="0">
                <a:latin typeface="微軟正黑體" panose="020B0604030504040204" pitchFamily="34" charset="-120"/>
                <a:ea typeface="微軟正黑體" panose="020B0604030504040204" pitchFamily="34" charset="-120"/>
              </a:rPr>
              <a:t>位置</a:t>
            </a:r>
            <a:endParaRPr lang="en-US" altLang="zh-TW" sz="1200" dirty="0" smtClean="0">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zh-TW" sz="1200" dirty="0" smtClean="0">
                <a:latin typeface="微軟正黑體" panose="020B0604030504040204" pitchFamily="34" charset="-120"/>
                <a:ea typeface="微軟正黑體" panose="020B0604030504040204" pitchFamily="34" charset="-120"/>
              </a:rPr>
              <a:t>歷史資料</a:t>
            </a:r>
            <a:endParaRPr lang="zh-TW" altLang="zh-TW" sz="1200" dirty="0">
              <a:latin typeface="微軟正黑體" panose="020B0604030504040204" pitchFamily="34" charset="-120"/>
              <a:ea typeface="微軟正黑體" panose="020B0604030504040204" pitchFamily="34" charset="-120"/>
            </a:endParaRPr>
          </a:p>
        </p:txBody>
      </p:sp>
      <p:pic>
        <p:nvPicPr>
          <p:cNvPr id="25" name="圖片 24"/>
          <p:cNvPicPr>
            <a:picLocks noChangeAspect="1"/>
          </p:cNvPicPr>
          <p:nvPr/>
        </p:nvPicPr>
        <p:blipFill>
          <a:blip r:embed="rId8"/>
          <a:stretch>
            <a:fillRect/>
          </a:stretch>
        </p:blipFill>
        <p:spPr>
          <a:xfrm>
            <a:off x="216666" y="1088487"/>
            <a:ext cx="2238411" cy="3291780"/>
          </a:xfrm>
          <a:prstGeom prst="rect">
            <a:avLst/>
          </a:prstGeom>
        </p:spPr>
      </p:pic>
      <p:sp>
        <p:nvSpPr>
          <p:cNvPr id="65" name="矩形 64"/>
          <p:cNvSpPr/>
          <p:nvPr/>
        </p:nvSpPr>
        <p:spPr>
          <a:xfrm>
            <a:off x="2642500" y="2058756"/>
            <a:ext cx="754995" cy="39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smtClean="0">
                <a:latin typeface="微軟正黑體" panose="020B0604030504040204" pitchFamily="34" charset="-120"/>
                <a:ea typeface="微軟正黑體" panose="020B0604030504040204" pitchFamily="34" charset="-120"/>
              </a:rPr>
              <a:t>Mura</a:t>
            </a:r>
          </a:p>
          <a:p>
            <a:pPr algn="ctr"/>
            <a:r>
              <a:rPr lang="zh-TW" altLang="en-US" sz="1200" b="1" dirty="0" smtClean="0">
                <a:latin typeface="微軟正黑體" panose="020B0604030504040204" pitchFamily="34" charset="-120"/>
                <a:ea typeface="微軟正黑體" panose="020B0604030504040204" pitchFamily="34" charset="-120"/>
              </a:rPr>
              <a:t>辨識</a:t>
            </a:r>
            <a:endParaRPr lang="en-US" altLang="zh-TW" sz="1200" b="1" dirty="0">
              <a:latin typeface="微軟正黑體" panose="020B0604030504040204" pitchFamily="34" charset="-120"/>
              <a:ea typeface="微軟正黑體" panose="020B0604030504040204" pitchFamily="34" charset="-120"/>
            </a:endParaRPr>
          </a:p>
        </p:txBody>
      </p:sp>
      <p:sp>
        <p:nvSpPr>
          <p:cNvPr id="64" name="標題 1"/>
          <p:cNvSpPr>
            <a:spLocks noGrp="1"/>
          </p:cNvSpPr>
          <p:nvPr>
            <p:ph type="ctrTitle"/>
          </p:nvPr>
        </p:nvSpPr>
        <p:spPr>
          <a:xfrm>
            <a:off x="386220" y="0"/>
            <a:ext cx="8482972" cy="680785"/>
          </a:xfrm>
        </p:spPr>
        <p:txBody>
          <a:bodyPr/>
          <a:lstStyle/>
          <a:p>
            <a:r>
              <a:rPr lang="en-US" altLang="zh-TW" b="1" dirty="0">
                <a:latin typeface="+mj-ea"/>
              </a:rPr>
              <a:t>Data Fusion + </a:t>
            </a:r>
            <a:r>
              <a:rPr lang="zh-TW" altLang="en-US" b="1" dirty="0">
                <a:latin typeface="+mj-ea"/>
              </a:rPr>
              <a:t>可視化網頁</a:t>
            </a:r>
          </a:p>
        </p:txBody>
      </p:sp>
    </p:spTree>
    <p:extLst>
      <p:ext uri="{BB962C8B-B14F-4D97-AF65-F5344CB8AC3E}">
        <p14:creationId xmlns:p14="http://schemas.microsoft.com/office/powerpoint/2010/main" val="5398882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4532533" y="813872"/>
            <a:ext cx="4485737" cy="2059705"/>
          </a:xfrm>
          <a:prstGeom prst="roundRect">
            <a:avLst>
              <a:gd name="adj" fmla="val 4995"/>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91535" y="849176"/>
            <a:ext cx="4082528" cy="2828462"/>
          </a:xfrm>
          <a:prstGeom prst="roundRect">
            <a:avLst>
              <a:gd name="adj" fmla="val 2181"/>
            </a:avLst>
          </a:prstGeom>
          <a:solidFill>
            <a:srgbClr val="9CBFE4"/>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120" name="圓角矩形 119"/>
          <p:cNvSpPr/>
          <p:nvPr/>
        </p:nvSpPr>
        <p:spPr>
          <a:xfrm>
            <a:off x="63568" y="3875726"/>
            <a:ext cx="4129503" cy="1000911"/>
          </a:xfrm>
          <a:prstGeom prst="roundRect">
            <a:avLst>
              <a:gd name="adj" fmla="val 4995"/>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grpSp>
        <p:nvGrpSpPr>
          <p:cNvPr id="6" name="组合 25"/>
          <p:cNvGrpSpPr>
            <a:grpSpLocks/>
          </p:cNvGrpSpPr>
          <p:nvPr/>
        </p:nvGrpSpPr>
        <p:grpSpPr bwMode="auto">
          <a:xfrm rot="19467343">
            <a:off x="4258429" y="864294"/>
            <a:ext cx="372776" cy="311254"/>
            <a:chOff x="6811963" y="4252913"/>
            <a:chExt cx="1397000" cy="1397000"/>
          </a:xfrm>
        </p:grpSpPr>
        <p:sp>
          <p:nvSpPr>
            <p:cNvPr id="7" name="Freeform 9"/>
            <p:cNvSpPr>
              <a:spLocks noEditPoints="1"/>
            </p:cNvSpPr>
            <p:nvPr/>
          </p:nvSpPr>
          <p:spPr bwMode="auto">
            <a:xfrm>
              <a:off x="6811963" y="4252913"/>
              <a:ext cx="1397000" cy="139700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b="1">
                <a:solidFill>
                  <a:prstClr val="black"/>
                </a:solidFill>
                <a:latin typeface="微軟正黑體" panose="020B0604030504040204" pitchFamily="34" charset="-120"/>
                <a:ea typeface="微軟正黑體" panose="020B0604030504040204" pitchFamily="34" charset="-120"/>
              </a:endParaRPr>
            </a:p>
          </p:txBody>
        </p:sp>
        <p:sp>
          <p:nvSpPr>
            <p:cNvPr id="8" name="Freeform 10"/>
            <p:cNvSpPr>
              <a:spLocks/>
            </p:cNvSpPr>
            <p:nvPr/>
          </p:nvSpPr>
          <p:spPr bwMode="auto">
            <a:xfrm>
              <a:off x="7235826" y="4679950"/>
              <a:ext cx="565150" cy="565150"/>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b="1">
                <a:solidFill>
                  <a:prstClr val="black"/>
                </a:solidFill>
                <a:latin typeface="微軟正黑體" panose="020B0604030504040204" pitchFamily="34" charset="-120"/>
                <a:ea typeface="微軟正黑體" panose="020B0604030504040204" pitchFamily="34" charset="-120"/>
              </a:endParaRPr>
            </a:p>
          </p:txBody>
        </p:sp>
      </p:grpSp>
      <p:sp>
        <p:nvSpPr>
          <p:cNvPr id="9" name="矩形 8"/>
          <p:cNvSpPr/>
          <p:nvPr/>
        </p:nvSpPr>
        <p:spPr>
          <a:xfrm>
            <a:off x="155416" y="991925"/>
            <a:ext cx="997203"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改善前</a:t>
            </a:r>
            <a:r>
              <a:rPr lang="en-US" altLang="zh-TW" sz="1600" b="1" dirty="0">
                <a:solidFill>
                  <a:prstClr val="black"/>
                </a:solidFill>
                <a:latin typeface="微軟正黑體" pitchFamily="34" charset="-120"/>
                <a:ea typeface="微軟正黑體" panose="020B0604030504040204" pitchFamily="34" charset="-120"/>
              </a:rPr>
              <a:t>:</a:t>
            </a:r>
            <a:endParaRPr lang="en-US" altLang="zh-TW" sz="1600" b="1" dirty="0">
              <a:solidFill>
                <a:srgbClr val="FF0000"/>
              </a:solidFill>
              <a:latin typeface="微軟正黑體" panose="020B0604030504040204" pitchFamily="34" charset="-120"/>
              <a:ea typeface="微軟正黑體" panose="020B0604030504040204" pitchFamily="34" charset="-120"/>
            </a:endParaRPr>
          </a:p>
        </p:txBody>
      </p:sp>
      <p:sp>
        <p:nvSpPr>
          <p:cNvPr id="11" name="矩形 10"/>
          <p:cNvSpPr/>
          <p:nvPr/>
        </p:nvSpPr>
        <p:spPr>
          <a:xfrm>
            <a:off x="4658015" y="909019"/>
            <a:ext cx="1387361"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技術對策</a:t>
            </a:r>
            <a:r>
              <a:rPr lang="en-US" altLang="zh-TW" sz="1600" b="1" dirty="0">
                <a:solidFill>
                  <a:prstClr val="black"/>
                </a:solidFill>
                <a:latin typeface="微軟正黑體" pitchFamily="34" charset="-120"/>
                <a:ea typeface="微軟正黑體" panose="020B0604030504040204" pitchFamily="34" charset="-120"/>
              </a:rPr>
              <a:t>:</a:t>
            </a:r>
            <a:endParaRPr lang="zh-TW" altLang="en-US" sz="1600" b="1" dirty="0">
              <a:solidFill>
                <a:prstClr val="black">
                  <a:lumMod val="95000"/>
                  <a:lumOff val="5000"/>
                </a:prstClr>
              </a:solidFill>
              <a:latin typeface="微軟正黑體" pitchFamily="34" charset="-120"/>
              <a:ea typeface="微軟正黑體" panose="020B0604030504040204" pitchFamily="34" charset="-120"/>
            </a:endParaRPr>
          </a:p>
        </p:txBody>
      </p:sp>
      <p:sp>
        <p:nvSpPr>
          <p:cNvPr id="41" name="矩形 40"/>
          <p:cNvSpPr/>
          <p:nvPr/>
        </p:nvSpPr>
        <p:spPr>
          <a:xfrm>
            <a:off x="204463" y="1341050"/>
            <a:ext cx="3942604" cy="1338828"/>
          </a:xfrm>
          <a:prstGeom prst="rect">
            <a:avLst/>
          </a:prstGeom>
        </p:spPr>
        <p:txBody>
          <a:bodyPr wrap="square">
            <a:spAutoFit/>
          </a:bodyPr>
          <a:lstStyle/>
          <a:p>
            <a:pPr>
              <a:lnSpc>
                <a:spcPct val="150000"/>
              </a:lnSpc>
            </a:pPr>
            <a:r>
              <a:rPr lang="en-US" altLang="zh-TW" sz="900" b="1" dirty="0" smtClean="0">
                <a:latin typeface="微軟正黑體" panose="020B0604030504040204" pitchFamily="34" charset="-120"/>
                <a:ea typeface="微軟正黑體" panose="020B0604030504040204" pitchFamily="34" charset="-120"/>
              </a:rPr>
              <a:t>MQC</a:t>
            </a:r>
            <a:r>
              <a:rPr lang="zh-TW" altLang="en-US" sz="900" b="1" dirty="0" smtClean="0">
                <a:latin typeface="微軟正黑體" panose="020B0604030504040204" pitchFamily="34" charset="-120"/>
                <a:ea typeface="微軟正黑體" panose="020B0604030504040204" pitchFamily="34" charset="-120"/>
              </a:rPr>
              <a:t>結果產出後由製造通知</a:t>
            </a:r>
            <a:r>
              <a:rPr lang="zh-TW" altLang="en-US" sz="900" b="1" u="sng" dirty="0" smtClean="0">
                <a:latin typeface="微軟正黑體" panose="020B0604030504040204" pitchFamily="34" charset="-120"/>
                <a:ea typeface="微軟正黑體" panose="020B0604030504040204" pitchFamily="34" charset="-120"/>
              </a:rPr>
              <a:t>製程人員須立刻上</a:t>
            </a:r>
            <a:r>
              <a:rPr lang="zh-TW" altLang="en-US" sz="900" b="1" u="sng" dirty="0" smtClean="0">
                <a:solidFill>
                  <a:srgbClr val="FF0000"/>
                </a:solidFill>
                <a:latin typeface="微軟正黑體" panose="020B0604030504040204" pitchFamily="34" charset="-120"/>
                <a:ea typeface="微軟正黑體" panose="020B0604030504040204" pitchFamily="34" charset="-120"/>
              </a:rPr>
              <a:t>量</a:t>
            </a:r>
            <a:r>
              <a:rPr lang="zh-TW" altLang="en-US" sz="900" b="1" u="sng" dirty="0">
                <a:solidFill>
                  <a:srgbClr val="FF0000"/>
                </a:solidFill>
                <a:latin typeface="微軟正黑體" panose="020B0604030504040204" pitchFamily="34" charset="-120"/>
                <a:ea typeface="微軟正黑體" panose="020B0604030504040204" pitchFamily="34" charset="-120"/>
              </a:rPr>
              <a:t>儀</a:t>
            </a:r>
            <a:r>
              <a:rPr lang="zh-TW" altLang="en-US" sz="900" b="1" u="sng" dirty="0" smtClean="0">
                <a:solidFill>
                  <a:srgbClr val="FF0000"/>
                </a:solidFill>
                <a:latin typeface="微軟正黑體" panose="020B0604030504040204" pitchFamily="34" charset="-120"/>
                <a:ea typeface="微軟正黑體" panose="020B0604030504040204" pitchFamily="34" charset="-120"/>
              </a:rPr>
              <a:t>系統確認量測結果</a:t>
            </a:r>
            <a:endParaRPr lang="en-US" altLang="zh-TW" sz="900" b="1" u="sng" dirty="0" smtClean="0">
              <a:solidFill>
                <a:srgbClr val="FF0000"/>
              </a:solidFill>
              <a:latin typeface="微軟正黑體" panose="020B0604030504040204" pitchFamily="34" charset="-120"/>
              <a:ea typeface="微軟正黑體" panose="020B0604030504040204" pitchFamily="34" charset="-120"/>
            </a:endParaRPr>
          </a:p>
          <a:p>
            <a:pPr>
              <a:lnSpc>
                <a:spcPct val="150000"/>
              </a:lnSpc>
            </a:pPr>
            <a:r>
              <a:rPr lang="en-US" altLang="zh-TW" sz="900" b="1" dirty="0" smtClean="0">
                <a:latin typeface="微軟正黑體" panose="020B0604030504040204" pitchFamily="34" charset="-120"/>
                <a:ea typeface="微軟正黑體" panose="020B0604030504040204" pitchFamily="34" charset="-120"/>
              </a:rPr>
              <a:t>PEP1 CID(CHIPID&amp;2DCode) </a:t>
            </a:r>
            <a:r>
              <a:rPr lang="zh-TW" altLang="en-US" sz="900" b="1" dirty="0" smtClean="0">
                <a:latin typeface="微軟正黑體" panose="020B0604030504040204" pitchFamily="34" charset="-120"/>
                <a:ea typeface="微軟正黑體" panose="020B0604030504040204" pitchFamily="34" charset="-120"/>
              </a:rPr>
              <a:t>與</a:t>
            </a:r>
            <a:r>
              <a:rPr lang="en-US" altLang="zh-TW" sz="900" b="1" dirty="0" smtClean="0">
                <a:latin typeface="微軟正黑體" panose="020B0604030504040204" pitchFamily="34" charset="-120"/>
                <a:ea typeface="微軟正黑體" panose="020B0604030504040204" pitchFamily="34" charset="-120"/>
              </a:rPr>
              <a:t>VER(Vernier)</a:t>
            </a:r>
            <a:r>
              <a:rPr lang="zh-TW" altLang="en-US" sz="900" b="1" dirty="0" smtClean="0">
                <a:latin typeface="微軟正黑體" panose="020B0604030504040204" pitchFamily="34" charset="-120"/>
                <a:ea typeface="微軟正黑體" panose="020B0604030504040204" pitchFamily="34" charset="-120"/>
              </a:rPr>
              <a:t>量測批次</a:t>
            </a:r>
            <a:r>
              <a:rPr lang="en-US" altLang="zh-TW" sz="900" b="1" dirty="0" smtClean="0">
                <a:latin typeface="微軟正黑體" panose="020B0604030504040204" pitchFamily="34" charset="-120"/>
                <a:ea typeface="微軟正黑體" panose="020B0604030504040204" pitchFamily="34" charset="-120"/>
              </a:rPr>
              <a:t>:</a:t>
            </a:r>
          </a:p>
          <a:p>
            <a:pPr marL="171450" indent="-171450">
              <a:lnSpc>
                <a:spcPct val="150000"/>
              </a:lnSpc>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每日約</a:t>
            </a:r>
            <a:r>
              <a:rPr lang="en-US" altLang="zh-TW" sz="900" b="1" dirty="0" smtClean="0">
                <a:latin typeface="微軟正黑體" panose="020B0604030504040204" pitchFamily="34" charset="-120"/>
                <a:ea typeface="微軟正黑體" panose="020B0604030504040204" pitchFamily="34" charset="-120"/>
              </a:rPr>
              <a:t>1~3Lot(1</a:t>
            </a:r>
            <a:r>
              <a:rPr lang="zh-TW" altLang="en-US" sz="900" b="1" dirty="0" smtClean="0">
                <a:latin typeface="微軟正黑體" panose="020B0604030504040204" pitchFamily="34" charset="-120"/>
                <a:ea typeface="微軟正黑體" panose="020B0604030504040204" pitchFamily="34" charset="-120"/>
              </a:rPr>
              <a:t>抽</a:t>
            </a:r>
            <a:r>
              <a:rPr lang="en-US" altLang="zh-TW" sz="900" b="1" dirty="0" smtClean="0">
                <a:latin typeface="微軟正黑體" panose="020B0604030504040204" pitchFamily="34" charset="-120"/>
                <a:ea typeface="微軟正黑體" panose="020B0604030504040204" pitchFamily="34" charset="-120"/>
              </a:rPr>
              <a:t>2)</a:t>
            </a:r>
            <a:r>
              <a:rPr lang="zh-TW" altLang="en-US" sz="900" b="1" dirty="0" smtClean="0">
                <a:latin typeface="微軟正黑體" panose="020B0604030504040204" pitchFamily="34" charset="-120"/>
                <a:ea typeface="微軟正黑體" panose="020B0604030504040204" pitchFamily="34" charset="-120"/>
              </a:rPr>
              <a:t> </a:t>
            </a:r>
            <a:r>
              <a:rPr lang="en-US" altLang="zh-TW" sz="900" b="1" dirty="0" smtClean="0">
                <a:latin typeface="微軟正黑體" panose="020B0604030504040204" pitchFamily="34" charset="-120"/>
                <a:ea typeface="微軟正黑體" panose="020B0604030504040204" pitchFamily="34" charset="-120"/>
              </a:rPr>
              <a:t>-&gt;</a:t>
            </a:r>
            <a:r>
              <a:rPr lang="zh-TW" altLang="en-US" sz="900" b="1" dirty="0" smtClean="0">
                <a:latin typeface="微軟正黑體" panose="020B0604030504040204" pitchFamily="34" charset="-120"/>
                <a:ea typeface="微軟正黑體" panose="020B0604030504040204" pitchFamily="34" charset="-120"/>
              </a:rPr>
              <a:t> </a:t>
            </a:r>
            <a:r>
              <a:rPr lang="zh-TW" altLang="en-US" sz="900" b="1" u="sng" dirty="0" smtClean="0">
                <a:latin typeface="微軟正黑體" panose="020B0604030504040204" pitchFamily="34" charset="-120"/>
                <a:ea typeface="微軟正黑體" panose="020B0604030504040204" pitchFamily="34" charset="-120"/>
              </a:rPr>
              <a:t>每日最少須至系統確認</a:t>
            </a:r>
            <a:r>
              <a:rPr lang="en-US" altLang="zh-TW" sz="900" b="1" u="sng" dirty="0" smtClean="0">
                <a:latin typeface="微軟正黑體" panose="020B0604030504040204" pitchFamily="34" charset="-120"/>
                <a:ea typeface="微軟正黑體" panose="020B0604030504040204" pitchFamily="34" charset="-120"/>
              </a:rPr>
              <a:t>3Lot</a:t>
            </a:r>
          </a:p>
          <a:p>
            <a:pPr marL="171450" indent="-171450">
              <a:lnSpc>
                <a:spcPct val="150000"/>
              </a:lnSpc>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單次</a:t>
            </a:r>
            <a:r>
              <a:rPr lang="en-US" altLang="zh-TW" sz="900" b="1" dirty="0" smtClean="0">
                <a:latin typeface="微軟正黑體" panose="020B0604030504040204" pitchFamily="34" charset="-120"/>
                <a:ea typeface="微軟正黑體" panose="020B0604030504040204" pitchFamily="34" charset="-120"/>
              </a:rPr>
              <a:t>MQC</a:t>
            </a:r>
            <a:r>
              <a:rPr lang="zh-TW" altLang="en-US" sz="900" b="1" dirty="0" smtClean="0">
                <a:latin typeface="微軟正黑體" panose="020B0604030504040204" pitchFamily="34" charset="-120"/>
                <a:ea typeface="微軟正黑體" panose="020B0604030504040204" pitchFamily="34" charset="-120"/>
              </a:rPr>
              <a:t>檢查影像約</a:t>
            </a:r>
            <a:r>
              <a:rPr lang="en-US" altLang="zh-TW" sz="900" b="1" u="sng" dirty="0" smtClean="0">
                <a:latin typeface="微軟正黑體" panose="020B0604030504040204" pitchFamily="34" charset="-120"/>
                <a:ea typeface="微軟正黑體" panose="020B0604030504040204" pitchFamily="34" charset="-120"/>
              </a:rPr>
              <a:t>100~200</a:t>
            </a:r>
            <a:r>
              <a:rPr lang="zh-TW" altLang="en-US" sz="900" b="1" u="sng" dirty="0" smtClean="0">
                <a:latin typeface="微軟正黑體" panose="020B0604030504040204" pitchFamily="34" charset="-120"/>
                <a:ea typeface="微軟正黑體" panose="020B0604030504040204" pitchFamily="34" charset="-120"/>
              </a:rPr>
              <a:t>張影像</a:t>
            </a:r>
            <a:r>
              <a:rPr lang="en-US" altLang="zh-TW" sz="900" b="1" u="sng" dirty="0" smtClean="0">
                <a:latin typeface="微軟正黑體" panose="020B0604030504040204" pitchFamily="34" charset="-120"/>
                <a:ea typeface="微軟正黑體" panose="020B0604030504040204" pitchFamily="34" charset="-120"/>
              </a:rPr>
              <a:t>(1Lot)</a:t>
            </a:r>
          </a:p>
          <a:p>
            <a:pPr marL="171450" indent="-171450">
              <a:lnSpc>
                <a:spcPct val="150000"/>
              </a:lnSpc>
              <a:buFont typeface="Arial" panose="020B0604020202020204" pitchFamily="34" charset="0"/>
              <a:buChar char="•"/>
            </a:pPr>
            <a:r>
              <a:rPr lang="zh-TW" altLang="en-US" sz="900" b="1" dirty="0" smtClean="0">
                <a:latin typeface="微軟正黑體" panose="020B0604030504040204" pitchFamily="34" charset="-120"/>
                <a:ea typeface="微軟正黑體" panose="020B0604030504040204" pitchFamily="34" charset="-120"/>
              </a:rPr>
              <a:t>影像確認時間</a:t>
            </a:r>
            <a:r>
              <a:rPr lang="en-US" altLang="zh-TW" sz="900" b="1" dirty="0">
                <a:latin typeface="微軟正黑體" panose="020B0604030504040204" pitchFamily="34" charset="-120"/>
                <a:ea typeface="微軟正黑體" panose="020B0604030504040204" pitchFamily="34" charset="-120"/>
              </a:rPr>
              <a:t>(1Lot</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約</a:t>
            </a:r>
            <a:r>
              <a:rPr lang="en-US" altLang="zh-TW" sz="900" b="1" dirty="0" smtClean="0">
                <a:latin typeface="微軟正黑體" panose="020B0604030504040204" pitchFamily="34" charset="-120"/>
                <a:ea typeface="微軟正黑體" panose="020B0604030504040204" pitchFamily="34" charset="-120"/>
              </a:rPr>
              <a:t>3~5</a:t>
            </a:r>
            <a:r>
              <a:rPr lang="zh-TW" altLang="en-US" sz="900" b="1" dirty="0" smtClean="0">
                <a:latin typeface="微軟正黑體" panose="020B0604030504040204" pitchFamily="34" charset="-120"/>
                <a:ea typeface="微軟正黑體" panose="020B0604030504040204" pitchFamily="34" charset="-120"/>
              </a:rPr>
              <a:t>分鐘</a:t>
            </a:r>
            <a:endParaRPr lang="en-US" altLang="zh-TW" sz="900" b="1"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900" b="1" u="sng" dirty="0" smtClean="0">
                <a:solidFill>
                  <a:srgbClr val="FF0000"/>
                </a:solidFill>
                <a:latin typeface="微軟正黑體" panose="020B0604030504040204" pitchFamily="34" charset="-120"/>
                <a:ea typeface="微軟正黑體" panose="020B0604030504040204" pitchFamily="34" charset="-120"/>
              </a:rPr>
              <a:t>單次補值時間約</a:t>
            </a:r>
            <a:r>
              <a:rPr lang="en-US" altLang="zh-TW" sz="900" b="1" u="sng" dirty="0" smtClean="0">
                <a:solidFill>
                  <a:srgbClr val="FF0000"/>
                </a:solidFill>
                <a:latin typeface="微軟正黑體" panose="020B0604030504040204" pitchFamily="34" charset="-120"/>
                <a:ea typeface="微軟正黑體" panose="020B0604030504040204" pitchFamily="34" charset="-120"/>
              </a:rPr>
              <a:t>15~20</a:t>
            </a:r>
            <a:r>
              <a:rPr lang="zh-TW" altLang="en-US" sz="900" b="1" u="sng" dirty="0" smtClean="0">
                <a:solidFill>
                  <a:srgbClr val="FF0000"/>
                </a:solidFill>
                <a:latin typeface="微軟正黑體" panose="020B0604030504040204" pitchFamily="34" charset="-120"/>
                <a:ea typeface="微軟正黑體" panose="020B0604030504040204" pitchFamily="34" charset="-120"/>
              </a:rPr>
              <a:t>分鐘</a:t>
            </a:r>
            <a:r>
              <a:rPr lang="en-US" altLang="zh-TW" sz="900" b="1" u="sng" dirty="0" smtClean="0">
                <a:solidFill>
                  <a:srgbClr val="FF0000"/>
                </a:solidFill>
                <a:latin typeface="微軟正黑體" panose="020B0604030504040204" pitchFamily="34" charset="-120"/>
                <a:ea typeface="微軟正黑體" panose="020B0604030504040204" pitchFamily="34" charset="-120"/>
              </a:rPr>
              <a:t>(</a:t>
            </a:r>
            <a:r>
              <a:rPr lang="zh-TW" altLang="en-US" sz="900" b="1" u="sng" dirty="0" smtClean="0">
                <a:solidFill>
                  <a:srgbClr val="FF0000"/>
                </a:solidFill>
                <a:latin typeface="微軟正黑體" panose="020B0604030504040204" pitchFamily="34" charset="-120"/>
                <a:ea typeface="微軟正黑體" panose="020B0604030504040204" pitchFamily="34" charset="-120"/>
              </a:rPr>
              <a:t>不含補值重做</a:t>
            </a:r>
            <a:r>
              <a:rPr lang="en-US" altLang="zh-TW" sz="900" b="1" u="sng" dirty="0" smtClean="0">
                <a:solidFill>
                  <a:srgbClr val="FF0000"/>
                </a:solidFill>
                <a:latin typeface="微軟正黑體" panose="020B0604030504040204" pitchFamily="34" charset="-120"/>
                <a:ea typeface="微軟正黑體" panose="020B0604030504040204" pitchFamily="34" charset="-120"/>
              </a:rPr>
              <a:t>MQC</a:t>
            </a:r>
            <a:r>
              <a:rPr lang="zh-TW" altLang="en-US" sz="900" b="1" u="sng" dirty="0" smtClean="0">
                <a:solidFill>
                  <a:srgbClr val="FF0000"/>
                </a:solidFill>
                <a:latin typeface="微軟正黑體" panose="020B0604030504040204" pitchFamily="34" charset="-120"/>
                <a:ea typeface="微軟正黑體" panose="020B0604030504040204" pitchFamily="34" charset="-120"/>
              </a:rPr>
              <a:t>時間</a:t>
            </a:r>
            <a:r>
              <a:rPr lang="en-US" altLang="zh-TW" sz="900" b="1" u="sng" dirty="0" smtClean="0">
                <a:solidFill>
                  <a:srgbClr val="FF0000"/>
                </a:solidFill>
                <a:latin typeface="微軟正黑體" panose="020B0604030504040204" pitchFamily="34" charset="-120"/>
                <a:ea typeface="微軟正黑體" panose="020B0604030504040204" pitchFamily="34" charset="-120"/>
              </a:rPr>
              <a:t>)</a:t>
            </a:r>
            <a:endParaRPr lang="zh-TW" altLang="en-US" sz="900" b="1" u="sng" dirty="0">
              <a:solidFill>
                <a:srgbClr val="FF0000"/>
              </a:solidFill>
              <a:latin typeface="微軟正黑體" panose="020B0604030504040204" pitchFamily="34" charset="-120"/>
              <a:ea typeface="微軟正黑體" panose="020B0604030504040204" pitchFamily="34" charset="-120"/>
            </a:endParaRPr>
          </a:p>
        </p:txBody>
      </p:sp>
      <p:grpSp>
        <p:nvGrpSpPr>
          <p:cNvPr id="52" name="组合 65"/>
          <p:cNvGrpSpPr>
            <a:grpSpLocks/>
          </p:cNvGrpSpPr>
          <p:nvPr/>
        </p:nvGrpSpPr>
        <p:grpSpPr bwMode="auto">
          <a:xfrm rot="4723889">
            <a:off x="6453693" y="325003"/>
            <a:ext cx="723088" cy="1050156"/>
            <a:chOff x="5008933" y="2278557"/>
            <a:chExt cx="2491360" cy="2362847"/>
          </a:xfrm>
        </p:grpSpPr>
        <p:sp>
          <p:nvSpPr>
            <p:cNvPr id="53"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b="1">
                <a:solidFill>
                  <a:srgbClr val="FFFFFF"/>
                </a:solidFill>
                <a:latin typeface="微軟正黑體" panose="020B0604030504040204" pitchFamily="34" charset="-120"/>
                <a:ea typeface="微軟正黑體" panose="020B0604030504040204" pitchFamily="34" charset="-120"/>
              </a:endParaRPr>
            </a:p>
          </p:txBody>
        </p:sp>
        <p:grpSp>
          <p:nvGrpSpPr>
            <p:cNvPr id="54" name="组合 67"/>
            <p:cNvGrpSpPr>
              <a:grpSpLocks/>
            </p:cNvGrpSpPr>
            <p:nvPr/>
          </p:nvGrpSpPr>
          <p:grpSpPr bwMode="auto">
            <a:xfrm>
              <a:off x="5008933" y="2278557"/>
              <a:ext cx="2491360" cy="2323893"/>
              <a:chOff x="1123476" y="1681897"/>
              <a:chExt cx="3206311" cy="2990785"/>
            </a:xfrm>
          </p:grpSpPr>
          <p:grpSp>
            <p:nvGrpSpPr>
              <p:cNvPr id="55" name="组合 68"/>
              <p:cNvGrpSpPr>
                <a:grpSpLocks/>
              </p:cNvGrpSpPr>
              <p:nvPr/>
            </p:nvGrpSpPr>
            <p:grpSpPr bwMode="auto">
              <a:xfrm>
                <a:off x="1123476" y="1763461"/>
                <a:ext cx="2798050" cy="2798050"/>
                <a:chOff x="1123476" y="1763461"/>
                <a:chExt cx="2798050" cy="2798050"/>
              </a:xfrm>
            </p:grpSpPr>
            <p:sp>
              <p:nvSpPr>
                <p:cNvPr id="61" name="弧形 60"/>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64" name="弧形 63"/>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grpSp>
          <p:grpSp>
            <p:nvGrpSpPr>
              <p:cNvPr id="56" name="组合 69"/>
              <p:cNvGrpSpPr>
                <a:grpSpLocks/>
              </p:cNvGrpSpPr>
              <p:nvPr/>
            </p:nvGrpSpPr>
            <p:grpSpPr bwMode="auto">
              <a:xfrm rot="-7200000">
                <a:off x="1273270" y="1616165"/>
                <a:ext cx="2990785" cy="3122249"/>
                <a:chOff x="891209" y="1807143"/>
                <a:chExt cx="2990785" cy="3122249"/>
              </a:xfrm>
            </p:grpSpPr>
            <p:sp>
              <p:nvSpPr>
                <p:cNvPr id="57" name="弧形 56"/>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60" name="弧形 59"/>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grpSp>
        </p:grpSp>
      </p:grpSp>
      <p:sp>
        <p:nvSpPr>
          <p:cNvPr id="25" name="矩形 24"/>
          <p:cNvSpPr/>
          <p:nvPr/>
        </p:nvSpPr>
        <p:spPr>
          <a:xfrm>
            <a:off x="6281776" y="523251"/>
            <a:ext cx="987250" cy="599006"/>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解決</a:t>
            </a:r>
            <a:endParaRPr lang="en-US" altLang="zh-TW" sz="1600" b="1" dirty="0">
              <a:solidFill>
                <a:prstClr val="black">
                  <a:lumMod val="65000"/>
                  <a:lumOff val="35000"/>
                </a:prstClr>
              </a:solidFill>
              <a:latin typeface="微軟正黑體" panose="020B0604030504040204" pitchFamily="34" charset="-120"/>
              <a:ea typeface="微軟正黑體" panose="020B0604030504040204" pitchFamily="34" charset="-120"/>
            </a:endParaRPr>
          </a:p>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方案</a:t>
            </a:r>
          </a:p>
        </p:txBody>
      </p:sp>
      <p:sp>
        <p:nvSpPr>
          <p:cNvPr id="119" name="矩形 218"/>
          <p:cNvSpPr>
            <a:spLocks noChangeArrowheads="1"/>
          </p:cNvSpPr>
          <p:nvPr/>
        </p:nvSpPr>
        <p:spPr bwMode="auto">
          <a:xfrm>
            <a:off x="154194" y="3776610"/>
            <a:ext cx="1019142"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600" b="1" dirty="0">
                <a:solidFill>
                  <a:prstClr val="black"/>
                </a:solidFill>
                <a:latin typeface="微軟正黑體" panose="020B0604030504040204" pitchFamily="34" charset="-120"/>
                <a:ea typeface="微軟正黑體" panose="020B0604030504040204" pitchFamily="34" charset="-120"/>
              </a:rPr>
              <a:t>改善後</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sp>
        <p:nvSpPr>
          <p:cNvPr id="159" name="矩形 218"/>
          <p:cNvSpPr>
            <a:spLocks noChangeArrowheads="1"/>
          </p:cNvSpPr>
          <p:nvPr/>
        </p:nvSpPr>
        <p:spPr bwMode="auto">
          <a:xfrm>
            <a:off x="4389757" y="2920980"/>
            <a:ext cx="1080121"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fontAlgn="auto" hangingPunct="1">
              <a:spcBef>
                <a:spcPts val="0"/>
              </a:spcBef>
              <a:spcAft>
                <a:spcPts val="0"/>
              </a:spcAft>
            </a:pPr>
            <a:r>
              <a:rPr lang="zh-TW" altLang="en-US" sz="1600" b="1" dirty="0">
                <a:solidFill>
                  <a:prstClr val="black"/>
                </a:solidFill>
                <a:latin typeface="微軟正黑體" panose="020B0604030504040204" pitchFamily="34" charset="-120"/>
                <a:ea typeface="微軟正黑體" panose="020B0604030504040204" pitchFamily="34" charset="-120"/>
              </a:rPr>
              <a:t>效益</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pic>
        <p:nvPicPr>
          <p:cNvPr id="164" name="圖片 163"/>
          <p:cNvPicPr>
            <a:picLocks noChangeAspect="1"/>
          </p:cNvPicPr>
          <p:nvPr/>
        </p:nvPicPr>
        <p:blipFill>
          <a:blip r:embed="rId3" cstate="print">
            <a:clrChange>
              <a:clrFrom>
                <a:srgbClr val="000000"/>
              </a:clrFrom>
              <a:clrTo>
                <a:srgbClr val="000000">
                  <a:alpha val="0"/>
                </a:srgbClr>
              </a:clrTo>
            </a:clrChange>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a:off x="3730939" y="3760364"/>
            <a:ext cx="416128" cy="416128"/>
          </a:xfrm>
          <a:prstGeom prst="rect">
            <a:avLst/>
          </a:prstGeom>
        </p:spPr>
      </p:pic>
      <p:sp>
        <p:nvSpPr>
          <p:cNvPr id="168" name="圓角矩形 167"/>
          <p:cNvSpPr/>
          <p:nvPr/>
        </p:nvSpPr>
        <p:spPr>
          <a:xfrm>
            <a:off x="4658014" y="3322166"/>
            <a:ext cx="3585986" cy="942920"/>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latin typeface="微軟正黑體" panose="020B0604030504040204" pitchFamily="34" charset="-120"/>
              <a:ea typeface="微軟正黑體" panose="020B0604030504040204" pitchFamily="34" charset="-120"/>
            </a:endParaRPr>
          </a:p>
        </p:txBody>
      </p:sp>
      <p:sp>
        <p:nvSpPr>
          <p:cNvPr id="169" name="文字方塊 168"/>
          <p:cNvSpPr txBox="1"/>
          <p:nvPr/>
        </p:nvSpPr>
        <p:spPr>
          <a:xfrm>
            <a:off x="4663089" y="3508146"/>
            <a:ext cx="3457570" cy="707886"/>
          </a:xfrm>
          <a:prstGeom prst="rect">
            <a:avLst/>
          </a:prstGeom>
          <a:noFill/>
        </p:spPr>
        <p:txBody>
          <a:bodyPr wrap="square" rtlCol="0">
            <a:spAutoFit/>
          </a:bodyPr>
          <a:lstStyle/>
          <a:p>
            <a:r>
              <a:rPr lang="zh-TW" altLang="en-US" sz="1000" b="1" dirty="0" smtClean="0">
                <a:solidFill>
                  <a:srgbClr val="F64C00"/>
                </a:solidFill>
                <a:latin typeface="微軟正黑體" panose="020B0604030504040204" pitchFamily="34" charset="-120"/>
                <a:ea typeface="微軟正黑體" panose="020B0604030504040204" pitchFamily="34" charset="-120"/>
              </a:rPr>
              <a:t>每日約節省</a:t>
            </a:r>
            <a:endParaRPr lang="en-US" altLang="zh-TW" sz="1000" b="1" dirty="0" smtClean="0">
              <a:solidFill>
                <a:srgbClr val="F64C00"/>
              </a:solidFill>
              <a:latin typeface="微軟正黑體" panose="020B0604030504040204" pitchFamily="34" charset="-120"/>
              <a:ea typeface="微軟正黑體" panose="020B0604030504040204" pitchFamily="34" charset="-120"/>
            </a:endParaRPr>
          </a:p>
          <a:p>
            <a:r>
              <a:rPr lang="en-US" altLang="zh-TW" sz="1000" b="1" dirty="0" smtClean="0">
                <a:latin typeface="微軟正黑體" panose="020B0604030504040204" pitchFamily="34" charset="-120"/>
                <a:ea typeface="微軟正黑體" panose="020B0604030504040204" pitchFamily="34" charset="-120"/>
              </a:rPr>
              <a:t>VER-&gt; 40min *</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10 times = 400min/ day=200</a:t>
            </a:r>
            <a:r>
              <a:rPr lang="zh-TW" altLang="en-US" sz="1000" b="1" dirty="0" smtClean="0">
                <a:latin typeface="微軟正黑體" panose="020B0604030504040204" pitchFamily="34" charset="-120"/>
                <a:ea typeface="微軟正黑體" panose="020B0604030504040204" pitchFamily="34" charset="-120"/>
              </a:rPr>
              <a:t>小時</a:t>
            </a:r>
            <a:r>
              <a:rPr lang="en-US" altLang="zh-TW" sz="1000" b="1" dirty="0" smtClean="0">
                <a:latin typeface="微軟正黑體" panose="020B0604030504040204" pitchFamily="34" charset="-120"/>
                <a:ea typeface="微軟正黑體" panose="020B0604030504040204" pitchFamily="34" charset="-120"/>
              </a:rPr>
              <a:t>/</a:t>
            </a:r>
            <a:r>
              <a:rPr lang="zh-TW" altLang="en-US" sz="1000" b="1" dirty="0" smtClean="0">
                <a:latin typeface="微軟正黑體" panose="020B0604030504040204" pitchFamily="34" charset="-120"/>
                <a:ea typeface="微軟正黑體" panose="020B0604030504040204" pitchFamily="34" charset="-120"/>
              </a:rPr>
              <a:t>月</a:t>
            </a:r>
            <a:endParaRPr lang="en-US" altLang="zh-TW" sz="1000" b="1" dirty="0" smtClean="0">
              <a:latin typeface="微軟正黑體" panose="020B0604030504040204" pitchFamily="34" charset="-120"/>
              <a:ea typeface="微軟正黑體" panose="020B0604030504040204" pitchFamily="34" charset="-120"/>
            </a:endParaRPr>
          </a:p>
          <a:p>
            <a:r>
              <a:rPr lang="en-US" altLang="zh-TW" sz="1000" b="1" dirty="0" smtClean="0">
                <a:latin typeface="微軟正黑體" panose="020B0604030504040204" pitchFamily="34" charset="-120"/>
                <a:ea typeface="微軟正黑體" panose="020B0604030504040204" pitchFamily="34" charset="-120"/>
              </a:rPr>
              <a:t>CID -&gt;  30min *</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8 </a:t>
            </a:r>
            <a:r>
              <a:rPr lang="en-US" altLang="zh-TW" sz="1000" b="1" dirty="0">
                <a:latin typeface="微軟正黑體" panose="020B0604030504040204" pitchFamily="34" charset="-120"/>
                <a:ea typeface="微軟正黑體" panose="020B0604030504040204" pitchFamily="34" charset="-120"/>
              </a:rPr>
              <a:t>times = </a:t>
            </a:r>
            <a:r>
              <a:rPr lang="en-US" altLang="zh-TW" sz="1000" b="1" dirty="0" smtClean="0">
                <a:latin typeface="微軟正黑體" panose="020B0604030504040204" pitchFamily="34" charset="-120"/>
                <a:ea typeface="微軟正黑體" panose="020B0604030504040204" pitchFamily="34" charset="-120"/>
              </a:rPr>
              <a:t>240min/day=120</a:t>
            </a:r>
            <a:r>
              <a:rPr lang="zh-TW" altLang="en-US" sz="1000" b="1" dirty="0" smtClean="0">
                <a:latin typeface="微軟正黑體" panose="020B0604030504040204" pitchFamily="34" charset="-120"/>
                <a:ea typeface="微軟正黑體" panose="020B0604030504040204" pitchFamily="34" charset="-120"/>
              </a:rPr>
              <a:t>小時</a:t>
            </a:r>
            <a:r>
              <a:rPr lang="en-US" altLang="zh-TW" sz="1000" b="1" dirty="0" smtClean="0">
                <a:latin typeface="微軟正黑體" panose="020B0604030504040204" pitchFamily="34" charset="-120"/>
                <a:ea typeface="微軟正黑體" panose="020B0604030504040204" pitchFamily="34" charset="-120"/>
              </a:rPr>
              <a:t>/</a:t>
            </a:r>
            <a:r>
              <a:rPr lang="zh-TW" altLang="en-US" sz="1000" b="1" dirty="0" smtClean="0">
                <a:latin typeface="微軟正黑體" panose="020B0604030504040204" pitchFamily="34" charset="-120"/>
                <a:ea typeface="微軟正黑體" panose="020B0604030504040204" pitchFamily="34" charset="-120"/>
              </a:rPr>
              <a:t>月</a:t>
            </a:r>
            <a:endParaRPr lang="en-US" altLang="zh-TW" sz="1000" b="1" dirty="0" smtClean="0">
              <a:latin typeface="微軟正黑體" panose="020B0604030504040204" pitchFamily="34" charset="-120"/>
              <a:ea typeface="微軟正黑體" panose="020B0604030504040204" pitchFamily="34" charset="-120"/>
            </a:endParaRPr>
          </a:p>
          <a:p>
            <a:r>
              <a:rPr lang="en-US" altLang="zh-TW" sz="1000" b="1" dirty="0" smtClean="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000" b="1" dirty="0" smtClean="0">
                <a:latin typeface="微軟正黑體" panose="020B0604030504040204" pitchFamily="34" charset="-120"/>
                <a:ea typeface="微軟正黑體" panose="020B0604030504040204" pitchFamily="34" charset="-120"/>
                <a:sym typeface="Wingdings" panose="05000000000000000000" pitchFamily="2" charset="2"/>
              </a:rPr>
              <a:t>共節省</a:t>
            </a:r>
            <a:r>
              <a:rPr lang="en-US" altLang="zh-TW" sz="1000" b="1" dirty="0" smtClean="0">
                <a:solidFill>
                  <a:schemeClr val="accent1"/>
                </a:solidFill>
                <a:latin typeface="微軟正黑體" panose="020B0604030504040204" pitchFamily="34" charset="-120"/>
                <a:ea typeface="微軟正黑體" panose="020B0604030504040204" pitchFamily="34" charset="-120"/>
                <a:sym typeface="Wingdings" panose="05000000000000000000" pitchFamily="2" charset="2"/>
              </a:rPr>
              <a:t>320</a:t>
            </a:r>
            <a:r>
              <a:rPr lang="zh-TW" altLang="en-US" sz="1000" b="1" dirty="0" smtClean="0">
                <a:solidFill>
                  <a:schemeClr val="accent1"/>
                </a:solidFill>
                <a:latin typeface="微軟正黑體" panose="020B0604030504040204" pitchFamily="34" charset="-120"/>
                <a:ea typeface="微軟正黑體" panose="020B0604030504040204" pitchFamily="34" charset="-120"/>
                <a:sym typeface="Wingdings" panose="05000000000000000000" pitchFamily="2" charset="2"/>
              </a:rPr>
              <a:t>小時</a:t>
            </a:r>
            <a:r>
              <a:rPr lang="en-US" altLang="zh-TW" sz="1000" b="1" dirty="0" smtClean="0">
                <a:solidFill>
                  <a:schemeClr val="accent1"/>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000" b="1" dirty="0" smtClean="0">
                <a:solidFill>
                  <a:schemeClr val="accent1"/>
                </a:solidFill>
                <a:latin typeface="微軟正黑體" panose="020B0604030504040204" pitchFamily="34" charset="-120"/>
                <a:ea typeface="微軟正黑體" panose="020B0604030504040204" pitchFamily="34" charset="-120"/>
                <a:sym typeface="Wingdings" panose="05000000000000000000" pitchFamily="2" charset="2"/>
              </a:rPr>
              <a:t>月</a:t>
            </a:r>
            <a:endParaRPr lang="en-US" altLang="zh-TW" sz="1000" b="1" dirty="0">
              <a:solidFill>
                <a:schemeClr val="accent1"/>
              </a:solidFill>
              <a:latin typeface="微軟正黑體" panose="020B0604030504040204" pitchFamily="34" charset="-120"/>
              <a:ea typeface="微軟正黑體" panose="020B0604030504040204" pitchFamily="34" charset="-120"/>
            </a:endParaRPr>
          </a:p>
        </p:txBody>
      </p:sp>
      <p:sp>
        <p:nvSpPr>
          <p:cNvPr id="170" name="文字方塊 169"/>
          <p:cNvSpPr txBox="1"/>
          <p:nvPr/>
        </p:nvSpPr>
        <p:spPr>
          <a:xfrm>
            <a:off x="4640179" y="3296970"/>
            <a:ext cx="1132624" cy="276999"/>
          </a:xfrm>
          <a:prstGeom prst="rect">
            <a:avLst/>
          </a:prstGeom>
          <a:noFill/>
        </p:spPr>
        <p:txBody>
          <a:bodyPr wrap="square" rtlCol="0">
            <a:spAutoFit/>
          </a:bodyPr>
          <a:lstStyle/>
          <a:p>
            <a:pPr lvl="0"/>
            <a:r>
              <a:rPr lang="zh-TW" altLang="en-US" sz="1200" b="1" dirty="0" smtClean="0">
                <a:latin typeface="微軟正黑體" panose="020B0604030504040204" pitchFamily="34" charset="-120"/>
                <a:ea typeface="微軟正黑體" panose="020B0604030504040204" pitchFamily="34" charset="-120"/>
              </a:rPr>
              <a:t>節省工時</a:t>
            </a:r>
            <a:endParaRPr lang="zh-TW" altLang="en-US" sz="1200" b="1" dirty="0">
              <a:latin typeface="微軟正黑體" panose="020B0604030504040204" pitchFamily="34" charset="-120"/>
              <a:ea typeface="微軟正黑體" panose="020B0604030504040204" pitchFamily="34" charset="-120"/>
            </a:endParaRPr>
          </a:p>
        </p:txBody>
      </p:sp>
      <p:sp>
        <p:nvSpPr>
          <p:cNvPr id="171" name="圓角矩形 170"/>
          <p:cNvSpPr/>
          <p:nvPr/>
        </p:nvSpPr>
        <p:spPr>
          <a:xfrm>
            <a:off x="4658014" y="4425537"/>
            <a:ext cx="2010326" cy="534660"/>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latin typeface="微軟正黑體" panose="020B0604030504040204" pitchFamily="34" charset="-120"/>
              <a:ea typeface="微軟正黑體" panose="020B0604030504040204" pitchFamily="34" charset="-120"/>
            </a:endParaRPr>
          </a:p>
        </p:txBody>
      </p:sp>
      <p:sp>
        <p:nvSpPr>
          <p:cNvPr id="172" name="文字方塊 171"/>
          <p:cNvSpPr txBox="1"/>
          <p:nvPr/>
        </p:nvSpPr>
        <p:spPr>
          <a:xfrm>
            <a:off x="4657563" y="4699490"/>
            <a:ext cx="1840421" cy="246221"/>
          </a:xfrm>
          <a:prstGeom prst="rect">
            <a:avLst/>
          </a:prstGeom>
          <a:noFill/>
        </p:spPr>
        <p:txBody>
          <a:bodyPr wrap="square" rtlCol="0">
            <a:spAutoFit/>
          </a:bodyPr>
          <a:lstStyle/>
          <a:p>
            <a:r>
              <a:rPr lang="zh-TW" altLang="en-US" sz="1000" b="1" dirty="0">
                <a:solidFill>
                  <a:srgbClr val="F64C00"/>
                </a:solidFill>
                <a:latin typeface="微軟正黑體" panose="020B0604030504040204" pitchFamily="34" charset="-120"/>
                <a:ea typeface="微軟正黑體" panose="020B0604030504040204" pitchFamily="34" charset="-120"/>
              </a:rPr>
              <a:t>減少</a:t>
            </a:r>
            <a:r>
              <a:rPr lang="zh-TW" altLang="en-US" sz="1000" dirty="0">
                <a:latin typeface="微軟正黑體" panose="020B0604030504040204" pitchFamily="34" charset="-120"/>
                <a:ea typeface="微軟正黑體" panose="020B0604030504040204" pitchFamily="34" charset="-120"/>
              </a:rPr>
              <a:t> </a:t>
            </a:r>
            <a:r>
              <a:rPr lang="en-US" altLang="zh-TW" sz="1000" b="1" dirty="0">
                <a:solidFill>
                  <a:schemeClr val="accent1"/>
                </a:solidFill>
                <a:latin typeface="微軟正黑體" panose="020B0604030504040204" pitchFamily="34" charset="-120"/>
                <a:ea typeface="微軟正黑體" panose="020B0604030504040204" pitchFamily="34" charset="-120"/>
              </a:rPr>
              <a:t>DL 1/</a:t>
            </a:r>
            <a:r>
              <a:rPr lang="zh-TW" altLang="en-US" sz="1000" b="1" dirty="0" smtClean="0">
                <a:solidFill>
                  <a:schemeClr val="accent1"/>
                </a:solidFill>
                <a:latin typeface="微軟正黑體" panose="020B0604030504040204" pitchFamily="34" charset="-120"/>
                <a:ea typeface="微軟正黑體" panose="020B0604030504040204" pitchFamily="34" charset="-120"/>
              </a:rPr>
              <a:t>人</a:t>
            </a:r>
            <a:endParaRPr lang="zh-TW" altLang="en-US" sz="1000" b="1" dirty="0">
              <a:solidFill>
                <a:schemeClr val="accent1"/>
              </a:solidFill>
              <a:latin typeface="微軟正黑體" panose="020B0604030504040204" pitchFamily="34" charset="-120"/>
              <a:ea typeface="微軟正黑體" panose="020B0604030504040204" pitchFamily="34" charset="-120"/>
            </a:endParaRPr>
          </a:p>
        </p:txBody>
      </p:sp>
      <p:sp>
        <p:nvSpPr>
          <p:cNvPr id="173" name="文字方塊 172"/>
          <p:cNvSpPr txBox="1"/>
          <p:nvPr/>
        </p:nvSpPr>
        <p:spPr>
          <a:xfrm>
            <a:off x="4697364" y="4436022"/>
            <a:ext cx="184731" cy="276999"/>
          </a:xfrm>
          <a:prstGeom prst="rect">
            <a:avLst/>
          </a:prstGeom>
          <a:noFill/>
        </p:spPr>
        <p:txBody>
          <a:bodyPr wrap="none" rtlCol="0">
            <a:spAutoFit/>
          </a:bodyPr>
          <a:lstStyle/>
          <a:p>
            <a:pPr lvl="0"/>
            <a:endParaRPr lang="zh-TW" altLang="en-US" sz="1200" b="1" dirty="0">
              <a:latin typeface="微軟正黑體" panose="020B0604030504040204" pitchFamily="34" charset="-120"/>
              <a:ea typeface="微軟正黑體" panose="020B0604030504040204" pitchFamily="34" charset="-120"/>
            </a:endParaRPr>
          </a:p>
        </p:txBody>
      </p:sp>
      <p:grpSp>
        <p:nvGrpSpPr>
          <p:cNvPr id="65" name="组合 65"/>
          <p:cNvGrpSpPr>
            <a:grpSpLocks/>
          </p:cNvGrpSpPr>
          <p:nvPr/>
        </p:nvGrpSpPr>
        <p:grpSpPr bwMode="auto">
          <a:xfrm rot="4723889">
            <a:off x="1629912" y="354455"/>
            <a:ext cx="723088" cy="1050156"/>
            <a:chOff x="5008933" y="2278557"/>
            <a:chExt cx="2491360" cy="2362847"/>
          </a:xfrm>
        </p:grpSpPr>
        <p:sp>
          <p:nvSpPr>
            <p:cNvPr id="66"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b="1">
                <a:solidFill>
                  <a:srgbClr val="FFFFFF"/>
                </a:solidFill>
                <a:latin typeface="微軟正黑體" panose="020B0604030504040204" pitchFamily="34" charset="-120"/>
                <a:ea typeface="微軟正黑體" panose="020B0604030504040204" pitchFamily="34" charset="-120"/>
              </a:endParaRPr>
            </a:p>
          </p:txBody>
        </p:sp>
        <p:grpSp>
          <p:nvGrpSpPr>
            <p:cNvPr id="67" name="组合 67"/>
            <p:cNvGrpSpPr>
              <a:grpSpLocks/>
            </p:cNvGrpSpPr>
            <p:nvPr/>
          </p:nvGrpSpPr>
          <p:grpSpPr bwMode="auto">
            <a:xfrm>
              <a:off x="5008933" y="2278557"/>
              <a:ext cx="2491360" cy="2323893"/>
              <a:chOff x="1123476" y="1681897"/>
              <a:chExt cx="3206311" cy="2990785"/>
            </a:xfrm>
          </p:grpSpPr>
          <p:grpSp>
            <p:nvGrpSpPr>
              <p:cNvPr id="68" name="组合 68"/>
              <p:cNvGrpSpPr>
                <a:grpSpLocks/>
              </p:cNvGrpSpPr>
              <p:nvPr/>
            </p:nvGrpSpPr>
            <p:grpSpPr bwMode="auto">
              <a:xfrm>
                <a:off x="1123476" y="1763461"/>
                <a:ext cx="2798050" cy="2798050"/>
                <a:chOff x="1123476" y="1763461"/>
                <a:chExt cx="2798050" cy="2798050"/>
              </a:xfrm>
            </p:grpSpPr>
            <p:sp>
              <p:nvSpPr>
                <p:cNvPr id="74" name="弧形 73"/>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77" name="弧形 76"/>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grpSp>
          <p:grpSp>
            <p:nvGrpSpPr>
              <p:cNvPr id="69" name="组合 69"/>
              <p:cNvGrpSpPr>
                <a:grpSpLocks/>
              </p:cNvGrpSpPr>
              <p:nvPr/>
            </p:nvGrpSpPr>
            <p:grpSpPr bwMode="auto">
              <a:xfrm rot="-7200000">
                <a:off x="1273270" y="1616165"/>
                <a:ext cx="2990785" cy="3122249"/>
                <a:chOff x="891209" y="1807143"/>
                <a:chExt cx="2990785" cy="3122249"/>
              </a:xfrm>
            </p:grpSpPr>
            <p:sp>
              <p:nvSpPr>
                <p:cNvPr id="70" name="弧形 69"/>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sp>
              <p:nvSpPr>
                <p:cNvPr id="73" name="弧形 72"/>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b="1">
                    <a:solidFill>
                      <a:prstClr val="black"/>
                    </a:solidFill>
                    <a:latin typeface="微軟正黑體" panose="020B0604030504040204" pitchFamily="34" charset="-120"/>
                    <a:ea typeface="微軟正黑體" panose="020B0604030504040204" pitchFamily="34" charset="-120"/>
                  </a:endParaRPr>
                </a:p>
              </p:txBody>
            </p:sp>
          </p:grpSp>
        </p:grpSp>
      </p:grpSp>
      <p:sp>
        <p:nvSpPr>
          <p:cNvPr id="40" name="矩形 39"/>
          <p:cNvSpPr/>
          <p:nvPr/>
        </p:nvSpPr>
        <p:spPr>
          <a:xfrm>
            <a:off x="1479327" y="652023"/>
            <a:ext cx="987250" cy="338554"/>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痛點</a:t>
            </a:r>
          </a:p>
        </p:txBody>
      </p:sp>
      <p:grpSp>
        <p:nvGrpSpPr>
          <p:cNvPr id="18" name="群組 17"/>
          <p:cNvGrpSpPr/>
          <p:nvPr/>
        </p:nvGrpSpPr>
        <p:grpSpPr>
          <a:xfrm>
            <a:off x="4502293" y="1331501"/>
            <a:ext cx="1497030" cy="1335799"/>
            <a:chOff x="2612667" y="1141185"/>
            <a:chExt cx="4138002" cy="3738961"/>
          </a:xfrm>
        </p:grpSpPr>
        <p:sp>
          <p:nvSpPr>
            <p:cNvPr id="139" name="Freeform 25">
              <a:extLst>
                <a:ext uri="{FF2B5EF4-FFF2-40B4-BE49-F238E27FC236}">
                  <a16:creationId xmlns="" xmlns:a16="http://schemas.microsoft.com/office/drawing/2014/main" id="{F0EFE26D-E387-D142-AF15-52886D89B6F7}"/>
                </a:ext>
              </a:extLst>
            </p:cNvPr>
            <p:cNvSpPr>
              <a:spLocks noChangeArrowheads="1"/>
            </p:cNvSpPr>
            <p:nvPr/>
          </p:nvSpPr>
          <p:spPr bwMode="auto">
            <a:xfrm>
              <a:off x="3794406" y="2218909"/>
              <a:ext cx="1557248" cy="1557248"/>
            </a:xfrm>
            <a:custGeom>
              <a:avLst/>
              <a:gdLst>
                <a:gd name="T0" fmla="*/ 3334 w 3335"/>
                <a:gd name="T1" fmla="*/ 1666 h 3333"/>
                <a:gd name="T2" fmla="*/ 1667 w 3335"/>
                <a:gd name="T3" fmla="*/ 3332 h 3333"/>
                <a:gd name="T4" fmla="*/ 0 w 3335"/>
                <a:gd name="T5" fmla="*/ 1666 h 3333"/>
                <a:gd name="T6" fmla="*/ 1667 w 3335"/>
                <a:gd name="T7" fmla="*/ 0 h 3333"/>
                <a:gd name="T8" fmla="*/ 3334 w 3335"/>
                <a:gd name="T9" fmla="*/ 1666 h 3333"/>
              </a:gdLst>
              <a:ahLst/>
              <a:cxnLst>
                <a:cxn ang="0">
                  <a:pos x="T0" y="T1"/>
                </a:cxn>
                <a:cxn ang="0">
                  <a:pos x="T2" y="T3"/>
                </a:cxn>
                <a:cxn ang="0">
                  <a:pos x="T4" y="T5"/>
                </a:cxn>
                <a:cxn ang="0">
                  <a:pos x="T6" y="T7"/>
                </a:cxn>
                <a:cxn ang="0">
                  <a:pos x="T8" y="T9"/>
                </a:cxn>
              </a:cxnLst>
              <a:rect l="0" t="0" r="r" b="b"/>
              <a:pathLst>
                <a:path w="3335" h="3333">
                  <a:moveTo>
                    <a:pt x="3334" y="1666"/>
                  </a:moveTo>
                  <a:cubicBezTo>
                    <a:pt x="3334" y="2586"/>
                    <a:pt x="2587" y="3332"/>
                    <a:pt x="1667" y="3332"/>
                  </a:cubicBezTo>
                  <a:cubicBezTo>
                    <a:pt x="747" y="3332"/>
                    <a:pt x="0" y="2586"/>
                    <a:pt x="0" y="1666"/>
                  </a:cubicBezTo>
                  <a:cubicBezTo>
                    <a:pt x="0" y="746"/>
                    <a:pt x="747" y="0"/>
                    <a:pt x="1667" y="0"/>
                  </a:cubicBezTo>
                  <a:cubicBezTo>
                    <a:pt x="2587" y="0"/>
                    <a:pt x="3334" y="746"/>
                    <a:pt x="3334" y="1666"/>
                  </a:cubicBezTo>
                </a:path>
              </a:pathLst>
            </a:custGeom>
            <a:solidFill>
              <a:schemeClr val="bg1">
                <a:lumMod val="85000"/>
              </a:schemeClr>
            </a:solidFill>
            <a:ln>
              <a:noFill/>
            </a:ln>
            <a:effectLst/>
          </p:spPr>
          <p:txBody>
            <a:bodyPr wrap="none" anchor="ctr"/>
            <a:lstStyle/>
            <a:p>
              <a:endParaRPr lang="en-US" sz="100" b="1">
                <a:latin typeface="微軟正黑體" panose="020B0604030504040204" pitchFamily="34" charset="-120"/>
                <a:ea typeface="微軟正黑體" panose="020B0604030504040204" pitchFamily="34" charset="-120"/>
              </a:endParaRPr>
            </a:p>
          </p:txBody>
        </p:sp>
        <p:sp>
          <p:nvSpPr>
            <p:cNvPr id="140" name="Freeform 26">
              <a:extLst>
                <a:ext uri="{FF2B5EF4-FFF2-40B4-BE49-F238E27FC236}">
                  <a16:creationId xmlns="" xmlns:a16="http://schemas.microsoft.com/office/drawing/2014/main" id="{B72A5B4A-93A2-2D41-BC9C-FC4B6E0D1306}"/>
                </a:ext>
              </a:extLst>
            </p:cNvPr>
            <p:cNvSpPr>
              <a:spLocks noChangeArrowheads="1"/>
            </p:cNvSpPr>
            <p:nvPr/>
          </p:nvSpPr>
          <p:spPr bwMode="auto">
            <a:xfrm>
              <a:off x="2757271" y="3195279"/>
              <a:ext cx="1606684" cy="1606684"/>
            </a:xfrm>
            <a:custGeom>
              <a:avLst/>
              <a:gdLst>
                <a:gd name="T0" fmla="*/ 1713 w 3438"/>
                <a:gd name="T1" fmla="*/ 0 h 3438"/>
                <a:gd name="T2" fmla="*/ 122 w 3438"/>
                <a:gd name="T3" fmla="*/ 0 h 3438"/>
                <a:gd name="T4" fmla="*/ 0 w 3438"/>
                <a:gd name="T5" fmla="*/ 122 h 3438"/>
                <a:gd name="T6" fmla="*/ 0 w 3438"/>
                <a:gd name="T7" fmla="*/ 3315 h 3438"/>
                <a:gd name="T8" fmla="*/ 122 w 3438"/>
                <a:gd name="T9" fmla="*/ 3437 h 3438"/>
                <a:gd name="T10" fmla="*/ 3315 w 3438"/>
                <a:gd name="T11" fmla="*/ 3437 h 3438"/>
                <a:gd name="T12" fmla="*/ 3437 w 3438"/>
                <a:gd name="T13" fmla="*/ 3315 h 3438"/>
                <a:gd name="T14" fmla="*/ 3437 w 3438"/>
                <a:gd name="T15" fmla="*/ 1713 h 3438"/>
                <a:gd name="T16" fmla="*/ 1713 w 3438"/>
                <a:gd name="T17" fmla="*/ 0 h 3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38" h="3438">
                  <a:moveTo>
                    <a:pt x="1713" y="0"/>
                  </a:moveTo>
                  <a:lnTo>
                    <a:pt x="122" y="0"/>
                  </a:lnTo>
                  <a:cubicBezTo>
                    <a:pt x="55" y="0"/>
                    <a:pt x="0" y="55"/>
                    <a:pt x="0" y="122"/>
                  </a:cubicBezTo>
                  <a:lnTo>
                    <a:pt x="0" y="3315"/>
                  </a:lnTo>
                  <a:cubicBezTo>
                    <a:pt x="0" y="3382"/>
                    <a:pt x="55" y="3437"/>
                    <a:pt x="122" y="3437"/>
                  </a:cubicBezTo>
                  <a:lnTo>
                    <a:pt x="3315" y="3437"/>
                  </a:lnTo>
                  <a:cubicBezTo>
                    <a:pt x="3382" y="3437"/>
                    <a:pt x="3437" y="3382"/>
                    <a:pt x="3437" y="3315"/>
                  </a:cubicBezTo>
                  <a:lnTo>
                    <a:pt x="3437" y="1713"/>
                  </a:lnTo>
                  <a:cubicBezTo>
                    <a:pt x="2574" y="1539"/>
                    <a:pt x="1893" y="861"/>
                    <a:pt x="1713" y="0"/>
                  </a:cubicBezTo>
                </a:path>
              </a:pathLst>
            </a:custGeom>
            <a:solidFill>
              <a:schemeClr val="accent4"/>
            </a:solidFill>
            <a:ln>
              <a:noFill/>
            </a:ln>
            <a:effectLst/>
          </p:spPr>
          <p:txBody>
            <a:bodyPr wrap="none" anchor="ctr"/>
            <a:lstStyle/>
            <a:p>
              <a:endParaRPr lang="en-US" sz="100" b="1">
                <a:latin typeface="微軟正黑體" panose="020B0604030504040204" pitchFamily="34" charset="-120"/>
                <a:ea typeface="微軟正黑體" panose="020B0604030504040204" pitchFamily="34" charset="-120"/>
              </a:endParaRPr>
            </a:p>
          </p:txBody>
        </p:sp>
        <p:sp>
          <p:nvSpPr>
            <p:cNvPr id="141" name="Freeform 27">
              <a:extLst>
                <a:ext uri="{FF2B5EF4-FFF2-40B4-BE49-F238E27FC236}">
                  <a16:creationId xmlns="" xmlns:a16="http://schemas.microsoft.com/office/drawing/2014/main" id="{7BE7D187-4C13-5F45-A875-C3EA1AB62F85}"/>
                </a:ext>
              </a:extLst>
            </p:cNvPr>
            <p:cNvSpPr>
              <a:spLocks noChangeArrowheads="1"/>
            </p:cNvSpPr>
            <p:nvPr/>
          </p:nvSpPr>
          <p:spPr bwMode="auto">
            <a:xfrm>
              <a:off x="4782105" y="3195279"/>
              <a:ext cx="1606684" cy="1606684"/>
            </a:xfrm>
            <a:custGeom>
              <a:avLst/>
              <a:gdLst>
                <a:gd name="T0" fmla="*/ 3315 w 3439"/>
                <a:gd name="T1" fmla="*/ 0 h 3438"/>
                <a:gd name="T2" fmla="*/ 1706 w 3439"/>
                <a:gd name="T3" fmla="*/ 0 h 3438"/>
                <a:gd name="T4" fmla="*/ 0 w 3439"/>
                <a:gd name="T5" fmla="*/ 1709 h 3438"/>
                <a:gd name="T6" fmla="*/ 0 w 3439"/>
                <a:gd name="T7" fmla="*/ 3315 h 3438"/>
                <a:gd name="T8" fmla="*/ 122 w 3439"/>
                <a:gd name="T9" fmla="*/ 3437 h 3438"/>
                <a:gd name="T10" fmla="*/ 3315 w 3439"/>
                <a:gd name="T11" fmla="*/ 3437 h 3438"/>
                <a:gd name="T12" fmla="*/ 3438 w 3439"/>
                <a:gd name="T13" fmla="*/ 3315 h 3438"/>
                <a:gd name="T14" fmla="*/ 3438 w 3439"/>
                <a:gd name="T15" fmla="*/ 122 h 3438"/>
                <a:gd name="T16" fmla="*/ 3315 w 3439"/>
                <a:gd name="T17" fmla="*/ 0 h 3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39" h="3438">
                  <a:moveTo>
                    <a:pt x="3315" y="0"/>
                  </a:moveTo>
                  <a:lnTo>
                    <a:pt x="1706" y="0"/>
                  </a:lnTo>
                  <a:cubicBezTo>
                    <a:pt x="1528" y="855"/>
                    <a:pt x="855" y="1529"/>
                    <a:pt x="0" y="1709"/>
                  </a:cubicBezTo>
                  <a:lnTo>
                    <a:pt x="0" y="3315"/>
                  </a:lnTo>
                  <a:cubicBezTo>
                    <a:pt x="0" y="3382"/>
                    <a:pt x="55" y="3437"/>
                    <a:pt x="122" y="3437"/>
                  </a:cubicBezTo>
                  <a:lnTo>
                    <a:pt x="3315" y="3437"/>
                  </a:lnTo>
                  <a:cubicBezTo>
                    <a:pt x="3382" y="3437"/>
                    <a:pt x="3438" y="3382"/>
                    <a:pt x="3438" y="3315"/>
                  </a:cubicBezTo>
                  <a:lnTo>
                    <a:pt x="3438" y="122"/>
                  </a:lnTo>
                  <a:cubicBezTo>
                    <a:pt x="3438" y="55"/>
                    <a:pt x="3382" y="0"/>
                    <a:pt x="3315" y="0"/>
                  </a:cubicBezTo>
                </a:path>
              </a:pathLst>
            </a:custGeom>
            <a:solidFill>
              <a:schemeClr val="accent5"/>
            </a:solidFill>
            <a:ln>
              <a:noFill/>
            </a:ln>
            <a:effectLst/>
          </p:spPr>
          <p:txBody>
            <a:bodyPr wrap="none" anchor="ctr"/>
            <a:lstStyle/>
            <a:p>
              <a:endParaRPr lang="en-US" sz="100" b="1">
                <a:latin typeface="微軟正黑體" panose="020B0604030504040204" pitchFamily="34" charset="-120"/>
                <a:ea typeface="微軟正黑體" panose="020B0604030504040204" pitchFamily="34" charset="-120"/>
              </a:endParaRPr>
            </a:p>
          </p:txBody>
        </p:sp>
        <p:sp>
          <p:nvSpPr>
            <p:cNvPr id="142" name="Freeform 28">
              <a:extLst>
                <a:ext uri="{FF2B5EF4-FFF2-40B4-BE49-F238E27FC236}">
                  <a16:creationId xmlns="" xmlns:a16="http://schemas.microsoft.com/office/drawing/2014/main" id="{BFCF020C-9395-3B49-A4E9-3F9A387A160A}"/>
                </a:ext>
              </a:extLst>
            </p:cNvPr>
            <p:cNvSpPr>
              <a:spLocks noChangeArrowheads="1"/>
            </p:cNvSpPr>
            <p:nvPr/>
          </p:nvSpPr>
          <p:spPr bwMode="auto">
            <a:xfrm>
              <a:off x="2757271" y="1193104"/>
              <a:ext cx="1606684" cy="1606684"/>
            </a:xfrm>
            <a:custGeom>
              <a:avLst/>
              <a:gdLst>
                <a:gd name="T0" fmla="*/ 3437 w 3438"/>
                <a:gd name="T1" fmla="*/ 1666 h 3438"/>
                <a:gd name="T2" fmla="*/ 3437 w 3438"/>
                <a:gd name="T3" fmla="*/ 122 h 3438"/>
                <a:gd name="T4" fmla="*/ 3315 w 3438"/>
                <a:gd name="T5" fmla="*/ 0 h 3438"/>
                <a:gd name="T6" fmla="*/ 122 w 3438"/>
                <a:gd name="T7" fmla="*/ 0 h 3438"/>
                <a:gd name="T8" fmla="*/ 0 w 3438"/>
                <a:gd name="T9" fmla="*/ 122 h 3438"/>
                <a:gd name="T10" fmla="*/ 0 w 3438"/>
                <a:gd name="T11" fmla="*/ 3315 h 3438"/>
                <a:gd name="T12" fmla="*/ 122 w 3438"/>
                <a:gd name="T13" fmla="*/ 3437 h 3438"/>
                <a:gd name="T14" fmla="*/ 1702 w 3438"/>
                <a:gd name="T15" fmla="*/ 3437 h 3438"/>
                <a:gd name="T16" fmla="*/ 3437 w 3438"/>
                <a:gd name="T17" fmla="*/ 1666 h 3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38" h="3438">
                  <a:moveTo>
                    <a:pt x="3437" y="1666"/>
                  </a:moveTo>
                  <a:lnTo>
                    <a:pt x="3437" y="122"/>
                  </a:lnTo>
                  <a:cubicBezTo>
                    <a:pt x="3437" y="55"/>
                    <a:pt x="3382" y="0"/>
                    <a:pt x="3315" y="0"/>
                  </a:cubicBezTo>
                  <a:lnTo>
                    <a:pt x="122" y="0"/>
                  </a:lnTo>
                  <a:cubicBezTo>
                    <a:pt x="55" y="0"/>
                    <a:pt x="0" y="55"/>
                    <a:pt x="0" y="122"/>
                  </a:cubicBezTo>
                  <a:lnTo>
                    <a:pt x="0" y="3315"/>
                  </a:lnTo>
                  <a:cubicBezTo>
                    <a:pt x="0" y="3382"/>
                    <a:pt x="55" y="3437"/>
                    <a:pt x="122" y="3437"/>
                  </a:cubicBezTo>
                  <a:lnTo>
                    <a:pt x="1702" y="3437"/>
                  </a:lnTo>
                  <a:cubicBezTo>
                    <a:pt x="1862" y="2548"/>
                    <a:pt x="2554" y="1844"/>
                    <a:pt x="3437" y="1666"/>
                  </a:cubicBezTo>
                </a:path>
              </a:pathLst>
            </a:custGeom>
            <a:solidFill>
              <a:schemeClr val="accent2"/>
            </a:solidFill>
            <a:ln>
              <a:noFill/>
            </a:ln>
            <a:effectLst/>
          </p:spPr>
          <p:txBody>
            <a:bodyPr wrap="none" anchor="ctr"/>
            <a:lstStyle/>
            <a:p>
              <a:endParaRPr lang="en-US" sz="100" b="1">
                <a:latin typeface="微軟正黑體" panose="020B0604030504040204" pitchFamily="34" charset="-120"/>
                <a:ea typeface="微軟正黑體" panose="020B0604030504040204" pitchFamily="34" charset="-120"/>
              </a:endParaRPr>
            </a:p>
          </p:txBody>
        </p:sp>
        <p:sp>
          <p:nvSpPr>
            <p:cNvPr id="143" name="Freeform 29">
              <a:extLst>
                <a:ext uri="{FF2B5EF4-FFF2-40B4-BE49-F238E27FC236}">
                  <a16:creationId xmlns="" xmlns:a16="http://schemas.microsoft.com/office/drawing/2014/main" id="{CE3B1505-CF8E-0F4E-8D79-96350C17A84E}"/>
                </a:ext>
              </a:extLst>
            </p:cNvPr>
            <p:cNvSpPr>
              <a:spLocks noChangeArrowheads="1"/>
            </p:cNvSpPr>
            <p:nvPr/>
          </p:nvSpPr>
          <p:spPr bwMode="auto">
            <a:xfrm>
              <a:off x="4800935" y="1172806"/>
              <a:ext cx="1606685" cy="1606685"/>
            </a:xfrm>
            <a:custGeom>
              <a:avLst/>
              <a:gdLst>
                <a:gd name="T0" fmla="*/ 3315 w 3439"/>
                <a:gd name="T1" fmla="*/ 0 h 3438"/>
                <a:gd name="T2" fmla="*/ 122 w 3439"/>
                <a:gd name="T3" fmla="*/ 0 h 3438"/>
                <a:gd name="T4" fmla="*/ 0 w 3439"/>
                <a:gd name="T5" fmla="*/ 122 h 3438"/>
                <a:gd name="T6" fmla="*/ 0 w 3439"/>
                <a:gd name="T7" fmla="*/ 1670 h 3438"/>
                <a:gd name="T8" fmla="*/ 1717 w 3439"/>
                <a:gd name="T9" fmla="*/ 3437 h 3438"/>
                <a:gd name="T10" fmla="*/ 3315 w 3439"/>
                <a:gd name="T11" fmla="*/ 3437 h 3438"/>
                <a:gd name="T12" fmla="*/ 3438 w 3439"/>
                <a:gd name="T13" fmla="*/ 3315 h 3438"/>
                <a:gd name="T14" fmla="*/ 3438 w 3439"/>
                <a:gd name="T15" fmla="*/ 122 h 3438"/>
                <a:gd name="T16" fmla="*/ 3315 w 3439"/>
                <a:gd name="T17" fmla="*/ 0 h 3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39" h="3438">
                  <a:moveTo>
                    <a:pt x="3315" y="0"/>
                  </a:moveTo>
                  <a:lnTo>
                    <a:pt x="122" y="0"/>
                  </a:lnTo>
                  <a:cubicBezTo>
                    <a:pt x="55" y="0"/>
                    <a:pt x="0" y="55"/>
                    <a:pt x="0" y="122"/>
                  </a:cubicBezTo>
                  <a:lnTo>
                    <a:pt x="0" y="1670"/>
                  </a:lnTo>
                  <a:cubicBezTo>
                    <a:pt x="874" y="1854"/>
                    <a:pt x="1558" y="2554"/>
                    <a:pt x="1717" y="3437"/>
                  </a:cubicBezTo>
                  <a:lnTo>
                    <a:pt x="3315" y="3437"/>
                  </a:lnTo>
                  <a:cubicBezTo>
                    <a:pt x="3382" y="3437"/>
                    <a:pt x="3438" y="3382"/>
                    <a:pt x="3438" y="3315"/>
                  </a:cubicBezTo>
                  <a:lnTo>
                    <a:pt x="3438" y="122"/>
                  </a:lnTo>
                  <a:cubicBezTo>
                    <a:pt x="3438" y="55"/>
                    <a:pt x="3382" y="0"/>
                    <a:pt x="3315" y="0"/>
                  </a:cubicBezTo>
                </a:path>
              </a:pathLst>
            </a:custGeom>
            <a:solidFill>
              <a:schemeClr val="accent3"/>
            </a:solidFill>
            <a:ln>
              <a:noFill/>
            </a:ln>
            <a:effectLst/>
          </p:spPr>
          <p:txBody>
            <a:bodyPr wrap="none" anchor="ctr"/>
            <a:lstStyle/>
            <a:p>
              <a:endParaRPr lang="en-US" sz="100" b="1">
                <a:latin typeface="微軟正黑體" panose="020B0604030504040204" pitchFamily="34" charset="-120"/>
                <a:ea typeface="微軟正黑體" panose="020B0604030504040204" pitchFamily="34" charset="-120"/>
              </a:endParaRPr>
            </a:p>
          </p:txBody>
        </p:sp>
        <p:sp>
          <p:nvSpPr>
            <p:cNvPr id="155" name="TextBox 45">
              <a:extLst>
                <a:ext uri="{FF2B5EF4-FFF2-40B4-BE49-F238E27FC236}">
                  <a16:creationId xmlns="" xmlns:a16="http://schemas.microsoft.com/office/drawing/2014/main" id="{9E7ED9E8-ABD1-8145-BC3B-9EF14D6939F1}"/>
                </a:ext>
              </a:extLst>
            </p:cNvPr>
            <p:cNvSpPr txBox="1"/>
            <p:nvPr/>
          </p:nvSpPr>
          <p:spPr>
            <a:xfrm>
              <a:off x="2612667" y="1141185"/>
              <a:ext cx="1786551" cy="1033777"/>
            </a:xfrm>
            <a:prstGeom prst="rect">
              <a:avLst/>
            </a:prstGeom>
            <a:noFill/>
          </p:spPr>
          <p:txBody>
            <a:bodyPr wrap="none" rtlCol="0" anchor="ctr">
              <a:spAutoFit/>
            </a:bodyPr>
            <a:lstStyle/>
            <a:p>
              <a:pPr algn="ctr"/>
              <a:r>
                <a:rPr lang="zh-TW" altLang="en-US" sz="900" b="1" dirty="0" smtClean="0">
                  <a:solidFill>
                    <a:schemeClr val="accent1"/>
                  </a:solidFill>
                  <a:latin typeface="微軟正黑體" panose="020B0604030504040204" pitchFamily="34" charset="-120"/>
                  <a:ea typeface="微軟正黑體" panose="020B0604030504040204" pitchFamily="34" charset="-120"/>
                  <a:cs typeface="Poppins" pitchFamily="2" charset="77"/>
                </a:rPr>
                <a:t>影像</a:t>
              </a:r>
              <a:endParaRPr lang="en-US" altLang="zh-TW" sz="900" b="1" dirty="0" smtClean="0">
                <a:solidFill>
                  <a:schemeClr val="accent1"/>
                </a:solidFill>
                <a:latin typeface="微軟正黑體" panose="020B0604030504040204" pitchFamily="34" charset="-120"/>
                <a:ea typeface="微軟正黑體" panose="020B0604030504040204" pitchFamily="34" charset="-120"/>
                <a:cs typeface="Poppins" pitchFamily="2" charset="77"/>
              </a:endParaRPr>
            </a:p>
            <a:p>
              <a:pPr algn="ctr"/>
              <a:r>
                <a:rPr lang="zh-TW" altLang="en-US" sz="900" b="1" dirty="0" smtClean="0">
                  <a:solidFill>
                    <a:schemeClr val="accent1"/>
                  </a:solidFill>
                  <a:latin typeface="微軟正黑體" panose="020B0604030504040204" pitchFamily="34" charset="-120"/>
                  <a:ea typeface="微軟正黑體" panose="020B0604030504040204" pitchFamily="34" charset="-120"/>
                  <a:cs typeface="Poppins" pitchFamily="2" charset="77"/>
                </a:rPr>
                <a:t>處理</a:t>
              </a:r>
              <a:r>
                <a:rPr lang="zh-TW" altLang="en-US" sz="900" b="1" dirty="0">
                  <a:solidFill>
                    <a:schemeClr val="accent1"/>
                  </a:solidFill>
                  <a:latin typeface="微軟正黑體" panose="020B0604030504040204" pitchFamily="34" charset="-120"/>
                  <a:ea typeface="微軟正黑體" panose="020B0604030504040204" pitchFamily="34" charset="-120"/>
                  <a:cs typeface="Poppins" pitchFamily="2" charset="77"/>
                </a:rPr>
                <a:t>技術</a:t>
              </a:r>
              <a:endParaRPr lang="en-US" sz="900" b="1" dirty="0">
                <a:solidFill>
                  <a:schemeClr val="accent1"/>
                </a:solidFill>
                <a:latin typeface="微軟正黑體" panose="020B0604030504040204" pitchFamily="34" charset="-120"/>
                <a:ea typeface="微軟正黑體" panose="020B0604030504040204" pitchFamily="34" charset="-120"/>
                <a:cs typeface="Poppins" pitchFamily="2" charset="77"/>
              </a:endParaRPr>
            </a:p>
          </p:txBody>
        </p:sp>
        <p:sp>
          <p:nvSpPr>
            <p:cNvPr id="156" name="TextBox 46">
              <a:extLst>
                <a:ext uri="{FF2B5EF4-FFF2-40B4-BE49-F238E27FC236}">
                  <a16:creationId xmlns="" xmlns:a16="http://schemas.microsoft.com/office/drawing/2014/main" id="{AF075680-55BF-3444-920A-22EE1B8ECBFC}"/>
                </a:ext>
              </a:extLst>
            </p:cNvPr>
            <p:cNvSpPr txBox="1"/>
            <p:nvPr/>
          </p:nvSpPr>
          <p:spPr>
            <a:xfrm>
              <a:off x="4730589" y="1390180"/>
              <a:ext cx="1786551" cy="646109"/>
            </a:xfrm>
            <a:prstGeom prst="rect">
              <a:avLst/>
            </a:prstGeom>
            <a:noFill/>
          </p:spPr>
          <p:txBody>
            <a:bodyPr wrap="none" rtlCol="0" anchor="ctr">
              <a:spAutoFit/>
            </a:bodyPr>
            <a:lstStyle>
              <a:defPPr>
                <a:defRPr lang="en-US"/>
              </a:defPPr>
              <a:lvl1pPr algn="ctr">
                <a:defRPr sz="700" b="1">
                  <a:solidFill>
                    <a:schemeClr val="accent1"/>
                  </a:solidFill>
                  <a:cs typeface="Poppins" pitchFamily="2" charset="77"/>
                </a:defRPr>
              </a:lvl1pPr>
            </a:lstStyle>
            <a:p>
              <a:r>
                <a:rPr lang="zh-TW" altLang="en-US" sz="900" dirty="0">
                  <a:latin typeface="微軟正黑體" panose="020B0604030504040204" pitchFamily="34" charset="-120"/>
                  <a:ea typeface="微軟正黑體" panose="020B0604030504040204" pitchFamily="34" charset="-120"/>
                </a:rPr>
                <a:t>智能辨識</a:t>
              </a:r>
              <a:endParaRPr lang="en-US" sz="900" dirty="0">
                <a:latin typeface="微軟正黑體" panose="020B0604030504040204" pitchFamily="34" charset="-120"/>
                <a:ea typeface="微軟正黑體" panose="020B0604030504040204" pitchFamily="34" charset="-120"/>
              </a:endParaRPr>
            </a:p>
          </p:txBody>
        </p:sp>
        <p:sp>
          <p:nvSpPr>
            <p:cNvPr id="157" name="TextBox 47">
              <a:extLst>
                <a:ext uri="{FF2B5EF4-FFF2-40B4-BE49-F238E27FC236}">
                  <a16:creationId xmlns="" xmlns:a16="http://schemas.microsoft.com/office/drawing/2014/main" id="{2D80FA17-40E9-6D46-869E-1FBB1804B610}"/>
                </a:ext>
              </a:extLst>
            </p:cNvPr>
            <p:cNvSpPr txBox="1"/>
            <p:nvPr/>
          </p:nvSpPr>
          <p:spPr>
            <a:xfrm>
              <a:off x="4529889" y="3846369"/>
              <a:ext cx="2220780" cy="1033777"/>
            </a:xfrm>
            <a:prstGeom prst="rect">
              <a:avLst/>
            </a:prstGeom>
            <a:noFill/>
          </p:spPr>
          <p:txBody>
            <a:bodyPr wrap="none" rtlCol="0" anchor="ctr">
              <a:spAutoFit/>
            </a:bodyPr>
            <a:lstStyle>
              <a:defPPr>
                <a:defRPr lang="en-US"/>
              </a:defPPr>
              <a:lvl1pPr algn="ctr">
                <a:defRPr sz="700" b="1">
                  <a:solidFill>
                    <a:schemeClr val="accent1"/>
                  </a:solidFill>
                  <a:cs typeface="Poppins" pitchFamily="2" charset="77"/>
                </a:defRPr>
              </a:lvl1pPr>
            </a:lstStyle>
            <a:p>
              <a:r>
                <a:rPr lang="zh-TW" altLang="en-US" sz="900" dirty="0">
                  <a:latin typeface="微軟正黑體" panose="020B0604030504040204" pitchFamily="34" charset="-120"/>
                  <a:ea typeface="微軟正黑體" panose="020B0604030504040204" pitchFamily="34" charset="-120"/>
                </a:rPr>
                <a:t>機台</a:t>
              </a:r>
              <a:r>
                <a:rPr lang="en-US" altLang="zh-TW" sz="900" dirty="0" smtClean="0">
                  <a:latin typeface="微軟正黑體" panose="020B0604030504040204" pitchFamily="34" charset="-120"/>
                  <a:ea typeface="微軟正黑體" panose="020B0604030504040204" pitchFamily="34" charset="-120"/>
                </a:rPr>
                <a:t>&amp;MQC</a:t>
              </a:r>
            </a:p>
            <a:p>
              <a:r>
                <a:rPr lang="zh-TW" altLang="en-US" sz="900" dirty="0" smtClean="0">
                  <a:latin typeface="微軟正黑體" panose="020B0604030504040204" pitchFamily="34" charset="-120"/>
                  <a:ea typeface="微軟正黑體" panose="020B0604030504040204" pitchFamily="34" charset="-120"/>
                </a:rPr>
                <a:t>資料整合</a:t>
              </a:r>
              <a:endParaRPr lang="en-US" sz="900" dirty="0">
                <a:latin typeface="微軟正黑體" panose="020B0604030504040204" pitchFamily="34" charset="-120"/>
                <a:ea typeface="微軟正黑體" panose="020B0604030504040204" pitchFamily="34" charset="-120"/>
              </a:endParaRPr>
            </a:p>
          </p:txBody>
        </p:sp>
        <p:sp>
          <p:nvSpPr>
            <p:cNvPr id="158" name="TextBox 48">
              <a:extLst>
                <a:ext uri="{FF2B5EF4-FFF2-40B4-BE49-F238E27FC236}">
                  <a16:creationId xmlns="" xmlns:a16="http://schemas.microsoft.com/office/drawing/2014/main" id="{787353F4-37D6-5F4E-BAA2-57ECBACFCC2F}"/>
                </a:ext>
              </a:extLst>
            </p:cNvPr>
            <p:cNvSpPr txBox="1"/>
            <p:nvPr/>
          </p:nvSpPr>
          <p:spPr>
            <a:xfrm>
              <a:off x="2633346" y="3958782"/>
              <a:ext cx="1786551" cy="646109"/>
            </a:xfrm>
            <a:prstGeom prst="rect">
              <a:avLst/>
            </a:prstGeom>
            <a:noFill/>
          </p:spPr>
          <p:txBody>
            <a:bodyPr wrap="none" rtlCol="0" anchor="ctr">
              <a:spAutoFit/>
            </a:bodyPr>
            <a:lstStyle>
              <a:defPPr>
                <a:defRPr lang="en-US"/>
              </a:defPPr>
              <a:lvl1pPr algn="ctr">
                <a:defRPr sz="700" b="1">
                  <a:solidFill>
                    <a:schemeClr val="accent1"/>
                  </a:solidFill>
                  <a:cs typeface="Poppins" pitchFamily="2" charset="77"/>
                </a:defRPr>
              </a:lvl1pPr>
            </a:lstStyle>
            <a:p>
              <a:r>
                <a:rPr lang="zh-TW" altLang="en-US" sz="900" dirty="0" smtClean="0">
                  <a:latin typeface="微軟正黑體" panose="020B0604030504040204" pitchFamily="34" charset="-120"/>
                  <a:ea typeface="微軟正黑體" panose="020B0604030504040204" pitchFamily="34" charset="-120"/>
                </a:rPr>
                <a:t>自動</a:t>
              </a:r>
              <a:r>
                <a:rPr lang="zh-TW" altLang="en-US" sz="900" dirty="0">
                  <a:latin typeface="微軟正黑體" panose="020B0604030504040204" pitchFamily="34" charset="-120"/>
                  <a:ea typeface="微軟正黑體" panose="020B0604030504040204" pitchFamily="34" charset="-120"/>
                </a:rPr>
                <a:t>補值</a:t>
              </a:r>
              <a:endParaRPr lang="en-US" sz="900" dirty="0">
                <a:latin typeface="微軟正黑體" panose="020B0604030504040204" pitchFamily="34" charset="-120"/>
                <a:ea typeface="微軟正黑體" panose="020B0604030504040204" pitchFamily="34" charset="-120"/>
              </a:endParaRPr>
            </a:p>
          </p:txBody>
        </p:sp>
        <p:sp>
          <p:nvSpPr>
            <p:cNvPr id="160" name="TextBox 49">
              <a:extLst>
                <a:ext uri="{FF2B5EF4-FFF2-40B4-BE49-F238E27FC236}">
                  <a16:creationId xmlns="" xmlns:a16="http://schemas.microsoft.com/office/drawing/2014/main" id="{35C40B35-A4B2-F043-80E6-42668FFEFA07}"/>
                </a:ext>
              </a:extLst>
            </p:cNvPr>
            <p:cNvSpPr txBox="1"/>
            <p:nvPr/>
          </p:nvSpPr>
          <p:spPr>
            <a:xfrm>
              <a:off x="3940614" y="2401653"/>
              <a:ext cx="1237117" cy="1119926"/>
            </a:xfrm>
            <a:prstGeom prst="rect">
              <a:avLst/>
            </a:prstGeom>
            <a:noFill/>
          </p:spPr>
          <p:txBody>
            <a:bodyPr wrap="none" rtlCol="0" anchor="ctr" anchorCtr="0">
              <a:spAutoFit/>
            </a:bodyPr>
            <a:lstStyle/>
            <a:p>
              <a:pPr algn="ctr"/>
              <a:r>
                <a:rPr lang="en-US" sz="2000" b="1" dirty="0" smtClean="0">
                  <a:solidFill>
                    <a:schemeClr val="tx2">
                      <a:lumMod val="50000"/>
                      <a:lumOff val="50000"/>
                    </a:schemeClr>
                  </a:solidFill>
                  <a:latin typeface="微軟正黑體" panose="020B0604030504040204" pitchFamily="34" charset="-120"/>
                  <a:ea typeface="微軟正黑體" panose="020B0604030504040204" pitchFamily="34" charset="-120"/>
                  <a:cs typeface="Poppins" pitchFamily="2" charset="77"/>
                </a:rPr>
                <a:t>AI</a:t>
              </a:r>
              <a:endParaRPr lang="en-US" sz="2000" b="1" dirty="0">
                <a:solidFill>
                  <a:schemeClr val="tx2">
                    <a:lumMod val="50000"/>
                    <a:lumOff val="50000"/>
                  </a:schemeClr>
                </a:solidFill>
                <a:latin typeface="微軟正黑體" panose="020B0604030504040204" pitchFamily="34" charset="-120"/>
                <a:ea typeface="微軟正黑體" panose="020B0604030504040204" pitchFamily="34" charset="-120"/>
                <a:cs typeface="Poppins" pitchFamily="2" charset="77"/>
              </a:endParaRPr>
            </a:p>
          </p:txBody>
        </p:sp>
      </p:grpSp>
      <p:pic>
        <p:nvPicPr>
          <p:cNvPr id="30" name="Picture 2" descr="箭头icon图片素材_免费箭头iconPNG设计图片大全_图精灵"/>
          <p:cNvPicPr>
            <a:picLocks noChangeAspect="1" noChangeArrowheads="1"/>
          </p:cNvPicPr>
          <p:nvPr/>
        </p:nvPicPr>
        <p:blipFill>
          <a:blip r:embed="rId5" cstate="print">
            <a:clrChange>
              <a:clrFrom>
                <a:srgbClr val="FEFEFE"/>
              </a:clrFrom>
              <a:clrTo>
                <a:srgbClr val="FEFEFE">
                  <a:alpha val="0"/>
                </a:srgbClr>
              </a:clrTo>
            </a:clrChange>
            <a:duotone>
              <a:schemeClr val="accent4">
                <a:shade val="45000"/>
                <a:satMod val="135000"/>
              </a:schemeClr>
              <a:prstClr val="white"/>
            </a:duotone>
            <a:extLst>
              <a:ext uri="{BEBA8EAE-BF5A-486C-A8C5-ECC9F3942E4B}">
                <a14:imgProps xmlns:a14="http://schemas.microsoft.com/office/drawing/2010/main">
                  <a14:imgLayer r:embed="rId6">
                    <a14:imgEffect>
                      <a14:artisticPencilSketch/>
                    </a14:imgEffect>
                  </a14:imgLayer>
                </a14:imgProps>
              </a:ext>
              <a:ext uri="{28A0092B-C50C-407E-A947-70E740481C1C}">
                <a14:useLocalDpi xmlns:a14="http://schemas.microsoft.com/office/drawing/2010/main" val="0"/>
              </a:ext>
            </a:extLst>
          </a:blip>
          <a:srcRect/>
          <a:stretch>
            <a:fillRect/>
          </a:stretch>
        </p:blipFill>
        <p:spPr bwMode="auto">
          <a:xfrm>
            <a:off x="3040837" y="3088147"/>
            <a:ext cx="206870" cy="206870"/>
          </a:xfrm>
          <a:prstGeom prst="rect">
            <a:avLst/>
          </a:prstGeom>
          <a:noFill/>
          <a:extLst>
            <a:ext uri="{909E8E84-426E-40DD-AFC4-6F175D3DCCD1}">
              <a14:hiddenFill xmlns:a14="http://schemas.microsoft.com/office/drawing/2010/main">
                <a:solidFill>
                  <a:srgbClr val="FFFFFF"/>
                </a:solidFill>
              </a14:hiddenFill>
            </a:ext>
          </a:extLst>
        </p:spPr>
      </p:pic>
      <p:sp>
        <p:nvSpPr>
          <p:cNvPr id="31" name="文字方塊 30"/>
          <p:cNvSpPr txBox="1"/>
          <p:nvPr/>
        </p:nvSpPr>
        <p:spPr>
          <a:xfrm>
            <a:off x="3292357" y="2880093"/>
            <a:ext cx="877163" cy="553998"/>
          </a:xfrm>
          <a:prstGeom prst="rect">
            <a:avLst/>
          </a:prstGeom>
          <a:noFill/>
          <a:ln>
            <a:solidFill>
              <a:schemeClr val="tx1"/>
            </a:solidFill>
            <a:prstDash val="dash"/>
          </a:ln>
        </p:spPr>
        <p:txBody>
          <a:bodyPr wrap="none" rtlCol="0">
            <a:spAutoFit/>
          </a:bodyPr>
          <a:lstStyle/>
          <a:p>
            <a:r>
              <a:rPr lang="zh-TW" altLang="en-US" sz="700" b="1" dirty="0" smtClean="0">
                <a:latin typeface="微軟正黑體" panose="020B0604030504040204" pitchFamily="34" charset="-120"/>
                <a:ea typeface="微軟正黑體" panose="020B0604030504040204" pitchFamily="34" charset="-120"/>
              </a:rPr>
              <a:t>人工通知</a:t>
            </a:r>
            <a:r>
              <a:rPr lang="en-US" altLang="zh-TW" sz="700" b="1" dirty="0" smtClean="0">
                <a:latin typeface="微軟正黑體" panose="020B0604030504040204" pitchFamily="34" charset="-120"/>
                <a:ea typeface="微軟正黑體" panose="020B0604030504040204" pitchFamily="34" charset="-120"/>
              </a:rPr>
              <a:t>-&gt;</a:t>
            </a:r>
          </a:p>
          <a:p>
            <a:r>
              <a:rPr lang="zh-TW" altLang="en-US" sz="700" b="1" dirty="0" smtClean="0">
                <a:latin typeface="微軟正黑體" panose="020B0604030504040204" pitchFamily="34" charset="-120"/>
                <a:ea typeface="微軟正黑體" panose="020B0604030504040204" pitchFamily="34" charset="-120"/>
              </a:rPr>
              <a:t>確認檢查</a:t>
            </a:r>
            <a:r>
              <a:rPr lang="en-US" altLang="zh-TW" sz="700" b="1" dirty="0" smtClean="0">
                <a:latin typeface="微軟正黑體" panose="020B0604030504040204" pitchFamily="34" charset="-120"/>
                <a:ea typeface="微軟正黑體" panose="020B0604030504040204" pitchFamily="34" charset="-120"/>
              </a:rPr>
              <a:t>-&gt;</a:t>
            </a:r>
          </a:p>
          <a:p>
            <a:r>
              <a:rPr lang="zh-TW" altLang="en-US" sz="700" b="1" dirty="0" smtClean="0">
                <a:latin typeface="微軟正黑體" panose="020B0604030504040204" pitchFamily="34" charset="-120"/>
                <a:ea typeface="微軟正黑體" panose="020B0604030504040204" pitchFamily="34" charset="-120"/>
              </a:rPr>
              <a:t>補值</a:t>
            </a:r>
            <a:r>
              <a:rPr lang="en-US" altLang="zh-TW" sz="700" b="1" dirty="0" smtClean="0">
                <a:latin typeface="微軟正黑體" panose="020B0604030504040204" pitchFamily="34" charset="-120"/>
                <a:ea typeface="微軟正黑體" panose="020B0604030504040204" pitchFamily="34" charset="-120"/>
              </a:rPr>
              <a:t>-&gt;</a:t>
            </a:r>
          </a:p>
          <a:p>
            <a:r>
              <a:rPr lang="zh-TW" altLang="en-US" sz="900" b="1" dirty="0" smtClean="0">
                <a:solidFill>
                  <a:srgbClr val="FF0000"/>
                </a:solidFill>
                <a:latin typeface="微軟正黑體" panose="020B0604030504040204" pitchFamily="34" charset="-120"/>
                <a:ea typeface="微軟正黑體" panose="020B0604030504040204" pitchFamily="34" charset="-120"/>
              </a:rPr>
              <a:t>皆為人力耗費</a:t>
            </a:r>
            <a:endParaRPr lang="zh-TW" altLang="en-US" sz="900" b="1" dirty="0">
              <a:solidFill>
                <a:srgbClr val="FF0000"/>
              </a:solidFill>
              <a:latin typeface="微軟正黑體" panose="020B0604030504040204" pitchFamily="34" charset="-120"/>
              <a:ea typeface="微軟正黑體" panose="020B0604030504040204" pitchFamily="34" charset="-120"/>
            </a:endParaRPr>
          </a:p>
        </p:txBody>
      </p:sp>
      <p:grpSp>
        <p:nvGrpSpPr>
          <p:cNvPr id="33" name="群組 32"/>
          <p:cNvGrpSpPr/>
          <p:nvPr/>
        </p:nvGrpSpPr>
        <p:grpSpPr>
          <a:xfrm>
            <a:off x="5999323" y="1431943"/>
            <a:ext cx="2840283" cy="1252799"/>
            <a:chOff x="5939600" y="1429706"/>
            <a:chExt cx="2840283" cy="1252799"/>
          </a:xfrm>
        </p:grpSpPr>
        <p:sp>
          <p:nvSpPr>
            <p:cNvPr id="161" name="矩形 160"/>
            <p:cNvSpPr/>
            <p:nvPr/>
          </p:nvSpPr>
          <p:spPr>
            <a:xfrm>
              <a:off x="5939600" y="1429706"/>
              <a:ext cx="2834088" cy="507831"/>
            </a:xfrm>
            <a:prstGeom prst="rect">
              <a:avLst/>
            </a:prstGeom>
          </p:spPr>
          <p:txBody>
            <a:bodyPr wrap="square">
              <a:spAutoFit/>
            </a:bodyPr>
            <a:lstStyle/>
            <a:p>
              <a:pPr marL="228600" indent="-228600">
                <a:buFont typeface="+mj-lt"/>
                <a:buAutoNum type="arabicPeriod"/>
              </a:pPr>
              <a:r>
                <a:rPr lang="zh-TW" altLang="en-US" sz="900" b="1" dirty="0">
                  <a:latin typeface="微軟正黑體" panose="020B0604030504040204" pitchFamily="34" charset="-120"/>
                  <a:ea typeface="微軟正黑體" panose="020B0604030504040204" pitchFamily="34" charset="-120"/>
                </a:rPr>
                <a:t>數據</a:t>
              </a:r>
              <a:r>
                <a:rPr lang="zh-TW" altLang="en-US" sz="900" b="1" dirty="0" smtClean="0">
                  <a:latin typeface="微軟正黑體" panose="020B0604030504040204" pitchFamily="34" charset="-120"/>
                  <a:ea typeface="微軟正黑體" panose="020B0604030504040204" pitchFamily="34" charset="-120"/>
                </a:rPr>
                <a:t>整合</a:t>
              </a:r>
              <a:r>
                <a:rPr lang="en-US" altLang="zh-TW" sz="900" b="1" dirty="0" smtClean="0">
                  <a:latin typeface="微軟正黑體" panose="020B0604030504040204" pitchFamily="34" charset="-120"/>
                  <a:ea typeface="微軟正黑體" panose="020B0604030504040204" pitchFamily="34" charset="-120"/>
                </a:rPr>
                <a:t>-&gt;</a:t>
              </a:r>
              <a:r>
                <a:rPr lang="zh-TW" altLang="en-US" sz="900" b="1" dirty="0" smtClean="0">
                  <a:solidFill>
                    <a:srgbClr val="FF0000"/>
                  </a:solidFill>
                  <a:latin typeface="微軟正黑體" panose="020B0604030504040204" pitchFamily="34" charset="-120"/>
                  <a:ea typeface="微軟正黑體" panose="020B0604030504040204" pitchFamily="34" charset="-120"/>
                </a:rPr>
                <a:t>節省人員通知及上系統操作</a:t>
              </a:r>
              <a:endParaRPr lang="en-US" altLang="zh-TW" sz="900" b="1" dirty="0" smtClean="0">
                <a:solidFill>
                  <a:srgbClr val="FF0000"/>
                </a:solidFill>
                <a:latin typeface="微軟正黑體" panose="020B0604030504040204" pitchFamily="34" charset="-120"/>
                <a:ea typeface="微軟正黑體" panose="020B0604030504040204" pitchFamily="34" charset="-120"/>
              </a:endParaRPr>
            </a:p>
            <a:p>
              <a:r>
                <a:rPr lang="en-US" altLang="zh-TW" sz="900" b="1" dirty="0" smtClean="0">
                  <a:latin typeface="微軟正黑體" panose="020B0604030504040204" pitchFamily="34" charset="-120"/>
                  <a:ea typeface="微軟正黑體" panose="020B0604030504040204" pitchFamily="34" charset="-120"/>
                </a:rPr>
                <a:t>        ORCtool/MQCtool/RunChart/rule Table(SQL)</a:t>
              </a:r>
              <a:endParaRPr lang="en-US" altLang="zh-TW" sz="900" b="1" dirty="0">
                <a:latin typeface="微軟正黑體" panose="020B0604030504040204" pitchFamily="34" charset="-120"/>
                <a:ea typeface="微軟正黑體" panose="020B0604030504040204" pitchFamily="34" charset="-120"/>
              </a:endParaRPr>
            </a:p>
          </p:txBody>
        </p:sp>
        <p:sp>
          <p:nvSpPr>
            <p:cNvPr id="131" name="矩形 130"/>
            <p:cNvSpPr/>
            <p:nvPr/>
          </p:nvSpPr>
          <p:spPr>
            <a:xfrm>
              <a:off x="5945795" y="1759175"/>
              <a:ext cx="2834088" cy="923330"/>
            </a:xfrm>
            <a:prstGeom prst="rect">
              <a:avLst/>
            </a:prstGeom>
          </p:spPr>
          <p:txBody>
            <a:bodyPr wrap="square">
              <a:spAutoFit/>
            </a:bodyPr>
            <a:lstStyle/>
            <a:p>
              <a:pPr marL="228600" indent="-228600">
                <a:lnSpc>
                  <a:spcPct val="150000"/>
                </a:lnSpc>
                <a:buFont typeface="+mj-lt"/>
                <a:buAutoNum type="arabicPeriod" startAt="2"/>
              </a:pPr>
              <a:r>
                <a:rPr lang="zh-TW" altLang="en-US" sz="900" b="1" dirty="0" smtClean="0">
                  <a:latin typeface="微軟正黑體" panose="020B0604030504040204" pitchFamily="34" charset="-120"/>
                  <a:ea typeface="微軟正黑體" panose="020B0604030504040204" pitchFamily="34" charset="-120"/>
                </a:rPr>
                <a:t>影像處理</a:t>
              </a:r>
              <a:r>
                <a:rPr lang="en-US" altLang="zh-TW" sz="900" b="1" dirty="0" smtClean="0">
                  <a:latin typeface="微軟正黑體" panose="020B0604030504040204" pitchFamily="34" charset="-120"/>
                  <a:ea typeface="微軟正黑體" panose="020B0604030504040204" pitchFamily="34" charset="-120"/>
                </a:rPr>
                <a:t>-&gt;(OPEN CV)</a:t>
              </a:r>
            </a:p>
            <a:p>
              <a:pPr marL="228600" indent="-228600">
                <a:lnSpc>
                  <a:spcPct val="150000"/>
                </a:lnSpc>
                <a:buFont typeface="+mj-lt"/>
                <a:buAutoNum type="arabicPeriod" startAt="3"/>
              </a:pPr>
              <a:r>
                <a:rPr lang="en-US" altLang="zh-TW" sz="900" b="1" dirty="0" smtClean="0">
                  <a:latin typeface="微軟正黑體" panose="020B0604030504040204" pitchFamily="34" charset="-120"/>
                  <a:ea typeface="微軟正黑體" panose="020B0604030504040204" pitchFamily="34" charset="-120"/>
                </a:rPr>
                <a:t>Yolo v5</a:t>
              </a:r>
              <a:r>
                <a:rPr lang="zh-TW" altLang="en-US" sz="900" b="1" dirty="0" smtClean="0">
                  <a:latin typeface="微軟正黑體" panose="020B0604030504040204" pitchFamily="34" charset="-120"/>
                  <a:ea typeface="微軟正黑體" panose="020B0604030504040204" pitchFamily="34" charset="-120"/>
                </a:rPr>
                <a:t>辨識</a:t>
              </a:r>
              <a:r>
                <a:rPr lang="en-US" altLang="zh-TW" sz="900" b="1" dirty="0" smtClean="0">
                  <a:latin typeface="微軟正黑體" panose="020B0604030504040204" pitchFamily="34" charset="-120"/>
                  <a:ea typeface="微軟正黑體" panose="020B0604030504040204" pitchFamily="34" charset="-120"/>
                </a:rPr>
                <a:t>-&gt;</a:t>
              </a:r>
              <a:r>
                <a:rPr lang="zh-TW" altLang="en-US" sz="900" b="1" dirty="0" smtClean="0">
                  <a:solidFill>
                    <a:srgbClr val="FF0000"/>
                  </a:solidFill>
                  <a:latin typeface="微軟正黑體" panose="020B0604030504040204" pitchFamily="34" charset="-120"/>
                  <a:ea typeface="微軟正黑體" panose="020B0604030504040204" pitchFamily="34" charset="-120"/>
                </a:rPr>
                <a:t>模型建立取代人工辨識</a:t>
              </a:r>
              <a:endParaRPr lang="en-US" altLang="zh-TW" sz="900" b="1" dirty="0" smtClean="0">
                <a:solidFill>
                  <a:srgbClr val="FF0000"/>
                </a:solidFill>
                <a:latin typeface="微軟正黑體" panose="020B0604030504040204" pitchFamily="34" charset="-120"/>
                <a:ea typeface="微軟正黑體" panose="020B0604030504040204" pitchFamily="34" charset="-120"/>
              </a:endParaRPr>
            </a:p>
            <a:p>
              <a:pPr marL="228600" indent="-228600">
                <a:lnSpc>
                  <a:spcPct val="150000"/>
                </a:lnSpc>
                <a:buFont typeface="+mj-lt"/>
                <a:buAutoNum type="arabicPeriod" startAt="3"/>
              </a:pPr>
              <a:r>
                <a:rPr lang="zh-TW" altLang="en-US" sz="900" b="1" dirty="0" smtClean="0">
                  <a:latin typeface="微軟正黑體" panose="020B0604030504040204" pitchFamily="34" charset="-120"/>
                  <a:ea typeface="微軟正黑體" panose="020B0604030504040204" pitchFamily="34" charset="-120"/>
                </a:rPr>
                <a:t>偏差位移計算</a:t>
              </a:r>
              <a:r>
                <a:rPr lang="en-US" altLang="zh-TW" sz="900" b="1" dirty="0" smtClean="0">
                  <a:latin typeface="微軟正黑體" panose="020B0604030504040204" pitchFamily="34" charset="-120"/>
                  <a:ea typeface="微軟正黑體" panose="020B0604030504040204" pitchFamily="34" charset="-120"/>
                </a:rPr>
                <a:t>&amp;</a:t>
              </a:r>
              <a:r>
                <a:rPr lang="zh-TW" altLang="en-US" sz="900" b="1" dirty="0" smtClean="0">
                  <a:latin typeface="微軟正黑體" panose="020B0604030504040204" pitchFamily="34" charset="-120"/>
                  <a:ea typeface="微軟正黑體" panose="020B0604030504040204" pitchFamily="34" charset="-120"/>
                </a:rPr>
                <a:t>修改</a:t>
              </a:r>
              <a:r>
                <a:rPr lang="en-US" altLang="zh-TW" sz="800" b="1" dirty="0" smtClean="0">
                  <a:latin typeface="微軟正黑體" panose="020B0604030504040204" pitchFamily="34" charset="-120"/>
                  <a:ea typeface="微軟正黑體" panose="020B0604030504040204" pitchFamily="34" charset="-120"/>
                </a:rPr>
                <a:t>Recipe</a:t>
              </a:r>
              <a:endParaRPr lang="en-US" altLang="zh-TW" sz="900" b="1" dirty="0" smtClean="0">
                <a:latin typeface="微軟正黑體" panose="020B0604030504040204" pitchFamily="34" charset="-120"/>
                <a:ea typeface="微軟正黑體" panose="020B0604030504040204" pitchFamily="34" charset="-120"/>
              </a:endParaRPr>
            </a:p>
            <a:p>
              <a:pPr marL="228600" indent="-228600">
                <a:lnSpc>
                  <a:spcPct val="150000"/>
                </a:lnSpc>
                <a:buFont typeface="+mj-lt"/>
                <a:buAutoNum type="arabicPeriod" startAt="3"/>
              </a:pPr>
              <a:r>
                <a:rPr lang="zh-TW" altLang="en-US" sz="900" b="1" dirty="0" smtClean="0">
                  <a:latin typeface="微軟正黑體" panose="020B0604030504040204" pitchFamily="34" charset="-120"/>
                  <a:ea typeface="微軟正黑體" panose="020B0604030504040204" pitchFamily="34" charset="-120"/>
                </a:rPr>
                <a:t>補值</a:t>
              </a:r>
              <a:r>
                <a:rPr lang="en-US" altLang="zh-TW" sz="900" b="1" dirty="0" smtClean="0">
                  <a:latin typeface="微軟正黑體" panose="020B0604030504040204" pitchFamily="34" charset="-120"/>
                  <a:ea typeface="微軟正黑體" panose="020B0604030504040204" pitchFamily="34" charset="-120"/>
                </a:rPr>
                <a:t>Recipe</a:t>
              </a:r>
              <a:r>
                <a:rPr lang="zh-TW" altLang="en-US" sz="900" b="1" dirty="0" smtClean="0">
                  <a:latin typeface="微軟正黑體" panose="020B0604030504040204" pitchFamily="34" charset="-120"/>
                  <a:ea typeface="微軟正黑體" panose="020B0604030504040204" pitchFamily="34" charset="-120"/>
                </a:rPr>
                <a:t>回填至機台端</a:t>
              </a:r>
              <a:endParaRPr lang="en-US" altLang="zh-TW" sz="900" b="1" dirty="0" smtClean="0">
                <a:latin typeface="微軟正黑體" panose="020B0604030504040204" pitchFamily="34" charset="-120"/>
                <a:ea typeface="微軟正黑體" panose="020B0604030504040204" pitchFamily="34" charset="-120"/>
              </a:endParaRPr>
            </a:p>
          </p:txBody>
        </p:sp>
      </p:grpSp>
      <p:sp>
        <p:nvSpPr>
          <p:cNvPr id="32" name="矩形 31"/>
          <p:cNvSpPr/>
          <p:nvPr/>
        </p:nvSpPr>
        <p:spPr>
          <a:xfrm>
            <a:off x="1624485" y="3823962"/>
            <a:ext cx="2122697" cy="246221"/>
          </a:xfrm>
          <a:prstGeom prst="rect">
            <a:avLst/>
          </a:prstGeom>
          <a:solidFill>
            <a:srgbClr val="9CBFE4"/>
          </a:solidFill>
          <a:ln>
            <a:noFill/>
            <a:prstDash val="dash"/>
          </a:ln>
          <a:effectLst>
            <a:softEdge rad="31750"/>
          </a:effectLst>
        </p:spPr>
        <p:txBody>
          <a:bodyPr wrap="none" rtlCol="0">
            <a:spAutoFit/>
          </a:bodyPr>
          <a:lstStyle/>
          <a:p>
            <a:r>
              <a:rPr lang="zh-TW" altLang="en-US" sz="1000" b="1" dirty="0" smtClean="0">
                <a:solidFill>
                  <a:srgbClr val="FF0000"/>
                </a:solidFill>
                <a:latin typeface="微軟正黑體" panose="020B0604030504040204" pitchFamily="34" charset="-120"/>
                <a:ea typeface="微軟正黑體" panose="020B0604030504040204" pitchFamily="34" charset="-120"/>
              </a:rPr>
              <a:t>節省人員通</a:t>
            </a:r>
            <a:r>
              <a:rPr lang="zh-TW" altLang="en-US" sz="1000" b="1" dirty="0">
                <a:solidFill>
                  <a:srgbClr val="FF0000"/>
                </a:solidFill>
                <a:latin typeface="微軟正黑體" panose="020B0604030504040204" pitchFamily="34" charset="-120"/>
                <a:ea typeface="微軟正黑體" panose="020B0604030504040204" pitchFamily="34" charset="-120"/>
              </a:rPr>
              <a:t>知</a:t>
            </a:r>
            <a:r>
              <a:rPr lang="zh-TW" altLang="en-US" sz="1000" b="1" dirty="0" smtClean="0">
                <a:solidFill>
                  <a:srgbClr val="FF0000"/>
                </a:solidFill>
                <a:latin typeface="微軟正黑體" panose="020B0604030504040204" pitchFamily="34" charset="-120"/>
                <a:ea typeface="微軟正黑體" panose="020B0604030504040204" pitchFamily="34" charset="-120"/>
              </a:rPr>
              <a:t>  </a:t>
            </a:r>
            <a:r>
              <a:rPr lang="en-US" altLang="zh-TW" sz="1000" b="1" dirty="0" smtClean="0">
                <a:solidFill>
                  <a:srgbClr val="FF0000"/>
                </a:solidFill>
                <a:latin typeface="微軟正黑體" panose="020B0604030504040204" pitchFamily="34" charset="-120"/>
                <a:ea typeface="微軟正黑體" panose="020B0604030504040204" pitchFamily="34" charset="-120"/>
              </a:rPr>
              <a:t>&amp;</a:t>
            </a:r>
            <a:r>
              <a:rPr lang="zh-TW" altLang="en-US" sz="1000" b="1" dirty="0" smtClean="0">
                <a:solidFill>
                  <a:srgbClr val="FF0000"/>
                </a:solidFill>
                <a:latin typeface="微軟正黑體" panose="020B0604030504040204" pitchFamily="34" charset="-120"/>
                <a:ea typeface="微軟正黑體" panose="020B0604030504040204" pitchFamily="34" charset="-120"/>
              </a:rPr>
              <a:t>  自動判片、 補值</a:t>
            </a:r>
            <a:endParaRPr lang="en-US" altLang="zh-TW" sz="1000" b="1" dirty="0">
              <a:solidFill>
                <a:srgbClr val="FF0000"/>
              </a:solidFill>
              <a:latin typeface="微軟正黑體" panose="020B0604030504040204" pitchFamily="34" charset="-120"/>
              <a:ea typeface="微軟正黑體" panose="020B0604030504040204" pitchFamily="34" charset="-120"/>
            </a:endParaRPr>
          </a:p>
        </p:txBody>
      </p:sp>
      <p:sp>
        <p:nvSpPr>
          <p:cNvPr id="133" name="矩形 132"/>
          <p:cNvSpPr/>
          <p:nvPr/>
        </p:nvSpPr>
        <p:spPr>
          <a:xfrm>
            <a:off x="549562" y="4149669"/>
            <a:ext cx="779522" cy="230832"/>
          </a:xfrm>
          <a:prstGeom prst="rect">
            <a:avLst/>
          </a:prstGeom>
          <a:solidFill>
            <a:schemeClr val="accent4"/>
          </a:solidFill>
          <a:ln>
            <a:solidFill>
              <a:schemeClr val="tx2">
                <a:lumMod val="50000"/>
                <a:lumOff val="50000"/>
              </a:schemeClr>
            </a:solidFill>
            <a:prstDash val="sysDot"/>
          </a:ln>
        </p:spPr>
        <p:txBody>
          <a:bodyPr wrap="square">
            <a:spAutoFit/>
          </a:bodyPr>
          <a:lstStyle/>
          <a:p>
            <a:pPr algn="ctr"/>
            <a:r>
              <a:rPr lang="zh-TW" altLang="en-US" sz="900" b="1" dirty="0" smtClean="0">
                <a:solidFill>
                  <a:schemeClr val="bg1"/>
                </a:solidFill>
                <a:latin typeface="微軟正黑體" panose="020B0604030504040204" pitchFamily="34" charset="-120"/>
                <a:ea typeface="微軟正黑體" panose="020B0604030504040204" pitchFamily="34" charset="-120"/>
              </a:rPr>
              <a:t>系統辨識</a:t>
            </a:r>
            <a:endParaRPr lang="en-US" altLang="zh-TW" sz="900" b="1" dirty="0">
              <a:solidFill>
                <a:schemeClr val="bg1"/>
              </a:solidFill>
              <a:latin typeface="微軟正黑體" panose="020B0604030504040204" pitchFamily="34" charset="-120"/>
              <a:ea typeface="微軟正黑體" panose="020B0604030504040204" pitchFamily="34" charset="-120"/>
            </a:endParaRPr>
          </a:p>
        </p:txBody>
      </p:sp>
      <p:sp>
        <p:nvSpPr>
          <p:cNvPr id="134" name="矩形 133"/>
          <p:cNvSpPr/>
          <p:nvPr/>
        </p:nvSpPr>
        <p:spPr>
          <a:xfrm>
            <a:off x="1480551" y="4165731"/>
            <a:ext cx="779522" cy="230832"/>
          </a:xfrm>
          <a:prstGeom prst="rect">
            <a:avLst/>
          </a:prstGeom>
          <a:solidFill>
            <a:schemeClr val="accent4"/>
          </a:solidFill>
          <a:ln>
            <a:solidFill>
              <a:schemeClr val="tx2">
                <a:lumMod val="50000"/>
                <a:lumOff val="50000"/>
              </a:schemeClr>
            </a:solidFill>
            <a:prstDash val="sysDot"/>
          </a:ln>
        </p:spPr>
        <p:txBody>
          <a:bodyPr wrap="square">
            <a:spAutoFit/>
          </a:bodyPr>
          <a:lstStyle/>
          <a:p>
            <a:pPr algn="ctr"/>
            <a:r>
              <a:rPr lang="zh-TW" altLang="en-US" sz="900" b="1" dirty="0">
                <a:solidFill>
                  <a:schemeClr val="bg1"/>
                </a:solidFill>
                <a:latin typeface="微軟正黑體" panose="020B0604030504040204" pitchFamily="34" charset="-120"/>
                <a:ea typeface="微軟正黑體" panose="020B0604030504040204" pitchFamily="34" charset="-120"/>
              </a:rPr>
              <a:t>系統補值</a:t>
            </a:r>
            <a:endParaRPr lang="en-US" altLang="zh-TW" sz="900" b="1" dirty="0">
              <a:solidFill>
                <a:schemeClr val="bg1"/>
              </a:solidFill>
              <a:latin typeface="微軟正黑體" panose="020B0604030504040204" pitchFamily="34" charset="-120"/>
              <a:ea typeface="微軟正黑體" panose="020B0604030504040204" pitchFamily="34" charset="-120"/>
            </a:endParaRPr>
          </a:p>
        </p:txBody>
      </p:sp>
      <p:sp>
        <p:nvSpPr>
          <p:cNvPr id="135" name="矩形 134"/>
          <p:cNvSpPr/>
          <p:nvPr/>
        </p:nvSpPr>
        <p:spPr>
          <a:xfrm>
            <a:off x="555353" y="4516103"/>
            <a:ext cx="744299" cy="200055"/>
          </a:xfrm>
          <a:prstGeom prst="rect">
            <a:avLst/>
          </a:prstGeom>
          <a:solidFill>
            <a:schemeClr val="accent5">
              <a:lumMod val="75000"/>
            </a:schemeClr>
          </a:solidFill>
          <a:ln>
            <a:solidFill>
              <a:schemeClr val="tx2">
                <a:lumMod val="50000"/>
                <a:lumOff val="50000"/>
              </a:schemeClr>
            </a:solidFill>
            <a:prstDash val="sysDot"/>
          </a:ln>
        </p:spPr>
        <p:txBody>
          <a:bodyPr wrap="square">
            <a:spAutoFit/>
          </a:bodyPr>
          <a:lstStyle/>
          <a:p>
            <a:pPr algn="ctr"/>
            <a:r>
              <a:rPr lang="zh-TW" altLang="en-US" sz="700" b="1" dirty="0" smtClean="0">
                <a:solidFill>
                  <a:schemeClr val="bg1"/>
                </a:solidFill>
                <a:latin typeface="微軟正黑體" panose="020B0604030504040204" pitchFamily="34" charset="-120"/>
                <a:ea typeface="微軟正黑體" panose="020B0604030504040204" pitchFamily="34" charset="-120"/>
              </a:rPr>
              <a:t>續</a:t>
            </a:r>
            <a:r>
              <a:rPr lang="en-US" altLang="zh-TW" sz="700" b="1" dirty="0" smtClean="0">
                <a:solidFill>
                  <a:schemeClr val="bg1"/>
                </a:solidFill>
                <a:latin typeface="微軟正黑體" panose="020B0604030504040204" pitchFamily="34" charset="-120"/>
                <a:ea typeface="微軟正黑體" panose="020B0604030504040204" pitchFamily="34" charset="-120"/>
              </a:rPr>
              <a:t>Run</a:t>
            </a:r>
          </a:p>
        </p:txBody>
      </p:sp>
      <p:sp>
        <p:nvSpPr>
          <p:cNvPr id="136" name="矩形 135"/>
          <p:cNvSpPr/>
          <p:nvPr/>
        </p:nvSpPr>
        <p:spPr>
          <a:xfrm>
            <a:off x="1460420" y="4462243"/>
            <a:ext cx="799587" cy="307777"/>
          </a:xfrm>
          <a:prstGeom prst="rect">
            <a:avLst/>
          </a:prstGeom>
          <a:solidFill>
            <a:schemeClr val="accent4"/>
          </a:solidFill>
          <a:ln>
            <a:solidFill>
              <a:schemeClr val="tx2">
                <a:lumMod val="50000"/>
                <a:lumOff val="50000"/>
              </a:schemeClr>
            </a:solidFill>
            <a:prstDash val="sysDot"/>
          </a:ln>
        </p:spPr>
        <p:txBody>
          <a:bodyPr wrap="square">
            <a:spAutoFit/>
          </a:bodyPr>
          <a:lstStyle/>
          <a:p>
            <a:pPr algn="ctr"/>
            <a:r>
              <a:rPr lang="en-US" altLang="zh-TW" sz="700" b="1" dirty="0" smtClean="0">
                <a:solidFill>
                  <a:schemeClr val="bg1"/>
                </a:solidFill>
                <a:latin typeface="微軟正黑體" panose="020B0604030504040204" pitchFamily="34" charset="-120"/>
                <a:ea typeface="微軟正黑體" panose="020B0604030504040204" pitchFamily="34" charset="-120"/>
              </a:rPr>
              <a:t>E-Stone</a:t>
            </a:r>
          </a:p>
          <a:p>
            <a:pPr algn="ctr"/>
            <a:r>
              <a:rPr lang="zh-TW" altLang="en-US" sz="700" b="1" dirty="0" smtClean="0">
                <a:solidFill>
                  <a:schemeClr val="bg1"/>
                </a:solidFill>
                <a:latin typeface="微軟正黑體" panose="020B0604030504040204" pitchFamily="34" charset="-120"/>
                <a:ea typeface="微軟正黑體" panose="020B0604030504040204" pitchFamily="34" charset="-120"/>
              </a:rPr>
              <a:t>發報</a:t>
            </a:r>
            <a:r>
              <a:rPr lang="en-US" altLang="zh-TW" sz="700" b="1" dirty="0" smtClean="0">
                <a:solidFill>
                  <a:schemeClr val="bg1"/>
                </a:solidFill>
                <a:latin typeface="微軟正黑體" panose="020B0604030504040204" pitchFamily="34" charset="-120"/>
                <a:ea typeface="微軟正黑體" panose="020B0604030504040204" pitchFamily="34" charset="-120"/>
              </a:rPr>
              <a:t>Alert</a:t>
            </a:r>
          </a:p>
        </p:txBody>
      </p:sp>
      <p:cxnSp>
        <p:nvCxnSpPr>
          <p:cNvPr id="138" name="肘形接點 137"/>
          <p:cNvCxnSpPr/>
          <p:nvPr/>
        </p:nvCxnSpPr>
        <p:spPr>
          <a:xfrm rot="16200000" flipH="1">
            <a:off x="1267239" y="4407386"/>
            <a:ext cx="319372" cy="108000"/>
          </a:xfrm>
          <a:prstGeom prst="bentConnector2">
            <a:avLst/>
          </a:prstGeom>
          <a:ln w="12700">
            <a:solidFill>
              <a:srgbClr val="5D7387"/>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線單箭頭接點 145"/>
          <p:cNvCxnSpPr/>
          <p:nvPr/>
        </p:nvCxnSpPr>
        <p:spPr>
          <a:xfrm>
            <a:off x="2260008" y="4616130"/>
            <a:ext cx="142095" cy="2"/>
          </a:xfrm>
          <a:prstGeom prst="straightConnector1">
            <a:avLst/>
          </a:prstGeom>
          <a:ln w="19050">
            <a:solidFill>
              <a:srgbClr val="5D7387"/>
            </a:solidFill>
            <a:tailEnd type="triangle"/>
          </a:ln>
        </p:spPr>
        <p:style>
          <a:lnRef idx="1">
            <a:schemeClr val="accent1"/>
          </a:lnRef>
          <a:fillRef idx="0">
            <a:schemeClr val="accent1"/>
          </a:fillRef>
          <a:effectRef idx="0">
            <a:schemeClr val="accent1"/>
          </a:effectRef>
          <a:fontRef idx="minor">
            <a:schemeClr val="tx1"/>
          </a:fontRef>
        </p:style>
      </p:cxnSp>
      <p:sp>
        <p:nvSpPr>
          <p:cNvPr id="148" name="矩形 147"/>
          <p:cNvSpPr/>
          <p:nvPr/>
        </p:nvSpPr>
        <p:spPr>
          <a:xfrm>
            <a:off x="1240708" y="4097411"/>
            <a:ext cx="325730" cy="200055"/>
          </a:xfrm>
          <a:prstGeom prst="rect">
            <a:avLst/>
          </a:prstGeom>
        </p:spPr>
        <p:txBody>
          <a:bodyPr wrap="none">
            <a:spAutoFit/>
          </a:bodyPr>
          <a:lstStyle/>
          <a:p>
            <a:pPr algn="ctr"/>
            <a:r>
              <a:rPr lang="en-US" altLang="zh-TW" sz="700" b="1" dirty="0" smtClean="0">
                <a:solidFill>
                  <a:srgbClr val="FF0000"/>
                </a:solidFill>
                <a:latin typeface="微軟正黑體" panose="020B0604030504040204" pitchFamily="34" charset="-120"/>
                <a:ea typeface="微軟正黑體" panose="020B0604030504040204" pitchFamily="34" charset="-120"/>
              </a:rPr>
              <a:t>NG</a:t>
            </a:r>
            <a:endParaRPr lang="en-US" altLang="zh-TW" sz="700" b="1" dirty="0">
              <a:solidFill>
                <a:srgbClr val="FF0000"/>
              </a:solidFill>
              <a:latin typeface="微軟正黑體" panose="020B0604030504040204" pitchFamily="34" charset="-120"/>
              <a:ea typeface="微軟正黑體" panose="020B0604030504040204" pitchFamily="34" charset="-120"/>
            </a:endParaRPr>
          </a:p>
        </p:txBody>
      </p:sp>
      <p:sp>
        <p:nvSpPr>
          <p:cNvPr id="149" name="矩形 148"/>
          <p:cNvSpPr/>
          <p:nvPr/>
        </p:nvSpPr>
        <p:spPr>
          <a:xfrm>
            <a:off x="885939" y="4352217"/>
            <a:ext cx="295274" cy="184666"/>
          </a:xfrm>
          <a:prstGeom prst="rect">
            <a:avLst/>
          </a:prstGeom>
        </p:spPr>
        <p:txBody>
          <a:bodyPr wrap="none">
            <a:spAutoFit/>
          </a:bodyPr>
          <a:lstStyle/>
          <a:p>
            <a:pPr algn="ctr"/>
            <a:r>
              <a:rPr lang="en-US" altLang="zh-TW" sz="600" b="1" dirty="0" smtClean="0">
                <a:solidFill>
                  <a:srgbClr val="FF0000"/>
                </a:solidFill>
                <a:latin typeface="微軟正黑體" panose="020B0604030504040204" pitchFamily="34" charset="-120"/>
                <a:ea typeface="微軟正黑體" panose="020B0604030504040204" pitchFamily="34" charset="-120"/>
              </a:rPr>
              <a:t>OK</a:t>
            </a:r>
            <a:endParaRPr lang="en-US" altLang="zh-TW" sz="600" b="1" dirty="0">
              <a:solidFill>
                <a:srgbClr val="FF0000"/>
              </a:solidFill>
              <a:latin typeface="微軟正黑體" panose="020B0604030504040204" pitchFamily="34" charset="-120"/>
              <a:ea typeface="微軟正黑體" panose="020B0604030504040204" pitchFamily="34" charset="-120"/>
            </a:endParaRPr>
          </a:p>
        </p:txBody>
      </p:sp>
      <p:cxnSp>
        <p:nvCxnSpPr>
          <p:cNvPr id="150" name="直線單箭頭接點 149"/>
          <p:cNvCxnSpPr/>
          <p:nvPr/>
        </p:nvCxnSpPr>
        <p:spPr>
          <a:xfrm>
            <a:off x="1321361" y="4289936"/>
            <a:ext cx="180000" cy="2"/>
          </a:xfrm>
          <a:prstGeom prst="straightConnector1">
            <a:avLst/>
          </a:prstGeom>
          <a:ln w="19050">
            <a:solidFill>
              <a:srgbClr val="5D7387"/>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線單箭頭接點 150"/>
          <p:cNvCxnSpPr/>
          <p:nvPr/>
        </p:nvCxnSpPr>
        <p:spPr>
          <a:xfrm rot="5400000">
            <a:off x="869961" y="4451548"/>
            <a:ext cx="142095" cy="2"/>
          </a:xfrm>
          <a:prstGeom prst="straightConnector1">
            <a:avLst/>
          </a:prstGeom>
          <a:ln w="19050">
            <a:solidFill>
              <a:srgbClr val="5D7387"/>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肘形接點 151"/>
          <p:cNvCxnSpPr>
            <a:stCxn id="165" idx="2"/>
            <a:endCxn id="133" idx="1"/>
          </p:cNvCxnSpPr>
          <p:nvPr/>
        </p:nvCxnSpPr>
        <p:spPr>
          <a:xfrm rot="5400000" flipH="1">
            <a:off x="1431460" y="3383188"/>
            <a:ext cx="509875" cy="2273671"/>
          </a:xfrm>
          <a:prstGeom prst="bentConnector4">
            <a:avLst>
              <a:gd name="adj1" fmla="val -44835"/>
              <a:gd name="adj2" fmla="val 110054"/>
            </a:avLst>
          </a:prstGeom>
          <a:ln w="12700">
            <a:solidFill>
              <a:srgbClr val="5D7387"/>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2398759" y="4467183"/>
            <a:ext cx="848947" cy="307777"/>
          </a:xfrm>
          <a:prstGeom prst="rect">
            <a:avLst/>
          </a:prstGeom>
          <a:solidFill>
            <a:schemeClr val="accent1"/>
          </a:solidFill>
          <a:ln>
            <a:solidFill>
              <a:schemeClr val="tx2">
                <a:lumMod val="50000"/>
                <a:lumOff val="50000"/>
              </a:schemeClr>
            </a:solidFill>
            <a:prstDash val="sysDot"/>
          </a:ln>
        </p:spPr>
        <p:txBody>
          <a:bodyPr wrap="square">
            <a:spAutoFit/>
          </a:bodyPr>
          <a:lstStyle/>
          <a:p>
            <a:pPr algn="ctr"/>
            <a:r>
              <a:rPr lang="zh-TW" altLang="en-US" sz="700" b="1" dirty="0" smtClean="0">
                <a:solidFill>
                  <a:schemeClr val="bg1"/>
                </a:solidFill>
                <a:latin typeface="微軟正黑體" panose="020B0604030504040204" pitchFamily="34" charset="-120"/>
                <a:ea typeface="微軟正黑體" panose="020B0604030504040204" pitchFamily="34" charset="-120"/>
              </a:rPr>
              <a:t>製程人員</a:t>
            </a:r>
            <a:r>
              <a:rPr lang="en-US" altLang="zh-TW" sz="700" b="1" dirty="0" smtClean="0">
                <a:solidFill>
                  <a:schemeClr val="bg1"/>
                </a:solidFill>
                <a:latin typeface="微軟正黑體" panose="020B0604030504040204" pitchFamily="34" charset="-120"/>
                <a:ea typeface="微軟正黑體" panose="020B0604030504040204" pitchFamily="34" charset="-120"/>
              </a:rPr>
              <a:t>Hold</a:t>
            </a:r>
            <a:r>
              <a:rPr lang="zh-TW" altLang="en-US" sz="700" b="1" dirty="0" smtClean="0">
                <a:solidFill>
                  <a:schemeClr val="bg1"/>
                </a:solidFill>
                <a:latin typeface="微軟正黑體" panose="020B0604030504040204" pitchFamily="34" charset="-120"/>
                <a:ea typeface="微軟正黑體" panose="020B0604030504040204" pitchFamily="34" charset="-120"/>
              </a:rPr>
              <a:t>貨</a:t>
            </a:r>
            <a:endParaRPr lang="en-US" altLang="zh-TW" sz="700" b="1" dirty="0" smtClean="0">
              <a:solidFill>
                <a:schemeClr val="bg1"/>
              </a:solidFill>
              <a:latin typeface="微軟正黑體" panose="020B0604030504040204" pitchFamily="34" charset="-120"/>
              <a:ea typeface="微軟正黑體" panose="020B0604030504040204" pitchFamily="34" charset="-120"/>
            </a:endParaRPr>
          </a:p>
          <a:p>
            <a:pPr algn="ctr"/>
            <a:r>
              <a:rPr lang="zh-TW" altLang="en-US" sz="700" b="1" dirty="0">
                <a:solidFill>
                  <a:schemeClr val="bg1"/>
                </a:solidFill>
                <a:latin typeface="微軟正黑體" panose="020B0604030504040204" pitchFamily="34" charset="-120"/>
                <a:ea typeface="微軟正黑體" panose="020B0604030504040204" pitchFamily="34" charset="-120"/>
              </a:rPr>
              <a:t>通知重作</a:t>
            </a:r>
            <a:r>
              <a:rPr lang="en-US" altLang="zh-TW" sz="700" b="1" dirty="0" smtClean="0">
                <a:solidFill>
                  <a:schemeClr val="bg1"/>
                </a:solidFill>
                <a:latin typeface="微軟正黑體" panose="020B0604030504040204" pitchFamily="34" charset="-120"/>
                <a:ea typeface="微軟正黑體" panose="020B0604030504040204" pitchFamily="34" charset="-120"/>
              </a:rPr>
              <a:t>MQC</a:t>
            </a:r>
            <a:endParaRPr lang="en-US" altLang="zh-TW" sz="700" b="1" dirty="0">
              <a:solidFill>
                <a:schemeClr val="bg1"/>
              </a:solidFill>
              <a:latin typeface="微軟正黑體" panose="020B0604030504040204" pitchFamily="34" charset="-120"/>
              <a:ea typeface="微軟正黑體" panose="020B0604030504040204" pitchFamily="34" charset="-120"/>
            </a:endParaRPr>
          </a:p>
        </p:txBody>
      </p:sp>
      <p:pic>
        <p:nvPicPr>
          <p:cNvPr id="78" name="圖片 77"/>
          <p:cNvPicPr>
            <a:picLocks noChangeAspect="1"/>
          </p:cNvPicPr>
          <p:nvPr/>
        </p:nvPicPr>
        <p:blipFill>
          <a:blip r:embed="rId7"/>
          <a:stretch>
            <a:fillRect/>
          </a:stretch>
        </p:blipFill>
        <p:spPr>
          <a:xfrm>
            <a:off x="163033" y="2721425"/>
            <a:ext cx="2873261" cy="805009"/>
          </a:xfrm>
          <a:prstGeom prst="rect">
            <a:avLst/>
          </a:prstGeom>
        </p:spPr>
      </p:pic>
      <p:sp>
        <p:nvSpPr>
          <p:cNvPr id="80"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a:cs typeface="Arial" panose="020B0604020202020204" pitchFamily="34" charset="0"/>
              </a:rPr>
              <a:t>Chip id 2D code</a:t>
            </a:r>
            <a:r>
              <a:rPr lang="zh-TW" altLang="en-US" dirty="0">
                <a:cs typeface="Arial" panose="020B0604020202020204" pitchFamily="34" charset="0"/>
              </a:rPr>
              <a:t>影像辨識</a:t>
            </a:r>
          </a:p>
          <a:p>
            <a:endParaRPr lang="zh-TW" altLang="en-US" dirty="0">
              <a:cs typeface="Arial" panose="020B0604020202020204" pitchFamily="34" charset="0"/>
            </a:endParaRPr>
          </a:p>
        </p:txBody>
      </p:sp>
      <p:sp>
        <p:nvSpPr>
          <p:cNvPr id="79" name="文字方塊 78"/>
          <p:cNvSpPr txBox="1"/>
          <p:nvPr/>
        </p:nvSpPr>
        <p:spPr>
          <a:xfrm>
            <a:off x="4648206" y="4449454"/>
            <a:ext cx="1132624" cy="276999"/>
          </a:xfrm>
          <a:prstGeom prst="rect">
            <a:avLst/>
          </a:prstGeom>
          <a:noFill/>
        </p:spPr>
        <p:txBody>
          <a:bodyPr wrap="square" rtlCol="0">
            <a:spAutoFit/>
          </a:bodyPr>
          <a:lstStyle/>
          <a:p>
            <a:pPr lvl="0"/>
            <a:r>
              <a:rPr lang="zh-TW" altLang="en-US" sz="1200" b="1" dirty="0" smtClean="0">
                <a:latin typeface="微軟正黑體" panose="020B0604030504040204" pitchFamily="34" charset="-120"/>
                <a:ea typeface="微軟正黑體" panose="020B0604030504040204" pitchFamily="34" charset="-120"/>
              </a:rPr>
              <a:t>節省人力</a:t>
            </a:r>
            <a:endParaRPr lang="zh-TW" altLang="en-US" sz="12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5068206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p:cNvGrpSpPr/>
          <p:nvPr/>
        </p:nvGrpSpPr>
        <p:grpSpPr>
          <a:xfrm>
            <a:off x="56367" y="626400"/>
            <a:ext cx="8626833" cy="4454856"/>
            <a:chOff x="56367" y="1034582"/>
            <a:chExt cx="7340241" cy="4046674"/>
          </a:xfrm>
        </p:grpSpPr>
        <p:pic>
          <p:nvPicPr>
            <p:cNvPr id="2" name="圖片 1"/>
            <p:cNvPicPr>
              <a:picLocks noChangeAspect="1"/>
            </p:cNvPicPr>
            <p:nvPr/>
          </p:nvPicPr>
          <p:blipFill>
            <a:blip r:embed="rId2"/>
            <a:stretch>
              <a:fillRect/>
            </a:stretch>
          </p:blipFill>
          <p:spPr>
            <a:xfrm>
              <a:off x="131782" y="1034582"/>
              <a:ext cx="6726218" cy="3217964"/>
            </a:xfrm>
            <a:prstGeom prst="rect">
              <a:avLst/>
            </a:prstGeom>
          </p:spPr>
        </p:pic>
        <p:sp>
          <p:nvSpPr>
            <p:cNvPr id="56" name="矩形 55"/>
            <p:cNvSpPr/>
            <p:nvPr/>
          </p:nvSpPr>
          <p:spPr>
            <a:xfrm>
              <a:off x="56367" y="1130349"/>
              <a:ext cx="6877047" cy="27415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57" name="文字方塊 56"/>
            <p:cNvSpPr txBox="1"/>
            <p:nvPr/>
          </p:nvSpPr>
          <p:spPr>
            <a:xfrm>
              <a:off x="4255241" y="1152010"/>
              <a:ext cx="2932213" cy="230832"/>
            </a:xfrm>
            <a:prstGeom prst="rect">
              <a:avLst/>
            </a:prstGeom>
            <a:solidFill>
              <a:schemeClr val="bg2"/>
            </a:solidFill>
          </p:spPr>
          <p:txBody>
            <a:bodyPr wrap="none" rtlCol="0">
              <a:spAutoFit/>
            </a:bodyPr>
            <a:lstStyle/>
            <a:p>
              <a:r>
                <a:rPr lang="en-US" altLang="zh-TW" sz="900" b="1" dirty="0" smtClean="0">
                  <a:latin typeface="微軟正黑體" panose="020B0604030504040204" pitchFamily="34" charset="-120"/>
                  <a:ea typeface="微軟正黑體" panose="020B0604030504040204" pitchFamily="34" charset="-120"/>
                </a:rPr>
                <a:t>1.</a:t>
              </a:r>
              <a:r>
                <a:rPr lang="zh-TW" altLang="en-US" sz="900" b="1" dirty="0" smtClean="0">
                  <a:latin typeface="微軟正黑體" panose="020B0604030504040204" pitchFamily="34" charset="-120"/>
                  <a:ea typeface="微軟正黑體" panose="020B0604030504040204" pitchFamily="34" charset="-120"/>
                </a:rPr>
                <a:t> 選擇</a:t>
              </a:r>
              <a:r>
                <a:rPr lang="en-US" altLang="zh-TW" sz="900" b="1" dirty="0" smtClean="0">
                  <a:latin typeface="微軟正黑體" panose="020B0604030504040204" pitchFamily="34" charset="-120"/>
                  <a:ea typeface="微軟正黑體" panose="020B0604030504040204" pitchFamily="34" charset="-120"/>
                </a:rPr>
                <a:t> LINE</a:t>
              </a:r>
              <a:r>
                <a:rPr lang="zh-TW" altLang="en-US" sz="900" b="1" dirty="0">
                  <a:latin typeface="微軟正黑體" panose="020B0604030504040204" pitchFamily="34" charset="-120"/>
                  <a:ea typeface="微軟正黑體" panose="020B0604030504040204" pitchFamily="34" charset="-120"/>
                </a:rPr>
                <a:t> </a:t>
              </a:r>
              <a:r>
                <a:rPr lang="en-US" altLang="zh-TW" sz="900" b="1" dirty="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紅綠燈警示</a:t>
              </a:r>
              <a:r>
                <a:rPr lang="zh-TW" altLang="en-US" sz="900" b="1" dirty="0" smtClean="0">
                  <a:solidFill>
                    <a:srgbClr val="FF0000"/>
                  </a:solidFill>
                  <a:latin typeface="微軟正黑體" panose="020B0604030504040204" pitchFamily="34" charset="-120"/>
                  <a:ea typeface="微軟正黑體" panose="020B0604030504040204" pitchFamily="34" charset="-120"/>
                </a:rPr>
                <a:t>當天</a:t>
              </a:r>
              <a:r>
                <a:rPr lang="zh-TW" altLang="en-US" sz="900" b="1" dirty="0" smtClean="0">
                  <a:latin typeface="微軟正黑體" panose="020B0604030504040204" pitchFamily="34" charset="-120"/>
                  <a:ea typeface="微軟正黑體" panose="020B0604030504040204" pitchFamily="34" charset="-120"/>
                </a:rPr>
                <a:t>量測影像</a:t>
              </a:r>
              <a:r>
                <a:rPr lang="zh-TW" altLang="en-US" sz="900" b="1" dirty="0">
                  <a:latin typeface="微軟正黑體" panose="020B0604030504040204" pitchFamily="34" charset="-120"/>
                  <a:ea typeface="微軟正黑體" panose="020B0604030504040204" pitchFamily="34" charset="-120"/>
                </a:rPr>
                <a:t> </a:t>
              </a:r>
              <a:r>
                <a:rPr lang="zh-TW" altLang="en-US" sz="900" b="1" dirty="0" smtClean="0">
                  <a:latin typeface="微軟正黑體" panose="020B0604030504040204" pitchFamily="34" charset="-120"/>
                  <a:ea typeface="微軟正黑體" panose="020B0604030504040204" pitchFamily="34" charset="-120"/>
                </a:rPr>
                <a:t>*灰色</a:t>
              </a:r>
              <a:r>
                <a:rPr lang="en-US" altLang="zh-TW" sz="900" b="1" dirty="0" smtClean="0">
                  <a:latin typeface="微軟正黑體" panose="020B0604030504040204" pitchFamily="34" charset="-120"/>
                  <a:ea typeface="微軟正黑體" panose="020B0604030504040204" pitchFamily="34" charset="-120"/>
                </a:rPr>
                <a:t>:</a:t>
              </a:r>
              <a:r>
                <a:rPr lang="zh-TW" altLang="en-US" sz="900" b="1" dirty="0" smtClean="0">
                  <a:latin typeface="微軟正黑體" panose="020B0604030504040204" pitchFamily="34" charset="-120"/>
                  <a:ea typeface="微軟正黑體" panose="020B0604030504040204" pitchFamily="34" charset="-120"/>
                </a:rPr>
                <a:t>無資料</a:t>
              </a:r>
              <a:r>
                <a:rPr lang="en-US" altLang="zh-TW" sz="900" b="1" dirty="0" smtClean="0">
                  <a:latin typeface="微軟正黑體" panose="020B0604030504040204" pitchFamily="34" charset="-120"/>
                  <a:ea typeface="微軟正黑體" panose="020B0604030504040204" pitchFamily="34" charset="-120"/>
                </a:rPr>
                <a:t>)</a:t>
              </a:r>
              <a:endParaRPr lang="zh-TW" altLang="en-US" sz="900" b="1" u="sng" dirty="0">
                <a:latin typeface="微軟正黑體" panose="020B0604030504040204" pitchFamily="34" charset="-120"/>
                <a:ea typeface="微軟正黑體" panose="020B0604030504040204" pitchFamily="34" charset="-120"/>
              </a:endParaRPr>
            </a:p>
          </p:txBody>
        </p:sp>
        <p:sp>
          <p:nvSpPr>
            <p:cNvPr id="59" name="矩形 58"/>
            <p:cNvSpPr/>
            <p:nvPr/>
          </p:nvSpPr>
          <p:spPr>
            <a:xfrm>
              <a:off x="3494890" y="1532026"/>
              <a:ext cx="2765746" cy="230832"/>
            </a:xfrm>
            <a:prstGeom prst="rect">
              <a:avLst/>
            </a:prstGeom>
            <a:solidFill>
              <a:schemeClr val="accent4">
                <a:alpha val="54000"/>
              </a:schemeClr>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latin typeface="微軟正黑體" panose="020B0604030504040204" pitchFamily="34" charset="-120"/>
                <a:ea typeface="微軟正黑體" panose="020B0604030504040204" pitchFamily="34" charset="-120"/>
              </a:endParaRPr>
            </a:p>
          </p:txBody>
        </p:sp>
        <p:sp>
          <p:nvSpPr>
            <p:cNvPr id="60" name="文字方塊 59"/>
            <p:cNvSpPr txBox="1"/>
            <p:nvPr/>
          </p:nvSpPr>
          <p:spPr>
            <a:xfrm>
              <a:off x="4841100" y="1431323"/>
              <a:ext cx="2555508" cy="169277"/>
            </a:xfrm>
            <a:prstGeom prst="rect">
              <a:avLst/>
            </a:prstGeom>
            <a:solidFill>
              <a:schemeClr val="accent1"/>
            </a:solidFill>
          </p:spPr>
          <p:txBody>
            <a:bodyPr wrap="none" rtlCol="0">
              <a:spAutoFit/>
            </a:bodyPr>
            <a:lstStyle>
              <a:defPPr>
                <a:defRPr lang="en-US"/>
              </a:defPPr>
              <a:lvl1pPr>
                <a:lnSpc>
                  <a:spcPts val="600"/>
                </a:lnSpc>
                <a:defRPr sz="700" b="1">
                  <a:solidFill>
                    <a:srgbClr val="F8F8F8"/>
                  </a:solidFill>
                  <a:latin typeface="微軟正黑體" panose="020B0604030504040204" pitchFamily="34" charset="-120"/>
                  <a:ea typeface="微軟正黑體" panose="020B0604030504040204" pitchFamily="34" charset="-120"/>
                </a:defRPr>
              </a:lvl1pPr>
            </a:lstStyle>
            <a:p>
              <a:r>
                <a:rPr lang="zh-TW" altLang="en-US" dirty="0"/>
                <a:t>篩選區域* 該</a:t>
              </a:r>
              <a:r>
                <a:rPr lang="en-US" altLang="zh-TW" dirty="0"/>
                <a:t>LINE</a:t>
              </a:r>
              <a:r>
                <a:rPr lang="zh-TW" altLang="en-US" dirty="0"/>
                <a:t>的</a:t>
              </a:r>
              <a:r>
                <a:rPr lang="en-US" altLang="zh-TW" dirty="0" smtClean="0"/>
                <a:t>NG/OK</a:t>
              </a:r>
              <a:r>
                <a:rPr lang="zh-TW" altLang="en-US" dirty="0" smtClean="0"/>
                <a:t>按鈕上統計筆</a:t>
              </a:r>
              <a:r>
                <a:rPr lang="zh-TW" altLang="en-US" dirty="0"/>
                <a:t>數包含歷史資料</a:t>
              </a:r>
            </a:p>
          </p:txBody>
        </p:sp>
        <p:sp>
          <p:nvSpPr>
            <p:cNvPr id="61" name="矩形 60"/>
            <p:cNvSpPr/>
            <p:nvPr/>
          </p:nvSpPr>
          <p:spPr>
            <a:xfrm>
              <a:off x="3474470" y="1820736"/>
              <a:ext cx="3383529" cy="1110395"/>
            </a:xfrm>
            <a:prstGeom prst="rect">
              <a:avLst/>
            </a:prstGeom>
            <a:solidFill>
              <a:schemeClr val="accent5">
                <a:lumMod val="20000"/>
                <a:lumOff val="80000"/>
                <a:alpha val="40000"/>
              </a:schemeClr>
            </a:solid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62" name="文字方塊 61"/>
            <p:cNvSpPr txBox="1"/>
            <p:nvPr/>
          </p:nvSpPr>
          <p:spPr>
            <a:xfrm>
              <a:off x="4096808" y="2528148"/>
              <a:ext cx="2066591" cy="230832"/>
            </a:xfrm>
            <a:prstGeom prst="rect">
              <a:avLst/>
            </a:prstGeom>
            <a:solidFill>
              <a:schemeClr val="bg2"/>
            </a:solidFill>
          </p:spPr>
          <p:txBody>
            <a:bodyPr wrap="none" rtlCol="0">
              <a:spAutoFit/>
            </a:bodyPr>
            <a:lstStyle/>
            <a:p>
              <a:r>
                <a:rPr lang="en-US" altLang="zh-TW" sz="900" b="1" u="sng" dirty="0" smtClean="0">
                  <a:latin typeface="微軟正黑體" panose="020B0604030504040204" pitchFamily="34" charset="-120"/>
                  <a:ea typeface="微軟正黑體" panose="020B0604030504040204" pitchFamily="34" charset="-120"/>
                </a:rPr>
                <a:t>2.</a:t>
              </a:r>
              <a:r>
                <a:rPr lang="zh-TW" altLang="en-US" sz="900" b="1" u="sng" dirty="0" smtClean="0">
                  <a:latin typeface="微軟正黑體" panose="020B0604030504040204" pitchFamily="34" charset="-120"/>
                  <a:ea typeface="微軟正黑體" panose="020B0604030504040204" pitchFamily="34" charset="-120"/>
                </a:rPr>
                <a:t> 無篩選則顯示單一</a:t>
              </a:r>
              <a:r>
                <a:rPr lang="en-US" altLang="zh-TW" sz="900" b="1" u="sng" dirty="0" smtClean="0">
                  <a:latin typeface="微軟正黑體" panose="020B0604030504040204" pitchFamily="34" charset="-120"/>
                  <a:ea typeface="微軟正黑體" panose="020B0604030504040204" pitchFamily="34" charset="-120"/>
                </a:rPr>
                <a:t>LINE</a:t>
              </a:r>
              <a:r>
                <a:rPr lang="zh-TW" altLang="en-US" sz="900" b="1" u="sng" dirty="0" smtClean="0">
                  <a:latin typeface="微軟正黑體" panose="020B0604030504040204" pitchFamily="34" charset="-120"/>
                  <a:ea typeface="微軟正黑體" panose="020B0604030504040204" pitchFamily="34" charset="-120"/>
                </a:rPr>
                <a:t>的所有資料</a:t>
              </a:r>
              <a:endParaRPr lang="zh-TW" altLang="en-US" sz="900" b="1" u="sng" dirty="0">
                <a:latin typeface="微軟正黑體" panose="020B0604030504040204" pitchFamily="34" charset="-120"/>
                <a:ea typeface="微軟正黑體" panose="020B0604030504040204" pitchFamily="34" charset="-120"/>
              </a:endParaRPr>
            </a:p>
          </p:txBody>
        </p:sp>
        <p:sp>
          <p:nvSpPr>
            <p:cNvPr id="63" name="矩形 62"/>
            <p:cNvSpPr/>
            <p:nvPr/>
          </p:nvSpPr>
          <p:spPr>
            <a:xfrm>
              <a:off x="3493324" y="3244187"/>
              <a:ext cx="3383529" cy="1066237"/>
            </a:xfrm>
            <a:prstGeom prst="rect">
              <a:avLst/>
            </a:prstGeom>
            <a:solidFill>
              <a:schemeClr val="accent5">
                <a:lumMod val="20000"/>
                <a:lumOff val="80000"/>
                <a:alpha val="40000"/>
              </a:schemeClr>
            </a:solid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81" name="文字方塊 80"/>
            <p:cNvSpPr txBox="1"/>
            <p:nvPr/>
          </p:nvSpPr>
          <p:spPr>
            <a:xfrm>
              <a:off x="5638029" y="3440283"/>
              <a:ext cx="1681871" cy="230832"/>
            </a:xfrm>
            <a:prstGeom prst="rect">
              <a:avLst/>
            </a:prstGeom>
            <a:solidFill>
              <a:schemeClr val="bg2"/>
            </a:solidFill>
          </p:spPr>
          <p:txBody>
            <a:bodyPr wrap="none" rtlCol="0">
              <a:spAutoFit/>
            </a:bodyPr>
            <a:lstStyle/>
            <a:p>
              <a:r>
                <a:rPr lang="en-US" altLang="zh-TW" sz="900" b="1" u="sng" dirty="0" smtClean="0">
                  <a:latin typeface="微軟正黑體" panose="020B0604030504040204" pitchFamily="34" charset="-120"/>
                  <a:ea typeface="微軟正黑體" panose="020B0604030504040204" pitchFamily="34" charset="-120"/>
                </a:rPr>
                <a:t>3.</a:t>
              </a:r>
              <a:r>
                <a:rPr lang="zh-TW" altLang="en-US" sz="900" b="1" u="sng" dirty="0" smtClean="0">
                  <a:latin typeface="微軟正黑體" panose="020B0604030504040204" pitchFamily="34" charset="-120"/>
                  <a:ea typeface="微軟正黑體" panose="020B0604030504040204" pitchFamily="34" charset="-120"/>
                </a:rPr>
                <a:t> 顯示單一</a:t>
              </a:r>
              <a:r>
                <a:rPr lang="en-US" altLang="zh-TW" sz="900" b="1" u="sng" dirty="0" smtClean="0">
                  <a:latin typeface="微軟正黑體" panose="020B0604030504040204" pitchFamily="34" charset="-120"/>
                  <a:ea typeface="微軟正黑體" panose="020B0604030504040204" pitchFamily="34" charset="-120"/>
                </a:rPr>
                <a:t>Lot-Slot</a:t>
              </a:r>
              <a:r>
                <a:rPr lang="zh-TW" altLang="en-US" sz="900" b="1" u="sng" dirty="0" smtClean="0">
                  <a:solidFill>
                    <a:schemeClr val="accent1"/>
                  </a:solidFill>
                  <a:latin typeface="微軟正黑體" panose="020B0604030504040204" pitchFamily="34" charset="-120"/>
                  <a:ea typeface="微軟正黑體" panose="020B0604030504040204" pitchFamily="34" charset="-120"/>
                </a:rPr>
                <a:t>偵測</a:t>
              </a:r>
              <a:r>
                <a:rPr lang="zh-TW" altLang="en-US" sz="900" b="1" u="sng" dirty="0" smtClean="0">
                  <a:latin typeface="微軟正黑體" panose="020B0604030504040204" pitchFamily="34" charset="-120"/>
                  <a:ea typeface="微軟正黑體" panose="020B0604030504040204" pitchFamily="34" charset="-120"/>
                </a:rPr>
                <a:t>結果</a:t>
              </a:r>
              <a:endParaRPr lang="zh-TW" altLang="en-US" sz="900" b="1" u="sng" dirty="0">
                <a:latin typeface="微軟正黑體" panose="020B0604030504040204" pitchFamily="34" charset="-120"/>
                <a:ea typeface="微軟正黑體" panose="020B0604030504040204" pitchFamily="34" charset="-120"/>
              </a:endParaRPr>
            </a:p>
          </p:txBody>
        </p:sp>
        <p:sp>
          <p:nvSpPr>
            <p:cNvPr id="3" name="矩形 2"/>
            <p:cNvSpPr/>
            <p:nvPr/>
          </p:nvSpPr>
          <p:spPr>
            <a:xfrm>
              <a:off x="6415646" y="1972737"/>
              <a:ext cx="320040" cy="206352"/>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5" name="肘形接點 4"/>
            <p:cNvCxnSpPr>
              <a:stCxn id="3" idx="3"/>
              <a:endCxn id="63" idx="3"/>
            </p:cNvCxnSpPr>
            <p:nvPr/>
          </p:nvCxnSpPr>
          <p:spPr>
            <a:xfrm>
              <a:off x="6735686" y="2075913"/>
              <a:ext cx="141167" cy="1701393"/>
            </a:xfrm>
            <a:prstGeom prst="bentConnector3">
              <a:avLst>
                <a:gd name="adj1" fmla="val 261936"/>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3135086" y="2867297"/>
              <a:ext cx="476794" cy="444137"/>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131782" y="1567200"/>
              <a:ext cx="3231904" cy="128027"/>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93" name="文字方塊 92"/>
            <p:cNvSpPr txBox="1"/>
            <p:nvPr/>
          </p:nvSpPr>
          <p:spPr>
            <a:xfrm>
              <a:off x="131781" y="1695227"/>
              <a:ext cx="1082348" cy="170624"/>
            </a:xfrm>
            <a:prstGeom prst="rect">
              <a:avLst/>
            </a:prstGeom>
            <a:solidFill>
              <a:schemeClr val="accent1"/>
            </a:solidFill>
          </p:spPr>
          <p:txBody>
            <a:bodyPr wrap="none" rtlCol="0">
              <a:spAutoFit/>
            </a:bodyPr>
            <a:lstStyle>
              <a:defPPr>
                <a:defRPr lang="en-US"/>
              </a:defPPr>
              <a:lvl1pPr>
                <a:lnSpc>
                  <a:spcPts val="600"/>
                </a:lnSpc>
                <a:defRPr sz="700" b="1">
                  <a:solidFill>
                    <a:srgbClr val="F8F8F8"/>
                  </a:solidFill>
                  <a:latin typeface="微軟正黑體" panose="020B0604030504040204" pitchFamily="34" charset="-120"/>
                  <a:ea typeface="微軟正黑體" panose="020B0604030504040204" pitchFamily="34" charset="-120"/>
                </a:defRPr>
              </a:lvl1pPr>
            </a:lstStyle>
            <a:p>
              <a:r>
                <a:rPr lang="zh-TW" altLang="en-US" dirty="0"/>
                <a:t>選擇單一影像結果按鈕</a:t>
              </a:r>
            </a:p>
          </p:txBody>
        </p:sp>
        <p:sp>
          <p:nvSpPr>
            <p:cNvPr id="94" name="文字方塊 93"/>
            <p:cNvSpPr txBox="1"/>
            <p:nvPr/>
          </p:nvSpPr>
          <p:spPr>
            <a:xfrm>
              <a:off x="2332356" y="3305633"/>
              <a:ext cx="1085554" cy="169277"/>
            </a:xfrm>
            <a:prstGeom prst="rect">
              <a:avLst/>
            </a:prstGeom>
            <a:solidFill>
              <a:schemeClr val="accent1"/>
            </a:solidFill>
          </p:spPr>
          <p:txBody>
            <a:bodyPr wrap="none" rtlCol="0">
              <a:spAutoFit/>
            </a:bodyPr>
            <a:lstStyle/>
            <a:p>
              <a:pPr>
                <a:lnSpc>
                  <a:spcPts val="600"/>
                </a:lnSpc>
              </a:pPr>
              <a:r>
                <a:rPr lang="zh-TW" altLang="en-US" sz="700" b="1" dirty="0" smtClean="0">
                  <a:solidFill>
                    <a:srgbClr val="F8F8F8"/>
                  </a:solidFill>
                  <a:latin typeface="微軟正黑體" panose="020B0604030504040204" pitchFamily="34" charset="-120"/>
                  <a:ea typeface="微軟正黑體" panose="020B0604030504040204" pitchFamily="34" charset="-120"/>
                </a:rPr>
                <a:t>物件在</a:t>
              </a:r>
              <a:r>
                <a:rPr lang="en-US" altLang="zh-TW" sz="700" b="1" dirty="0" smtClean="0">
                  <a:solidFill>
                    <a:srgbClr val="F8F8F8"/>
                  </a:solidFill>
                  <a:latin typeface="微軟正黑體" panose="020B0604030504040204" pitchFamily="34" charset="-120"/>
                  <a:ea typeface="微軟正黑體" panose="020B0604030504040204" pitchFamily="34" charset="-120"/>
                </a:rPr>
                <a:t>chip</a:t>
              </a:r>
              <a:r>
                <a:rPr lang="zh-TW" altLang="en-US" sz="700" b="1" dirty="0" smtClean="0">
                  <a:solidFill>
                    <a:srgbClr val="F8F8F8"/>
                  </a:solidFill>
                  <a:latin typeface="微軟正黑體" panose="020B0604030504040204" pitchFamily="34" charset="-120"/>
                  <a:ea typeface="微軟正黑體" panose="020B0604030504040204" pitchFamily="34" charset="-120"/>
                </a:rPr>
                <a:t>中邊距資料</a:t>
              </a:r>
              <a:endParaRPr lang="zh-TW" altLang="en-US" sz="700" b="1" dirty="0">
                <a:solidFill>
                  <a:srgbClr val="F8F8F8"/>
                </a:solidFill>
                <a:latin typeface="微軟正黑體" panose="020B0604030504040204" pitchFamily="34" charset="-120"/>
                <a:ea typeface="微軟正黑體" panose="020B0604030504040204" pitchFamily="34" charset="-120"/>
              </a:endParaRPr>
            </a:p>
          </p:txBody>
        </p:sp>
        <p:sp>
          <p:nvSpPr>
            <p:cNvPr id="95" name="文字方塊 94"/>
            <p:cNvSpPr txBox="1"/>
            <p:nvPr/>
          </p:nvSpPr>
          <p:spPr>
            <a:xfrm>
              <a:off x="2486245" y="4003267"/>
              <a:ext cx="931665" cy="169277"/>
            </a:xfrm>
            <a:prstGeom prst="rect">
              <a:avLst/>
            </a:prstGeom>
            <a:solidFill>
              <a:schemeClr val="accent1"/>
            </a:solidFill>
          </p:spPr>
          <p:txBody>
            <a:bodyPr wrap="none" rtlCol="0">
              <a:spAutoFit/>
            </a:bodyPr>
            <a:lstStyle/>
            <a:p>
              <a:pPr>
                <a:lnSpc>
                  <a:spcPts val="600"/>
                </a:lnSpc>
              </a:pPr>
              <a:r>
                <a:rPr lang="en-US" altLang="zh-TW" sz="700" b="1" dirty="0" smtClean="0">
                  <a:solidFill>
                    <a:srgbClr val="F8F8F8"/>
                  </a:solidFill>
                  <a:latin typeface="微軟正黑體" panose="020B0604030504040204" pitchFamily="34" charset="-120"/>
                  <a:ea typeface="微軟正黑體" panose="020B0604030504040204" pitchFamily="34" charset="-120"/>
                </a:rPr>
                <a:t>2D Code</a:t>
              </a:r>
              <a:r>
                <a:rPr lang="zh-TW" altLang="en-US" sz="700" b="1" dirty="0" smtClean="0">
                  <a:solidFill>
                    <a:srgbClr val="F8F8F8"/>
                  </a:solidFill>
                  <a:latin typeface="微軟正黑體" panose="020B0604030504040204" pitchFamily="34" charset="-120"/>
                  <a:ea typeface="微軟正黑體" panose="020B0604030504040204" pitchFamily="34" charset="-120"/>
                </a:rPr>
                <a:t> </a:t>
              </a:r>
              <a:r>
                <a:rPr lang="en-US" altLang="zh-TW" sz="700" b="1" dirty="0" smtClean="0">
                  <a:solidFill>
                    <a:srgbClr val="F8F8F8"/>
                  </a:solidFill>
                  <a:latin typeface="微軟正黑體" panose="020B0604030504040204" pitchFamily="34" charset="-120"/>
                  <a:ea typeface="微軟正黑體" panose="020B0604030504040204" pitchFamily="34" charset="-120"/>
                </a:rPr>
                <a:t>dot </a:t>
              </a:r>
              <a:r>
                <a:rPr lang="zh-TW" altLang="en-US" sz="700" b="1" dirty="0" smtClean="0">
                  <a:solidFill>
                    <a:srgbClr val="F8F8F8"/>
                  </a:solidFill>
                  <a:latin typeface="微軟正黑體" panose="020B0604030504040204" pitchFamily="34" charset="-120"/>
                  <a:ea typeface="微軟正黑體" panose="020B0604030504040204" pitchFamily="34" charset="-120"/>
                </a:rPr>
                <a:t>狀態</a:t>
              </a:r>
              <a:endParaRPr lang="zh-TW" altLang="en-US" sz="700" b="1" dirty="0">
                <a:solidFill>
                  <a:srgbClr val="F8F8F8"/>
                </a:solidFill>
                <a:latin typeface="微軟正黑體" panose="020B0604030504040204" pitchFamily="34" charset="-120"/>
                <a:ea typeface="微軟正黑體" panose="020B0604030504040204" pitchFamily="34" charset="-120"/>
              </a:endParaRPr>
            </a:p>
          </p:txBody>
        </p:sp>
        <p:sp>
          <p:nvSpPr>
            <p:cNvPr id="96" name="矩形 95"/>
            <p:cNvSpPr/>
            <p:nvPr/>
          </p:nvSpPr>
          <p:spPr>
            <a:xfrm>
              <a:off x="4653891" y="2996569"/>
              <a:ext cx="669224" cy="222438"/>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97" name="文字方塊 96"/>
            <p:cNvSpPr txBox="1"/>
            <p:nvPr/>
          </p:nvSpPr>
          <p:spPr>
            <a:xfrm>
              <a:off x="5369887" y="3022392"/>
              <a:ext cx="1205779" cy="169277"/>
            </a:xfrm>
            <a:prstGeom prst="rect">
              <a:avLst/>
            </a:prstGeom>
            <a:solidFill>
              <a:schemeClr val="accent1"/>
            </a:solidFill>
          </p:spPr>
          <p:txBody>
            <a:bodyPr wrap="none" rtlCol="0">
              <a:spAutoFit/>
            </a:bodyPr>
            <a:lstStyle>
              <a:defPPr>
                <a:defRPr lang="en-US"/>
              </a:defPPr>
              <a:lvl1pPr>
                <a:lnSpc>
                  <a:spcPts val="600"/>
                </a:lnSpc>
                <a:defRPr sz="700" b="1">
                  <a:solidFill>
                    <a:srgbClr val="F8F8F8"/>
                  </a:solidFill>
                  <a:latin typeface="微軟正黑體" panose="020B0604030504040204" pitchFamily="34" charset="-120"/>
                  <a:ea typeface="微軟正黑體" panose="020B0604030504040204" pitchFamily="34" charset="-120"/>
                </a:defRPr>
              </a:lvl1pPr>
            </a:lstStyle>
            <a:p>
              <a:r>
                <a:rPr lang="en-US" altLang="zh-TW" dirty="0"/>
                <a:t>Lot-Slot</a:t>
              </a:r>
              <a:r>
                <a:rPr lang="zh-TW" altLang="en-US" dirty="0"/>
                <a:t>偵測</a:t>
              </a:r>
              <a:r>
                <a:rPr lang="en-US" altLang="zh-TW" dirty="0"/>
                <a:t>NG/OK</a:t>
              </a:r>
              <a:r>
                <a:rPr lang="zh-TW" altLang="en-US" dirty="0"/>
                <a:t>結果</a:t>
              </a:r>
            </a:p>
          </p:txBody>
        </p:sp>
        <p:pic>
          <p:nvPicPr>
            <p:cNvPr id="8" name="圖片 7"/>
            <p:cNvPicPr>
              <a:picLocks noChangeAspect="1"/>
            </p:cNvPicPr>
            <p:nvPr/>
          </p:nvPicPr>
          <p:blipFill>
            <a:blip r:embed="rId3"/>
            <a:stretch>
              <a:fillRect/>
            </a:stretch>
          </p:blipFill>
          <p:spPr>
            <a:xfrm>
              <a:off x="1788218" y="4306144"/>
              <a:ext cx="850233" cy="775112"/>
            </a:xfrm>
            <a:prstGeom prst="rect">
              <a:avLst/>
            </a:prstGeom>
          </p:spPr>
        </p:pic>
        <p:cxnSp>
          <p:nvCxnSpPr>
            <p:cNvPr id="98" name="肘形接點 97"/>
            <p:cNvCxnSpPr>
              <a:stCxn id="2" idx="1"/>
              <a:endCxn id="8" idx="1"/>
            </p:cNvCxnSpPr>
            <p:nvPr/>
          </p:nvCxnSpPr>
          <p:spPr>
            <a:xfrm rot="10800000" flipH="1" flipV="1">
              <a:off x="131782" y="2643564"/>
              <a:ext cx="1656436" cy="2050136"/>
            </a:xfrm>
            <a:prstGeom prst="bentConnector3">
              <a:avLst>
                <a:gd name="adj1" fmla="val -453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9" name="肘形接點 98"/>
            <p:cNvCxnSpPr>
              <a:endCxn id="8" idx="1"/>
            </p:cNvCxnSpPr>
            <p:nvPr/>
          </p:nvCxnSpPr>
          <p:spPr>
            <a:xfrm>
              <a:off x="150763" y="3494265"/>
              <a:ext cx="1637455" cy="1199435"/>
            </a:xfrm>
            <a:prstGeom prst="bentConnector3">
              <a:avLst>
                <a:gd name="adj1" fmla="val -5435"/>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0" name="文字方塊 109"/>
            <p:cNvSpPr txBox="1"/>
            <p:nvPr/>
          </p:nvSpPr>
          <p:spPr>
            <a:xfrm>
              <a:off x="121495" y="4412763"/>
              <a:ext cx="1569660" cy="230832"/>
            </a:xfrm>
            <a:prstGeom prst="rect">
              <a:avLst/>
            </a:prstGeom>
            <a:solidFill>
              <a:schemeClr val="bg2"/>
            </a:solidFill>
          </p:spPr>
          <p:txBody>
            <a:bodyPr wrap="none" rtlCol="0">
              <a:spAutoFit/>
            </a:bodyPr>
            <a:lstStyle/>
            <a:p>
              <a:r>
                <a:rPr lang="zh-TW" altLang="en-US" sz="900" b="1" u="sng" dirty="0" smtClean="0">
                  <a:latin typeface="微軟正黑體" panose="020B0604030504040204" pitchFamily="34" charset="-120"/>
                  <a:ea typeface="微軟正黑體" panose="020B0604030504040204" pitchFamily="34" charset="-120"/>
                </a:rPr>
                <a:t>每張影像接可點擊放大顯示</a:t>
              </a:r>
              <a:endParaRPr lang="zh-TW" altLang="en-US" sz="900" b="1" u="sng" dirty="0">
                <a:latin typeface="微軟正黑體" panose="020B0604030504040204" pitchFamily="34" charset="-120"/>
                <a:ea typeface="微軟正黑體" panose="020B0604030504040204" pitchFamily="34" charset="-120"/>
              </a:endParaRPr>
            </a:p>
          </p:txBody>
        </p:sp>
        <p:sp>
          <p:nvSpPr>
            <p:cNvPr id="112" name="矩形 111"/>
            <p:cNvSpPr/>
            <p:nvPr/>
          </p:nvSpPr>
          <p:spPr>
            <a:xfrm>
              <a:off x="204039" y="3081783"/>
              <a:ext cx="1511921" cy="732543"/>
            </a:xfrm>
            <a:prstGeom prst="rect">
              <a:avLst/>
            </a:prstGeom>
            <a:solidFill>
              <a:schemeClr val="accent5">
                <a:lumMod val="75000"/>
                <a:alpha val="40000"/>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113" name="矩形 112"/>
            <p:cNvSpPr/>
            <p:nvPr/>
          </p:nvSpPr>
          <p:spPr>
            <a:xfrm>
              <a:off x="173075" y="2387496"/>
              <a:ext cx="3200408" cy="585124"/>
            </a:xfrm>
            <a:prstGeom prst="rect">
              <a:avLst/>
            </a:prstGeom>
            <a:solidFill>
              <a:schemeClr val="accent5">
                <a:lumMod val="75000"/>
                <a:alpha val="40000"/>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013">
                <a:latin typeface="微軟正黑體" panose="020B0604030504040204" pitchFamily="34" charset="-120"/>
                <a:ea typeface="微軟正黑體" panose="020B0604030504040204" pitchFamily="34" charset="-120"/>
              </a:endParaRPr>
            </a:p>
          </p:txBody>
        </p:sp>
        <p:sp>
          <p:nvSpPr>
            <p:cNvPr id="83" name="文字方塊 82"/>
            <p:cNvSpPr txBox="1"/>
            <p:nvPr/>
          </p:nvSpPr>
          <p:spPr>
            <a:xfrm>
              <a:off x="967801" y="2412732"/>
              <a:ext cx="1797287" cy="230832"/>
            </a:xfrm>
            <a:prstGeom prst="rect">
              <a:avLst/>
            </a:prstGeom>
            <a:solidFill>
              <a:schemeClr val="bg2"/>
            </a:solidFill>
          </p:spPr>
          <p:txBody>
            <a:bodyPr wrap="none" rtlCol="0">
              <a:spAutoFit/>
            </a:bodyPr>
            <a:lstStyle/>
            <a:p>
              <a:r>
                <a:rPr lang="en-US" altLang="zh-TW" sz="900" b="1" u="sng" dirty="0" smtClean="0">
                  <a:latin typeface="微軟正黑體" panose="020B0604030504040204" pitchFamily="34" charset="-120"/>
                  <a:ea typeface="微軟正黑體" panose="020B0604030504040204" pitchFamily="34" charset="-120"/>
                </a:rPr>
                <a:t>3.</a:t>
              </a:r>
              <a:r>
                <a:rPr lang="zh-TW" altLang="en-US" sz="900" b="1" u="sng" dirty="0" smtClean="0">
                  <a:latin typeface="微軟正黑體" panose="020B0604030504040204" pitchFamily="34" charset="-120"/>
                  <a:ea typeface="微軟正黑體" panose="020B0604030504040204" pitchFamily="34" charset="-120"/>
                </a:rPr>
                <a:t> 顯示單一</a:t>
              </a:r>
              <a:r>
                <a:rPr lang="en-US" altLang="zh-TW" sz="900" b="1" u="sng" dirty="0" smtClean="0">
                  <a:latin typeface="微軟正黑體" panose="020B0604030504040204" pitchFamily="34" charset="-120"/>
                  <a:ea typeface="微軟正黑體" panose="020B0604030504040204" pitchFamily="34" charset="-120"/>
                </a:rPr>
                <a:t>Lot-Slot</a:t>
              </a:r>
              <a:r>
                <a:rPr lang="zh-TW" altLang="en-US" sz="900" b="1" u="sng" dirty="0" smtClean="0">
                  <a:solidFill>
                    <a:schemeClr val="accent1"/>
                  </a:solidFill>
                  <a:latin typeface="微軟正黑體" panose="020B0604030504040204" pitchFamily="34" charset="-120"/>
                  <a:ea typeface="微軟正黑體" panose="020B0604030504040204" pitchFamily="34" charset="-120"/>
                </a:rPr>
                <a:t>偵測</a:t>
              </a:r>
              <a:r>
                <a:rPr lang="zh-TW" altLang="en-US" sz="900" b="1" u="sng" dirty="0" smtClean="0">
                  <a:latin typeface="微軟正黑體" panose="020B0604030504040204" pitchFamily="34" charset="-120"/>
                  <a:ea typeface="微軟正黑體" panose="020B0604030504040204" pitchFamily="34" charset="-120"/>
                </a:rPr>
                <a:t>後影像</a:t>
              </a:r>
              <a:endParaRPr lang="zh-TW" altLang="en-US" sz="900" b="1" u="sng" dirty="0">
                <a:latin typeface="微軟正黑體" panose="020B0604030504040204" pitchFamily="34" charset="-120"/>
                <a:ea typeface="微軟正黑體" panose="020B0604030504040204" pitchFamily="34" charset="-120"/>
              </a:endParaRPr>
            </a:p>
          </p:txBody>
        </p:sp>
        <p:sp>
          <p:nvSpPr>
            <p:cNvPr id="114" name="文字方塊 113"/>
            <p:cNvSpPr txBox="1"/>
            <p:nvPr/>
          </p:nvSpPr>
          <p:spPr>
            <a:xfrm>
              <a:off x="925705" y="3586347"/>
              <a:ext cx="1798890" cy="230832"/>
            </a:xfrm>
            <a:prstGeom prst="rect">
              <a:avLst/>
            </a:prstGeom>
            <a:solidFill>
              <a:schemeClr val="bg2"/>
            </a:solidFill>
          </p:spPr>
          <p:txBody>
            <a:bodyPr wrap="none" rtlCol="0">
              <a:spAutoFit/>
            </a:bodyPr>
            <a:lstStyle/>
            <a:p>
              <a:r>
                <a:rPr lang="en-US" altLang="zh-TW" sz="900" b="1" u="sng" dirty="0">
                  <a:latin typeface="微軟正黑體" panose="020B0604030504040204" pitchFamily="34" charset="-120"/>
                  <a:ea typeface="微軟正黑體" panose="020B0604030504040204" pitchFamily="34" charset="-120"/>
                </a:rPr>
                <a:t>4</a:t>
              </a:r>
              <a:r>
                <a:rPr lang="en-US" altLang="zh-TW" sz="900" b="1" u="sng" dirty="0" smtClean="0">
                  <a:latin typeface="微軟正黑體" panose="020B0604030504040204" pitchFamily="34" charset="-120"/>
                  <a:ea typeface="微軟正黑體" panose="020B0604030504040204" pitchFamily="34" charset="-120"/>
                </a:rPr>
                <a:t>.</a:t>
              </a:r>
              <a:r>
                <a:rPr lang="zh-TW" altLang="en-US" sz="900" b="1" u="sng" dirty="0" smtClean="0">
                  <a:latin typeface="微軟正黑體" panose="020B0604030504040204" pitchFamily="34" charset="-120"/>
                  <a:ea typeface="微軟正黑體" panose="020B0604030504040204" pitchFamily="34" charset="-120"/>
                </a:rPr>
                <a:t> 顯示單一影像區域</a:t>
              </a:r>
              <a:r>
                <a:rPr lang="en-US" altLang="zh-TW" sz="900" b="1" u="sng" dirty="0" smtClean="0">
                  <a:latin typeface="微軟正黑體" panose="020B0604030504040204" pitchFamily="34" charset="-120"/>
                  <a:ea typeface="微軟正黑體" panose="020B0604030504040204" pitchFamily="34" charset="-120"/>
                </a:rPr>
                <a:t>&amp;</a:t>
              </a:r>
              <a:r>
                <a:rPr lang="zh-TW" altLang="en-US" sz="900" b="1" u="sng" dirty="0">
                  <a:latin typeface="微軟正黑體" panose="020B0604030504040204" pitchFamily="34" charset="-120"/>
                  <a:ea typeface="微軟正黑體" panose="020B0604030504040204" pitchFamily="34" charset="-120"/>
                </a:rPr>
                <a:t>量</a:t>
              </a:r>
              <a:r>
                <a:rPr lang="zh-TW" altLang="en-US" sz="900" b="1" u="sng" dirty="0" smtClean="0">
                  <a:latin typeface="微軟正黑體" panose="020B0604030504040204" pitchFamily="34" charset="-120"/>
                  <a:ea typeface="微軟正黑體" panose="020B0604030504040204" pitchFamily="34" charset="-120"/>
                </a:rPr>
                <a:t>測結果</a:t>
              </a:r>
              <a:endParaRPr lang="zh-TW" altLang="en-US" sz="900" b="1" u="sng" dirty="0">
                <a:latin typeface="微軟正黑體" panose="020B0604030504040204" pitchFamily="34" charset="-120"/>
                <a:ea typeface="微軟正黑體" panose="020B0604030504040204" pitchFamily="34" charset="-120"/>
              </a:endParaRPr>
            </a:p>
          </p:txBody>
        </p:sp>
        <p:sp>
          <p:nvSpPr>
            <p:cNvPr id="115" name="矩形 114"/>
            <p:cNvSpPr/>
            <p:nvPr/>
          </p:nvSpPr>
          <p:spPr>
            <a:xfrm>
              <a:off x="3259953" y="1171752"/>
              <a:ext cx="512597" cy="285270"/>
            </a:xfrm>
            <a:prstGeom prst="rect">
              <a:avLst/>
            </a:prstGeom>
            <a:solidFill>
              <a:schemeClr val="accent4">
                <a:alpha val="54000"/>
              </a:schemeClr>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20" name="直線單箭頭接點 19"/>
            <p:cNvCxnSpPr/>
            <p:nvPr/>
          </p:nvCxnSpPr>
          <p:spPr>
            <a:xfrm>
              <a:off x="3544134" y="1457022"/>
              <a:ext cx="300351" cy="458546"/>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標題 1"/>
          <p:cNvSpPr>
            <a:spLocks noGrp="1"/>
          </p:cNvSpPr>
          <p:nvPr>
            <p:ph type="ctrTitle"/>
          </p:nvPr>
        </p:nvSpPr>
        <p:spPr>
          <a:xfrm>
            <a:off x="386220" y="0"/>
            <a:ext cx="8482972" cy="680785"/>
          </a:xfrm>
        </p:spPr>
        <p:txBody>
          <a:bodyPr/>
          <a:lstStyle/>
          <a:p>
            <a:r>
              <a:rPr lang="zh-TW" altLang="en-US" b="1" dirty="0" smtClean="0"/>
              <a:t>系統</a:t>
            </a:r>
            <a:r>
              <a:rPr lang="zh-TW" altLang="en-US" b="1" dirty="0"/>
              <a:t>功能</a:t>
            </a:r>
          </a:p>
        </p:txBody>
      </p:sp>
    </p:spTree>
    <p:extLst>
      <p:ext uri="{BB962C8B-B14F-4D97-AF65-F5344CB8AC3E}">
        <p14:creationId xmlns:p14="http://schemas.microsoft.com/office/powerpoint/2010/main" val="4888793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4528934" y="727282"/>
            <a:ext cx="4485737" cy="2843728"/>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166640" y="762503"/>
            <a:ext cx="4253810" cy="3159468"/>
          </a:xfrm>
          <a:prstGeom prst="roundRect">
            <a:avLst>
              <a:gd name="adj" fmla="val 3547"/>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r>
              <a:rPr lang="en-US" altLang="zh-TW" sz="2000" b="1" kern="0" dirty="0" smtClean="0">
                <a:solidFill>
                  <a:srgbClr val="FFFFFF"/>
                </a:solidFill>
                <a:latin typeface="微軟正黑體" panose="020B0604030504040204" pitchFamily="34" charset="-120"/>
                <a:ea typeface="微軟正黑體" panose="020B0604030504040204" pitchFamily="34" charset="-120"/>
              </a:rPr>
              <a:t>pass</a:t>
            </a: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grpSp>
        <p:nvGrpSpPr>
          <p:cNvPr id="6" name="组合 25"/>
          <p:cNvGrpSpPr>
            <a:grpSpLocks/>
          </p:cNvGrpSpPr>
          <p:nvPr/>
        </p:nvGrpSpPr>
        <p:grpSpPr bwMode="auto">
          <a:xfrm rot="19467343">
            <a:off x="4258429" y="864294"/>
            <a:ext cx="372776" cy="311254"/>
            <a:chOff x="6811963" y="4252913"/>
            <a:chExt cx="1397000" cy="1397000"/>
          </a:xfrm>
        </p:grpSpPr>
        <p:sp>
          <p:nvSpPr>
            <p:cNvPr id="7" name="Freeform 9"/>
            <p:cNvSpPr>
              <a:spLocks noEditPoints="1"/>
            </p:cNvSpPr>
            <p:nvPr/>
          </p:nvSpPr>
          <p:spPr bwMode="auto">
            <a:xfrm>
              <a:off x="6811963" y="4252913"/>
              <a:ext cx="1397000" cy="139700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a:solidFill>
                  <a:prstClr val="black"/>
                </a:solidFill>
                <a:latin typeface="微軟正黑體" panose="020B0604030504040204" pitchFamily="34" charset="-120"/>
                <a:ea typeface="微軟正黑體" panose="020B0604030504040204" pitchFamily="34" charset="-120"/>
              </a:endParaRPr>
            </a:p>
          </p:txBody>
        </p:sp>
        <p:sp>
          <p:nvSpPr>
            <p:cNvPr id="8" name="Freeform 10"/>
            <p:cNvSpPr>
              <a:spLocks/>
            </p:cNvSpPr>
            <p:nvPr/>
          </p:nvSpPr>
          <p:spPr bwMode="auto">
            <a:xfrm>
              <a:off x="7235826" y="4679950"/>
              <a:ext cx="565150" cy="565150"/>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a:solidFill>
                  <a:prstClr val="black"/>
                </a:solidFill>
                <a:latin typeface="微軟正黑體" panose="020B0604030504040204" pitchFamily="34" charset="-120"/>
                <a:ea typeface="微軟正黑體" panose="020B0604030504040204" pitchFamily="34" charset="-120"/>
              </a:endParaRPr>
            </a:p>
          </p:txBody>
        </p:sp>
      </p:grpSp>
      <p:sp>
        <p:nvSpPr>
          <p:cNvPr id="9" name="矩形 8"/>
          <p:cNvSpPr/>
          <p:nvPr/>
        </p:nvSpPr>
        <p:spPr>
          <a:xfrm>
            <a:off x="155416" y="991925"/>
            <a:ext cx="997203"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改善前</a:t>
            </a:r>
            <a:r>
              <a:rPr lang="en-US" altLang="zh-TW" sz="1600" b="1" dirty="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grpSp>
        <p:nvGrpSpPr>
          <p:cNvPr id="52" name="组合 65"/>
          <p:cNvGrpSpPr>
            <a:grpSpLocks/>
          </p:cNvGrpSpPr>
          <p:nvPr/>
        </p:nvGrpSpPr>
        <p:grpSpPr bwMode="auto">
          <a:xfrm rot="4723889">
            <a:off x="6443231" y="294808"/>
            <a:ext cx="723088" cy="1050156"/>
            <a:chOff x="5008933" y="2278557"/>
            <a:chExt cx="2491360" cy="2362847"/>
          </a:xfrm>
        </p:grpSpPr>
        <p:sp>
          <p:nvSpPr>
            <p:cNvPr id="53"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4" name="组合 67"/>
            <p:cNvGrpSpPr>
              <a:grpSpLocks/>
            </p:cNvGrpSpPr>
            <p:nvPr/>
          </p:nvGrpSpPr>
          <p:grpSpPr bwMode="auto">
            <a:xfrm>
              <a:off x="5008933" y="2278557"/>
              <a:ext cx="2491360" cy="2323893"/>
              <a:chOff x="1123476" y="1681897"/>
              <a:chExt cx="3206311" cy="2990785"/>
            </a:xfrm>
          </p:grpSpPr>
          <p:grpSp>
            <p:nvGrpSpPr>
              <p:cNvPr id="55" name="组合 68"/>
              <p:cNvGrpSpPr>
                <a:grpSpLocks/>
              </p:cNvGrpSpPr>
              <p:nvPr/>
            </p:nvGrpSpPr>
            <p:grpSpPr bwMode="auto">
              <a:xfrm>
                <a:off x="1123476" y="1763461"/>
                <a:ext cx="2798050" cy="2798050"/>
                <a:chOff x="1123476" y="1763461"/>
                <a:chExt cx="2798050" cy="2798050"/>
              </a:xfrm>
            </p:grpSpPr>
            <p:sp>
              <p:nvSpPr>
                <p:cNvPr id="61" name="弧形 60"/>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4" name="弧形 63"/>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6" name="组合 69"/>
              <p:cNvGrpSpPr>
                <a:grpSpLocks/>
              </p:cNvGrpSpPr>
              <p:nvPr/>
            </p:nvGrpSpPr>
            <p:grpSpPr bwMode="auto">
              <a:xfrm rot="-7200000">
                <a:off x="1273270" y="1616165"/>
                <a:ext cx="2990785" cy="3122249"/>
                <a:chOff x="891209" y="1807143"/>
                <a:chExt cx="2990785" cy="3122249"/>
              </a:xfrm>
            </p:grpSpPr>
            <p:sp>
              <p:nvSpPr>
                <p:cNvPr id="57" name="弧形 56"/>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0" name="弧形 59"/>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grpSp>
        <p:nvGrpSpPr>
          <p:cNvPr id="65" name="组合 65"/>
          <p:cNvGrpSpPr>
            <a:grpSpLocks/>
          </p:cNvGrpSpPr>
          <p:nvPr/>
        </p:nvGrpSpPr>
        <p:grpSpPr bwMode="auto">
          <a:xfrm rot="4723889">
            <a:off x="1892884" y="335901"/>
            <a:ext cx="723088" cy="1050156"/>
            <a:chOff x="5008933" y="2278557"/>
            <a:chExt cx="2491360" cy="2362847"/>
          </a:xfrm>
        </p:grpSpPr>
        <p:sp>
          <p:nvSpPr>
            <p:cNvPr id="66"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7" name="组合 67"/>
            <p:cNvGrpSpPr>
              <a:grpSpLocks/>
            </p:cNvGrpSpPr>
            <p:nvPr/>
          </p:nvGrpSpPr>
          <p:grpSpPr bwMode="auto">
            <a:xfrm>
              <a:off x="5008933" y="2278557"/>
              <a:ext cx="2491360" cy="2323893"/>
              <a:chOff x="1123476" y="1681897"/>
              <a:chExt cx="3206311" cy="2990785"/>
            </a:xfrm>
          </p:grpSpPr>
          <p:grpSp>
            <p:nvGrpSpPr>
              <p:cNvPr id="68" name="组合 68"/>
              <p:cNvGrpSpPr>
                <a:grpSpLocks/>
              </p:cNvGrpSpPr>
              <p:nvPr/>
            </p:nvGrpSpPr>
            <p:grpSpPr bwMode="auto">
              <a:xfrm>
                <a:off x="1123476" y="1763461"/>
                <a:ext cx="2798050" cy="2798050"/>
                <a:chOff x="1123476" y="1763461"/>
                <a:chExt cx="2798050" cy="2798050"/>
              </a:xfrm>
            </p:grpSpPr>
            <p:sp>
              <p:nvSpPr>
                <p:cNvPr id="74" name="弧形 73"/>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7" name="弧形 76"/>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9" name="组合 69"/>
              <p:cNvGrpSpPr>
                <a:grpSpLocks/>
              </p:cNvGrpSpPr>
              <p:nvPr/>
            </p:nvGrpSpPr>
            <p:grpSpPr bwMode="auto">
              <a:xfrm rot="-7200000">
                <a:off x="1273270" y="1616165"/>
                <a:ext cx="2990785" cy="3122249"/>
                <a:chOff x="891209" y="1807143"/>
                <a:chExt cx="2990785" cy="3122249"/>
              </a:xfrm>
            </p:grpSpPr>
            <p:sp>
              <p:nvSpPr>
                <p:cNvPr id="70" name="弧形 69"/>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3" name="弧形 72"/>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sp>
        <p:nvSpPr>
          <p:cNvPr id="25" name="矩形 24"/>
          <p:cNvSpPr/>
          <p:nvPr/>
        </p:nvSpPr>
        <p:spPr>
          <a:xfrm>
            <a:off x="6290113" y="466779"/>
            <a:ext cx="987250" cy="599006"/>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解決</a:t>
            </a:r>
            <a:endParaRPr lang="en-US" altLang="zh-TW" sz="1600" b="1" dirty="0">
              <a:solidFill>
                <a:prstClr val="black">
                  <a:lumMod val="65000"/>
                  <a:lumOff val="35000"/>
                </a:prstClr>
              </a:solidFill>
              <a:latin typeface="微軟正黑體" panose="020B0604030504040204" pitchFamily="34" charset="-120"/>
              <a:ea typeface="微軟正黑體" panose="020B0604030504040204" pitchFamily="34" charset="-120"/>
            </a:endParaRPr>
          </a:p>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方案</a:t>
            </a:r>
          </a:p>
        </p:txBody>
      </p:sp>
      <p:sp>
        <p:nvSpPr>
          <p:cNvPr id="40" name="矩形 39"/>
          <p:cNvSpPr/>
          <p:nvPr/>
        </p:nvSpPr>
        <p:spPr>
          <a:xfrm>
            <a:off x="1742639" y="634664"/>
            <a:ext cx="987250" cy="338554"/>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痛點</a:t>
            </a:r>
          </a:p>
        </p:txBody>
      </p:sp>
      <p:sp>
        <p:nvSpPr>
          <p:cNvPr id="80" name="圓角矩形 79"/>
          <p:cNvSpPr/>
          <p:nvPr/>
        </p:nvSpPr>
        <p:spPr>
          <a:xfrm>
            <a:off x="4718449" y="4023685"/>
            <a:ext cx="1938650" cy="548266"/>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微軟正黑體" panose="020B0604030504040204" pitchFamily="34" charset="-120"/>
              <a:ea typeface="微軟正黑體" panose="020B0604030504040204" pitchFamily="34" charset="-120"/>
            </a:endParaRPr>
          </a:p>
        </p:txBody>
      </p:sp>
      <p:sp>
        <p:nvSpPr>
          <p:cNvPr id="81" name="文字方塊 80"/>
          <p:cNvSpPr txBox="1"/>
          <p:nvPr/>
        </p:nvSpPr>
        <p:spPr>
          <a:xfrm>
            <a:off x="4975606" y="4315829"/>
            <a:ext cx="1498685" cy="246221"/>
          </a:xfrm>
          <a:prstGeom prst="rect">
            <a:avLst/>
          </a:prstGeom>
          <a:noFill/>
        </p:spPr>
        <p:txBody>
          <a:bodyPr wrap="square" rtlCol="0">
            <a:spAutoFit/>
          </a:bodyPr>
          <a:lstStyle/>
          <a:p>
            <a:r>
              <a:rPr lang="zh-TW" altLang="en-US" sz="1000" b="1" dirty="0" smtClean="0">
                <a:solidFill>
                  <a:srgbClr val="F64C00"/>
                </a:solidFill>
                <a:latin typeface="微軟正黑體" panose="020B0604030504040204" pitchFamily="34" charset="-120"/>
                <a:ea typeface="微軟正黑體" panose="020B0604030504040204" pitchFamily="34" charset="-120"/>
              </a:rPr>
              <a:t>減少</a:t>
            </a:r>
            <a:r>
              <a:rPr lang="zh-TW" altLang="en-US" sz="1000" dirty="0">
                <a:latin typeface="微軟正黑體" panose="020B0604030504040204" pitchFamily="34" charset="-120"/>
                <a:ea typeface="微軟正黑體" panose="020B0604030504040204" pitchFamily="34" charset="-120"/>
              </a:rPr>
              <a:t> </a:t>
            </a:r>
            <a:r>
              <a:rPr lang="en-US" altLang="zh-TW" sz="1000" b="1" dirty="0">
                <a:solidFill>
                  <a:schemeClr val="accent1"/>
                </a:solidFill>
                <a:latin typeface="微軟正黑體" panose="020B0604030504040204" pitchFamily="34" charset="-120"/>
                <a:ea typeface="微軟正黑體" panose="020B0604030504040204" pitchFamily="34" charset="-120"/>
              </a:rPr>
              <a:t>DL </a:t>
            </a:r>
            <a:r>
              <a:rPr lang="en-US" altLang="zh-TW" sz="1000" b="1" dirty="0" smtClean="0">
                <a:solidFill>
                  <a:schemeClr val="accent1"/>
                </a:solidFill>
                <a:latin typeface="微軟正黑體" panose="020B0604030504040204" pitchFamily="34" charset="-120"/>
                <a:ea typeface="微軟正黑體" panose="020B0604030504040204" pitchFamily="34" charset="-120"/>
              </a:rPr>
              <a:t>1/</a:t>
            </a:r>
            <a:r>
              <a:rPr lang="zh-TW" altLang="en-US" sz="1000" b="1" dirty="0">
                <a:solidFill>
                  <a:schemeClr val="accent1"/>
                </a:solidFill>
                <a:latin typeface="微軟正黑體" panose="020B0604030504040204" pitchFamily="34" charset="-120"/>
                <a:ea typeface="微軟正黑體" panose="020B0604030504040204" pitchFamily="34" charset="-120"/>
              </a:rPr>
              <a:t>人</a:t>
            </a:r>
          </a:p>
        </p:txBody>
      </p:sp>
      <p:sp>
        <p:nvSpPr>
          <p:cNvPr id="82" name="文字方塊 81"/>
          <p:cNvSpPr txBox="1"/>
          <p:nvPr/>
        </p:nvSpPr>
        <p:spPr>
          <a:xfrm>
            <a:off x="4723812" y="4068534"/>
            <a:ext cx="800219" cy="276999"/>
          </a:xfrm>
          <a:prstGeom prst="rect">
            <a:avLst/>
          </a:prstGeom>
          <a:noFill/>
        </p:spPr>
        <p:txBody>
          <a:bodyPr wrap="none" rtlCol="0">
            <a:spAutoFit/>
          </a:bodyPr>
          <a:lstStyle/>
          <a:p>
            <a:pPr lvl="0"/>
            <a:r>
              <a:rPr lang="zh-TW" altLang="en-US" sz="1200" b="1" dirty="0" smtClean="0">
                <a:latin typeface="微軟正黑體" panose="020B0604030504040204" pitchFamily="34" charset="-120"/>
                <a:ea typeface="微軟正黑體" panose="020B0604030504040204" pitchFamily="34" charset="-120"/>
              </a:rPr>
              <a:t>節省人力</a:t>
            </a:r>
            <a:endParaRPr lang="zh-TW" altLang="en-US" sz="1200" b="1" dirty="0">
              <a:latin typeface="微軟正黑體" panose="020B0604030504040204" pitchFamily="34" charset="-120"/>
              <a:ea typeface="微軟正黑體" panose="020B0604030504040204" pitchFamily="34" charset="-120"/>
            </a:endParaRPr>
          </a:p>
        </p:txBody>
      </p:sp>
      <p:sp>
        <p:nvSpPr>
          <p:cNvPr id="88" name="矩形 218"/>
          <p:cNvSpPr>
            <a:spLocks noChangeArrowheads="1"/>
          </p:cNvSpPr>
          <p:nvPr/>
        </p:nvSpPr>
        <p:spPr bwMode="auto">
          <a:xfrm>
            <a:off x="4605497" y="3662659"/>
            <a:ext cx="1080121"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fontAlgn="auto" hangingPunct="1">
              <a:spcBef>
                <a:spcPts val="0"/>
              </a:spcBef>
              <a:spcAft>
                <a:spcPts val="0"/>
              </a:spcAft>
            </a:pPr>
            <a:r>
              <a:rPr lang="zh-TW" altLang="en-US" sz="1600" b="1" dirty="0">
                <a:solidFill>
                  <a:prstClr val="black"/>
                </a:solidFill>
                <a:latin typeface="微軟正黑體" panose="020B0604030504040204" pitchFamily="34" charset="-120"/>
                <a:ea typeface="微軟正黑體" panose="020B0604030504040204" pitchFamily="34" charset="-120"/>
              </a:rPr>
              <a:t>效益</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sp>
        <p:nvSpPr>
          <p:cNvPr id="97" name="矩形 218"/>
          <p:cNvSpPr>
            <a:spLocks noChangeArrowheads="1"/>
          </p:cNvSpPr>
          <p:nvPr/>
        </p:nvSpPr>
        <p:spPr bwMode="auto">
          <a:xfrm>
            <a:off x="4608974" y="997080"/>
            <a:ext cx="1019142"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600" b="1" dirty="0">
                <a:solidFill>
                  <a:prstClr val="black"/>
                </a:solidFill>
                <a:latin typeface="微軟正黑體" panose="020B0604030504040204" pitchFamily="34" charset="-120"/>
                <a:ea typeface="微軟正黑體" panose="020B0604030504040204" pitchFamily="34" charset="-120"/>
              </a:rPr>
              <a:t>改善後</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grpSp>
        <p:nvGrpSpPr>
          <p:cNvPr id="89" name="群組 88"/>
          <p:cNvGrpSpPr/>
          <p:nvPr/>
        </p:nvGrpSpPr>
        <p:grpSpPr>
          <a:xfrm>
            <a:off x="3138926" y="686605"/>
            <a:ext cx="1198994" cy="1075479"/>
            <a:chOff x="2720831" y="3444129"/>
            <a:chExt cx="2198818" cy="1814592"/>
          </a:xfrm>
        </p:grpSpPr>
        <p:pic>
          <p:nvPicPr>
            <p:cNvPr id="90" name="圖片 8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0831" y="3588617"/>
              <a:ext cx="2040949" cy="1377521"/>
            </a:xfrm>
            <a:prstGeom prst="rect">
              <a:avLst/>
            </a:prstGeom>
            <a:ln>
              <a:noFill/>
            </a:ln>
            <a:effectLst>
              <a:softEdge rad="112500"/>
            </a:effectLst>
          </p:spPr>
        </p:pic>
        <p:sp>
          <p:nvSpPr>
            <p:cNvPr id="91" name="矩形 90"/>
            <p:cNvSpPr/>
            <p:nvPr/>
          </p:nvSpPr>
          <p:spPr>
            <a:xfrm rot="19491569">
              <a:off x="2930976" y="3444129"/>
              <a:ext cx="237085" cy="1207357"/>
            </a:xfrm>
            <a:prstGeom prst="rect">
              <a:avLst/>
            </a:prstGeom>
            <a:noFill/>
            <a:effectLst>
              <a:softEdge rad="63500"/>
            </a:effectLst>
          </p:spPr>
          <p:txBody>
            <a:bodyPr wrap="square">
              <a:spAutoFit/>
            </a:bodyPr>
            <a:lstStyle/>
            <a:p>
              <a:pPr>
                <a:lnSpc>
                  <a:spcPct val="150000"/>
                </a:lnSpc>
              </a:pPr>
              <a:r>
                <a:rPr lang="zh-TW" altLang="en-US" sz="900" dirty="0">
                  <a:latin typeface="微軟正黑體" panose="020B0604030504040204" pitchFamily="34" charset="-120"/>
                  <a:ea typeface="微軟正黑體" panose="020B0604030504040204" pitchFamily="34" charset="-120"/>
                </a:rPr>
                <a:t>異常貨</a:t>
              </a:r>
              <a:endParaRPr lang="en-US" altLang="zh-TW" sz="900" dirty="0">
                <a:latin typeface="微軟正黑體" panose="020B0604030504040204" pitchFamily="34" charset="-120"/>
                <a:ea typeface="微軟正黑體" panose="020B0604030504040204" pitchFamily="34" charset="-120"/>
              </a:endParaRPr>
            </a:p>
          </p:txBody>
        </p:sp>
        <p:sp>
          <p:nvSpPr>
            <p:cNvPr id="92" name="矩形 91"/>
            <p:cNvSpPr/>
            <p:nvPr/>
          </p:nvSpPr>
          <p:spPr>
            <a:xfrm>
              <a:off x="3734986" y="4401888"/>
              <a:ext cx="1184663" cy="856833"/>
            </a:xfrm>
            <a:prstGeom prst="rect">
              <a:avLst/>
            </a:prstGeom>
          </p:spPr>
          <p:txBody>
            <a:bodyPr wrap="square">
              <a:spAutoFit/>
            </a:bodyPr>
            <a:lstStyle/>
            <a:p>
              <a:pPr>
                <a:lnSpc>
                  <a:spcPct val="150000"/>
                </a:lnSpc>
              </a:pPr>
              <a:r>
                <a:rPr lang="zh-TW" altLang="en-US" sz="900" dirty="0">
                  <a:solidFill>
                    <a:schemeClr val="bg1"/>
                  </a:solidFill>
                  <a:latin typeface="微軟正黑體" panose="020B0604030504040204" pitchFamily="34" charset="-120"/>
                  <a:ea typeface="微軟正黑體" panose="020B0604030504040204" pitchFamily="34" charset="-120"/>
                </a:rPr>
                <a:t>時間 </a:t>
              </a:r>
              <a:r>
                <a:rPr lang="en-US" altLang="zh-TW" sz="900" dirty="0">
                  <a:solidFill>
                    <a:schemeClr val="bg1"/>
                  </a:solidFill>
                  <a:latin typeface="微軟正黑體" panose="020B0604030504040204" pitchFamily="34" charset="-120"/>
                  <a:ea typeface="微軟正黑體" panose="020B0604030504040204" pitchFamily="34" charset="-120"/>
                </a:rPr>
                <a:t>,</a:t>
              </a:r>
              <a:r>
                <a:rPr lang="zh-TW" altLang="en-US" sz="900" dirty="0">
                  <a:solidFill>
                    <a:schemeClr val="bg1"/>
                  </a:solidFill>
                  <a:latin typeface="微軟正黑體" panose="020B0604030504040204" pitchFamily="34" charset="-120"/>
                  <a:ea typeface="微軟正黑體" panose="020B0604030504040204" pitchFamily="34" charset="-120"/>
                </a:rPr>
                <a:t>人力</a:t>
              </a:r>
              <a:endParaRPr lang="en-US" altLang="zh-TW" sz="900" dirty="0">
                <a:solidFill>
                  <a:schemeClr val="bg1"/>
                </a:solidFill>
                <a:latin typeface="微軟正黑體" panose="020B0604030504040204" pitchFamily="34" charset="-120"/>
                <a:ea typeface="微軟正黑體" panose="020B0604030504040204" pitchFamily="34" charset="-120"/>
              </a:endParaRPr>
            </a:p>
          </p:txBody>
        </p:sp>
      </p:grpSp>
      <p:sp>
        <p:nvSpPr>
          <p:cNvPr id="83" name="矩形 82"/>
          <p:cNvSpPr/>
          <p:nvPr/>
        </p:nvSpPr>
        <p:spPr>
          <a:xfrm>
            <a:off x="200884" y="1200559"/>
            <a:ext cx="4185321" cy="854080"/>
          </a:xfrm>
          <a:prstGeom prst="rect">
            <a:avLst/>
          </a:prstGeom>
        </p:spPr>
        <p:txBody>
          <a:bodyPr wrap="square">
            <a:spAutoFit/>
          </a:bodyPr>
          <a:lstStyle/>
          <a:p>
            <a:pPr marL="171450" indent="-171450" algn="just">
              <a:lnSpc>
                <a:spcPct val="150000"/>
              </a:lnSpc>
              <a:buFont typeface="Wingdings" panose="05000000000000000000" pitchFamily="2" charset="2"/>
              <a:buChar char="Ø"/>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因應產能及人力</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-&gt;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抽檢次數較少易發生漏檢事故</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514350" lvl="1" indent="-171450" algn="just">
              <a:lnSpc>
                <a:spcPct val="150000"/>
              </a:lnSpc>
              <a:buFont typeface="Wingdings" panose="05000000000000000000" pitchFamily="2" charset="2"/>
              <a:buChar char="p"/>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事故通常導致</a:t>
            </a:r>
            <a:r>
              <a:rPr lang="en-US" altLang="zh-TW" sz="1100" b="1" dirty="0" smtClean="0">
                <a:solidFill>
                  <a:srgbClr val="FF0000"/>
                </a:solidFill>
                <a:latin typeface="微軟正黑體" panose="020B0604030504040204" pitchFamily="34" charset="-120"/>
                <a:ea typeface="微軟正黑體" panose="020B0604030504040204" pitchFamily="34" charset="-120"/>
              </a:rPr>
              <a:t>60~80</a:t>
            </a:r>
            <a:r>
              <a:rPr lang="zh-TW" altLang="en-US" sz="1100" b="1" dirty="0" smtClean="0">
                <a:solidFill>
                  <a:srgbClr val="FF0000"/>
                </a:solidFill>
                <a:latin typeface="微軟正黑體" panose="020B0604030504040204" pitchFamily="34" charset="-120"/>
                <a:ea typeface="微軟正黑體" panose="020B0604030504040204" pitchFamily="34" charset="-120"/>
              </a:rPr>
              <a:t>批</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異常貨到模組</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需人力去收停</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514350" lvl="1" indent="-171450" algn="just">
              <a:lnSpc>
                <a:spcPct val="150000"/>
              </a:lnSpc>
              <a:buFont typeface="Wingdings" panose="05000000000000000000" pitchFamily="2" charset="2"/>
              <a:buChar char="p"/>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解決時長需</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&gt;30</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days/DL</a:t>
            </a:r>
          </a:p>
        </p:txBody>
      </p:sp>
      <p:sp>
        <p:nvSpPr>
          <p:cNvPr id="93" name="矩形 92"/>
          <p:cNvSpPr/>
          <p:nvPr/>
        </p:nvSpPr>
        <p:spPr>
          <a:xfrm>
            <a:off x="146518" y="3908259"/>
            <a:ext cx="1387361"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技術對策</a:t>
            </a:r>
            <a:r>
              <a:rPr lang="en-US" altLang="zh-TW" sz="1600" b="1" dirty="0">
                <a:solidFill>
                  <a:prstClr val="black"/>
                </a:solidFill>
                <a:latin typeface="微軟正黑體" pitchFamily="34" charset="-120"/>
                <a:ea typeface="微軟正黑體" panose="020B0604030504040204" pitchFamily="34" charset="-120"/>
              </a:rPr>
              <a:t>:</a:t>
            </a:r>
            <a:endParaRPr lang="zh-TW" altLang="en-US" sz="1600" dirty="0">
              <a:solidFill>
                <a:prstClr val="black">
                  <a:lumMod val="95000"/>
                  <a:lumOff val="5000"/>
                </a:prstClr>
              </a:solidFill>
              <a:latin typeface="微軟正黑體" pitchFamily="34" charset="-120"/>
              <a:ea typeface="微軟正黑體" panose="020B0604030504040204" pitchFamily="34" charset="-120"/>
            </a:endParaRPr>
          </a:p>
        </p:txBody>
      </p:sp>
      <p:sp>
        <p:nvSpPr>
          <p:cNvPr id="103" name="矩形 102"/>
          <p:cNvSpPr/>
          <p:nvPr/>
        </p:nvSpPr>
        <p:spPr>
          <a:xfrm>
            <a:off x="250300" y="4174039"/>
            <a:ext cx="3350597" cy="784830"/>
          </a:xfrm>
          <a:prstGeom prst="rect">
            <a:avLst/>
          </a:prstGeom>
        </p:spPr>
        <p:txBody>
          <a:bodyPr wrap="none">
            <a:spAutoFit/>
          </a:bodyPr>
          <a:lstStyle/>
          <a:p>
            <a:pPr marL="171450" indent="-171450">
              <a:lnSpc>
                <a:spcPct val="150000"/>
              </a:lnSpc>
              <a:buFont typeface="Wingdings" panose="05000000000000000000" pitchFamily="2" charset="2"/>
              <a:buChar char="Ø"/>
            </a:pPr>
            <a:r>
              <a:rPr lang="zh-TW" altLang="en-US" sz="1000" b="1" dirty="0" smtClean="0">
                <a:latin typeface="微軟正黑體" panose="020B0604030504040204" pitchFamily="34" charset="-120"/>
                <a:ea typeface="微軟正黑體" panose="020B0604030504040204" pitchFamily="34" charset="-120"/>
              </a:rPr>
              <a:t>影像處理技術 </a:t>
            </a:r>
            <a:r>
              <a:rPr lang="en-US" altLang="zh-TW" sz="1000" b="1" dirty="0" smtClean="0">
                <a:latin typeface="微軟正黑體" panose="020B0604030504040204" pitchFamily="34" charset="-120"/>
                <a:ea typeface="微軟正黑體" panose="020B0604030504040204" pitchFamily="34" charset="-120"/>
              </a:rPr>
              <a:t>X</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AI</a:t>
            </a:r>
            <a:r>
              <a:rPr lang="zh-TW" altLang="en-US" sz="1000" b="1" dirty="0" smtClean="0">
                <a:latin typeface="微軟正黑體" panose="020B0604030504040204" pitchFamily="34" charset="-120"/>
                <a:ea typeface="微軟正黑體" panose="020B0604030504040204" pitchFamily="34" charset="-120"/>
              </a:rPr>
              <a:t>演算法</a:t>
            </a:r>
            <a:r>
              <a:rPr lang="zh-TW" altLang="en-US" sz="1000" b="1" dirty="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X</a:t>
            </a:r>
            <a:r>
              <a:rPr lang="zh-TW" altLang="en-US" sz="1000" b="1" dirty="0" smtClean="0">
                <a:latin typeface="微軟正黑體" panose="020B0604030504040204" pitchFamily="34" charset="-120"/>
                <a:ea typeface="微軟正黑體" panose="020B0604030504040204" pitchFamily="34" charset="-120"/>
              </a:rPr>
              <a:t> 物件偵測</a:t>
            </a:r>
            <a:r>
              <a:rPr lang="en-US" altLang="zh-TW" sz="1000" b="1" dirty="0" smtClean="0">
                <a:latin typeface="微軟正黑體" panose="020B0604030504040204" pitchFamily="34" charset="-120"/>
                <a:ea typeface="微軟正黑體" panose="020B0604030504040204" pitchFamily="34" charset="-120"/>
              </a:rPr>
              <a:t>(</a:t>
            </a:r>
            <a:r>
              <a:rPr lang="en-US" altLang="zh-TW" sz="1000" b="1" dirty="0">
                <a:latin typeface="微軟正黑體" panose="020B0604030504040204" pitchFamily="34" charset="-120"/>
                <a:ea typeface="微軟正黑體" panose="020B0604030504040204" pitchFamily="34" charset="-120"/>
              </a:rPr>
              <a:t>Y</a:t>
            </a:r>
            <a:r>
              <a:rPr lang="en-US" altLang="zh-TW" sz="1000" b="1" dirty="0" smtClean="0">
                <a:latin typeface="微軟正黑體" panose="020B0604030504040204" pitchFamily="34" charset="-120"/>
                <a:ea typeface="微軟正黑體" panose="020B0604030504040204" pitchFamily="34" charset="-120"/>
              </a:rPr>
              <a:t>olo</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v5)</a:t>
            </a:r>
          </a:p>
          <a:p>
            <a:pPr marL="171450" indent="-171450">
              <a:lnSpc>
                <a:spcPct val="150000"/>
              </a:lnSpc>
              <a:buFont typeface="Wingdings" panose="05000000000000000000" pitchFamily="2" charset="2"/>
              <a:buChar char="Ø"/>
            </a:pPr>
            <a:r>
              <a:rPr lang="zh-TW" altLang="en-US" sz="1000" b="1" dirty="0" smtClean="0">
                <a:latin typeface="微軟正黑體" panose="020B0604030504040204" pitchFamily="34" charset="-120"/>
                <a:ea typeface="微軟正黑體" panose="020B0604030504040204" pitchFamily="34" charset="-120"/>
              </a:rPr>
              <a:t>邊緣運算 </a:t>
            </a:r>
            <a:r>
              <a:rPr lang="en-US" altLang="zh-TW" sz="1000" b="1" dirty="0" smtClean="0">
                <a:latin typeface="微軟正黑體" panose="020B0604030504040204" pitchFamily="34" charset="-120"/>
                <a:ea typeface="微軟正黑體" panose="020B0604030504040204" pitchFamily="34" charset="-120"/>
              </a:rPr>
              <a:t>&amp;</a:t>
            </a:r>
            <a:r>
              <a:rPr lang="zh-TW" altLang="en-US" sz="1000" b="1" dirty="0" smtClean="0">
                <a:latin typeface="微軟正黑體" panose="020B0604030504040204" pitchFamily="34" charset="-120"/>
                <a:ea typeface="微軟正黑體" panose="020B0604030504040204" pitchFamily="34" charset="-120"/>
              </a:rPr>
              <a:t> 影像量測</a:t>
            </a:r>
            <a:endParaRPr lang="en-US" altLang="zh-TW" sz="1000" b="1" dirty="0" smtClean="0">
              <a:latin typeface="微軟正黑體" panose="020B0604030504040204" pitchFamily="34" charset="-120"/>
              <a:ea typeface="微軟正黑體" panose="020B0604030504040204" pitchFamily="34" charset="-120"/>
            </a:endParaRPr>
          </a:p>
          <a:p>
            <a:pPr marL="171450" indent="-171450">
              <a:lnSpc>
                <a:spcPct val="150000"/>
              </a:lnSpc>
              <a:buFont typeface="Wingdings" panose="05000000000000000000" pitchFamily="2" charset="2"/>
              <a:buChar char="Ø"/>
            </a:pPr>
            <a:r>
              <a:rPr lang="zh-TW" altLang="en-US" sz="1000" b="1" dirty="0" smtClean="0">
                <a:latin typeface="微軟正黑體" panose="020B0604030504040204" pitchFamily="34" charset="-120"/>
                <a:ea typeface="微軟正黑體" panose="020B0604030504040204" pitchFamily="34" charset="-120"/>
              </a:rPr>
              <a:t>數據串流</a:t>
            </a:r>
            <a:r>
              <a:rPr lang="zh-TW" altLang="en-US" sz="1000" b="1" dirty="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FAB</a:t>
            </a:r>
            <a:r>
              <a:rPr lang="zh-TW" altLang="en-US" sz="1000" b="1" dirty="0" smtClean="0">
                <a:latin typeface="微軟正黑體" panose="020B0604030504040204" pitchFamily="34" charset="-120"/>
                <a:ea typeface="微軟正黑體" panose="020B0604030504040204" pitchFamily="34" charset="-120"/>
              </a:rPr>
              <a:t>機台</a:t>
            </a:r>
            <a:r>
              <a:rPr lang="zh-TW" altLang="en-US" sz="1000" b="1" dirty="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a:t>
            </a:r>
            <a:r>
              <a:rPr lang="zh-TW" altLang="en-US" sz="1000" b="1" dirty="0">
                <a:latin typeface="微軟正黑體" panose="020B0604030504040204" pitchFamily="34" charset="-120"/>
                <a:ea typeface="微軟正黑體" panose="020B0604030504040204" pitchFamily="34" charset="-120"/>
              </a:rPr>
              <a:t> </a:t>
            </a:r>
            <a:r>
              <a:rPr lang="zh-TW" altLang="en-US" sz="1000" b="1" dirty="0" smtClean="0">
                <a:latin typeface="微軟正黑體" panose="020B0604030504040204" pitchFamily="34" charset="-120"/>
                <a:ea typeface="微軟正黑體" panose="020B0604030504040204" pitchFamily="34" charset="-120"/>
              </a:rPr>
              <a:t>開發</a:t>
            </a:r>
            <a:r>
              <a:rPr lang="en-US" altLang="zh-TW" sz="1000" b="1" dirty="0">
                <a:latin typeface="微軟正黑體" panose="020B0604030504040204" pitchFamily="34" charset="-120"/>
                <a:ea typeface="微軟正黑體" panose="020B0604030504040204" pitchFamily="34" charset="-120"/>
              </a:rPr>
              <a:t>server</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web</a:t>
            </a:r>
            <a:r>
              <a:rPr lang="zh-TW" altLang="en-US" sz="1000" b="1" dirty="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server</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X</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SQL</a:t>
            </a:r>
            <a:endParaRPr lang="en-US" altLang="zh-TW" sz="1000" b="1" dirty="0">
              <a:latin typeface="微軟正黑體" panose="020B0604030504040204" pitchFamily="34" charset="-120"/>
              <a:ea typeface="微軟正黑體" panose="020B0604030504040204" pitchFamily="34" charset="-120"/>
            </a:endParaRPr>
          </a:p>
        </p:txBody>
      </p:sp>
      <p:pic>
        <p:nvPicPr>
          <p:cNvPr id="109" name="圖片 108"/>
          <p:cNvPicPr>
            <a:picLocks noChangeAspect="1"/>
          </p:cNvPicPr>
          <p:nvPr/>
        </p:nvPicPr>
        <p:blipFill rotWithShape="1">
          <a:blip r:embed="rId4"/>
          <a:srcRect t="40075" r="52748" b="49684"/>
          <a:stretch/>
        </p:blipFill>
        <p:spPr>
          <a:xfrm>
            <a:off x="476100" y="2329313"/>
            <a:ext cx="3677752" cy="348714"/>
          </a:xfrm>
          <a:prstGeom prst="rect">
            <a:avLst/>
          </a:prstGeom>
          <a:ln>
            <a:noFill/>
          </a:ln>
          <a:effectLst>
            <a:outerShdw blurRad="50800" dist="38100" dir="13500000" algn="br" rotWithShape="0">
              <a:prstClr val="black">
                <a:alpha val="40000"/>
              </a:prstClr>
            </a:outerShdw>
          </a:effectLst>
        </p:spPr>
      </p:pic>
      <p:sp>
        <p:nvSpPr>
          <p:cNvPr id="110" name="矩形 109"/>
          <p:cNvSpPr/>
          <p:nvPr/>
        </p:nvSpPr>
        <p:spPr>
          <a:xfrm>
            <a:off x="328668" y="2698124"/>
            <a:ext cx="1346706" cy="230832"/>
          </a:xfrm>
          <a:prstGeom prst="rect">
            <a:avLst/>
          </a:prstGeom>
          <a:solidFill>
            <a:schemeClr val="bg1">
              <a:lumMod val="85000"/>
            </a:schemeClr>
          </a:solidFill>
          <a:ln>
            <a:solidFill>
              <a:schemeClr val="bg2">
                <a:lumMod val="50000"/>
              </a:schemeClr>
            </a:solidFill>
            <a:prstDash val="sysDot"/>
          </a:ln>
        </p:spPr>
        <p:txBody>
          <a:bodyPr wrap="square">
            <a:spAutoFit/>
          </a:bodyPr>
          <a:lstStyle/>
          <a:p>
            <a:pPr algn="ct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人員</a:t>
            </a:r>
            <a:r>
              <a:rPr lang="zh-TW" altLang="en-US" sz="900" b="1" dirty="0">
                <a:solidFill>
                  <a:schemeClr val="tx1">
                    <a:lumMod val="95000"/>
                    <a:lumOff val="5000"/>
                  </a:schemeClr>
                </a:solidFill>
                <a:latin typeface="微軟正黑體" panose="020B0604030504040204" pitchFamily="34" charset="-120"/>
                <a:ea typeface="微軟正黑體" panose="020B0604030504040204" pitchFamily="34" charset="-120"/>
              </a:rPr>
              <a:t>到</a:t>
            </a: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系統查找影像</a:t>
            </a:r>
            <a:endParaRPr lang="en-US" altLang="zh-TW" sz="900" b="1"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sp>
        <p:nvSpPr>
          <p:cNvPr id="111" name="矩形 110"/>
          <p:cNvSpPr/>
          <p:nvPr/>
        </p:nvSpPr>
        <p:spPr>
          <a:xfrm>
            <a:off x="328668" y="2060042"/>
            <a:ext cx="970061" cy="230832"/>
          </a:xfrm>
          <a:prstGeom prst="rect">
            <a:avLst/>
          </a:prstGeom>
          <a:solidFill>
            <a:schemeClr val="bg1">
              <a:lumMod val="85000"/>
            </a:schemeClr>
          </a:solidFill>
          <a:ln>
            <a:solidFill>
              <a:schemeClr val="bg2">
                <a:lumMod val="50000"/>
              </a:schemeClr>
            </a:solidFill>
            <a:prstDash val="sysDot"/>
          </a:ln>
        </p:spPr>
        <p:txBody>
          <a:bodyPr wrap="square">
            <a:spAutoFit/>
          </a:bodyPr>
          <a:lstStyle/>
          <a:p>
            <a:pPr algn="ct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線上人員通知</a:t>
            </a:r>
            <a:endParaRPr lang="en-US" altLang="zh-TW" sz="900" b="1"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sp>
        <p:nvSpPr>
          <p:cNvPr id="112" name="矩形 111"/>
          <p:cNvSpPr/>
          <p:nvPr/>
        </p:nvSpPr>
        <p:spPr>
          <a:xfrm>
            <a:off x="328668" y="3051360"/>
            <a:ext cx="1346706" cy="230832"/>
          </a:xfrm>
          <a:prstGeom prst="rect">
            <a:avLst/>
          </a:prstGeom>
          <a:solidFill>
            <a:schemeClr val="bg1">
              <a:lumMod val="85000"/>
            </a:schemeClr>
          </a:solidFill>
          <a:ln>
            <a:solidFill>
              <a:schemeClr val="bg2">
                <a:lumMod val="50000"/>
              </a:schemeClr>
            </a:solidFill>
            <a:prstDash val="sysDot"/>
          </a:ln>
        </p:spPr>
        <p:txBody>
          <a:bodyPr wrap="square">
            <a:spAutoFit/>
          </a:bodyPr>
          <a:lstStyle/>
          <a:p>
            <a:pPr algn="ct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人工檢測 </a:t>
            </a:r>
            <a:endParaRPr lang="en-US" altLang="zh-TW" sz="900" b="1" dirty="0" smtClean="0">
              <a:solidFill>
                <a:schemeClr val="tx1">
                  <a:lumMod val="95000"/>
                  <a:lumOff val="5000"/>
                </a:schemeClr>
              </a:solidFill>
              <a:latin typeface="微軟正黑體" panose="020B0604030504040204" pitchFamily="34" charset="-120"/>
              <a:ea typeface="微軟正黑體" panose="020B0604030504040204" pitchFamily="34" charset="-120"/>
            </a:endParaRPr>
          </a:p>
        </p:txBody>
      </p:sp>
      <p:cxnSp>
        <p:nvCxnSpPr>
          <p:cNvPr id="113" name="直線單箭頭接點 112"/>
          <p:cNvCxnSpPr/>
          <p:nvPr/>
        </p:nvCxnSpPr>
        <p:spPr>
          <a:xfrm>
            <a:off x="392903" y="3291368"/>
            <a:ext cx="0" cy="108000"/>
          </a:xfrm>
          <a:prstGeom prst="straightConnector1">
            <a:avLst/>
          </a:prstGeom>
          <a:ln w="19050">
            <a:solidFill>
              <a:srgbClr val="7F7F7F"/>
            </a:solidFill>
            <a:tailEnd type="triangle"/>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319188" y="3417501"/>
            <a:ext cx="1225915" cy="369332"/>
          </a:xfrm>
          <a:prstGeom prst="rect">
            <a:avLst/>
          </a:prstGeom>
          <a:solidFill>
            <a:schemeClr val="bg1">
              <a:lumMod val="85000"/>
            </a:schemeClr>
          </a:solidFill>
          <a:ln>
            <a:solidFill>
              <a:schemeClr val="bg2">
                <a:lumMod val="50000"/>
              </a:schemeClr>
            </a:solidFill>
            <a:prstDash val="sysDot"/>
          </a:ln>
        </p:spPr>
        <p:txBody>
          <a:bodyPr wrap="square">
            <a:spAutoFit/>
          </a:bodyPr>
          <a:lstStyle/>
          <a:p>
            <a:pPr algn="ctr"/>
            <a:r>
              <a:rPr lang="en-US" altLang="zh-TW"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Hold</a:t>
            </a: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貨 </a:t>
            </a:r>
            <a:r>
              <a:rPr lang="en-US" altLang="zh-TW"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&amp;</a:t>
            </a:r>
            <a:r>
              <a:rPr lang="zh-TW" altLang="en-US" sz="900" b="1" dirty="0" smtClean="0">
                <a:solidFill>
                  <a:schemeClr val="tx1">
                    <a:lumMod val="95000"/>
                    <a:lumOff val="5000"/>
                  </a:schemeClr>
                </a:solidFill>
                <a:latin typeface="微軟正黑體" panose="020B0604030504040204" pitchFamily="34" charset="-120"/>
                <a:ea typeface="微軟正黑體" panose="020B0604030504040204" pitchFamily="34" charset="-120"/>
              </a:rPr>
              <a:t> 補值</a:t>
            </a:r>
            <a:endParaRPr lang="en-US" altLang="zh-TW" sz="900" b="1" dirty="0" smtClean="0">
              <a:solidFill>
                <a:schemeClr val="tx1">
                  <a:lumMod val="95000"/>
                  <a:lumOff val="5000"/>
                </a:schemeClr>
              </a:solidFill>
              <a:latin typeface="微軟正黑體" panose="020B0604030504040204" pitchFamily="34" charset="-120"/>
              <a:ea typeface="微軟正黑體" panose="020B0604030504040204" pitchFamily="34" charset="-120"/>
            </a:endParaRPr>
          </a:p>
          <a:p>
            <a:pPr algn="ctr"/>
            <a:r>
              <a:rPr lang="zh-TW" altLang="en-US" sz="900" b="1" u="sng" dirty="0" smtClean="0">
                <a:solidFill>
                  <a:schemeClr val="tx1">
                    <a:lumMod val="95000"/>
                    <a:lumOff val="5000"/>
                  </a:schemeClr>
                </a:solidFill>
                <a:latin typeface="微軟正黑體" panose="020B0604030504040204" pitchFamily="34" charset="-120"/>
                <a:ea typeface="微軟正黑體" panose="020B0604030504040204" pitchFamily="34" charset="-120"/>
              </a:rPr>
              <a:t>補</a:t>
            </a:r>
            <a:r>
              <a:rPr lang="zh-TW" altLang="en-US" sz="900" b="1" u="sng" dirty="0">
                <a:solidFill>
                  <a:schemeClr val="tx1">
                    <a:lumMod val="95000"/>
                    <a:lumOff val="5000"/>
                  </a:schemeClr>
                </a:solidFill>
                <a:latin typeface="微軟正黑體" panose="020B0604030504040204" pitchFamily="34" charset="-120"/>
                <a:ea typeface="微軟正黑體" panose="020B0604030504040204" pitchFamily="34" charset="-120"/>
              </a:rPr>
              <a:t>值</a:t>
            </a:r>
            <a:r>
              <a:rPr lang="zh-TW" altLang="en-US" sz="900" b="1" u="sng" dirty="0" smtClean="0">
                <a:solidFill>
                  <a:schemeClr val="tx1">
                    <a:lumMod val="95000"/>
                    <a:lumOff val="5000"/>
                  </a:schemeClr>
                </a:solidFill>
                <a:latin typeface="微軟正黑體" panose="020B0604030504040204" pitchFamily="34" charset="-120"/>
                <a:ea typeface="微軟正黑體" panose="020B0604030504040204" pitchFamily="34" charset="-120"/>
              </a:rPr>
              <a:t>數據依製程經驗</a:t>
            </a:r>
            <a:endParaRPr lang="en-US" altLang="zh-TW" sz="900" b="1" u="sng"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cxnSp>
        <p:nvCxnSpPr>
          <p:cNvPr id="115" name="直線單箭頭接點 114"/>
          <p:cNvCxnSpPr/>
          <p:nvPr/>
        </p:nvCxnSpPr>
        <p:spPr>
          <a:xfrm>
            <a:off x="392903" y="2932840"/>
            <a:ext cx="0" cy="108000"/>
          </a:xfrm>
          <a:prstGeom prst="straightConnector1">
            <a:avLst/>
          </a:prstGeom>
          <a:ln w="19050">
            <a:solidFill>
              <a:srgbClr val="7F7F7F"/>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線單箭頭接點 115"/>
          <p:cNvCxnSpPr/>
          <p:nvPr/>
        </p:nvCxnSpPr>
        <p:spPr>
          <a:xfrm>
            <a:off x="394848" y="2329313"/>
            <a:ext cx="0" cy="324000"/>
          </a:xfrm>
          <a:prstGeom prst="straightConnector1">
            <a:avLst/>
          </a:prstGeom>
          <a:ln w="19050">
            <a:solidFill>
              <a:srgbClr val="7F7F7F"/>
            </a:solidFill>
            <a:tailEnd type="triangle"/>
          </a:ln>
        </p:spPr>
        <p:style>
          <a:lnRef idx="1">
            <a:schemeClr val="accent1"/>
          </a:lnRef>
          <a:fillRef idx="0">
            <a:schemeClr val="accent1"/>
          </a:fillRef>
          <a:effectRef idx="0">
            <a:schemeClr val="accent1"/>
          </a:effectRef>
          <a:fontRef idx="minor">
            <a:schemeClr val="tx1"/>
          </a:fontRef>
        </p:style>
      </p:cxnSp>
      <p:sp>
        <p:nvSpPr>
          <p:cNvPr id="117" name="矩形 116"/>
          <p:cNvSpPr/>
          <p:nvPr/>
        </p:nvSpPr>
        <p:spPr>
          <a:xfrm>
            <a:off x="3119797" y="3527449"/>
            <a:ext cx="1169720" cy="338554"/>
          </a:xfrm>
          <a:prstGeom prst="rect">
            <a:avLst/>
          </a:prstGeom>
          <a:solidFill>
            <a:schemeClr val="accent1"/>
          </a:solidFill>
          <a:ln>
            <a:solidFill>
              <a:srgbClr val="7F7F7F"/>
            </a:solidFill>
          </a:ln>
        </p:spPr>
        <p:txBody>
          <a:bodyPr wrap="square">
            <a:spAutoFit/>
          </a:bodyPr>
          <a:lstStyle/>
          <a:p>
            <a:r>
              <a:rPr lang="en-US" altLang="zh-TW" sz="800" b="1" dirty="0">
                <a:solidFill>
                  <a:schemeClr val="bg1"/>
                </a:solidFill>
                <a:latin typeface="微軟正黑體" panose="020B0604030504040204" pitchFamily="34" charset="-120"/>
                <a:ea typeface="微軟正黑體" panose="020B0604030504040204" pitchFamily="34" charset="-120"/>
              </a:rPr>
              <a:t>1 Lot </a:t>
            </a:r>
            <a:r>
              <a:rPr lang="zh-TW" altLang="en-US" sz="800" b="1" dirty="0">
                <a:solidFill>
                  <a:schemeClr val="bg1"/>
                </a:solidFill>
                <a:latin typeface="微軟正黑體" panose="020B0604030504040204" pitchFamily="34" charset="-120"/>
                <a:ea typeface="微軟正黑體" panose="020B0604030504040204" pitchFamily="34" charset="-120"/>
              </a:rPr>
              <a:t>約</a:t>
            </a:r>
            <a:r>
              <a:rPr lang="en-US" altLang="zh-TW" sz="800" b="1" dirty="0">
                <a:solidFill>
                  <a:schemeClr val="bg1"/>
                </a:solidFill>
                <a:latin typeface="微軟正黑體" panose="020B0604030504040204" pitchFamily="34" charset="-120"/>
                <a:ea typeface="微軟正黑體" panose="020B0604030504040204" pitchFamily="34" charset="-120"/>
              </a:rPr>
              <a:t>350</a:t>
            </a:r>
            <a:r>
              <a:rPr lang="zh-TW" altLang="en-US" sz="800" b="1" dirty="0">
                <a:solidFill>
                  <a:schemeClr val="bg1"/>
                </a:solidFill>
                <a:latin typeface="微軟正黑體" panose="020B0604030504040204" pitchFamily="34" charset="-120"/>
                <a:ea typeface="微軟正黑體" panose="020B0604030504040204" pitchFamily="34" charset="-120"/>
              </a:rPr>
              <a:t>張</a:t>
            </a:r>
            <a:r>
              <a:rPr lang="zh-TW" altLang="en-US" sz="800" b="1" dirty="0" smtClean="0">
                <a:solidFill>
                  <a:schemeClr val="bg1"/>
                </a:solidFill>
                <a:latin typeface="微軟正黑體" panose="020B0604030504040204" pitchFamily="34" charset="-120"/>
                <a:ea typeface="微軟正黑體" panose="020B0604030504040204" pitchFamily="34" charset="-120"/>
              </a:rPr>
              <a:t>影像 </a:t>
            </a:r>
            <a:endParaRPr lang="en-US" altLang="zh-TW" sz="800" b="1" dirty="0" smtClean="0">
              <a:solidFill>
                <a:schemeClr val="bg1"/>
              </a:solidFill>
              <a:latin typeface="微軟正黑體" panose="020B0604030504040204" pitchFamily="34" charset="-120"/>
              <a:ea typeface="微軟正黑體" panose="020B0604030504040204" pitchFamily="34" charset="-120"/>
            </a:endParaRPr>
          </a:p>
          <a:p>
            <a:r>
              <a:rPr lang="zh-TW" altLang="en-US" sz="800" b="1" dirty="0" smtClean="0">
                <a:solidFill>
                  <a:schemeClr val="bg1"/>
                </a:solidFill>
                <a:latin typeface="微軟正黑體" panose="020B0604030504040204" pitchFamily="34" charset="-120"/>
                <a:ea typeface="微軟正黑體" panose="020B0604030504040204" pitchFamily="34" charset="-120"/>
              </a:rPr>
              <a:t>人工檢測約</a:t>
            </a:r>
            <a:r>
              <a:rPr lang="en-US" altLang="zh-TW" sz="800" b="1" dirty="0" smtClean="0">
                <a:solidFill>
                  <a:schemeClr val="bg1"/>
                </a:solidFill>
                <a:latin typeface="微軟正黑體" panose="020B0604030504040204" pitchFamily="34" charset="-120"/>
                <a:ea typeface="微軟正黑體" panose="020B0604030504040204" pitchFamily="34" charset="-120"/>
              </a:rPr>
              <a:t>3~5</a:t>
            </a:r>
            <a:r>
              <a:rPr lang="zh-TW" altLang="en-US" sz="800" b="1" dirty="0" smtClean="0">
                <a:solidFill>
                  <a:schemeClr val="bg1"/>
                </a:solidFill>
                <a:latin typeface="微軟正黑體" panose="020B0604030504040204" pitchFamily="34" charset="-120"/>
                <a:ea typeface="微軟正黑體" panose="020B0604030504040204" pitchFamily="34" charset="-120"/>
              </a:rPr>
              <a:t>分鐘</a:t>
            </a:r>
            <a:endParaRPr lang="zh-TW" altLang="en-US" sz="800" b="1" dirty="0">
              <a:solidFill>
                <a:schemeClr val="bg1"/>
              </a:solidFill>
              <a:latin typeface="微軟正黑體" panose="020B0604030504040204" pitchFamily="34" charset="-120"/>
              <a:ea typeface="微軟正黑體" panose="020B0604030504040204" pitchFamily="34" charset="-120"/>
            </a:endParaRPr>
          </a:p>
        </p:txBody>
      </p:sp>
      <p:cxnSp>
        <p:nvCxnSpPr>
          <p:cNvPr id="118" name="直線單箭頭接點 117"/>
          <p:cNvCxnSpPr/>
          <p:nvPr/>
        </p:nvCxnSpPr>
        <p:spPr>
          <a:xfrm>
            <a:off x="1658493" y="3309501"/>
            <a:ext cx="0" cy="108000"/>
          </a:xfrm>
          <a:prstGeom prst="straightConnector1">
            <a:avLst/>
          </a:prstGeom>
          <a:ln w="19050">
            <a:solidFill>
              <a:srgbClr val="7F7F7F"/>
            </a:solidFill>
            <a:tailEnd type="triangle"/>
          </a:ln>
        </p:spPr>
        <p:style>
          <a:lnRef idx="1">
            <a:schemeClr val="accent1"/>
          </a:lnRef>
          <a:fillRef idx="0">
            <a:schemeClr val="accent1"/>
          </a:fillRef>
          <a:effectRef idx="0">
            <a:schemeClr val="accent1"/>
          </a:effectRef>
          <a:fontRef idx="minor">
            <a:schemeClr val="tx1"/>
          </a:fontRef>
        </p:style>
      </p:cxnSp>
      <p:sp>
        <p:nvSpPr>
          <p:cNvPr id="120" name="矩形 119"/>
          <p:cNvSpPr/>
          <p:nvPr/>
        </p:nvSpPr>
        <p:spPr>
          <a:xfrm>
            <a:off x="418539" y="3209248"/>
            <a:ext cx="421660" cy="253916"/>
          </a:xfrm>
          <a:prstGeom prst="rect">
            <a:avLst/>
          </a:prstGeom>
        </p:spPr>
        <p:txBody>
          <a:bodyPr wrap="square">
            <a:spAutoFit/>
          </a:bodyPr>
          <a:lstStyle/>
          <a:p>
            <a:pPr>
              <a:lnSpc>
                <a:spcPct val="150000"/>
              </a:lnSpc>
            </a:pPr>
            <a:r>
              <a:rPr lang="zh-TW" altLang="en-US" sz="700" b="1" dirty="0">
                <a:solidFill>
                  <a:srgbClr val="FF0000"/>
                </a:solidFill>
                <a:latin typeface="微軟正黑體" panose="020B0604030504040204" pitchFamily="34" charset="-120"/>
                <a:ea typeface="微軟正黑體" panose="020B0604030504040204" pitchFamily="34" charset="-120"/>
              </a:rPr>
              <a:t>偏移</a:t>
            </a:r>
            <a:endParaRPr lang="en-US" altLang="zh-TW" sz="700" b="1" dirty="0">
              <a:solidFill>
                <a:srgbClr val="FF0000"/>
              </a:solidFill>
              <a:latin typeface="微軟正黑體" panose="020B0604030504040204" pitchFamily="34" charset="-120"/>
              <a:ea typeface="微軟正黑體" panose="020B0604030504040204" pitchFamily="34" charset="-120"/>
            </a:endParaRPr>
          </a:p>
        </p:txBody>
      </p:sp>
      <p:pic>
        <p:nvPicPr>
          <p:cNvPr id="121" name="圖片 120"/>
          <p:cNvPicPr>
            <a:picLocks noChangeAspect="1"/>
          </p:cNvPicPr>
          <p:nvPr/>
        </p:nvPicPr>
        <p:blipFill rotWithShape="1">
          <a:blip r:embed="rId5"/>
          <a:srcRect l="34267" r="32652" b="18494"/>
          <a:stretch/>
        </p:blipFill>
        <p:spPr>
          <a:xfrm>
            <a:off x="2108797" y="2678027"/>
            <a:ext cx="926342" cy="1212860"/>
          </a:xfrm>
          <a:prstGeom prst="rect">
            <a:avLst/>
          </a:prstGeom>
          <a:ln>
            <a:noFill/>
          </a:ln>
          <a:effectLst>
            <a:outerShdw blurRad="50800" dist="38100" dir="13500000" algn="br" rotWithShape="0">
              <a:prstClr val="black">
                <a:alpha val="40000"/>
              </a:prstClr>
            </a:outerShdw>
          </a:effectLst>
        </p:spPr>
      </p:pic>
      <p:pic>
        <p:nvPicPr>
          <p:cNvPr id="122" name="圖片 121"/>
          <p:cNvPicPr>
            <a:picLocks noChangeAspect="1"/>
          </p:cNvPicPr>
          <p:nvPr/>
        </p:nvPicPr>
        <p:blipFill>
          <a:blip r:embed="rId6"/>
          <a:stretch>
            <a:fillRect/>
          </a:stretch>
        </p:blipFill>
        <p:spPr>
          <a:xfrm>
            <a:off x="3138940" y="2769601"/>
            <a:ext cx="1232195" cy="689754"/>
          </a:xfrm>
          <a:prstGeom prst="rect">
            <a:avLst/>
          </a:prstGeom>
          <a:ln>
            <a:noFill/>
          </a:ln>
          <a:effectLst>
            <a:outerShdw blurRad="50800" dist="38100" dir="13500000" algn="br" rotWithShape="0">
              <a:prstClr val="black">
                <a:alpha val="40000"/>
              </a:prstClr>
            </a:outerShdw>
          </a:effectLst>
        </p:spPr>
      </p:pic>
      <p:cxnSp>
        <p:nvCxnSpPr>
          <p:cNvPr id="123" name="直線單箭頭接點 122"/>
          <p:cNvCxnSpPr/>
          <p:nvPr/>
        </p:nvCxnSpPr>
        <p:spPr>
          <a:xfrm>
            <a:off x="2518711" y="2644125"/>
            <a:ext cx="0" cy="1080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rot="16200000">
            <a:off x="3042788" y="3219469"/>
            <a:ext cx="0" cy="1080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rot="16200000">
            <a:off x="1578396" y="3336841"/>
            <a:ext cx="353943" cy="444994"/>
          </a:xfrm>
          <a:prstGeom prst="rect">
            <a:avLst/>
          </a:prstGeom>
          <a:noFill/>
        </p:spPr>
        <p:txBody>
          <a:bodyPr vert="eaVert" wrap="none" rtlCol="0">
            <a:spAutoFit/>
          </a:bodyPr>
          <a:lstStyle/>
          <a:p>
            <a:r>
              <a:rPr lang="en-US" altLang="zh-TW" sz="1100" b="1" dirty="0" smtClean="0">
                <a:latin typeface="微軟正黑體" panose="020B0604030504040204" pitchFamily="34" charset="-120"/>
                <a:ea typeface="微軟正黑體" panose="020B0604030504040204" pitchFamily="34" charset="-120"/>
              </a:rPr>
              <a:t>PASS</a:t>
            </a:r>
            <a:endParaRPr lang="zh-TW" altLang="en-US" sz="1100" b="1" dirty="0">
              <a:latin typeface="微軟正黑體" panose="020B0604030504040204" pitchFamily="34" charset="-120"/>
              <a:ea typeface="微軟正黑體" panose="020B0604030504040204" pitchFamily="34" charset="-120"/>
            </a:endParaRPr>
          </a:p>
        </p:txBody>
      </p:sp>
      <p:pic>
        <p:nvPicPr>
          <p:cNvPr id="29" name="圖片 28"/>
          <p:cNvPicPr>
            <a:picLocks noChangeAspect="1"/>
          </p:cNvPicPr>
          <p:nvPr/>
        </p:nvPicPr>
        <p:blipFill>
          <a:blip r:embed="rId7"/>
          <a:stretch>
            <a:fillRect/>
          </a:stretch>
        </p:blipFill>
        <p:spPr>
          <a:xfrm>
            <a:off x="4629295" y="1333879"/>
            <a:ext cx="2251795" cy="2163657"/>
          </a:xfrm>
          <a:prstGeom prst="rect">
            <a:avLst/>
          </a:prstGeom>
        </p:spPr>
      </p:pic>
      <p:pic>
        <p:nvPicPr>
          <p:cNvPr id="30" name="圖片 29"/>
          <p:cNvPicPr>
            <a:picLocks noChangeAspect="1"/>
          </p:cNvPicPr>
          <p:nvPr/>
        </p:nvPicPr>
        <p:blipFill>
          <a:blip r:embed="rId8"/>
          <a:stretch>
            <a:fillRect/>
          </a:stretch>
        </p:blipFill>
        <p:spPr>
          <a:xfrm>
            <a:off x="6901411" y="1303935"/>
            <a:ext cx="2021149" cy="1457237"/>
          </a:xfrm>
          <a:prstGeom prst="rect">
            <a:avLst/>
          </a:prstGeom>
        </p:spPr>
      </p:pic>
      <p:sp>
        <p:nvSpPr>
          <p:cNvPr id="157" name="文字方塊 156"/>
          <p:cNvSpPr txBox="1"/>
          <p:nvPr/>
        </p:nvSpPr>
        <p:spPr>
          <a:xfrm>
            <a:off x="6713047" y="4017953"/>
            <a:ext cx="1753608" cy="553998"/>
          </a:xfrm>
          <a:prstGeom prst="rect">
            <a:avLst/>
          </a:prstGeom>
          <a:solidFill>
            <a:schemeClr val="accent1"/>
          </a:solidFill>
        </p:spPr>
        <p:txBody>
          <a:bodyPr wrap="square" rtlCol="0">
            <a:spAutoFit/>
          </a:bodyPr>
          <a:lstStyle/>
          <a:p>
            <a:pPr marL="171450" indent="-171450">
              <a:buFont typeface="Wingdings" panose="05000000000000000000" pitchFamily="2" charset="2"/>
              <a:buChar char="n"/>
            </a:pPr>
            <a:r>
              <a:rPr lang="zh-TW" altLang="en-US" sz="1000" b="1" dirty="0" smtClean="0">
                <a:solidFill>
                  <a:schemeClr val="bg1"/>
                </a:solidFill>
                <a:latin typeface="微軟正黑體" panose="020B0604030504040204" pitchFamily="34" charset="-120"/>
                <a:ea typeface="微軟正黑體" panose="020B0604030504040204" pitchFamily="34" charset="-120"/>
              </a:rPr>
              <a:t>串 </a:t>
            </a:r>
            <a:r>
              <a:rPr lang="en-US" altLang="zh-TW" sz="1000" b="1" dirty="0" smtClean="0">
                <a:solidFill>
                  <a:schemeClr val="bg1"/>
                </a:solidFill>
                <a:latin typeface="微軟正黑體" panose="020B0604030504040204" pitchFamily="34" charset="-120"/>
                <a:ea typeface="微軟正黑體" panose="020B0604030504040204" pitchFamily="34" charset="-120"/>
              </a:rPr>
              <a:t>e-stone</a:t>
            </a:r>
            <a:r>
              <a:rPr lang="zh-TW" altLang="en-US" sz="1000" b="1" dirty="0" smtClean="0">
                <a:solidFill>
                  <a:schemeClr val="bg1"/>
                </a:solidFill>
                <a:latin typeface="微軟正黑體" panose="020B0604030504040204" pitchFamily="34" charset="-120"/>
                <a:ea typeface="微軟正黑體" panose="020B0604030504040204" pitchFamily="34" charset="-120"/>
              </a:rPr>
              <a:t> 警示</a:t>
            </a:r>
            <a:r>
              <a:rPr lang="en-US" altLang="zh-TW" sz="1000" b="1" dirty="0" smtClean="0">
                <a:solidFill>
                  <a:schemeClr val="bg1"/>
                </a:solidFill>
                <a:latin typeface="微軟正黑體" panose="020B0604030504040204" pitchFamily="34" charset="-120"/>
                <a:ea typeface="微軟正黑體" panose="020B0604030504040204" pitchFamily="34" charset="-120"/>
              </a:rPr>
              <a:t>Alert</a:t>
            </a:r>
          </a:p>
          <a:p>
            <a:pPr marL="171450" indent="-171450">
              <a:buFont typeface="Wingdings" panose="05000000000000000000" pitchFamily="2" charset="2"/>
              <a:buChar char="n"/>
            </a:pPr>
            <a:r>
              <a:rPr lang="zh-TW" altLang="en-US" sz="1000" b="1" dirty="0" smtClean="0">
                <a:solidFill>
                  <a:schemeClr val="bg1"/>
                </a:solidFill>
                <a:latin typeface="微軟正黑體" panose="020B0604030504040204" pitchFamily="34" charset="-120"/>
                <a:ea typeface="微軟正黑體" panose="020B0604030504040204" pitchFamily="34" charset="-120"/>
              </a:rPr>
              <a:t>影像量測邊界數據監控</a:t>
            </a:r>
            <a:endParaRPr lang="en-US" altLang="zh-TW" sz="1000" b="1" dirty="0" smtClean="0">
              <a:solidFill>
                <a:schemeClr val="bg1"/>
              </a:solidFill>
              <a:latin typeface="微軟正黑體" panose="020B0604030504040204" pitchFamily="34" charset="-120"/>
              <a:ea typeface="微軟正黑體" panose="020B0604030504040204" pitchFamily="34" charset="-120"/>
            </a:endParaRPr>
          </a:p>
          <a:p>
            <a:pPr marL="171450" indent="-171450">
              <a:buFont typeface="Wingdings" panose="05000000000000000000" pitchFamily="2" charset="2"/>
              <a:buChar char="n"/>
            </a:pPr>
            <a:r>
              <a:rPr lang="zh-TW" altLang="en-US" sz="1000" b="1" dirty="0" smtClean="0">
                <a:solidFill>
                  <a:schemeClr val="bg1"/>
                </a:solidFill>
                <a:latin typeface="微軟正黑體" panose="020B0604030504040204" pitchFamily="34" charset="-120"/>
                <a:ea typeface="微軟正黑體" panose="020B0604030504040204" pitchFamily="34" charset="-120"/>
              </a:rPr>
              <a:t>自動計算明確補值</a:t>
            </a:r>
            <a:endParaRPr lang="en-US" altLang="zh-TW" sz="1000" b="1" dirty="0" smtClean="0">
              <a:solidFill>
                <a:schemeClr val="bg1"/>
              </a:solidFill>
              <a:latin typeface="微軟正黑體" panose="020B0604030504040204" pitchFamily="34" charset="-120"/>
              <a:ea typeface="微軟正黑體" panose="020B0604030504040204" pitchFamily="34" charset="-120"/>
            </a:endParaRPr>
          </a:p>
        </p:txBody>
      </p:sp>
      <p:sp>
        <p:nvSpPr>
          <p:cNvPr id="159" name="矩形 158"/>
          <p:cNvSpPr/>
          <p:nvPr/>
        </p:nvSpPr>
        <p:spPr>
          <a:xfrm>
            <a:off x="7210146" y="2884818"/>
            <a:ext cx="1097695" cy="215444"/>
          </a:xfrm>
          <a:prstGeom prst="rect">
            <a:avLst/>
          </a:prstGeom>
          <a:solidFill>
            <a:schemeClr val="accent1"/>
          </a:solidFill>
          <a:ln>
            <a:solidFill>
              <a:schemeClr val="tx2">
                <a:lumMod val="50000"/>
                <a:lumOff val="50000"/>
              </a:schemeClr>
            </a:solidFill>
            <a:prstDash val="sysDot"/>
          </a:ln>
        </p:spPr>
        <p:txBody>
          <a:bodyPr wrap="square">
            <a:spAutoFit/>
          </a:bodyPr>
          <a:lstStyle/>
          <a:p>
            <a:pPr algn="ctr"/>
            <a:r>
              <a:rPr lang="en-US" altLang="zh-TW" sz="800" b="1" dirty="0" smtClean="0">
                <a:solidFill>
                  <a:schemeClr val="bg1"/>
                </a:solidFill>
                <a:latin typeface="微軟正黑體" panose="020B0604030504040204" pitchFamily="34" charset="-120"/>
                <a:ea typeface="微軟正黑體" panose="020B0604030504040204" pitchFamily="34" charset="-120"/>
              </a:rPr>
              <a:t>E-stone</a:t>
            </a:r>
            <a:r>
              <a:rPr lang="zh-TW" altLang="en-US" sz="800" b="1" dirty="0" smtClean="0">
                <a:solidFill>
                  <a:schemeClr val="bg1"/>
                </a:solidFill>
                <a:latin typeface="微軟正黑體" panose="020B0604030504040204" pitchFamily="34" charset="-120"/>
                <a:ea typeface="微軟正黑體" panose="020B0604030504040204" pitchFamily="34" charset="-120"/>
              </a:rPr>
              <a:t> 發報 </a:t>
            </a:r>
            <a:r>
              <a:rPr lang="en-US" altLang="zh-TW" sz="800" b="1" dirty="0" smtClean="0">
                <a:solidFill>
                  <a:schemeClr val="bg1"/>
                </a:solidFill>
                <a:latin typeface="微軟正黑體" panose="020B0604030504040204" pitchFamily="34" charset="-120"/>
                <a:ea typeface="微軟正黑體" panose="020B0604030504040204" pitchFamily="34" charset="-120"/>
              </a:rPr>
              <a:t>alert    </a:t>
            </a:r>
            <a:endParaRPr lang="en-US" altLang="zh-TW" sz="800" b="1" dirty="0">
              <a:solidFill>
                <a:schemeClr val="bg1"/>
              </a:solidFill>
              <a:latin typeface="微軟正黑體" panose="020B0604030504040204" pitchFamily="34" charset="-120"/>
              <a:ea typeface="微軟正黑體" panose="020B0604030504040204" pitchFamily="34" charset="-120"/>
            </a:endParaRPr>
          </a:p>
        </p:txBody>
      </p:sp>
      <p:sp>
        <p:nvSpPr>
          <p:cNvPr id="160" name="矩形 159"/>
          <p:cNvSpPr/>
          <p:nvPr/>
        </p:nvSpPr>
        <p:spPr>
          <a:xfrm>
            <a:off x="7186473" y="3253454"/>
            <a:ext cx="1280182" cy="215444"/>
          </a:xfrm>
          <a:prstGeom prst="rect">
            <a:avLst/>
          </a:prstGeom>
          <a:solidFill>
            <a:schemeClr val="accent1"/>
          </a:solidFill>
          <a:ln>
            <a:solidFill>
              <a:schemeClr val="tx2">
                <a:lumMod val="50000"/>
                <a:lumOff val="50000"/>
              </a:schemeClr>
            </a:solidFill>
            <a:prstDash val="sysDot"/>
          </a:ln>
        </p:spPr>
        <p:txBody>
          <a:bodyPr wrap="square">
            <a:spAutoFit/>
          </a:bodyPr>
          <a:lstStyle/>
          <a:p>
            <a:pPr algn="ctr"/>
            <a:r>
              <a:rPr lang="zh-TW" altLang="en-US" sz="800" b="1" dirty="0" smtClean="0">
                <a:solidFill>
                  <a:schemeClr val="bg1"/>
                </a:solidFill>
                <a:latin typeface="微軟正黑體" panose="020B0604030504040204" pitchFamily="34" charset="-120"/>
                <a:ea typeface="微軟正黑體" panose="020B0604030504040204" pitchFamily="34" charset="-120"/>
              </a:rPr>
              <a:t>值班人員一站式流程</a:t>
            </a:r>
            <a:endParaRPr lang="en-US" altLang="zh-TW" sz="800" b="1" dirty="0">
              <a:solidFill>
                <a:schemeClr val="bg1"/>
              </a:solidFill>
              <a:latin typeface="微軟正黑體" panose="020B0604030504040204" pitchFamily="34" charset="-120"/>
              <a:ea typeface="微軟正黑體" panose="020B0604030504040204" pitchFamily="34" charset="-120"/>
            </a:endParaRPr>
          </a:p>
        </p:txBody>
      </p:sp>
      <p:cxnSp>
        <p:nvCxnSpPr>
          <p:cNvPr id="161" name="直線單箭頭接點 160"/>
          <p:cNvCxnSpPr/>
          <p:nvPr/>
        </p:nvCxnSpPr>
        <p:spPr>
          <a:xfrm>
            <a:off x="7722726" y="3120772"/>
            <a:ext cx="0" cy="128826"/>
          </a:xfrm>
          <a:prstGeom prst="straightConnector1">
            <a:avLst/>
          </a:prstGeom>
          <a:ln w="19050">
            <a:solidFill>
              <a:srgbClr val="7F7F7F"/>
            </a:solidFill>
            <a:tailEnd type="triangle"/>
          </a:ln>
        </p:spPr>
        <p:style>
          <a:lnRef idx="1">
            <a:schemeClr val="accent1"/>
          </a:lnRef>
          <a:fillRef idx="0">
            <a:schemeClr val="accent1"/>
          </a:fillRef>
          <a:effectRef idx="0">
            <a:schemeClr val="accent1"/>
          </a:effectRef>
          <a:fontRef idx="minor">
            <a:schemeClr val="tx1"/>
          </a:fontRef>
        </p:style>
      </p:cxnSp>
      <p:pic>
        <p:nvPicPr>
          <p:cNvPr id="18" name="圖片 17"/>
          <p:cNvPicPr>
            <a:picLocks noChangeAspect="1"/>
          </p:cNvPicPr>
          <p:nvPr/>
        </p:nvPicPr>
        <p:blipFill>
          <a:blip r:embed="rId9" cstate="print">
            <a:clrChange>
              <a:clrFrom>
                <a:srgbClr val="000000"/>
              </a:clrFrom>
              <a:clrTo>
                <a:srgbClr val="000000">
                  <a:alpha val="0"/>
                </a:srgbClr>
              </a:clrTo>
            </a:clrChange>
            <a:extLst>
              <a:ext uri="{BEBA8EAE-BF5A-486C-A8C5-ECC9F3942E4B}">
                <a14:imgProps xmlns:a14="http://schemas.microsoft.com/office/drawing/2010/main">
                  <a14:imgLayer r:embed="rId10">
                    <a14:imgEffect>
                      <a14:colorTemperature colorTemp="4700"/>
                    </a14:imgEffect>
                  </a14:imgLayer>
                </a14:imgProps>
              </a:ext>
              <a:ext uri="{28A0092B-C50C-407E-A947-70E740481C1C}">
                <a14:useLocalDpi xmlns:a14="http://schemas.microsoft.com/office/drawing/2010/main" val="0"/>
              </a:ext>
            </a:extLst>
          </a:blip>
          <a:stretch>
            <a:fillRect/>
          </a:stretch>
        </p:blipFill>
        <p:spPr>
          <a:xfrm>
            <a:off x="6563996" y="3786833"/>
            <a:ext cx="385764" cy="385764"/>
          </a:xfrm>
          <a:prstGeom prst="rect">
            <a:avLst/>
          </a:prstGeom>
        </p:spPr>
      </p:pic>
      <p:sp>
        <p:nvSpPr>
          <p:cNvPr id="79"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a:cs typeface="Arial" panose="020B0604020202020204" pitchFamily="34" charset="0"/>
              </a:rPr>
              <a:t>Auto Job R2R(VER +CHIPID)</a:t>
            </a:r>
          </a:p>
          <a:p>
            <a:endParaRPr lang="zh-TW" altLang="en-US" dirty="0">
              <a:cs typeface="Arial" panose="020B0604020202020204" pitchFamily="34" charset="0"/>
            </a:endParaRPr>
          </a:p>
        </p:txBody>
      </p:sp>
    </p:spTree>
    <p:extLst>
      <p:ext uri="{BB962C8B-B14F-4D97-AF65-F5344CB8AC3E}">
        <p14:creationId xmlns:p14="http://schemas.microsoft.com/office/powerpoint/2010/main" val="140972174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向右箭號 24"/>
          <p:cNvSpPr/>
          <p:nvPr/>
        </p:nvSpPr>
        <p:spPr>
          <a:xfrm>
            <a:off x="2671306" y="1405994"/>
            <a:ext cx="169532" cy="186170"/>
          </a:xfrm>
          <a:prstGeom prst="rightArrow">
            <a:avLst/>
          </a:prstGeom>
          <a:solidFill>
            <a:schemeClr val="bg2">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 name="文字方塊 2"/>
          <p:cNvSpPr txBox="1"/>
          <p:nvPr/>
        </p:nvSpPr>
        <p:spPr>
          <a:xfrm>
            <a:off x="205593" y="782747"/>
            <a:ext cx="343844" cy="1246495"/>
          </a:xfrm>
          <a:prstGeom prst="rect">
            <a:avLst/>
          </a:prstGeom>
          <a:noFill/>
        </p:spPr>
        <p:txBody>
          <a:bodyPr wrap="square" rtlCol="0">
            <a:spAutoFit/>
          </a:bodyPr>
          <a:lstStyle/>
          <a:p>
            <a:pPr algn="ctr">
              <a:lnSpc>
                <a:spcPts val="1500"/>
              </a:lnSpc>
            </a:pPr>
            <a:r>
              <a:rPr lang="zh-TW" altLang="en-US" sz="1400" b="1" dirty="0">
                <a:solidFill>
                  <a:schemeClr val="accent1"/>
                </a:solidFill>
                <a:latin typeface="微軟正黑體" panose="020B0604030504040204" pitchFamily="34" charset="-120"/>
                <a:ea typeface="微軟正黑體" panose="020B0604030504040204" pitchFamily="34" charset="-120"/>
              </a:rPr>
              <a:t>量</a:t>
            </a:r>
            <a:r>
              <a:rPr lang="zh-TW" altLang="en-US" sz="1400" b="1" dirty="0" smtClean="0">
                <a:solidFill>
                  <a:schemeClr val="accent1"/>
                </a:solidFill>
                <a:latin typeface="微軟正黑體" panose="020B0604030504040204" pitchFamily="34" charset="-120"/>
                <a:ea typeface="微軟正黑體" panose="020B0604030504040204" pitchFamily="34" charset="-120"/>
              </a:rPr>
              <a:t>測機台影像</a:t>
            </a:r>
            <a:endParaRPr lang="zh-TW" altLang="en-US" sz="1400" b="1" dirty="0">
              <a:solidFill>
                <a:schemeClr val="accent1"/>
              </a:solidFill>
              <a:latin typeface="微軟正黑體" panose="020B0604030504040204" pitchFamily="34" charset="-120"/>
              <a:ea typeface="微軟正黑體" panose="020B0604030504040204" pitchFamily="34" charset="-120"/>
            </a:endParaRPr>
          </a:p>
        </p:txBody>
      </p:sp>
      <p:sp>
        <p:nvSpPr>
          <p:cNvPr id="4" name="矩形 3"/>
          <p:cNvSpPr/>
          <p:nvPr/>
        </p:nvSpPr>
        <p:spPr>
          <a:xfrm>
            <a:off x="242494" y="429867"/>
            <a:ext cx="2520394" cy="22814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2766125" y="862925"/>
            <a:ext cx="375899" cy="1246495"/>
          </a:xfrm>
          <a:prstGeom prst="rect">
            <a:avLst/>
          </a:prstGeom>
          <a:noFill/>
        </p:spPr>
        <p:txBody>
          <a:bodyPr wrap="square" rtlCol="0">
            <a:spAutoFit/>
          </a:bodyPr>
          <a:lstStyle/>
          <a:p>
            <a:pPr algn="ctr">
              <a:lnSpc>
                <a:spcPts val="1500"/>
              </a:lnSpc>
            </a:pPr>
            <a:r>
              <a:rPr lang="zh-TW" altLang="en-US" sz="1400" b="1" dirty="0" smtClean="0">
                <a:solidFill>
                  <a:schemeClr val="accent1"/>
                </a:solidFill>
                <a:latin typeface="微軟正黑體" panose="020B0604030504040204" pitchFamily="34" charset="-120"/>
                <a:ea typeface="微軟正黑體" panose="020B0604030504040204" pitchFamily="34" charset="-120"/>
              </a:rPr>
              <a:t>影像前處理</a:t>
            </a:r>
            <a:r>
              <a:rPr lang="en-US" altLang="zh-TW" sz="1400" b="1" dirty="0" smtClean="0">
                <a:solidFill>
                  <a:schemeClr val="accent1"/>
                </a:solidFill>
                <a:latin typeface="微軟正黑體" panose="020B0604030504040204" pitchFamily="34" charset="-120"/>
                <a:ea typeface="微軟正黑體" panose="020B0604030504040204" pitchFamily="34" charset="-120"/>
              </a:rPr>
              <a:t>1</a:t>
            </a:r>
            <a:endParaRPr lang="zh-TW" altLang="en-US" sz="1400" b="1" dirty="0">
              <a:solidFill>
                <a:schemeClr val="accent1"/>
              </a:solidFill>
              <a:latin typeface="微軟正黑體" panose="020B0604030504040204" pitchFamily="34" charset="-120"/>
              <a:ea typeface="微軟正黑體" panose="020B0604030504040204" pitchFamily="34" charset="-120"/>
            </a:endParaRPr>
          </a:p>
        </p:txBody>
      </p:sp>
      <p:sp>
        <p:nvSpPr>
          <p:cNvPr id="6" name="矩形 5"/>
          <p:cNvSpPr/>
          <p:nvPr/>
        </p:nvSpPr>
        <p:spPr>
          <a:xfrm>
            <a:off x="2839572" y="422742"/>
            <a:ext cx="2657364" cy="23065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 name="矩形 6"/>
          <p:cNvSpPr/>
          <p:nvPr/>
        </p:nvSpPr>
        <p:spPr>
          <a:xfrm>
            <a:off x="242493" y="2780630"/>
            <a:ext cx="8704050" cy="22530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149016" y="3175276"/>
            <a:ext cx="456998" cy="861774"/>
          </a:xfrm>
          <a:prstGeom prst="rect">
            <a:avLst/>
          </a:prstGeom>
          <a:noFill/>
        </p:spPr>
        <p:txBody>
          <a:bodyPr wrap="square" rtlCol="0">
            <a:spAutoFit/>
          </a:bodyPr>
          <a:lstStyle/>
          <a:p>
            <a:pPr algn="ctr">
              <a:lnSpc>
                <a:spcPts val="1500"/>
              </a:lnSpc>
            </a:pPr>
            <a:r>
              <a:rPr lang="zh-TW" altLang="en-US" sz="1400" b="1" dirty="0" smtClean="0">
                <a:solidFill>
                  <a:schemeClr val="accent1"/>
                </a:solidFill>
                <a:latin typeface="微軟正黑體" panose="020B0604030504040204" pitchFamily="34" charset="-120"/>
                <a:ea typeface="微軟正黑體" panose="020B0604030504040204" pitchFamily="34" charset="-120"/>
              </a:rPr>
              <a:t>邊緣偵測</a:t>
            </a:r>
            <a:endParaRPr lang="zh-TW" altLang="en-US" sz="1400" b="1" dirty="0">
              <a:solidFill>
                <a:schemeClr val="accent1"/>
              </a:solidFill>
              <a:latin typeface="微軟正黑體" panose="020B0604030504040204" pitchFamily="34" charset="-120"/>
              <a:ea typeface="微軟正黑體" panose="020B0604030504040204" pitchFamily="34" charset="-120"/>
            </a:endParaRPr>
          </a:p>
        </p:txBody>
      </p:sp>
      <p:sp>
        <p:nvSpPr>
          <p:cNvPr id="9" name="文字方塊 8"/>
          <p:cNvSpPr txBox="1"/>
          <p:nvPr/>
        </p:nvSpPr>
        <p:spPr>
          <a:xfrm>
            <a:off x="5500603" y="1093178"/>
            <a:ext cx="375899" cy="861774"/>
          </a:xfrm>
          <a:prstGeom prst="rect">
            <a:avLst/>
          </a:prstGeom>
          <a:noFill/>
        </p:spPr>
        <p:txBody>
          <a:bodyPr wrap="square" rtlCol="0">
            <a:spAutoFit/>
          </a:bodyPr>
          <a:lstStyle/>
          <a:p>
            <a:pPr algn="ctr">
              <a:lnSpc>
                <a:spcPts val="1500"/>
              </a:lnSpc>
            </a:pPr>
            <a:r>
              <a:rPr lang="zh-TW" altLang="en-US" sz="1400" b="1" dirty="0" smtClean="0">
                <a:solidFill>
                  <a:schemeClr val="accent1"/>
                </a:solidFill>
                <a:latin typeface="微軟正黑體" panose="020B0604030504040204" pitchFamily="34" charset="-120"/>
                <a:ea typeface="微軟正黑體" panose="020B0604030504040204" pitchFamily="34" charset="-120"/>
              </a:rPr>
              <a:t>物件</a:t>
            </a:r>
            <a:r>
              <a:rPr lang="zh-TW" altLang="en-US" sz="1400" b="1" dirty="0">
                <a:solidFill>
                  <a:schemeClr val="accent1"/>
                </a:solidFill>
                <a:latin typeface="微軟正黑體" panose="020B0604030504040204" pitchFamily="34" charset="-120"/>
                <a:ea typeface="微軟正黑體" panose="020B0604030504040204" pitchFamily="34" charset="-120"/>
              </a:rPr>
              <a:t>偵測</a:t>
            </a:r>
          </a:p>
        </p:txBody>
      </p:sp>
      <p:sp>
        <p:nvSpPr>
          <p:cNvPr id="10" name="矩形 9"/>
          <p:cNvSpPr/>
          <p:nvPr/>
        </p:nvSpPr>
        <p:spPr>
          <a:xfrm>
            <a:off x="5517043" y="422742"/>
            <a:ext cx="2111543" cy="23065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199" name="圖片 198"/>
          <p:cNvPicPr>
            <a:picLocks noChangeAspect="1"/>
          </p:cNvPicPr>
          <p:nvPr/>
        </p:nvPicPr>
        <p:blipFill>
          <a:blip r:embed="rId3"/>
          <a:stretch>
            <a:fillRect/>
          </a:stretch>
        </p:blipFill>
        <p:spPr>
          <a:xfrm>
            <a:off x="606014" y="536183"/>
            <a:ext cx="1840006" cy="2030031"/>
          </a:xfrm>
          <a:prstGeom prst="rect">
            <a:avLst/>
          </a:prstGeom>
        </p:spPr>
      </p:pic>
      <p:sp>
        <p:nvSpPr>
          <p:cNvPr id="206" name="文字方塊 205"/>
          <p:cNvSpPr txBox="1"/>
          <p:nvPr/>
        </p:nvSpPr>
        <p:spPr>
          <a:xfrm>
            <a:off x="7608479" y="795874"/>
            <a:ext cx="375899" cy="1246495"/>
          </a:xfrm>
          <a:prstGeom prst="rect">
            <a:avLst/>
          </a:prstGeom>
          <a:noFill/>
        </p:spPr>
        <p:txBody>
          <a:bodyPr wrap="square" rtlCol="0">
            <a:spAutoFit/>
          </a:bodyPr>
          <a:lstStyle/>
          <a:p>
            <a:pPr algn="ctr">
              <a:lnSpc>
                <a:spcPts val="1500"/>
              </a:lnSpc>
            </a:pPr>
            <a:r>
              <a:rPr lang="zh-TW" altLang="en-US" sz="1400" b="1" dirty="0" smtClean="0">
                <a:solidFill>
                  <a:schemeClr val="accent1"/>
                </a:solidFill>
                <a:latin typeface="微軟正黑體" panose="020B0604030504040204" pitchFamily="34" charset="-120"/>
                <a:ea typeface="微軟正黑體" panose="020B0604030504040204" pitchFamily="34" charset="-120"/>
              </a:rPr>
              <a:t>影像前處理</a:t>
            </a:r>
            <a:r>
              <a:rPr lang="en-US" altLang="zh-TW" sz="1400" b="1" dirty="0">
                <a:solidFill>
                  <a:schemeClr val="accent1"/>
                </a:solidFill>
                <a:latin typeface="微軟正黑體" panose="020B0604030504040204" pitchFamily="34" charset="-120"/>
                <a:ea typeface="微軟正黑體" panose="020B0604030504040204" pitchFamily="34" charset="-120"/>
              </a:rPr>
              <a:t>2</a:t>
            </a:r>
            <a:endParaRPr lang="zh-TW" altLang="en-US" sz="1400" b="1" dirty="0">
              <a:solidFill>
                <a:schemeClr val="accent1"/>
              </a:solidFill>
              <a:latin typeface="微軟正黑體" panose="020B0604030504040204" pitchFamily="34" charset="-120"/>
              <a:ea typeface="微軟正黑體" panose="020B0604030504040204" pitchFamily="34" charset="-120"/>
            </a:endParaRPr>
          </a:p>
        </p:txBody>
      </p:sp>
      <p:sp>
        <p:nvSpPr>
          <p:cNvPr id="207" name="矩形 206"/>
          <p:cNvSpPr/>
          <p:nvPr/>
        </p:nvSpPr>
        <p:spPr>
          <a:xfrm>
            <a:off x="7670234" y="426304"/>
            <a:ext cx="1276309" cy="228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13" name="矩形 212"/>
          <p:cNvSpPr/>
          <p:nvPr/>
        </p:nvSpPr>
        <p:spPr>
          <a:xfrm>
            <a:off x="5568992" y="510671"/>
            <a:ext cx="1997839" cy="707886"/>
          </a:xfrm>
          <a:prstGeom prst="rect">
            <a:avLst/>
          </a:prstGeom>
        </p:spPr>
        <p:txBody>
          <a:bodyPr wrap="square">
            <a:spAutoFit/>
          </a:bodyPr>
          <a:lstStyle/>
          <a:p>
            <a:pPr marL="171450" indent="-171450">
              <a:buFont typeface="Wingdings" panose="05000000000000000000" pitchFamily="2" charset="2"/>
              <a:buChar char="Ø"/>
            </a:pPr>
            <a:r>
              <a:rPr lang="en-US" altLang="zh-TW" sz="1000" b="1" dirty="0" smtClean="0">
                <a:latin typeface="微軟正黑體" panose="020B0604030504040204" pitchFamily="34" charset="-120"/>
                <a:ea typeface="微軟正黑體" panose="020B0604030504040204" pitchFamily="34" charset="-120"/>
              </a:rPr>
              <a:t>YOLO</a:t>
            </a:r>
            <a:r>
              <a:rPr lang="zh-TW" altLang="en-US" sz="1000" b="1" dirty="0" smtClean="0">
                <a:latin typeface="微軟正黑體" panose="020B0604030504040204" pitchFamily="34" charset="-120"/>
                <a:ea typeface="微軟正黑體" panose="020B0604030504040204" pitchFamily="34" charset="-120"/>
              </a:rPr>
              <a:t> </a:t>
            </a:r>
            <a:r>
              <a:rPr lang="en-US" altLang="zh-TW" sz="1000" b="1" dirty="0" smtClean="0">
                <a:latin typeface="微軟正黑體" panose="020B0604030504040204" pitchFamily="34" charset="-120"/>
                <a:ea typeface="微軟正黑體" panose="020B0604030504040204" pitchFamily="34" charset="-120"/>
              </a:rPr>
              <a:t>v5</a:t>
            </a:r>
            <a:r>
              <a:rPr lang="zh-TW" altLang="en-US" sz="1000" b="1" dirty="0" smtClean="0">
                <a:latin typeface="微軟正黑體" panose="020B0604030504040204" pitchFamily="34" charset="-120"/>
                <a:ea typeface="微軟正黑體" panose="020B0604030504040204" pitchFamily="34" charset="-120"/>
              </a:rPr>
              <a:t>建立辨識模型</a:t>
            </a:r>
            <a:endParaRPr lang="en-US" altLang="zh-TW" sz="1000" b="1" dirty="0" smtClean="0">
              <a:latin typeface="微軟正黑體" panose="020B0604030504040204" pitchFamily="34" charset="-120"/>
              <a:ea typeface="微軟正黑體" panose="020B0604030504040204" pitchFamily="34" charset="-120"/>
            </a:endParaRPr>
          </a:p>
          <a:p>
            <a:pPr marL="514350" lvl="1" indent="-171450">
              <a:buFont typeface="Arial" panose="020B0604020202020204" pitchFamily="34" charset="0"/>
              <a:buChar char="•"/>
            </a:pPr>
            <a:r>
              <a:rPr lang="en-US" altLang="zh-TW" sz="1000" b="1" dirty="0" smtClean="0">
                <a:latin typeface="微軟正黑體" panose="020B0604030504040204" pitchFamily="34" charset="-120"/>
                <a:ea typeface="微軟正黑體" panose="020B0604030504040204" pitchFamily="34" charset="-120"/>
              </a:rPr>
              <a:t>2D code </a:t>
            </a:r>
          </a:p>
          <a:p>
            <a:pPr marL="514350" lvl="1" indent="-171450">
              <a:buFont typeface="Arial" panose="020B0604020202020204" pitchFamily="34" charset="0"/>
              <a:buChar char="•"/>
            </a:pPr>
            <a:r>
              <a:rPr lang="en-US" altLang="zh-TW" sz="1000" b="1" dirty="0" smtClean="0">
                <a:latin typeface="微軟正黑體" panose="020B0604030504040204" pitchFamily="34" charset="-120"/>
                <a:ea typeface="微軟正黑體" panose="020B0604030504040204" pitchFamily="34" charset="-120"/>
              </a:rPr>
              <a:t> word</a:t>
            </a:r>
          </a:p>
          <a:p>
            <a:pPr marL="171450" indent="-171450">
              <a:buFont typeface="Wingdings" panose="05000000000000000000" pitchFamily="2" charset="2"/>
              <a:buChar char="Ø"/>
            </a:pPr>
            <a:endParaRPr lang="en-US" altLang="zh-TW" sz="1000" b="1" dirty="0">
              <a:latin typeface="微軟正黑體" panose="020B0604030504040204" pitchFamily="34" charset="-120"/>
              <a:ea typeface="微軟正黑體" panose="020B0604030504040204" pitchFamily="34" charset="-120"/>
            </a:endParaRPr>
          </a:p>
        </p:txBody>
      </p:sp>
      <p:pic>
        <p:nvPicPr>
          <p:cNvPr id="13" name="圖片 12"/>
          <p:cNvPicPr>
            <a:picLocks noChangeAspect="1"/>
          </p:cNvPicPr>
          <p:nvPr/>
        </p:nvPicPr>
        <p:blipFill>
          <a:blip r:embed="rId4"/>
          <a:stretch>
            <a:fillRect/>
          </a:stretch>
        </p:blipFill>
        <p:spPr>
          <a:xfrm>
            <a:off x="3046197" y="645528"/>
            <a:ext cx="2386519" cy="1883856"/>
          </a:xfrm>
          <a:prstGeom prst="rect">
            <a:avLst/>
          </a:prstGeom>
        </p:spPr>
      </p:pic>
      <p:pic>
        <p:nvPicPr>
          <p:cNvPr id="14" name="圖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41544" y="899230"/>
            <a:ext cx="1442434" cy="628060"/>
          </a:xfrm>
          <a:prstGeom prst="rect">
            <a:avLst/>
          </a:prstGeom>
        </p:spPr>
      </p:pic>
      <p:pic>
        <p:nvPicPr>
          <p:cNvPr id="15" name="圖片 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76585" y="1398353"/>
            <a:ext cx="1457232" cy="634503"/>
          </a:xfrm>
          <a:prstGeom prst="rect">
            <a:avLst/>
          </a:prstGeom>
        </p:spPr>
      </p:pic>
      <p:pic>
        <p:nvPicPr>
          <p:cNvPr id="16" name="圖片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23876" y="2079823"/>
            <a:ext cx="458032" cy="467013"/>
          </a:xfrm>
          <a:prstGeom prst="rect">
            <a:avLst/>
          </a:prstGeom>
        </p:spPr>
      </p:pic>
      <p:pic>
        <p:nvPicPr>
          <p:cNvPr id="18" name="圖片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44459" y="1989781"/>
            <a:ext cx="1035978" cy="690652"/>
          </a:xfrm>
          <a:prstGeom prst="rect">
            <a:avLst/>
          </a:prstGeom>
        </p:spPr>
      </p:pic>
      <p:pic>
        <p:nvPicPr>
          <p:cNvPr id="19" name="圖片 18"/>
          <p:cNvPicPr>
            <a:picLocks noChangeAspect="1"/>
          </p:cNvPicPr>
          <p:nvPr/>
        </p:nvPicPr>
        <p:blipFill>
          <a:blip r:embed="rId9"/>
          <a:stretch>
            <a:fillRect/>
          </a:stretch>
        </p:blipFill>
        <p:spPr>
          <a:xfrm>
            <a:off x="7913875" y="535396"/>
            <a:ext cx="975445" cy="1518036"/>
          </a:xfrm>
          <a:prstGeom prst="rect">
            <a:avLst/>
          </a:prstGeom>
        </p:spPr>
      </p:pic>
      <p:sp>
        <p:nvSpPr>
          <p:cNvPr id="36" name="Text Box 22"/>
          <p:cNvSpPr txBox="1">
            <a:spLocks noChangeArrowheads="1"/>
          </p:cNvSpPr>
          <p:nvPr/>
        </p:nvSpPr>
        <p:spPr bwMode="auto">
          <a:xfrm>
            <a:off x="638998" y="2749347"/>
            <a:ext cx="866712" cy="246221"/>
          </a:xfrm>
          <a:prstGeom prst="rect">
            <a:avLst/>
          </a:prstGeom>
          <a:noFill/>
          <a:ln>
            <a:noFill/>
          </a:ln>
          <a:extLst/>
        </p:spPr>
        <p:txBody>
          <a:bodyPr wrap="square">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171450" marR="0" lvl="0" indent="-171450" algn="ctr" defTabSz="914400" eaLnBrk="1" fontAlgn="auto" latinLnBrk="0" hangingPunct="1">
              <a:lnSpc>
                <a:spcPct val="100000"/>
              </a:lnSpc>
              <a:spcBef>
                <a:spcPct val="50000"/>
              </a:spcBef>
              <a:spcAft>
                <a:spcPts val="0"/>
              </a:spcAft>
              <a:buClrTx/>
              <a:buSzTx/>
              <a:buFont typeface="Arial" panose="020B0604020202020204" pitchFamily="34" charset="0"/>
              <a:buChar char="•"/>
              <a:tabLst/>
              <a:defRPr/>
            </a:pPr>
            <a:r>
              <a:rPr lang="en-US" altLang="zh-TW" sz="1000" b="1" u="sng" kern="0" dirty="0" smtClean="0">
                <a:latin typeface="微軟正黑體" panose="020B0604030504040204" pitchFamily="34" charset="-120"/>
                <a:ea typeface="微軟正黑體" panose="020B0604030504040204" pitchFamily="34" charset="-120"/>
              </a:rPr>
              <a:t>10</a:t>
            </a:r>
            <a:r>
              <a:rPr lang="zh-TW" altLang="en-US" sz="1000" b="1" u="sng" kern="0" dirty="0" smtClean="0">
                <a:latin typeface="微軟正黑體" panose="020B0604030504040204" pitchFamily="34" charset="-120"/>
                <a:ea typeface="微軟正黑體" panose="020B0604030504040204" pitchFamily="34" charset="-120"/>
              </a:rPr>
              <a:t>碼</a:t>
            </a:r>
            <a:endParaRPr kumimoji="1" lang="zh-TW" altLang="en-US" sz="1000" b="1" i="0" u="sng"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endParaRPr>
          </a:p>
        </p:txBody>
      </p:sp>
      <p:grpSp>
        <p:nvGrpSpPr>
          <p:cNvPr id="37" name="群組 36"/>
          <p:cNvGrpSpPr/>
          <p:nvPr/>
        </p:nvGrpSpPr>
        <p:grpSpPr>
          <a:xfrm>
            <a:off x="493961" y="2993520"/>
            <a:ext cx="3205212" cy="1049849"/>
            <a:chOff x="-81191" y="2152412"/>
            <a:chExt cx="4421430" cy="1446286"/>
          </a:xfrm>
        </p:grpSpPr>
        <p:sp>
          <p:nvSpPr>
            <p:cNvPr id="38" name="Text Box 39"/>
            <p:cNvSpPr txBox="1">
              <a:spLocks noChangeArrowheads="1"/>
            </p:cNvSpPr>
            <p:nvPr/>
          </p:nvSpPr>
          <p:spPr bwMode="auto">
            <a:xfrm>
              <a:off x="1530365" y="2912630"/>
              <a:ext cx="792162" cy="33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420</a:t>
              </a:r>
              <a:endPar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endParaRPr>
            </a:p>
          </p:txBody>
        </p:sp>
        <p:sp>
          <p:nvSpPr>
            <p:cNvPr id="39" name="Rectangle 23"/>
            <p:cNvSpPr>
              <a:spLocks noChangeArrowheads="1"/>
            </p:cNvSpPr>
            <p:nvPr/>
          </p:nvSpPr>
          <p:spPr bwMode="auto">
            <a:xfrm>
              <a:off x="595327" y="2191905"/>
              <a:ext cx="3168650" cy="10080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TW" altLang="en-US" sz="1000" b="1" i="0" u="none" strike="noStrike" kern="0" cap="none" spc="0" normalizeH="0" baseline="0" noProof="0">
                <a:ln>
                  <a:noFill/>
                </a:ln>
                <a:effectLst/>
                <a:uLnTx/>
                <a:uFillTx/>
                <a:latin typeface="微軟正黑體" panose="020B0604030504040204" pitchFamily="34" charset="-120"/>
                <a:ea typeface="微軟正黑體" panose="020B0604030504040204" pitchFamily="34" charset="-120"/>
              </a:endParaRPr>
            </a:p>
          </p:txBody>
        </p:sp>
        <p:sp>
          <p:nvSpPr>
            <p:cNvPr id="40" name="Rectangle 24"/>
            <p:cNvSpPr>
              <a:spLocks noChangeArrowheads="1"/>
            </p:cNvSpPr>
            <p:nvPr/>
          </p:nvSpPr>
          <p:spPr bwMode="auto">
            <a:xfrm>
              <a:off x="1890727" y="2479243"/>
              <a:ext cx="647700" cy="504825"/>
            </a:xfrm>
            <a:prstGeom prst="rect">
              <a:avLst/>
            </a:prstGeom>
            <a:solidFill>
              <a:srgbClr val="5B9BD5"/>
            </a:solidFill>
            <a:ln w="9525">
              <a:solidFill>
                <a:sysClr val="windowText" lastClr="000000"/>
              </a:solidFill>
              <a:miter lim="800000"/>
              <a:headEnd/>
              <a:tailEnd/>
            </a:ln>
          </p:spPr>
          <p:txBody>
            <a:bodyPr wrap="none" anchor="ct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TW" altLang="en-US" sz="1000" b="1" i="0" u="none" strike="noStrike" kern="0" cap="none" spc="0" normalizeH="0" baseline="0" noProof="0">
                <a:ln>
                  <a:noFill/>
                </a:ln>
                <a:effectLst/>
                <a:uLnTx/>
                <a:uFillTx/>
                <a:latin typeface="微軟正黑體" panose="020B0604030504040204" pitchFamily="34" charset="-120"/>
                <a:ea typeface="微軟正黑體" panose="020B0604030504040204" pitchFamily="34" charset="-120"/>
              </a:endParaRPr>
            </a:p>
          </p:txBody>
        </p:sp>
        <p:sp>
          <p:nvSpPr>
            <p:cNvPr id="41" name="Line 25"/>
            <p:cNvSpPr>
              <a:spLocks noChangeShapeType="1"/>
            </p:cNvSpPr>
            <p:nvPr/>
          </p:nvSpPr>
          <p:spPr bwMode="auto">
            <a:xfrm>
              <a:off x="630252" y="3299558"/>
              <a:ext cx="3095625" cy="0"/>
            </a:xfrm>
            <a:prstGeom prst="line">
              <a:avLst/>
            </a:prstGeom>
            <a:noFill/>
            <a:ln w="9525">
              <a:solidFill>
                <a:schemeClr val="accent5">
                  <a:lumMod val="75000"/>
                </a:schemeClr>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42" name="Text Box 26"/>
            <p:cNvSpPr txBox="1">
              <a:spLocks noChangeArrowheads="1"/>
            </p:cNvSpPr>
            <p:nvPr/>
          </p:nvSpPr>
          <p:spPr bwMode="auto">
            <a:xfrm>
              <a:off x="1611326" y="3259501"/>
              <a:ext cx="1439862" cy="33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7400</a:t>
              </a:r>
              <a:endPar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endParaRPr>
            </a:p>
          </p:txBody>
        </p:sp>
        <p:sp>
          <p:nvSpPr>
            <p:cNvPr id="43" name="Line 28"/>
            <p:cNvSpPr>
              <a:spLocks noChangeShapeType="1"/>
            </p:cNvSpPr>
            <p:nvPr/>
          </p:nvSpPr>
          <p:spPr bwMode="auto">
            <a:xfrm>
              <a:off x="509491" y="2152412"/>
              <a:ext cx="0" cy="1079501"/>
            </a:xfrm>
            <a:prstGeom prst="line">
              <a:avLst/>
            </a:prstGeom>
            <a:noFill/>
            <a:ln w="9525">
              <a:solidFill>
                <a:schemeClr val="accent5">
                  <a:lumMod val="75000"/>
                </a:schemeClr>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44" name="Line 29"/>
            <p:cNvSpPr>
              <a:spLocks noChangeShapeType="1"/>
            </p:cNvSpPr>
            <p:nvPr/>
          </p:nvSpPr>
          <p:spPr bwMode="auto">
            <a:xfrm flipH="1">
              <a:off x="2898790" y="2407805"/>
              <a:ext cx="1587" cy="576263"/>
            </a:xfrm>
            <a:prstGeom prst="line">
              <a:avLst/>
            </a:prstGeom>
            <a:noFill/>
            <a:ln w="9525">
              <a:solidFill>
                <a:srgbClr val="C4B59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45" name="Text Box 30"/>
            <p:cNvSpPr txBox="1">
              <a:spLocks noChangeArrowheads="1"/>
            </p:cNvSpPr>
            <p:nvPr/>
          </p:nvSpPr>
          <p:spPr bwMode="auto">
            <a:xfrm>
              <a:off x="2900377" y="2434793"/>
              <a:ext cx="1439862" cy="33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1000</a:t>
              </a:r>
              <a:endPar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endParaRPr>
            </a:p>
          </p:txBody>
        </p:sp>
        <p:sp>
          <p:nvSpPr>
            <p:cNvPr id="46" name="Line 31"/>
            <p:cNvSpPr>
              <a:spLocks noChangeShapeType="1"/>
            </p:cNvSpPr>
            <p:nvPr/>
          </p:nvSpPr>
          <p:spPr bwMode="auto">
            <a:xfrm flipV="1">
              <a:off x="1747852" y="2336368"/>
              <a:ext cx="863600" cy="0"/>
            </a:xfrm>
            <a:prstGeom prst="line">
              <a:avLst/>
            </a:prstGeom>
            <a:noFill/>
            <a:ln w="9525">
              <a:solidFill>
                <a:srgbClr val="C4B59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47" name="Line 33"/>
            <p:cNvSpPr>
              <a:spLocks noChangeShapeType="1"/>
            </p:cNvSpPr>
            <p:nvPr/>
          </p:nvSpPr>
          <p:spPr bwMode="auto">
            <a:xfrm>
              <a:off x="595327" y="2768168"/>
              <a:ext cx="1295400" cy="0"/>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48" name="Text Box 34"/>
            <p:cNvSpPr txBox="1">
              <a:spLocks noChangeArrowheads="1"/>
            </p:cNvSpPr>
            <p:nvPr/>
          </p:nvSpPr>
          <p:spPr bwMode="auto">
            <a:xfrm>
              <a:off x="738202" y="2191906"/>
              <a:ext cx="792163" cy="33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a:ln>
                    <a:noFill/>
                  </a:ln>
                  <a:effectLst/>
                  <a:uLnTx/>
                  <a:uFillTx/>
                  <a:latin typeface="微軟正黑體" panose="020B0604030504040204" pitchFamily="34" charset="-120"/>
                  <a:ea typeface="微軟正黑體" panose="020B0604030504040204" pitchFamily="34" charset="-120"/>
                </a:rPr>
                <a:t>3200</a:t>
              </a:r>
            </a:p>
          </p:txBody>
        </p:sp>
        <p:sp>
          <p:nvSpPr>
            <p:cNvPr id="49" name="Line 35"/>
            <p:cNvSpPr>
              <a:spLocks noChangeShapeType="1"/>
            </p:cNvSpPr>
            <p:nvPr/>
          </p:nvSpPr>
          <p:spPr bwMode="auto">
            <a:xfrm>
              <a:off x="2559253" y="2768168"/>
              <a:ext cx="1203137" cy="0"/>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50" name="Line 38"/>
            <p:cNvSpPr>
              <a:spLocks noChangeShapeType="1"/>
            </p:cNvSpPr>
            <p:nvPr/>
          </p:nvSpPr>
          <p:spPr bwMode="auto">
            <a:xfrm>
              <a:off x="2178065" y="2912630"/>
              <a:ext cx="0" cy="288925"/>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51" name="Line 40"/>
            <p:cNvSpPr>
              <a:spLocks noChangeShapeType="1"/>
            </p:cNvSpPr>
            <p:nvPr/>
          </p:nvSpPr>
          <p:spPr bwMode="auto">
            <a:xfrm>
              <a:off x="2178065" y="2191905"/>
              <a:ext cx="0" cy="288925"/>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52" name="Text Box 46"/>
            <p:cNvSpPr txBox="1">
              <a:spLocks noChangeArrowheads="1"/>
            </p:cNvSpPr>
            <p:nvPr/>
          </p:nvSpPr>
          <p:spPr bwMode="auto">
            <a:xfrm>
              <a:off x="-81191" y="2459708"/>
              <a:ext cx="833560" cy="33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1840</a:t>
              </a:r>
              <a:endPar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endParaRPr>
            </a:p>
          </p:txBody>
        </p:sp>
      </p:grpSp>
      <p:sp>
        <p:nvSpPr>
          <p:cNvPr id="53" name="Text Box 7"/>
          <p:cNvSpPr txBox="1">
            <a:spLocks noChangeArrowheads="1"/>
          </p:cNvSpPr>
          <p:nvPr/>
        </p:nvSpPr>
        <p:spPr bwMode="auto">
          <a:xfrm>
            <a:off x="439066" y="4260578"/>
            <a:ext cx="58879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defTabSz="914400">
              <a:spcBef>
                <a:spcPct val="50000"/>
              </a:spcBef>
            </a:pPr>
            <a:r>
              <a:rPr lang="en-US" altLang="zh-TW" sz="1000" b="1" dirty="0" smtClean="0">
                <a:latin typeface="微軟正黑體" panose="020B0604030504040204" pitchFamily="34" charset="-120"/>
                <a:ea typeface="微軟正黑體" panose="020B0604030504040204" pitchFamily="34" charset="-120"/>
              </a:rPr>
              <a:t>2000</a:t>
            </a:r>
            <a:endParaRPr lang="en-US" altLang="zh-TW" sz="1000" b="1" dirty="0">
              <a:latin typeface="微軟正黑體" panose="020B0604030504040204" pitchFamily="34" charset="-120"/>
              <a:ea typeface="微軟正黑體" panose="020B0604030504040204" pitchFamily="34" charset="-120"/>
            </a:endParaRPr>
          </a:p>
        </p:txBody>
      </p:sp>
      <p:sp>
        <p:nvSpPr>
          <p:cNvPr id="54" name="Text Box 13"/>
          <p:cNvSpPr txBox="1">
            <a:spLocks noChangeArrowheads="1"/>
          </p:cNvSpPr>
          <p:nvPr/>
        </p:nvSpPr>
        <p:spPr bwMode="auto">
          <a:xfrm>
            <a:off x="627255" y="3828859"/>
            <a:ext cx="862097" cy="246221"/>
          </a:xfrm>
          <a:prstGeom prst="rect">
            <a:avLst/>
          </a:prstGeom>
          <a:noFill/>
          <a:ln>
            <a:noFill/>
          </a:ln>
          <a:extLst/>
        </p:spPr>
        <p:txBody>
          <a:bodyPr wrap="square">
            <a:spAutoFit/>
          </a:bodyPr>
          <a:lstStyle>
            <a:defPPr>
              <a:defRPr lang="zh-TW"/>
            </a:defPPr>
            <a:lvl1pPr>
              <a:spcBef>
                <a:spcPct val="50000"/>
              </a:spcBef>
              <a:defRPr kumimoji="1">
                <a:latin typeface="+mn-ea"/>
              </a:defRPr>
            </a:lvl1pPr>
            <a:lvl2pPr marL="742950" indent="-285750">
              <a:defRPr kumimoji="1" sz="1400">
                <a:latin typeface="Arial" panose="020B0604020202020204" pitchFamily="34" charset="0"/>
                <a:ea typeface="SimSun" panose="02010600030101010101" pitchFamily="2" charset="-122"/>
              </a:defRPr>
            </a:lvl2pPr>
            <a:lvl3pPr marL="1143000" indent="-228600">
              <a:defRPr kumimoji="1" sz="1400">
                <a:latin typeface="Arial" panose="020B0604020202020204" pitchFamily="34" charset="0"/>
                <a:ea typeface="SimSun" panose="02010600030101010101" pitchFamily="2" charset="-122"/>
              </a:defRPr>
            </a:lvl3pPr>
            <a:lvl4pPr marL="1600200" indent="-228600">
              <a:defRPr kumimoji="1" sz="1400">
                <a:latin typeface="Arial" panose="020B0604020202020204" pitchFamily="34" charset="0"/>
                <a:ea typeface="SimSun" panose="02010600030101010101" pitchFamily="2" charset="-122"/>
              </a:defRPr>
            </a:lvl4pPr>
            <a:lvl5pPr marL="2057400" indent="-228600">
              <a:defRPr kumimoji="1" sz="1400">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9pPr>
          </a:lstStyle>
          <a:p>
            <a:pPr marL="171450" marR="0" lvl="0" indent="-171450" algn="ctr" defTabSz="914400" eaLnBrk="1" fontAlgn="auto" latinLnBrk="0" hangingPunct="1">
              <a:lnSpc>
                <a:spcPct val="100000"/>
              </a:lnSpc>
              <a:spcBef>
                <a:spcPct val="50000"/>
              </a:spcBef>
              <a:spcAft>
                <a:spcPts val="0"/>
              </a:spcAft>
              <a:buClrTx/>
              <a:buSzTx/>
              <a:buFont typeface="Arial" panose="020B0604020202020204" pitchFamily="34" charset="0"/>
              <a:buChar char="•"/>
              <a:tabLst/>
              <a:defRPr/>
            </a:pPr>
            <a:r>
              <a:rPr kumimoji="1" lang="en-US" altLang="zh-TW" sz="1000" b="1" i="0" u="sng"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12</a:t>
            </a:r>
            <a:r>
              <a:rPr kumimoji="1" lang="zh-TW" altLang="en-US" sz="1000" b="1" i="0" u="sng"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rPr>
              <a:t>碼</a:t>
            </a:r>
          </a:p>
        </p:txBody>
      </p:sp>
      <p:grpSp>
        <p:nvGrpSpPr>
          <p:cNvPr id="55" name="群組 54"/>
          <p:cNvGrpSpPr/>
          <p:nvPr/>
        </p:nvGrpSpPr>
        <p:grpSpPr>
          <a:xfrm>
            <a:off x="786509" y="4059566"/>
            <a:ext cx="2971853" cy="1041915"/>
            <a:chOff x="2232870" y="4419813"/>
            <a:chExt cx="3977123" cy="1413542"/>
          </a:xfrm>
        </p:grpSpPr>
        <p:sp>
          <p:nvSpPr>
            <p:cNvPr id="56" name="Text Box 31"/>
            <p:cNvSpPr txBox="1">
              <a:spLocks noChangeArrowheads="1"/>
            </p:cNvSpPr>
            <p:nvPr/>
          </p:nvSpPr>
          <p:spPr bwMode="auto">
            <a:xfrm>
              <a:off x="3344967" y="5153516"/>
              <a:ext cx="792162" cy="33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rPr>
                <a:t>450</a:t>
              </a:r>
            </a:p>
          </p:txBody>
        </p:sp>
        <p:sp>
          <p:nvSpPr>
            <p:cNvPr id="57" name="Rectangle 3"/>
            <p:cNvSpPr>
              <a:spLocks noChangeArrowheads="1"/>
            </p:cNvSpPr>
            <p:nvPr/>
          </p:nvSpPr>
          <p:spPr bwMode="auto">
            <a:xfrm>
              <a:off x="2395231" y="4436752"/>
              <a:ext cx="3168650" cy="10080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TW" altLang="en-US" sz="1000" b="1" i="0" u="none" strike="noStrike" kern="0" cap="none" spc="0" normalizeH="0" baseline="0" noProof="0">
                <a:ln>
                  <a:noFill/>
                </a:ln>
                <a:effectLst/>
                <a:uLnTx/>
                <a:uFillTx/>
                <a:latin typeface="微軟正黑體" panose="020B0604030504040204" pitchFamily="34" charset="-120"/>
                <a:ea typeface="微軟正黑體" panose="020B0604030504040204" pitchFamily="34" charset="-120"/>
              </a:endParaRPr>
            </a:p>
          </p:txBody>
        </p:sp>
        <p:sp>
          <p:nvSpPr>
            <p:cNvPr id="58" name="Rectangle 4"/>
            <p:cNvSpPr>
              <a:spLocks noChangeArrowheads="1"/>
            </p:cNvSpPr>
            <p:nvPr/>
          </p:nvSpPr>
          <p:spPr bwMode="auto">
            <a:xfrm>
              <a:off x="3690631" y="4724089"/>
              <a:ext cx="647700" cy="504825"/>
            </a:xfrm>
            <a:prstGeom prst="rect">
              <a:avLst/>
            </a:prstGeom>
            <a:solidFill>
              <a:srgbClr val="5B9BD5"/>
            </a:solidFill>
            <a:ln w="9525">
              <a:solidFill>
                <a:sysClr val="windowText" lastClr="000000"/>
              </a:solidFill>
              <a:miter lim="800000"/>
              <a:headEnd/>
              <a:tailEnd/>
            </a:ln>
          </p:spPr>
          <p:txBody>
            <a:bodyPr wrap="none" anchor="ct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TW" altLang="en-US" sz="1000" b="1" i="0" u="none" strike="noStrike" kern="0" cap="none" spc="0" normalizeH="0" baseline="0" noProof="0">
                <a:ln>
                  <a:noFill/>
                </a:ln>
                <a:effectLst/>
                <a:uLnTx/>
                <a:uFillTx/>
                <a:latin typeface="微軟正黑體" panose="020B0604030504040204" pitchFamily="34" charset="-120"/>
                <a:ea typeface="微軟正黑體" panose="020B0604030504040204" pitchFamily="34" charset="-120"/>
              </a:endParaRPr>
            </a:p>
          </p:txBody>
        </p:sp>
        <p:sp>
          <p:nvSpPr>
            <p:cNvPr id="59" name="Line 5"/>
            <p:cNvSpPr>
              <a:spLocks noChangeShapeType="1"/>
            </p:cNvSpPr>
            <p:nvPr/>
          </p:nvSpPr>
          <p:spPr bwMode="auto">
            <a:xfrm>
              <a:off x="2374323" y="5545284"/>
              <a:ext cx="3095625" cy="0"/>
            </a:xfrm>
            <a:prstGeom prst="line">
              <a:avLst/>
            </a:prstGeom>
            <a:noFill/>
            <a:ln w="9525">
              <a:solidFill>
                <a:srgbClr val="92D05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60" name="Text Box 6"/>
            <p:cNvSpPr txBox="1">
              <a:spLocks noChangeArrowheads="1"/>
            </p:cNvSpPr>
            <p:nvPr/>
          </p:nvSpPr>
          <p:spPr bwMode="auto">
            <a:xfrm>
              <a:off x="3540611" y="5499313"/>
              <a:ext cx="1439862" cy="33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9400</a:t>
              </a:r>
              <a:endPar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endParaRPr>
            </a:p>
          </p:txBody>
        </p:sp>
        <p:sp>
          <p:nvSpPr>
            <p:cNvPr id="61" name="Line 8"/>
            <p:cNvSpPr>
              <a:spLocks noChangeShapeType="1"/>
            </p:cNvSpPr>
            <p:nvPr/>
          </p:nvSpPr>
          <p:spPr bwMode="auto">
            <a:xfrm>
              <a:off x="2232870" y="4419813"/>
              <a:ext cx="0" cy="1079500"/>
            </a:xfrm>
            <a:prstGeom prst="line">
              <a:avLst/>
            </a:prstGeom>
            <a:noFill/>
            <a:ln w="9525">
              <a:solidFill>
                <a:srgbClr val="92D05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62" name="Line 9"/>
            <p:cNvSpPr>
              <a:spLocks noChangeShapeType="1"/>
            </p:cNvSpPr>
            <p:nvPr/>
          </p:nvSpPr>
          <p:spPr bwMode="auto">
            <a:xfrm flipH="1">
              <a:off x="4698693" y="4652652"/>
              <a:ext cx="1588" cy="576262"/>
            </a:xfrm>
            <a:prstGeom prst="line">
              <a:avLst/>
            </a:prstGeom>
            <a:noFill/>
            <a:ln w="952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63" name="Text Box 10"/>
            <p:cNvSpPr txBox="1">
              <a:spLocks noChangeArrowheads="1"/>
            </p:cNvSpPr>
            <p:nvPr/>
          </p:nvSpPr>
          <p:spPr bwMode="auto">
            <a:xfrm>
              <a:off x="4770131" y="4508190"/>
              <a:ext cx="1439862" cy="33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1100</a:t>
              </a:r>
              <a:endPar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endParaRPr>
            </a:p>
          </p:txBody>
        </p:sp>
        <p:sp>
          <p:nvSpPr>
            <p:cNvPr id="64" name="Line 11"/>
            <p:cNvSpPr>
              <a:spLocks noChangeShapeType="1"/>
            </p:cNvSpPr>
            <p:nvPr/>
          </p:nvSpPr>
          <p:spPr bwMode="auto">
            <a:xfrm flipV="1">
              <a:off x="3547756" y="4581214"/>
              <a:ext cx="863600" cy="0"/>
            </a:xfrm>
            <a:prstGeom prst="line">
              <a:avLst/>
            </a:prstGeom>
            <a:noFill/>
            <a:ln w="952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65" name="Line 25"/>
            <p:cNvSpPr>
              <a:spLocks noChangeShapeType="1"/>
            </p:cNvSpPr>
            <p:nvPr/>
          </p:nvSpPr>
          <p:spPr bwMode="auto">
            <a:xfrm>
              <a:off x="2395231" y="5013014"/>
              <a:ext cx="1295400" cy="0"/>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66" name="Text Box 26"/>
            <p:cNvSpPr txBox="1">
              <a:spLocks noChangeArrowheads="1"/>
            </p:cNvSpPr>
            <p:nvPr/>
          </p:nvSpPr>
          <p:spPr bwMode="auto">
            <a:xfrm>
              <a:off x="2538107" y="4436752"/>
              <a:ext cx="792162" cy="33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TW" sz="1000" b="1"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rPr>
                <a:t>4150</a:t>
              </a:r>
            </a:p>
          </p:txBody>
        </p:sp>
        <p:sp>
          <p:nvSpPr>
            <p:cNvPr id="67" name="Line 27"/>
            <p:cNvSpPr>
              <a:spLocks noChangeShapeType="1"/>
            </p:cNvSpPr>
            <p:nvPr/>
          </p:nvSpPr>
          <p:spPr bwMode="auto">
            <a:xfrm>
              <a:off x="4339918" y="5013014"/>
              <a:ext cx="1295400" cy="0"/>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sp>
          <p:nvSpPr>
            <p:cNvPr id="68" name="Line 30"/>
            <p:cNvSpPr>
              <a:spLocks noChangeShapeType="1"/>
            </p:cNvSpPr>
            <p:nvPr/>
          </p:nvSpPr>
          <p:spPr bwMode="auto">
            <a:xfrm>
              <a:off x="3977969" y="5222564"/>
              <a:ext cx="0" cy="244202"/>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000" b="1" i="0" u="none" strike="noStrike" kern="0" cap="none" spc="0" normalizeH="0" baseline="0" noProof="0" smtClean="0">
                <a:ln>
                  <a:noFill/>
                </a:ln>
                <a:effectLst/>
                <a:uLnTx/>
                <a:uFillTx/>
                <a:latin typeface="微軟正黑體" panose="020B0604030504040204" pitchFamily="34" charset="-120"/>
                <a:ea typeface="微軟正黑體" panose="020B0604030504040204" pitchFamily="34" charset="-120"/>
              </a:endParaRPr>
            </a:p>
          </p:txBody>
        </p:sp>
      </p:grpSp>
      <p:sp>
        <p:nvSpPr>
          <p:cNvPr id="69" name="流程圖: 接點 68"/>
          <p:cNvSpPr/>
          <p:nvPr/>
        </p:nvSpPr>
        <p:spPr>
          <a:xfrm>
            <a:off x="646041" y="3444687"/>
            <a:ext cx="161312" cy="140013"/>
          </a:xfrm>
          <a:prstGeom prst="flowChartConnector">
            <a:avLst/>
          </a:prstGeom>
          <a:solidFill>
            <a:sysClr val="window" lastClr="FFFFFF"/>
          </a:solidFill>
          <a:ln w="1270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H</a:t>
            </a:r>
            <a:endParaRPr kumimoji="0" lang="zh-TW" altLang="en-US"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endParaRPr>
          </a:p>
        </p:txBody>
      </p:sp>
      <p:sp>
        <p:nvSpPr>
          <p:cNvPr id="83" name="Text Box 22"/>
          <p:cNvSpPr txBox="1">
            <a:spLocks noChangeArrowheads="1"/>
          </p:cNvSpPr>
          <p:nvPr/>
        </p:nvSpPr>
        <p:spPr bwMode="auto">
          <a:xfrm>
            <a:off x="3491097" y="2768185"/>
            <a:ext cx="1354314" cy="246221"/>
          </a:xfrm>
          <a:prstGeom prst="rect">
            <a:avLst/>
          </a:prstGeom>
          <a:noFill/>
          <a:ln>
            <a:noFill/>
          </a:ln>
          <a:extLst/>
        </p:spPr>
        <p:txBody>
          <a:bodyPr wrap="square">
            <a:spAutoFit/>
          </a:bodyPr>
          <a:lstStyle>
            <a:defPPr>
              <a:defRPr lang="en-US"/>
            </a:defPPr>
            <a:lvl1pPr marL="171450" marR="0" lvl="0" indent="-171450" algn="ctr" defTabSz="914400" fontAlgn="auto">
              <a:lnSpc>
                <a:spcPct val="100000"/>
              </a:lnSpc>
              <a:spcBef>
                <a:spcPct val="50000"/>
              </a:spcBef>
              <a:spcAft>
                <a:spcPts val="0"/>
              </a:spcAft>
              <a:buClrTx/>
              <a:buSzTx/>
              <a:buFont typeface="Arial" panose="020B0604020202020204" pitchFamily="34" charset="0"/>
              <a:buChar char="•"/>
              <a:tabLst/>
              <a:defRPr kumimoji="1" sz="1000" b="1" u="sng" kern="0">
                <a:latin typeface="微軟正黑體" panose="020B0604030504040204" pitchFamily="34" charset="-120"/>
                <a:ea typeface="微軟正黑體" panose="020B0604030504040204" pitchFamily="34" charset="-120"/>
              </a:defRPr>
            </a:lvl1pPr>
            <a:lvl2pPr marL="742950" indent="-285750">
              <a:defRPr kumimoji="1" sz="1400">
                <a:latin typeface="Arial" panose="020B0604020202020204" pitchFamily="34" charset="0"/>
                <a:ea typeface="SimSun" panose="02010600030101010101" pitchFamily="2" charset="-122"/>
              </a:defRPr>
            </a:lvl2pPr>
            <a:lvl3pPr marL="1143000" indent="-228600">
              <a:defRPr kumimoji="1" sz="1400">
                <a:latin typeface="Arial" panose="020B0604020202020204" pitchFamily="34" charset="0"/>
                <a:ea typeface="SimSun" panose="02010600030101010101" pitchFamily="2" charset="-122"/>
              </a:defRPr>
            </a:lvl3pPr>
            <a:lvl4pPr marL="1600200" indent="-228600">
              <a:defRPr kumimoji="1" sz="1400">
                <a:latin typeface="Arial" panose="020B0604020202020204" pitchFamily="34" charset="0"/>
                <a:ea typeface="SimSun" panose="02010600030101010101" pitchFamily="2" charset="-122"/>
              </a:defRPr>
            </a:lvl4pPr>
            <a:lvl5pPr marL="2057400" indent="-228600">
              <a:defRPr kumimoji="1" sz="1400">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9pPr>
          </a:lstStyle>
          <a:p>
            <a:r>
              <a:rPr lang="en-US" altLang="zh-TW" dirty="0"/>
              <a:t>2D code 8x32</a:t>
            </a:r>
          </a:p>
        </p:txBody>
      </p:sp>
      <p:grpSp>
        <p:nvGrpSpPr>
          <p:cNvPr id="84" name="群組 83"/>
          <p:cNvGrpSpPr/>
          <p:nvPr/>
        </p:nvGrpSpPr>
        <p:grpSpPr>
          <a:xfrm>
            <a:off x="3647671" y="3009613"/>
            <a:ext cx="1379924" cy="804826"/>
            <a:chOff x="6354382" y="3289480"/>
            <a:chExt cx="2003054" cy="1221375"/>
          </a:xfrm>
        </p:grpSpPr>
        <p:pic>
          <p:nvPicPr>
            <p:cNvPr id="85" name="Picture 2"/>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6852" t="15620" b="7908"/>
            <a:stretch/>
          </p:blipFill>
          <p:spPr bwMode="auto">
            <a:xfrm>
              <a:off x="6407305" y="3561810"/>
              <a:ext cx="1276127" cy="82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Text Box 39"/>
            <p:cNvSpPr txBox="1">
              <a:spLocks noChangeArrowheads="1"/>
            </p:cNvSpPr>
            <p:nvPr/>
          </p:nvSpPr>
          <p:spPr bwMode="auto">
            <a:xfrm>
              <a:off x="7475823" y="4137199"/>
              <a:ext cx="792161" cy="37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defTabSz="914400">
                <a:spcBef>
                  <a:spcPct val="50000"/>
                </a:spcBef>
              </a:pPr>
              <a:r>
                <a:rPr lang="en-US" altLang="zh-TW" sz="1000" b="1" dirty="0" smtClean="0">
                  <a:latin typeface="微軟正黑體" panose="020B0604030504040204" pitchFamily="34" charset="-120"/>
                  <a:ea typeface="微軟正黑體" panose="020B0604030504040204" pitchFamily="34" charset="-120"/>
                </a:rPr>
                <a:t>1340</a:t>
              </a:r>
              <a:endParaRPr lang="en-US" altLang="zh-TW" sz="1000" b="1" dirty="0">
                <a:latin typeface="微軟正黑體" panose="020B0604030504040204" pitchFamily="34" charset="-120"/>
                <a:ea typeface="微軟正黑體" panose="020B0604030504040204" pitchFamily="34" charset="-120"/>
              </a:endParaRPr>
            </a:p>
          </p:txBody>
        </p:sp>
        <p:sp>
          <p:nvSpPr>
            <p:cNvPr id="87" name="Line 33"/>
            <p:cNvSpPr>
              <a:spLocks noChangeShapeType="1"/>
            </p:cNvSpPr>
            <p:nvPr/>
          </p:nvSpPr>
          <p:spPr bwMode="auto">
            <a:xfrm>
              <a:off x="6354382" y="3456941"/>
              <a:ext cx="1295401" cy="0"/>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a:endParaRPr lang="zh-TW" altLang="en-US" sz="1000" b="1">
                <a:latin typeface="微軟正黑體" panose="020B0604030504040204" pitchFamily="34" charset="-120"/>
                <a:ea typeface="微軟正黑體" panose="020B0604030504040204" pitchFamily="34" charset="-120"/>
              </a:endParaRPr>
            </a:p>
          </p:txBody>
        </p:sp>
        <p:sp>
          <p:nvSpPr>
            <p:cNvPr id="88" name="Text Box 34"/>
            <p:cNvSpPr txBox="1">
              <a:spLocks noChangeArrowheads="1"/>
            </p:cNvSpPr>
            <p:nvPr/>
          </p:nvSpPr>
          <p:spPr bwMode="auto">
            <a:xfrm>
              <a:off x="7565273" y="3289480"/>
              <a:ext cx="792163" cy="37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defTabSz="914400">
                <a:spcBef>
                  <a:spcPct val="50000"/>
                </a:spcBef>
              </a:pPr>
              <a:r>
                <a:rPr lang="en-US" altLang="zh-TW" sz="1000" b="1" dirty="0" smtClean="0">
                  <a:latin typeface="微軟正黑體" panose="020B0604030504040204" pitchFamily="34" charset="-120"/>
                  <a:ea typeface="微軟正黑體" panose="020B0604030504040204" pitchFamily="34" charset="-120"/>
                </a:rPr>
                <a:t>2600</a:t>
              </a:r>
              <a:endParaRPr lang="en-US" altLang="zh-TW" sz="1000" b="1" dirty="0">
                <a:latin typeface="微軟正黑體" panose="020B0604030504040204" pitchFamily="34" charset="-120"/>
                <a:ea typeface="微軟正黑體" panose="020B0604030504040204" pitchFamily="34" charset="-120"/>
              </a:endParaRPr>
            </a:p>
          </p:txBody>
        </p:sp>
        <p:sp>
          <p:nvSpPr>
            <p:cNvPr id="89" name="Line 38"/>
            <p:cNvSpPr>
              <a:spLocks noChangeShapeType="1"/>
            </p:cNvSpPr>
            <p:nvPr/>
          </p:nvSpPr>
          <p:spPr bwMode="auto">
            <a:xfrm>
              <a:off x="7831523" y="3599581"/>
              <a:ext cx="5410" cy="594885"/>
            </a:xfrm>
            <a:prstGeom prst="line">
              <a:avLst/>
            </a:prstGeom>
            <a:noFill/>
            <a:ln w="28575">
              <a:solidFill>
                <a:srgbClr val="FFC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a:endParaRPr lang="zh-TW" altLang="en-US" sz="1000" b="1">
                <a:latin typeface="微軟正黑體" panose="020B0604030504040204" pitchFamily="34" charset="-120"/>
                <a:ea typeface="微軟正黑體" panose="020B0604030504040204" pitchFamily="34" charset="-120"/>
              </a:endParaRPr>
            </a:p>
          </p:txBody>
        </p:sp>
      </p:grpSp>
      <p:sp>
        <p:nvSpPr>
          <p:cNvPr id="92" name="Text Box 22"/>
          <p:cNvSpPr txBox="1">
            <a:spLocks noChangeArrowheads="1"/>
          </p:cNvSpPr>
          <p:nvPr/>
        </p:nvSpPr>
        <p:spPr bwMode="auto">
          <a:xfrm>
            <a:off x="3496997" y="3730567"/>
            <a:ext cx="1362868" cy="246221"/>
          </a:xfrm>
          <a:prstGeom prst="rect">
            <a:avLst/>
          </a:prstGeom>
          <a:noFill/>
          <a:ln>
            <a:noFill/>
          </a:ln>
          <a:extLst/>
        </p:spPr>
        <p:txBody>
          <a:bodyPr wrap="square">
            <a:spAutoFit/>
          </a:bodyPr>
          <a:lstStyle>
            <a:defPPr>
              <a:defRPr lang="en-US"/>
            </a:defPPr>
            <a:lvl1pPr marL="171450" marR="0" lvl="0" indent="-171450" algn="ctr" defTabSz="914400" fontAlgn="auto">
              <a:lnSpc>
                <a:spcPct val="100000"/>
              </a:lnSpc>
              <a:spcBef>
                <a:spcPct val="50000"/>
              </a:spcBef>
              <a:spcAft>
                <a:spcPts val="0"/>
              </a:spcAft>
              <a:buClrTx/>
              <a:buSzTx/>
              <a:buFont typeface="Arial" panose="020B0604020202020204" pitchFamily="34" charset="0"/>
              <a:buChar char="•"/>
              <a:tabLst/>
              <a:defRPr kumimoji="1" sz="1000" b="1" u="sng" kern="0">
                <a:latin typeface="微軟正黑體" panose="020B0604030504040204" pitchFamily="34" charset="-120"/>
                <a:ea typeface="微軟正黑體" panose="020B0604030504040204" pitchFamily="34" charset="-120"/>
              </a:defRPr>
            </a:lvl1pPr>
            <a:lvl2pPr marL="742950" indent="-285750">
              <a:defRPr kumimoji="1" sz="1400">
                <a:latin typeface="Arial" panose="020B0604020202020204" pitchFamily="34" charset="0"/>
                <a:ea typeface="SimSun" panose="02010600030101010101" pitchFamily="2" charset="-122"/>
              </a:defRPr>
            </a:lvl2pPr>
            <a:lvl3pPr marL="1143000" indent="-228600">
              <a:defRPr kumimoji="1" sz="1400">
                <a:latin typeface="Arial" panose="020B0604020202020204" pitchFamily="34" charset="0"/>
                <a:ea typeface="SimSun" panose="02010600030101010101" pitchFamily="2" charset="-122"/>
              </a:defRPr>
            </a:lvl3pPr>
            <a:lvl4pPr marL="1600200" indent="-228600">
              <a:defRPr kumimoji="1" sz="1400">
                <a:latin typeface="Arial" panose="020B0604020202020204" pitchFamily="34" charset="0"/>
                <a:ea typeface="SimSun" panose="02010600030101010101" pitchFamily="2" charset="-122"/>
              </a:defRPr>
            </a:lvl4pPr>
            <a:lvl5pPr marL="2057400" indent="-228600">
              <a:defRPr kumimoji="1" sz="1400">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latin typeface="Arial" panose="020B0604020202020204" pitchFamily="34" charset="0"/>
                <a:ea typeface="SimSun" panose="02010600030101010101" pitchFamily="2" charset="-122"/>
              </a:defRPr>
            </a:lvl9pPr>
          </a:lstStyle>
          <a:p>
            <a:r>
              <a:rPr lang="en-US" altLang="zh-TW" dirty="0"/>
              <a:t>2D code 16x16</a:t>
            </a:r>
            <a:endParaRPr lang="zh-TW" altLang="en-US" dirty="0"/>
          </a:p>
        </p:txBody>
      </p:sp>
      <p:sp>
        <p:nvSpPr>
          <p:cNvPr id="93" name="流程圖: 接點 92"/>
          <p:cNvSpPr/>
          <p:nvPr/>
        </p:nvSpPr>
        <p:spPr>
          <a:xfrm>
            <a:off x="4452875" y="3361650"/>
            <a:ext cx="161312" cy="140013"/>
          </a:xfrm>
          <a:prstGeom prst="flowChartConnector">
            <a:avLst/>
          </a:prstGeom>
          <a:solidFill>
            <a:sysClr val="window" lastClr="FFFFFF"/>
          </a:solidFill>
          <a:ln w="1270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H</a:t>
            </a:r>
            <a:endParaRPr kumimoji="0" lang="zh-TW" altLang="en-US"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endParaRPr>
          </a:p>
        </p:txBody>
      </p:sp>
      <p:sp>
        <p:nvSpPr>
          <p:cNvPr id="94" name="流程圖: 接點 93"/>
          <p:cNvSpPr/>
          <p:nvPr/>
        </p:nvSpPr>
        <p:spPr>
          <a:xfrm>
            <a:off x="4036488" y="2986031"/>
            <a:ext cx="161312" cy="140013"/>
          </a:xfrm>
          <a:prstGeom prst="flowChartConnector">
            <a:avLst/>
          </a:prstGeom>
          <a:solidFill>
            <a:sysClr val="window" lastClr="FFFFFF"/>
          </a:solidFill>
          <a:ln w="1270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rPr>
              <a:t>W</a:t>
            </a:r>
            <a:endParaRPr kumimoji="0" lang="zh-TW" altLang="en-US" sz="1000" b="1" i="0" u="none" strike="noStrike" kern="0" cap="none" spc="0" normalizeH="0" baseline="0" noProof="0" dirty="0" smtClean="0">
              <a:ln>
                <a:noFill/>
              </a:ln>
              <a:effectLst/>
              <a:uLnTx/>
              <a:uFillTx/>
              <a:latin typeface="微軟正黑體" panose="020B0604030504040204" pitchFamily="34" charset="-120"/>
              <a:ea typeface="微軟正黑體" panose="020B0604030504040204" pitchFamily="34" charset="-120"/>
            </a:endParaRPr>
          </a:p>
        </p:txBody>
      </p:sp>
      <p:pic>
        <p:nvPicPr>
          <p:cNvPr id="21" name="圖片 20"/>
          <p:cNvPicPr>
            <a:picLocks noChangeAspect="1"/>
          </p:cNvPicPr>
          <p:nvPr/>
        </p:nvPicPr>
        <p:blipFill>
          <a:blip r:embed="rId11"/>
          <a:stretch>
            <a:fillRect/>
          </a:stretch>
        </p:blipFill>
        <p:spPr>
          <a:xfrm>
            <a:off x="3684130" y="3902008"/>
            <a:ext cx="1276041" cy="1121521"/>
          </a:xfrm>
          <a:prstGeom prst="rect">
            <a:avLst/>
          </a:prstGeom>
        </p:spPr>
      </p:pic>
      <p:pic>
        <p:nvPicPr>
          <p:cNvPr id="90" name="Picture 52"/>
          <p:cNvPicPr>
            <a:picLocks noChangeAspect="1" noChangeArrowheads="1"/>
          </p:cNvPicPr>
          <p:nvPr/>
        </p:nvPicPr>
        <p:blipFill>
          <a:blip r:embed="rId12" cstate="print">
            <a:duotone>
              <a:prstClr val="black"/>
              <a:srgbClr val="44546A">
                <a:tint val="45000"/>
                <a:satMod val="400000"/>
              </a:srgbClr>
            </a:duotone>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4093878" y="3513650"/>
            <a:ext cx="1359239" cy="2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Text Box 26"/>
          <p:cNvSpPr txBox="1">
            <a:spLocks noChangeArrowheads="1"/>
          </p:cNvSpPr>
          <p:nvPr/>
        </p:nvSpPr>
        <p:spPr bwMode="auto">
          <a:xfrm>
            <a:off x="3788440" y="4647998"/>
            <a:ext cx="1851195" cy="246221"/>
          </a:xfrm>
          <a:prstGeom prst="rect">
            <a:avLst/>
          </a:prstGeom>
          <a:solidFill>
            <a:srgbClr val="B9C1CF"/>
          </a:solidFill>
          <a:ln>
            <a:noFill/>
          </a:ln>
          <a:extLst/>
        </p:spPr>
        <p:txBody>
          <a:bodyPr wrap="square">
            <a:spAutoFit/>
          </a:bodyPr>
          <a:lstStyle>
            <a:lvl1pPr>
              <a:defRPr kumimoji="1" sz="1400">
                <a:solidFill>
                  <a:schemeClr val="tx1"/>
                </a:solidFill>
                <a:latin typeface="Arial" panose="020B0604020202020204" pitchFamily="34" charset="0"/>
                <a:ea typeface="SimSun" panose="02010600030101010101" pitchFamily="2" charset="-122"/>
              </a:defRPr>
            </a:lvl1pPr>
            <a:lvl2pPr marL="742950" indent="-285750">
              <a:defRPr kumimoji="1" sz="1400">
                <a:solidFill>
                  <a:schemeClr val="tx1"/>
                </a:solidFill>
                <a:latin typeface="Arial" panose="020B0604020202020204" pitchFamily="34" charset="0"/>
                <a:ea typeface="SimSun" panose="02010600030101010101" pitchFamily="2" charset="-122"/>
              </a:defRPr>
            </a:lvl2pPr>
            <a:lvl3pPr marL="1143000" indent="-228600">
              <a:defRPr kumimoji="1" sz="1400">
                <a:solidFill>
                  <a:schemeClr val="tx1"/>
                </a:solidFill>
                <a:latin typeface="Arial" panose="020B0604020202020204" pitchFamily="34" charset="0"/>
                <a:ea typeface="SimSun" panose="02010600030101010101" pitchFamily="2" charset="-122"/>
              </a:defRPr>
            </a:lvl3pPr>
            <a:lvl4pPr marL="1600200" indent="-228600">
              <a:defRPr kumimoji="1" sz="1400">
                <a:solidFill>
                  <a:schemeClr val="tx1"/>
                </a:solidFill>
                <a:latin typeface="Arial" panose="020B0604020202020204" pitchFamily="34" charset="0"/>
                <a:ea typeface="SimSun" panose="02010600030101010101" pitchFamily="2" charset="-122"/>
              </a:defRPr>
            </a:lvl4pPr>
            <a:lvl5pPr marL="2057400" indent="-228600">
              <a:defRPr kumimoji="1" sz="14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kumimoji="1" sz="1400">
                <a:solidFill>
                  <a:schemeClr val="tx1"/>
                </a:solidFill>
                <a:latin typeface="Arial" panose="020B0604020202020204" pitchFamily="34" charset="0"/>
                <a:ea typeface="SimSun" panose="02010600030101010101" pitchFamily="2" charset="-122"/>
              </a:defRPr>
            </a:lvl9pPr>
          </a:lstStyle>
          <a:p>
            <a:pPr defTabSz="914400">
              <a:spcBef>
                <a:spcPct val="50000"/>
              </a:spcBef>
            </a:pPr>
            <a:r>
              <a:rPr lang="en-US" altLang="zh-TW" sz="1000" b="1" dirty="0" smtClean="0">
                <a:latin typeface="微軟正黑體" panose="020B0604030504040204" pitchFamily="34" charset="-120"/>
                <a:ea typeface="微軟正黑體" panose="020B0604030504040204" pitchFamily="34" charset="-120"/>
              </a:rPr>
              <a:t>* Dot size = 50~70(um) </a:t>
            </a:r>
            <a:endParaRPr lang="en-US" altLang="zh-TW" sz="1000" b="1" dirty="0">
              <a:latin typeface="微軟正黑體" panose="020B0604030504040204" pitchFamily="34" charset="-120"/>
              <a:ea typeface="微軟正黑體" panose="020B0604030504040204" pitchFamily="34" charset="-120"/>
            </a:endParaRPr>
          </a:p>
        </p:txBody>
      </p:sp>
      <p:pic>
        <p:nvPicPr>
          <p:cNvPr id="22" name="圖片 21"/>
          <p:cNvPicPr>
            <a:picLocks noChangeAspect="1"/>
          </p:cNvPicPr>
          <p:nvPr/>
        </p:nvPicPr>
        <p:blipFill>
          <a:blip r:embed="rId14"/>
          <a:stretch>
            <a:fillRect/>
          </a:stretch>
        </p:blipFill>
        <p:spPr>
          <a:xfrm>
            <a:off x="7630670" y="2813037"/>
            <a:ext cx="978030" cy="1171968"/>
          </a:xfrm>
          <a:prstGeom prst="rect">
            <a:avLst/>
          </a:prstGeom>
        </p:spPr>
      </p:pic>
      <p:pic>
        <p:nvPicPr>
          <p:cNvPr id="23" name="圖片 22"/>
          <p:cNvPicPr>
            <a:picLocks noChangeAspect="1"/>
          </p:cNvPicPr>
          <p:nvPr/>
        </p:nvPicPr>
        <p:blipFill>
          <a:blip r:embed="rId15"/>
          <a:stretch>
            <a:fillRect/>
          </a:stretch>
        </p:blipFill>
        <p:spPr>
          <a:xfrm>
            <a:off x="5644352" y="2804820"/>
            <a:ext cx="1704849" cy="1274119"/>
          </a:xfrm>
          <a:prstGeom prst="rect">
            <a:avLst/>
          </a:prstGeom>
        </p:spPr>
      </p:pic>
      <p:pic>
        <p:nvPicPr>
          <p:cNvPr id="24" name="圖片 23"/>
          <p:cNvPicPr>
            <a:picLocks noChangeAspect="1"/>
          </p:cNvPicPr>
          <p:nvPr/>
        </p:nvPicPr>
        <p:blipFill rotWithShape="1">
          <a:blip r:embed="rId16"/>
          <a:srcRect l="-1" r="64601"/>
          <a:stretch/>
        </p:blipFill>
        <p:spPr>
          <a:xfrm>
            <a:off x="6226565" y="4111493"/>
            <a:ext cx="898135" cy="943940"/>
          </a:xfrm>
          <a:prstGeom prst="rect">
            <a:avLst/>
          </a:prstGeom>
        </p:spPr>
      </p:pic>
      <p:pic>
        <p:nvPicPr>
          <p:cNvPr id="104" name="圖片 103"/>
          <p:cNvPicPr>
            <a:picLocks noChangeAspect="1"/>
          </p:cNvPicPr>
          <p:nvPr/>
        </p:nvPicPr>
        <p:blipFill rotWithShape="1">
          <a:blip r:embed="rId16"/>
          <a:srcRect l="35541" r="1988"/>
          <a:stretch/>
        </p:blipFill>
        <p:spPr>
          <a:xfrm>
            <a:off x="7349201" y="3853677"/>
            <a:ext cx="1584960" cy="943940"/>
          </a:xfrm>
          <a:prstGeom prst="rect">
            <a:avLst/>
          </a:prstGeom>
        </p:spPr>
      </p:pic>
      <p:sp>
        <p:nvSpPr>
          <p:cNvPr id="73" name="向右箭號 72"/>
          <p:cNvSpPr/>
          <p:nvPr/>
        </p:nvSpPr>
        <p:spPr>
          <a:xfrm>
            <a:off x="5338070" y="1405994"/>
            <a:ext cx="169532" cy="186170"/>
          </a:xfrm>
          <a:prstGeom prst="rightArrow">
            <a:avLst/>
          </a:prstGeom>
          <a:solidFill>
            <a:schemeClr val="bg2">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4" name="向右箭號 73"/>
          <p:cNvSpPr/>
          <p:nvPr/>
        </p:nvSpPr>
        <p:spPr>
          <a:xfrm>
            <a:off x="7479560" y="1466109"/>
            <a:ext cx="169532" cy="186170"/>
          </a:xfrm>
          <a:prstGeom prst="rightArrow">
            <a:avLst/>
          </a:prstGeom>
          <a:solidFill>
            <a:schemeClr val="bg2">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5" name="向右箭號 74"/>
          <p:cNvSpPr/>
          <p:nvPr/>
        </p:nvSpPr>
        <p:spPr>
          <a:xfrm rot="5400000">
            <a:off x="8253662" y="2632692"/>
            <a:ext cx="169532" cy="186170"/>
          </a:xfrm>
          <a:prstGeom prst="rightArrow">
            <a:avLst/>
          </a:prstGeom>
          <a:solidFill>
            <a:schemeClr val="bg2">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8" name="標題 2"/>
          <p:cNvSpPr txBox="1">
            <a:spLocks/>
          </p:cNvSpPr>
          <p:nvPr/>
        </p:nvSpPr>
        <p:spPr bwMode="auto">
          <a:xfrm>
            <a:off x="243088" y="698"/>
            <a:ext cx="6334856" cy="494770"/>
          </a:xfrm>
          <a:prstGeom prst="rect">
            <a:avLst/>
          </a:prstGeom>
        </p:spPr>
        <p:txBody>
          <a:bodyPr vert="horz" lIns="91440" tIns="45720" rIns="91440" bIns="45720" rtlCol="0" anchor="t">
            <a:normAutofit/>
          </a:bodyPr>
          <a:lstStyle>
            <a:defPPr>
              <a:defRPr lang="en-US"/>
            </a:defPPr>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補充資料</a:t>
            </a:r>
            <a:r>
              <a:rPr lang="en-US" altLang="zh-TW" dirty="0"/>
              <a:t>(CHIPID&amp;2DCODE</a:t>
            </a:r>
            <a:r>
              <a:rPr lang="zh-TW" altLang="en-US" dirty="0"/>
              <a:t>影像辨識</a:t>
            </a:r>
            <a:r>
              <a:rPr lang="en-US" altLang="zh-TW" dirty="0"/>
              <a:t>)</a:t>
            </a:r>
            <a:endParaRPr lang="zh-TW" altLang="en-US" dirty="0"/>
          </a:p>
        </p:txBody>
      </p:sp>
    </p:spTree>
    <p:extLst>
      <p:ext uri="{BB962C8B-B14F-4D97-AF65-F5344CB8AC3E}">
        <p14:creationId xmlns:p14="http://schemas.microsoft.com/office/powerpoint/2010/main" val="300558497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stretch>
            <a:fillRect/>
          </a:stretch>
        </p:blipFill>
        <p:spPr>
          <a:xfrm>
            <a:off x="4465340" y="461047"/>
            <a:ext cx="4246880" cy="2219119"/>
          </a:xfrm>
          <a:prstGeom prst="rect">
            <a:avLst/>
          </a:prstGeom>
        </p:spPr>
      </p:pic>
      <p:sp>
        <p:nvSpPr>
          <p:cNvPr id="3" name="文字方塊 2"/>
          <p:cNvSpPr txBox="1"/>
          <p:nvPr/>
        </p:nvSpPr>
        <p:spPr>
          <a:xfrm>
            <a:off x="0" y="894259"/>
            <a:ext cx="343844" cy="1246495"/>
          </a:xfrm>
          <a:prstGeom prst="rect">
            <a:avLst/>
          </a:prstGeom>
          <a:noFill/>
        </p:spPr>
        <p:txBody>
          <a:bodyPr wrap="square" rtlCol="0">
            <a:spAutoFit/>
          </a:bodyPr>
          <a:lstStyle/>
          <a:p>
            <a:pPr algn="ctr">
              <a:lnSpc>
                <a:spcPts val="1500"/>
              </a:lnSpc>
            </a:pPr>
            <a:r>
              <a:rPr lang="zh-TW" altLang="en-US" sz="1400" b="1" dirty="0">
                <a:solidFill>
                  <a:schemeClr val="accent1"/>
                </a:solidFill>
                <a:latin typeface="微軟正黑體" panose="020B0604030504040204" pitchFamily="34" charset="-120"/>
                <a:ea typeface="微軟正黑體" panose="020B0604030504040204" pitchFamily="34" charset="-120"/>
              </a:rPr>
              <a:t>量</a:t>
            </a:r>
            <a:r>
              <a:rPr lang="zh-TW" altLang="en-US" sz="1400" b="1" dirty="0" smtClean="0">
                <a:solidFill>
                  <a:schemeClr val="accent1"/>
                </a:solidFill>
                <a:latin typeface="微軟正黑體" panose="020B0604030504040204" pitchFamily="34" charset="-120"/>
                <a:ea typeface="微軟正黑體" panose="020B0604030504040204" pitchFamily="34" charset="-120"/>
              </a:rPr>
              <a:t>測機台影像</a:t>
            </a:r>
            <a:endParaRPr lang="zh-TW" altLang="en-US" sz="1400" b="1" dirty="0">
              <a:solidFill>
                <a:schemeClr val="accent1"/>
              </a:solidFill>
              <a:latin typeface="微軟正黑體" panose="020B0604030504040204" pitchFamily="34" charset="-120"/>
              <a:ea typeface="微軟正黑體" panose="020B0604030504040204" pitchFamily="34" charset="-120"/>
            </a:endParaRPr>
          </a:p>
        </p:txBody>
      </p:sp>
      <p:sp>
        <p:nvSpPr>
          <p:cNvPr id="4" name="矩形 3"/>
          <p:cNvSpPr/>
          <p:nvPr/>
        </p:nvSpPr>
        <p:spPr>
          <a:xfrm>
            <a:off x="49208" y="429867"/>
            <a:ext cx="4045489" cy="22814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6" name="文字方塊 5"/>
          <p:cNvSpPr txBox="1"/>
          <p:nvPr/>
        </p:nvSpPr>
        <p:spPr>
          <a:xfrm>
            <a:off x="4110393" y="853777"/>
            <a:ext cx="375899" cy="1246495"/>
          </a:xfrm>
          <a:prstGeom prst="rect">
            <a:avLst/>
          </a:prstGeom>
          <a:noFill/>
        </p:spPr>
        <p:txBody>
          <a:bodyPr wrap="square" rtlCol="0">
            <a:spAutoFit/>
          </a:bodyPr>
          <a:lstStyle/>
          <a:p>
            <a:pPr algn="ctr">
              <a:lnSpc>
                <a:spcPts val="1500"/>
              </a:lnSpc>
            </a:pPr>
            <a:r>
              <a:rPr lang="zh-TW" altLang="en-US" sz="1400" b="1" dirty="0" smtClean="0">
                <a:solidFill>
                  <a:schemeClr val="accent1"/>
                </a:solidFill>
                <a:latin typeface="微軟正黑體" panose="020B0604030504040204" pitchFamily="34" charset="-120"/>
                <a:ea typeface="微軟正黑體" panose="020B0604030504040204" pitchFamily="34" charset="-120"/>
              </a:rPr>
              <a:t>影像前處理</a:t>
            </a:r>
            <a:r>
              <a:rPr lang="en-US" altLang="zh-TW" sz="1400" b="1" dirty="0" smtClean="0">
                <a:solidFill>
                  <a:schemeClr val="accent1"/>
                </a:solidFill>
                <a:latin typeface="微軟正黑體" panose="020B0604030504040204" pitchFamily="34" charset="-120"/>
                <a:ea typeface="微軟正黑體" panose="020B0604030504040204" pitchFamily="34" charset="-120"/>
              </a:rPr>
              <a:t>1</a:t>
            </a:r>
            <a:endParaRPr lang="zh-TW" altLang="en-US" sz="1400" b="1" dirty="0">
              <a:solidFill>
                <a:schemeClr val="accent1"/>
              </a:solidFill>
              <a:latin typeface="微軟正黑體" panose="020B0604030504040204" pitchFamily="34" charset="-120"/>
              <a:ea typeface="微軟正黑體" panose="020B0604030504040204" pitchFamily="34" charset="-120"/>
            </a:endParaRPr>
          </a:p>
        </p:txBody>
      </p:sp>
      <p:sp>
        <p:nvSpPr>
          <p:cNvPr id="7" name="矩形 6"/>
          <p:cNvSpPr/>
          <p:nvPr/>
        </p:nvSpPr>
        <p:spPr>
          <a:xfrm>
            <a:off x="4174987" y="423141"/>
            <a:ext cx="4775728" cy="23065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9" name="矩形 8"/>
          <p:cNvSpPr/>
          <p:nvPr/>
        </p:nvSpPr>
        <p:spPr>
          <a:xfrm>
            <a:off x="49208" y="2729304"/>
            <a:ext cx="4045489" cy="23043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10" name="圖片 9"/>
          <p:cNvPicPr>
            <a:picLocks noChangeAspect="1"/>
          </p:cNvPicPr>
          <p:nvPr/>
        </p:nvPicPr>
        <p:blipFill>
          <a:blip r:embed="rId4"/>
          <a:stretch>
            <a:fillRect/>
          </a:stretch>
        </p:blipFill>
        <p:spPr>
          <a:xfrm>
            <a:off x="219439" y="2821823"/>
            <a:ext cx="3849682" cy="2069417"/>
          </a:xfrm>
          <a:prstGeom prst="rect">
            <a:avLst/>
          </a:prstGeom>
        </p:spPr>
      </p:pic>
      <p:sp>
        <p:nvSpPr>
          <p:cNvPr id="11" name="文字方塊 10"/>
          <p:cNvSpPr txBox="1"/>
          <p:nvPr/>
        </p:nvSpPr>
        <p:spPr>
          <a:xfrm>
            <a:off x="-44269" y="3175276"/>
            <a:ext cx="456998" cy="1246495"/>
          </a:xfrm>
          <a:prstGeom prst="rect">
            <a:avLst/>
          </a:prstGeom>
          <a:noFill/>
        </p:spPr>
        <p:txBody>
          <a:bodyPr wrap="square" rtlCol="0">
            <a:spAutoFit/>
          </a:bodyPr>
          <a:lstStyle/>
          <a:p>
            <a:pPr algn="ctr">
              <a:lnSpc>
                <a:spcPts val="1500"/>
              </a:lnSpc>
            </a:pPr>
            <a:r>
              <a:rPr lang="zh-TW" altLang="en-US" sz="1400" b="1" dirty="0" smtClean="0">
                <a:solidFill>
                  <a:schemeClr val="accent1"/>
                </a:solidFill>
                <a:latin typeface="微軟正黑體" panose="020B0604030504040204" pitchFamily="34" charset="-120"/>
                <a:ea typeface="微軟正黑體" panose="020B0604030504040204" pitchFamily="34" charset="-120"/>
              </a:rPr>
              <a:t>影像前處理</a:t>
            </a:r>
            <a:r>
              <a:rPr lang="en-US" altLang="zh-TW" sz="1400" b="1" dirty="0">
                <a:solidFill>
                  <a:schemeClr val="accent1"/>
                </a:solidFill>
                <a:latin typeface="微軟正黑體" panose="020B0604030504040204" pitchFamily="34" charset="-120"/>
                <a:ea typeface="微軟正黑體" panose="020B0604030504040204" pitchFamily="34" charset="-120"/>
              </a:rPr>
              <a:t>2</a:t>
            </a:r>
            <a:endParaRPr lang="zh-TW" altLang="en-US" sz="1400" b="1" dirty="0">
              <a:solidFill>
                <a:schemeClr val="accent1"/>
              </a:solidFill>
              <a:latin typeface="微軟正黑體" panose="020B0604030504040204" pitchFamily="34" charset="-120"/>
              <a:ea typeface="微軟正黑體" panose="020B0604030504040204" pitchFamily="34" charset="-120"/>
            </a:endParaRPr>
          </a:p>
        </p:txBody>
      </p:sp>
      <p:pic>
        <p:nvPicPr>
          <p:cNvPr id="12" name="圖片 11"/>
          <p:cNvPicPr>
            <a:picLocks noChangeAspect="1"/>
          </p:cNvPicPr>
          <p:nvPr/>
        </p:nvPicPr>
        <p:blipFill>
          <a:blip r:embed="rId5"/>
          <a:stretch>
            <a:fillRect/>
          </a:stretch>
        </p:blipFill>
        <p:spPr>
          <a:xfrm>
            <a:off x="4319325" y="2821823"/>
            <a:ext cx="4631390" cy="2129484"/>
          </a:xfrm>
          <a:prstGeom prst="rect">
            <a:avLst/>
          </a:prstGeom>
        </p:spPr>
      </p:pic>
      <p:sp>
        <p:nvSpPr>
          <p:cNvPr id="13" name="文字方塊 12"/>
          <p:cNvSpPr txBox="1"/>
          <p:nvPr/>
        </p:nvSpPr>
        <p:spPr>
          <a:xfrm>
            <a:off x="4089441" y="3416022"/>
            <a:ext cx="375899" cy="861774"/>
          </a:xfrm>
          <a:prstGeom prst="rect">
            <a:avLst/>
          </a:prstGeom>
          <a:noFill/>
        </p:spPr>
        <p:txBody>
          <a:bodyPr wrap="square" rtlCol="0">
            <a:spAutoFit/>
          </a:bodyPr>
          <a:lstStyle/>
          <a:p>
            <a:pPr algn="ctr">
              <a:lnSpc>
                <a:spcPts val="1500"/>
              </a:lnSpc>
            </a:pPr>
            <a:r>
              <a:rPr lang="zh-TW" altLang="en-US" sz="1400" b="1" dirty="0" smtClean="0">
                <a:solidFill>
                  <a:schemeClr val="accent1"/>
                </a:solidFill>
                <a:latin typeface="微軟正黑體" panose="020B0604030504040204" pitchFamily="34" charset="-120"/>
                <a:ea typeface="微軟正黑體" panose="020B0604030504040204" pitchFamily="34" charset="-120"/>
              </a:rPr>
              <a:t>物件</a:t>
            </a:r>
            <a:r>
              <a:rPr lang="zh-TW" altLang="en-US" sz="1400" b="1" dirty="0">
                <a:solidFill>
                  <a:schemeClr val="accent1"/>
                </a:solidFill>
                <a:latin typeface="微軟正黑體" panose="020B0604030504040204" pitchFamily="34" charset="-120"/>
                <a:ea typeface="微軟正黑體" panose="020B0604030504040204" pitchFamily="34" charset="-120"/>
              </a:rPr>
              <a:t>偵測</a:t>
            </a:r>
          </a:p>
        </p:txBody>
      </p:sp>
      <p:sp>
        <p:nvSpPr>
          <p:cNvPr id="14" name="矩形 13"/>
          <p:cNvSpPr/>
          <p:nvPr/>
        </p:nvSpPr>
        <p:spPr>
          <a:xfrm>
            <a:off x="4174987" y="2736429"/>
            <a:ext cx="4775728" cy="23065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18" name="群組 17"/>
          <p:cNvGrpSpPr/>
          <p:nvPr/>
        </p:nvGrpSpPr>
        <p:grpSpPr>
          <a:xfrm>
            <a:off x="286308" y="669928"/>
            <a:ext cx="3720289" cy="1658377"/>
            <a:chOff x="295825" y="574508"/>
            <a:chExt cx="4161645" cy="1784896"/>
          </a:xfrm>
        </p:grpSpPr>
        <p:pic>
          <p:nvPicPr>
            <p:cNvPr id="15" name="圖片 14"/>
            <p:cNvPicPr>
              <a:picLocks noChangeAspect="1"/>
            </p:cNvPicPr>
            <p:nvPr/>
          </p:nvPicPr>
          <p:blipFill rotWithShape="1">
            <a:blip r:embed="rId6" cstate="print">
              <a:extLst>
                <a:ext uri="{28A0092B-C50C-407E-A947-70E740481C1C}">
                  <a14:useLocalDpi xmlns:a14="http://schemas.microsoft.com/office/drawing/2010/main" val="0"/>
                </a:ext>
              </a:extLst>
            </a:blip>
            <a:srcRect l="1690" t="11032" r="54154" b="8014"/>
            <a:stretch/>
          </p:blipFill>
          <p:spPr>
            <a:xfrm>
              <a:off x="295825" y="579995"/>
              <a:ext cx="2045088" cy="896968"/>
            </a:xfrm>
            <a:prstGeom prst="rect">
              <a:avLst/>
            </a:prstGeom>
          </p:spPr>
        </p:pic>
        <p:pic>
          <p:nvPicPr>
            <p:cNvPr id="16" name="圖片 15"/>
            <p:cNvPicPr>
              <a:picLocks noChangeAspect="1"/>
            </p:cNvPicPr>
            <p:nvPr/>
          </p:nvPicPr>
          <p:blipFill rotWithShape="1">
            <a:blip r:embed="rId7" cstate="print">
              <a:extLst>
                <a:ext uri="{28A0092B-C50C-407E-A947-70E740481C1C}">
                  <a14:useLocalDpi xmlns:a14="http://schemas.microsoft.com/office/drawing/2010/main" val="0"/>
                </a:ext>
              </a:extLst>
            </a:blip>
            <a:srcRect l="18967" t="16607" r="53381" b="12972"/>
            <a:stretch/>
          </p:blipFill>
          <p:spPr>
            <a:xfrm rot="10800000">
              <a:off x="2429996" y="574508"/>
              <a:ext cx="2027474" cy="896969"/>
            </a:xfrm>
            <a:prstGeom prst="rect">
              <a:avLst/>
            </a:prstGeom>
          </p:spPr>
        </p:pic>
        <p:pic>
          <p:nvPicPr>
            <p:cNvPr id="17" name="圖片 16"/>
            <p:cNvPicPr>
              <a:picLocks noChangeAspect="1"/>
            </p:cNvPicPr>
            <p:nvPr/>
          </p:nvPicPr>
          <p:blipFill rotWithShape="1">
            <a:blip r:embed="rId8" cstate="print">
              <a:extLst>
                <a:ext uri="{28A0092B-C50C-407E-A947-70E740481C1C}">
                  <a14:useLocalDpi xmlns:a14="http://schemas.microsoft.com/office/drawing/2010/main" val="0"/>
                </a:ext>
              </a:extLst>
            </a:blip>
            <a:srcRect l="1691" t="11831" r="54366" b="8411"/>
            <a:stretch/>
          </p:blipFill>
          <p:spPr>
            <a:xfrm>
              <a:off x="295825" y="1576109"/>
              <a:ext cx="2045088" cy="783295"/>
            </a:xfrm>
            <a:prstGeom prst="rect">
              <a:avLst/>
            </a:prstGeom>
          </p:spPr>
        </p:pic>
      </p:grpSp>
      <p:pic>
        <p:nvPicPr>
          <p:cNvPr id="19" name="圖片 18"/>
          <p:cNvPicPr>
            <a:picLocks noChangeAspect="1"/>
          </p:cNvPicPr>
          <p:nvPr/>
        </p:nvPicPr>
        <p:blipFill rotWithShape="1">
          <a:blip r:embed="rId9" cstate="print">
            <a:extLst>
              <a:ext uri="{28A0092B-C50C-407E-A947-70E740481C1C}">
                <a14:useLocalDpi xmlns:a14="http://schemas.microsoft.com/office/drawing/2010/main" val="0"/>
              </a:ext>
            </a:extLst>
          </a:blip>
          <a:srcRect l="3028" t="11174" r="53592" b="15284"/>
          <a:stretch/>
        </p:blipFill>
        <p:spPr>
          <a:xfrm>
            <a:off x="2179102" y="1569589"/>
            <a:ext cx="1842536" cy="789658"/>
          </a:xfrm>
          <a:prstGeom prst="rect">
            <a:avLst/>
          </a:prstGeom>
        </p:spPr>
      </p:pic>
      <p:sp>
        <p:nvSpPr>
          <p:cNvPr id="20" name="標題 2"/>
          <p:cNvSpPr txBox="1">
            <a:spLocks/>
          </p:cNvSpPr>
          <p:nvPr/>
        </p:nvSpPr>
        <p:spPr bwMode="auto">
          <a:xfrm>
            <a:off x="412729" y="26498"/>
            <a:ext cx="6334856" cy="494770"/>
          </a:xfrm>
          <a:prstGeom prst="rect">
            <a:avLst/>
          </a:prstGeom>
        </p:spPr>
        <p:txBody>
          <a:bodyPr vert="horz" lIns="91440" tIns="45720" rIns="91440" bIns="45720" rtlCol="0" anchor="t">
            <a:normAutofit/>
          </a:bodyPr>
          <a:lstStyle>
            <a:defPPr>
              <a:defRPr lang="en-US"/>
            </a:defPPr>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補充資料</a:t>
            </a:r>
            <a:r>
              <a:rPr lang="en-US" altLang="zh-TW" dirty="0"/>
              <a:t>(VERNIER</a:t>
            </a:r>
            <a:r>
              <a:rPr lang="zh-TW" altLang="en-US" dirty="0"/>
              <a:t>影像辨識</a:t>
            </a:r>
            <a:r>
              <a:rPr lang="en-US" altLang="zh-TW" dirty="0"/>
              <a:t>)</a:t>
            </a:r>
            <a:endParaRPr lang="zh-TW" altLang="en-US" dirty="0"/>
          </a:p>
        </p:txBody>
      </p:sp>
    </p:spTree>
    <p:extLst>
      <p:ext uri="{BB962C8B-B14F-4D97-AF65-F5344CB8AC3E}">
        <p14:creationId xmlns:p14="http://schemas.microsoft.com/office/powerpoint/2010/main" val="27369619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圓柱 14"/>
          <p:cNvSpPr/>
          <p:nvPr/>
        </p:nvSpPr>
        <p:spPr>
          <a:xfrm>
            <a:off x="33867" y="4757420"/>
            <a:ext cx="392853" cy="38608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pic>
        <p:nvPicPr>
          <p:cNvPr id="67" name="圖片 66"/>
          <p:cNvPicPr>
            <a:picLocks noChangeAspect="1"/>
          </p:cNvPicPr>
          <p:nvPr/>
        </p:nvPicPr>
        <p:blipFill>
          <a:blip r:embed="rId2"/>
          <a:stretch>
            <a:fillRect/>
          </a:stretch>
        </p:blipFill>
        <p:spPr>
          <a:xfrm>
            <a:off x="230293" y="573153"/>
            <a:ext cx="8596105" cy="4377307"/>
          </a:xfrm>
          <a:prstGeom prst="rect">
            <a:avLst/>
          </a:prstGeom>
        </p:spPr>
      </p:pic>
      <p:pic>
        <p:nvPicPr>
          <p:cNvPr id="3" name="圖片 2"/>
          <p:cNvPicPr>
            <a:picLocks noChangeAspect="1"/>
          </p:cNvPicPr>
          <p:nvPr/>
        </p:nvPicPr>
        <p:blipFill>
          <a:blip r:embed="rId3"/>
          <a:stretch>
            <a:fillRect/>
          </a:stretch>
        </p:blipFill>
        <p:spPr>
          <a:xfrm>
            <a:off x="6730428" y="4075802"/>
            <a:ext cx="2326264" cy="935618"/>
          </a:xfrm>
          <a:prstGeom prst="rect">
            <a:avLst/>
          </a:prstGeom>
        </p:spPr>
      </p:pic>
      <p:sp>
        <p:nvSpPr>
          <p:cNvPr id="6" name="標題 1"/>
          <p:cNvSpPr>
            <a:spLocks noGrp="1"/>
          </p:cNvSpPr>
          <p:nvPr>
            <p:ph type="ctrTitle"/>
          </p:nvPr>
        </p:nvSpPr>
        <p:spPr>
          <a:xfrm>
            <a:off x="386220" y="0"/>
            <a:ext cx="8482972" cy="680785"/>
          </a:xfrm>
        </p:spPr>
        <p:txBody>
          <a:bodyPr/>
          <a:lstStyle/>
          <a:p>
            <a:r>
              <a:rPr lang="zh-TW" altLang="en-US" b="1" dirty="0" smtClean="0"/>
              <a:t>系統流程</a:t>
            </a:r>
            <a:endParaRPr lang="zh-TW" altLang="en-US" b="1" dirty="0"/>
          </a:p>
        </p:txBody>
      </p:sp>
    </p:spTree>
    <p:extLst>
      <p:ext uri="{BB962C8B-B14F-4D97-AF65-F5344CB8AC3E}">
        <p14:creationId xmlns:p14="http://schemas.microsoft.com/office/powerpoint/2010/main" val="259714275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182400" y="332819"/>
            <a:ext cx="5390549" cy="1073757"/>
          </a:xfrm>
        </p:spPr>
        <p:txBody>
          <a:bodyPr>
            <a:normAutofit/>
          </a:bodyPr>
          <a:lstStyle/>
          <a:p>
            <a:r>
              <a:rPr lang="zh-TW" altLang="en-US" b="1" dirty="0"/>
              <a:t>機台參數</a:t>
            </a:r>
            <a:r>
              <a:rPr lang="zh-TW" altLang="en-US" b="1" dirty="0" smtClean="0"/>
              <a:t>監控資料</a:t>
            </a:r>
            <a:r>
              <a:rPr lang="zh-TW" altLang="en-US" b="1" dirty="0"/>
              <a:t>可視化</a:t>
            </a:r>
          </a:p>
        </p:txBody>
      </p:sp>
      <p:sp>
        <p:nvSpPr>
          <p:cNvPr id="3" name="文字版面配置區 2"/>
          <p:cNvSpPr>
            <a:spLocks noGrp="1"/>
          </p:cNvSpPr>
          <p:nvPr>
            <p:ph type="body" sz="quarter" idx="10"/>
          </p:nvPr>
        </p:nvSpPr>
        <p:spPr>
          <a:xfrm>
            <a:off x="3261600" y="1406576"/>
            <a:ext cx="5695200" cy="2731570"/>
          </a:xfrm>
        </p:spPr>
        <p:txBody>
          <a:bodyPr/>
          <a:lstStyle/>
          <a:p>
            <a:pPr marL="342900" indent="-342900">
              <a:buFont typeface="Wingdings" panose="05000000000000000000" pitchFamily="2" charset="2"/>
              <a:buChar char="u"/>
            </a:pPr>
            <a:r>
              <a:rPr lang="pt-BR" altLang="zh-TW" dirty="0">
                <a:solidFill>
                  <a:schemeClr val="accent1"/>
                </a:solidFill>
                <a:latin typeface="+mn-ea"/>
              </a:rPr>
              <a:t>WMA Over Etch By Model </a:t>
            </a:r>
            <a:r>
              <a:rPr lang="zh-TW" altLang="en-US" dirty="0">
                <a:solidFill>
                  <a:schemeClr val="accent1"/>
                </a:solidFill>
                <a:latin typeface="+mn-ea"/>
              </a:rPr>
              <a:t>智慧運算系統化</a:t>
            </a:r>
          </a:p>
          <a:p>
            <a:pPr marL="342900" indent="-342900">
              <a:buFont typeface="Wingdings" panose="05000000000000000000" pitchFamily="2" charset="2"/>
              <a:buChar char="u"/>
            </a:pPr>
            <a:r>
              <a:rPr lang="zh-TW" altLang="en-US" dirty="0">
                <a:solidFill>
                  <a:schemeClr val="accent1"/>
                </a:solidFill>
                <a:latin typeface="+mn-ea"/>
              </a:rPr>
              <a:t>機台</a:t>
            </a:r>
            <a:r>
              <a:rPr lang="pt-BR" altLang="zh-TW" dirty="0">
                <a:solidFill>
                  <a:schemeClr val="accent1"/>
                </a:solidFill>
                <a:latin typeface="+mn-ea"/>
              </a:rPr>
              <a:t>PPC</a:t>
            </a:r>
            <a:r>
              <a:rPr lang="zh-TW" altLang="en-US" dirty="0">
                <a:solidFill>
                  <a:schemeClr val="accent1"/>
                </a:solidFill>
                <a:latin typeface="+mn-ea"/>
              </a:rPr>
              <a:t>預警</a:t>
            </a:r>
          </a:p>
          <a:p>
            <a:pPr marL="342900" indent="-342900">
              <a:buFont typeface="Wingdings" panose="05000000000000000000" pitchFamily="2" charset="2"/>
              <a:buChar char="u"/>
            </a:pPr>
            <a:r>
              <a:rPr lang="pt-BR" altLang="zh-TW" dirty="0">
                <a:solidFill>
                  <a:schemeClr val="accent1"/>
                </a:solidFill>
                <a:latin typeface="+mn-ea"/>
              </a:rPr>
              <a:t>Canon recipe z offset </a:t>
            </a:r>
            <a:r>
              <a:rPr lang="zh-TW" altLang="en-US" dirty="0">
                <a:solidFill>
                  <a:schemeClr val="accent1"/>
                </a:solidFill>
                <a:latin typeface="+mn-ea"/>
              </a:rPr>
              <a:t>監控</a:t>
            </a:r>
          </a:p>
          <a:p>
            <a:pPr marL="342900" indent="-342900">
              <a:buFont typeface="Wingdings" panose="05000000000000000000" pitchFamily="2" charset="2"/>
              <a:buChar char="u"/>
            </a:pPr>
            <a:endParaRPr lang="zh-TW" altLang="en-US" dirty="0">
              <a:solidFill>
                <a:schemeClr val="accent1"/>
              </a:solidFill>
              <a:latin typeface="+mn-ea"/>
            </a:endParaRPr>
          </a:p>
          <a:p>
            <a:pPr marL="342900" indent="-342900">
              <a:buFont typeface="Wingdings" panose="05000000000000000000" pitchFamily="2" charset="2"/>
              <a:buChar char="u"/>
            </a:pPr>
            <a:endParaRPr lang="zh-TW" altLang="en-US" dirty="0">
              <a:solidFill>
                <a:schemeClr val="accent1"/>
              </a:solidFill>
              <a:latin typeface="+mn-ea"/>
            </a:endParaRPr>
          </a:p>
          <a:p>
            <a:endParaRPr lang="zh-TW" altLang="en-US" dirty="0">
              <a:latin typeface="+mn-ea"/>
            </a:endParaRPr>
          </a:p>
        </p:txBody>
      </p:sp>
    </p:spTree>
    <p:extLst>
      <p:ext uri="{BB962C8B-B14F-4D97-AF65-F5344CB8AC3E}">
        <p14:creationId xmlns:p14="http://schemas.microsoft.com/office/powerpoint/2010/main" val="26185547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圓角矩形 253"/>
          <p:cNvSpPr/>
          <p:nvPr/>
        </p:nvSpPr>
        <p:spPr>
          <a:xfrm>
            <a:off x="4545870" y="602407"/>
            <a:ext cx="4556042" cy="3042336"/>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marL="285736" indent="-285736"/>
            <a:endParaRPr lang="zh-TW" altLang="en-US" sz="900" b="1" dirty="0">
              <a:solidFill>
                <a:prstClr val="black"/>
              </a:solidFill>
              <a:latin typeface="微軟正黑體" panose="020B0604030504040204" pitchFamily="34" charset="-120"/>
              <a:ea typeface="微軟正黑體" panose="020B0604030504040204" pitchFamily="34" charset="-120"/>
            </a:endParaRPr>
          </a:p>
        </p:txBody>
      </p:sp>
      <p:sp>
        <p:nvSpPr>
          <p:cNvPr id="255" name="圓角矩形 254"/>
          <p:cNvSpPr/>
          <p:nvPr/>
        </p:nvSpPr>
        <p:spPr>
          <a:xfrm>
            <a:off x="197514" y="616967"/>
            <a:ext cx="4239473" cy="2361851"/>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1500" b="1" kern="0" dirty="0">
              <a:solidFill>
                <a:srgbClr val="FFFFFF"/>
              </a:solidFill>
              <a:latin typeface="微軟正黑體" panose="020B0604030504040204" pitchFamily="34" charset="-120"/>
              <a:ea typeface="微軟正黑體" panose="020B0604030504040204" pitchFamily="34" charset="-120"/>
            </a:endParaRPr>
          </a:p>
        </p:txBody>
      </p:sp>
      <p:grpSp>
        <p:nvGrpSpPr>
          <p:cNvPr id="2" name="组合 25"/>
          <p:cNvGrpSpPr>
            <a:grpSpLocks/>
          </p:cNvGrpSpPr>
          <p:nvPr/>
        </p:nvGrpSpPr>
        <p:grpSpPr bwMode="auto">
          <a:xfrm rot="-2132657">
            <a:off x="4252917" y="844154"/>
            <a:ext cx="378619" cy="323850"/>
            <a:chOff x="6811963" y="4252913"/>
            <a:chExt cx="1397000" cy="1397000"/>
          </a:xfrm>
        </p:grpSpPr>
        <p:sp>
          <p:nvSpPr>
            <p:cNvPr id="211" name="Freeform 9"/>
            <p:cNvSpPr>
              <a:spLocks noEditPoints="1"/>
            </p:cNvSpPr>
            <p:nvPr/>
          </p:nvSpPr>
          <p:spPr bwMode="auto">
            <a:xfrm>
              <a:off x="6811963" y="4252913"/>
              <a:ext cx="1397000" cy="139700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050">
                <a:solidFill>
                  <a:prstClr val="black"/>
                </a:solidFill>
                <a:latin typeface="微軟正黑體" panose="020B0604030504040204" pitchFamily="34" charset="-120"/>
                <a:ea typeface="微軟正黑體" panose="020B0604030504040204" pitchFamily="34" charset="-120"/>
              </a:endParaRPr>
            </a:p>
          </p:txBody>
        </p:sp>
        <p:sp>
          <p:nvSpPr>
            <p:cNvPr id="212" name="Freeform 10"/>
            <p:cNvSpPr>
              <a:spLocks/>
            </p:cNvSpPr>
            <p:nvPr/>
          </p:nvSpPr>
          <p:spPr bwMode="auto">
            <a:xfrm>
              <a:off x="7235826" y="4679950"/>
              <a:ext cx="565150" cy="565150"/>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050">
                <a:solidFill>
                  <a:prstClr val="black"/>
                </a:solidFill>
                <a:latin typeface="微軟正黑體" panose="020B0604030504040204" pitchFamily="34" charset="-120"/>
                <a:ea typeface="微軟正黑體" panose="020B0604030504040204" pitchFamily="34" charset="-120"/>
              </a:endParaRPr>
            </a:p>
          </p:txBody>
        </p:sp>
      </p:grpSp>
      <p:sp>
        <p:nvSpPr>
          <p:cNvPr id="216" name="矩形 215"/>
          <p:cNvSpPr/>
          <p:nvPr/>
        </p:nvSpPr>
        <p:spPr>
          <a:xfrm>
            <a:off x="296527" y="856479"/>
            <a:ext cx="1012832" cy="500137"/>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改善前</a:t>
            </a:r>
            <a:r>
              <a:rPr lang="en-US" altLang="zh-TW" sz="1600" b="1" dirty="0">
                <a:solidFill>
                  <a:prstClr val="black"/>
                </a:solidFill>
                <a:latin typeface="微軟正黑體" pitchFamily="34" charset="-120"/>
                <a:ea typeface="微軟正黑體" panose="020B0604030504040204" pitchFamily="34" charset="-120"/>
              </a:rPr>
              <a:t>:</a:t>
            </a:r>
            <a:r>
              <a:rPr lang="zh-TW" altLang="en-US" sz="1600" b="1" dirty="0">
                <a:solidFill>
                  <a:prstClr val="black"/>
                </a:solidFill>
                <a:latin typeface="微軟正黑體" pitchFamily="34" charset="-120"/>
                <a:ea typeface="微軟正黑體" panose="020B0604030504040204" pitchFamily="34" charset="-120"/>
              </a:rPr>
              <a:t> </a:t>
            </a:r>
            <a:endParaRPr lang="en-US" altLang="zh-TW" sz="1600" b="1" dirty="0">
              <a:solidFill>
                <a:prstClr val="black"/>
              </a:solidFill>
              <a:latin typeface="微軟正黑體" pitchFamily="34" charset="-120"/>
              <a:ea typeface="微軟正黑體" panose="020B0604030504040204" pitchFamily="34" charset="-120"/>
            </a:endParaRPr>
          </a:p>
          <a:p>
            <a:r>
              <a:rPr lang="en-US" altLang="zh-TW" sz="1050" dirty="0">
                <a:solidFill>
                  <a:srgbClr val="FF0000"/>
                </a:solidFill>
                <a:latin typeface="微軟正黑體" panose="020B0604030504040204" pitchFamily="34" charset="-120"/>
                <a:ea typeface="微軟正黑體" panose="020B0604030504040204" pitchFamily="34" charset="-120"/>
              </a:rPr>
              <a:t>	</a:t>
            </a:r>
          </a:p>
        </p:txBody>
      </p:sp>
      <p:sp>
        <p:nvSpPr>
          <p:cNvPr id="218" name="矩形 217"/>
          <p:cNvSpPr/>
          <p:nvPr/>
        </p:nvSpPr>
        <p:spPr>
          <a:xfrm>
            <a:off x="4707017" y="861561"/>
            <a:ext cx="1409105"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技術對策</a:t>
            </a:r>
            <a:r>
              <a:rPr lang="en-US" altLang="zh-TW" sz="1600" b="1" dirty="0">
                <a:solidFill>
                  <a:prstClr val="black"/>
                </a:solidFill>
                <a:latin typeface="微軟正黑體" pitchFamily="34" charset="-120"/>
                <a:ea typeface="微軟正黑體" panose="020B0604030504040204" pitchFamily="34" charset="-120"/>
              </a:rPr>
              <a:t>:</a:t>
            </a:r>
          </a:p>
        </p:txBody>
      </p:sp>
      <p:grpSp>
        <p:nvGrpSpPr>
          <p:cNvPr id="3" name="组合 65"/>
          <p:cNvGrpSpPr>
            <a:grpSpLocks/>
          </p:cNvGrpSpPr>
          <p:nvPr/>
        </p:nvGrpSpPr>
        <p:grpSpPr bwMode="auto">
          <a:xfrm rot="4723889">
            <a:off x="6506250" y="329528"/>
            <a:ext cx="723088" cy="1050156"/>
            <a:chOff x="5008933" y="2278557"/>
            <a:chExt cx="2491360" cy="2362847"/>
          </a:xfrm>
        </p:grpSpPr>
        <p:sp>
          <p:nvSpPr>
            <p:cNvPr id="78"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4" name="组合 67"/>
            <p:cNvGrpSpPr>
              <a:grpSpLocks/>
            </p:cNvGrpSpPr>
            <p:nvPr/>
          </p:nvGrpSpPr>
          <p:grpSpPr bwMode="auto">
            <a:xfrm>
              <a:off x="5008933" y="2278557"/>
              <a:ext cx="2491360" cy="2323893"/>
              <a:chOff x="1123476" y="1681897"/>
              <a:chExt cx="3206311" cy="2990785"/>
            </a:xfrm>
          </p:grpSpPr>
          <p:grpSp>
            <p:nvGrpSpPr>
              <p:cNvPr id="6" name="组合 68"/>
              <p:cNvGrpSpPr>
                <a:grpSpLocks/>
              </p:cNvGrpSpPr>
              <p:nvPr/>
            </p:nvGrpSpPr>
            <p:grpSpPr bwMode="auto">
              <a:xfrm>
                <a:off x="1123476" y="1763461"/>
                <a:ext cx="2798050" cy="2798050"/>
                <a:chOff x="1123476" y="1763461"/>
                <a:chExt cx="2798050" cy="2798050"/>
              </a:xfrm>
            </p:grpSpPr>
            <p:sp>
              <p:nvSpPr>
                <p:cNvPr id="86" name="弧形 85"/>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87" name="弧形 86"/>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88" name="弧形 87"/>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89" name="弧形 88"/>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7" name="组合 69"/>
              <p:cNvGrpSpPr>
                <a:grpSpLocks/>
              </p:cNvGrpSpPr>
              <p:nvPr/>
            </p:nvGrpSpPr>
            <p:grpSpPr bwMode="auto">
              <a:xfrm rot="-7200000">
                <a:off x="1273270" y="1616165"/>
                <a:ext cx="2990785" cy="3122249"/>
                <a:chOff x="891209" y="1807143"/>
                <a:chExt cx="2990785" cy="3122249"/>
              </a:xfrm>
            </p:grpSpPr>
            <p:sp>
              <p:nvSpPr>
                <p:cNvPr id="82" name="弧形 81"/>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83" name="弧形 82"/>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84" name="弧形 83"/>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85" name="弧形 84"/>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sp>
        <p:nvSpPr>
          <p:cNvPr id="90" name="矩形 89"/>
          <p:cNvSpPr/>
          <p:nvPr/>
        </p:nvSpPr>
        <p:spPr>
          <a:xfrm>
            <a:off x="6381441" y="486074"/>
            <a:ext cx="1002724" cy="646331"/>
          </a:xfrm>
          <a:prstGeom prst="rect">
            <a:avLst/>
          </a:prstGeom>
        </p:spPr>
        <p:txBody>
          <a:bodyPr wrap="square">
            <a:spAutoFit/>
          </a:bodyPr>
          <a:lstStyle/>
          <a:p>
            <a:pPr algn="ctr">
              <a:defRPr/>
            </a:pPr>
            <a:r>
              <a:rPr lang="zh-TW" altLang="en-US" sz="1800" b="1" dirty="0">
                <a:solidFill>
                  <a:prstClr val="black">
                    <a:lumMod val="65000"/>
                    <a:lumOff val="35000"/>
                  </a:prstClr>
                </a:solidFill>
                <a:latin typeface="微軟正黑體" panose="020B0604030504040204" pitchFamily="34" charset="-120"/>
                <a:ea typeface="微軟正黑體" panose="020B0604030504040204" pitchFamily="34" charset="-120"/>
              </a:rPr>
              <a:t>解決</a:t>
            </a:r>
            <a:endParaRPr lang="en-US" altLang="zh-TW" sz="1800" b="1" dirty="0">
              <a:solidFill>
                <a:prstClr val="black">
                  <a:lumMod val="65000"/>
                  <a:lumOff val="35000"/>
                </a:prstClr>
              </a:solidFill>
              <a:latin typeface="微軟正黑體" panose="020B0604030504040204" pitchFamily="34" charset="-120"/>
              <a:ea typeface="微軟正黑體" panose="020B0604030504040204" pitchFamily="34" charset="-120"/>
            </a:endParaRPr>
          </a:p>
          <a:p>
            <a:pPr algn="ctr">
              <a:defRPr/>
            </a:pPr>
            <a:r>
              <a:rPr lang="zh-TW" altLang="en-US" sz="1800" b="1" dirty="0">
                <a:solidFill>
                  <a:prstClr val="black">
                    <a:lumMod val="65000"/>
                    <a:lumOff val="35000"/>
                  </a:prstClr>
                </a:solidFill>
                <a:latin typeface="微軟正黑體" panose="020B0604030504040204" pitchFamily="34" charset="-120"/>
                <a:ea typeface="微軟正黑體" panose="020B0604030504040204" pitchFamily="34" charset="-120"/>
              </a:rPr>
              <a:t>方案</a:t>
            </a:r>
          </a:p>
        </p:txBody>
      </p:sp>
      <p:grpSp>
        <p:nvGrpSpPr>
          <p:cNvPr id="8" name="组合 65"/>
          <p:cNvGrpSpPr>
            <a:grpSpLocks/>
          </p:cNvGrpSpPr>
          <p:nvPr/>
        </p:nvGrpSpPr>
        <p:grpSpPr bwMode="auto">
          <a:xfrm rot="4723889">
            <a:off x="1932033" y="292832"/>
            <a:ext cx="723088" cy="1050156"/>
            <a:chOff x="5008933" y="2278557"/>
            <a:chExt cx="2491360" cy="2362847"/>
          </a:xfrm>
        </p:grpSpPr>
        <p:sp>
          <p:nvSpPr>
            <p:cNvPr id="92"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9" name="组合 67"/>
            <p:cNvGrpSpPr>
              <a:grpSpLocks/>
            </p:cNvGrpSpPr>
            <p:nvPr/>
          </p:nvGrpSpPr>
          <p:grpSpPr bwMode="auto">
            <a:xfrm>
              <a:off x="5008933" y="2278557"/>
              <a:ext cx="2491360" cy="2323893"/>
              <a:chOff x="1123476" y="1681897"/>
              <a:chExt cx="3206311" cy="2990785"/>
            </a:xfrm>
          </p:grpSpPr>
          <p:grpSp>
            <p:nvGrpSpPr>
              <p:cNvPr id="10" name="组合 68"/>
              <p:cNvGrpSpPr>
                <a:grpSpLocks/>
              </p:cNvGrpSpPr>
              <p:nvPr/>
            </p:nvGrpSpPr>
            <p:grpSpPr bwMode="auto">
              <a:xfrm>
                <a:off x="1123476" y="1763461"/>
                <a:ext cx="2798050" cy="2798050"/>
                <a:chOff x="1123476" y="1763461"/>
                <a:chExt cx="2798050" cy="2798050"/>
              </a:xfrm>
            </p:grpSpPr>
            <p:sp>
              <p:nvSpPr>
                <p:cNvPr id="100" name="弧形 99"/>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01" name="弧形 100"/>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02" name="弧形 101"/>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103" name="弧形 102"/>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11" name="组合 69"/>
              <p:cNvGrpSpPr>
                <a:grpSpLocks/>
              </p:cNvGrpSpPr>
              <p:nvPr/>
            </p:nvGrpSpPr>
            <p:grpSpPr bwMode="auto">
              <a:xfrm rot="-7200000">
                <a:off x="1273270" y="1616165"/>
                <a:ext cx="2990785" cy="3122249"/>
                <a:chOff x="891209" y="1807143"/>
                <a:chExt cx="2990785" cy="3122249"/>
              </a:xfrm>
            </p:grpSpPr>
            <p:sp>
              <p:nvSpPr>
                <p:cNvPr id="96" name="弧形 95"/>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97" name="弧形 96"/>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98" name="弧形 97"/>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99" name="弧形 98"/>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sp>
        <p:nvSpPr>
          <p:cNvPr id="104" name="矩形 103"/>
          <p:cNvSpPr/>
          <p:nvPr/>
        </p:nvSpPr>
        <p:spPr>
          <a:xfrm>
            <a:off x="1766943" y="548991"/>
            <a:ext cx="1002724" cy="369332"/>
          </a:xfrm>
          <a:prstGeom prst="rect">
            <a:avLst/>
          </a:prstGeom>
        </p:spPr>
        <p:txBody>
          <a:bodyPr wrap="square">
            <a:spAutoFit/>
          </a:bodyPr>
          <a:lstStyle/>
          <a:p>
            <a:pPr algn="ctr">
              <a:defRPr/>
            </a:pPr>
            <a:r>
              <a:rPr lang="zh-TW" altLang="en-US" sz="1800" b="1" dirty="0">
                <a:solidFill>
                  <a:prstClr val="black">
                    <a:lumMod val="65000"/>
                    <a:lumOff val="35000"/>
                  </a:prstClr>
                </a:solidFill>
                <a:latin typeface="微軟正黑體" panose="020B0604030504040204" pitchFamily="34" charset="-120"/>
                <a:ea typeface="微軟正黑體" panose="020B0604030504040204" pitchFamily="34" charset="-120"/>
              </a:rPr>
              <a:t>痛點</a:t>
            </a:r>
          </a:p>
        </p:txBody>
      </p:sp>
      <p:sp>
        <p:nvSpPr>
          <p:cNvPr id="355" name="矩形 218"/>
          <p:cNvSpPr>
            <a:spLocks noChangeArrowheads="1"/>
          </p:cNvSpPr>
          <p:nvPr/>
        </p:nvSpPr>
        <p:spPr bwMode="auto">
          <a:xfrm>
            <a:off x="4797026" y="3671982"/>
            <a:ext cx="1080121"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600" b="1" dirty="0">
                <a:solidFill>
                  <a:prstClr val="black"/>
                </a:solidFill>
                <a:latin typeface="微軟正黑體" pitchFamily="34" charset="-120"/>
                <a:ea typeface="微軟正黑體" pitchFamily="34" charset="-120"/>
              </a:rPr>
              <a:t>效益</a:t>
            </a:r>
            <a:r>
              <a:rPr lang="en-US" altLang="zh-TW" sz="1600" b="1" dirty="0">
                <a:solidFill>
                  <a:prstClr val="black"/>
                </a:solidFill>
                <a:latin typeface="微軟正黑體" pitchFamily="34" charset="-120"/>
                <a:ea typeface="微軟正黑體" pitchFamily="34" charset="-120"/>
              </a:rPr>
              <a:t>:</a:t>
            </a:r>
            <a:r>
              <a:rPr lang="zh-TW" altLang="en-US" sz="1600" b="1" dirty="0">
                <a:solidFill>
                  <a:prstClr val="black"/>
                </a:solidFill>
                <a:latin typeface="微軟正黑體" pitchFamily="34" charset="-120"/>
                <a:ea typeface="微軟正黑體" pitchFamily="34" charset="-120"/>
              </a:rPr>
              <a:t> </a:t>
            </a:r>
            <a:endParaRPr lang="en-US" altLang="zh-TW" sz="1600" b="1" dirty="0">
              <a:solidFill>
                <a:prstClr val="black"/>
              </a:solidFill>
              <a:latin typeface="微軟正黑體" pitchFamily="34" charset="-120"/>
              <a:ea typeface="微軟正黑體" pitchFamily="34" charset="-120"/>
            </a:endParaRPr>
          </a:p>
        </p:txBody>
      </p:sp>
      <p:sp>
        <p:nvSpPr>
          <p:cNvPr id="47" name="矩形 46"/>
          <p:cNvSpPr/>
          <p:nvPr/>
        </p:nvSpPr>
        <p:spPr>
          <a:xfrm>
            <a:off x="296525" y="1131592"/>
            <a:ext cx="3896544" cy="715581"/>
          </a:xfrm>
          <a:prstGeom prst="rect">
            <a:avLst/>
          </a:prstGeom>
        </p:spPr>
        <p:txBody>
          <a:bodyPr wrap="square">
            <a:spAutoFit/>
          </a:bodyPr>
          <a:lstStyle/>
          <a:p>
            <a:pPr>
              <a:lnSpc>
                <a:spcPct val="150000"/>
              </a:lnSpc>
            </a:pPr>
            <a:r>
              <a:rPr lang="zh-TW" altLang="en-US" sz="900" b="1" dirty="0">
                <a:latin typeface="微軟正黑體" pitchFamily="34" charset="-120"/>
                <a:ea typeface="微軟正黑體" pitchFamily="34" charset="-120"/>
              </a:rPr>
              <a:t>因各產品和機台間有固定安全</a:t>
            </a:r>
            <a:r>
              <a:rPr lang="en-US" altLang="zh-TW" sz="900" b="1" dirty="0">
                <a:latin typeface="微軟正黑體" pitchFamily="34" charset="-120"/>
                <a:ea typeface="微軟正黑體" pitchFamily="34" charset="-120"/>
              </a:rPr>
              <a:t>process window , </a:t>
            </a:r>
            <a:r>
              <a:rPr lang="zh-TW" altLang="en-US" sz="900" b="1" dirty="0">
                <a:latin typeface="微軟正黑體" pitchFamily="34" charset="-120"/>
                <a:ea typeface="微軟正黑體" pitchFamily="34" charset="-120"/>
              </a:rPr>
              <a:t>希望透過監控</a:t>
            </a:r>
            <a:r>
              <a:rPr lang="en-US" altLang="zh-TW" sz="900" b="1" dirty="0">
                <a:latin typeface="微軟正黑體" pitchFamily="34" charset="-120"/>
                <a:ea typeface="微軟正黑體" pitchFamily="34" charset="-120"/>
              </a:rPr>
              <a:t>WMA Over Etch % ,</a:t>
            </a:r>
            <a:r>
              <a:rPr lang="zh-TW" altLang="en-US" sz="900" b="1" dirty="0">
                <a:latin typeface="微軟正黑體" pitchFamily="34" charset="-120"/>
                <a:ea typeface="微軟正黑體" pitchFamily="34" charset="-120"/>
              </a:rPr>
              <a:t>以機台蝕刻率</a:t>
            </a:r>
            <a:r>
              <a:rPr lang="en-US" altLang="zh-TW" sz="900" b="1" dirty="0">
                <a:latin typeface="微軟正黑體" pitchFamily="34" charset="-120"/>
                <a:ea typeface="微軟正黑體" pitchFamily="34" charset="-120"/>
              </a:rPr>
              <a:t>/</a:t>
            </a:r>
            <a:r>
              <a:rPr lang="zh-TW" altLang="en-US" sz="900" b="1" dirty="0">
                <a:latin typeface="微軟正黑體" pitchFamily="34" charset="-120"/>
                <a:ea typeface="微軟正黑體" pitchFamily="34" charset="-120"/>
              </a:rPr>
              <a:t>總蝕刻秒數</a:t>
            </a:r>
            <a:r>
              <a:rPr lang="en-US" altLang="zh-TW" sz="900" b="1" dirty="0">
                <a:latin typeface="微軟正黑體" pitchFamily="34" charset="-120"/>
                <a:ea typeface="微軟正黑體" pitchFamily="34" charset="-120"/>
              </a:rPr>
              <a:t>/</a:t>
            </a:r>
            <a:r>
              <a:rPr lang="zh-TW" altLang="en-US" sz="900" b="1" dirty="0">
                <a:latin typeface="微軟正黑體" pitchFamily="34" charset="-120"/>
                <a:ea typeface="微軟正黑體" pitchFamily="34" charset="-120"/>
              </a:rPr>
              <a:t>產品膜厚的綜合比較來減少機台變異和人員判斷造成異常貨發生 </a:t>
            </a:r>
          </a:p>
        </p:txBody>
      </p:sp>
      <p:sp>
        <p:nvSpPr>
          <p:cNvPr id="217" name="矩形 218"/>
          <p:cNvSpPr>
            <a:spLocks noChangeArrowheads="1"/>
          </p:cNvSpPr>
          <p:nvPr/>
        </p:nvSpPr>
        <p:spPr bwMode="auto">
          <a:xfrm>
            <a:off x="296525" y="2945633"/>
            <a:ext cx="945105"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600" b="1" dirty="0">
                <a:solidFill>
                  <a:prstClr val="black"/>
                </a:solidFill>
                <a:latin typeface="微軟正黑體" pitchFamily="34" charset="-120"/>
                <a:ea typeface="微軟正黑體" pitchFamily="34" charset="-120"/>
              </a:rPr>
              <a:t>改善後</a:t>
            </a:r>
            <a:r>
              <a:rPr lang="en-US" altLang="zh-TW" sz="1600" b="1" dirty="0">
                <a:solidFill>
                  <a:prstClr val="black"/>
                </a:solidFill>
                <a:latin typeface="微軟正黑體" pitchFamily="34" charset="-120"/>
                <a:ea typeface="微軟正黑體" pitchFamily="34" charset="-120"/>
              </a:rPr>
              <a:t>:</a:t>
            </a:r>
            <a:r>
              <a:rPr lang="zh-TW" altLang="en-US" sz="1600" b="1" dirty="0">
                <a:solidFill>
                  <a:prstClr val="black"/>
                </a:solidFill>
                <a:latin typeface="微軟正黑體" pitchFamily="34" charset="-120"/>
                <a:ea typeface="微軟正黑體" pitchFamily="34" charset="-120"/>
              </a:rPr>
              <a:t> </a:t>
            </a:r>
            <a:endParaRPr lang="en-US" altLang="zh-TW" sz="1600" b="1" dirty="0">
              <a:solidFill>
                <a:prstClr val="black"/>
              </a:solidFill>
              <a:latin typeface="微軟正黑體" pitchFamily="34" charset="-120"/>
              <a:ea typeface="微軟正黑體" pitchFamily="34" charset="-120"/>
            </a:endParaRPr>
          </a:p>
        </p:txBody>
      </p:sp>
      <p:sp>
        <p:nvSpPr>
          <p:cNvPr id="62" name="矩形 61"/>
          <p:cNvSpPr/>
          <p:nvPr/>
        </p:nvSpPr>
        <p:spPr>
          <a:xfrm>
            <a:off x="4707015" y="1176597"/>
            <a:ext cx="4320480" cy="507831"/>
          </a:xfrm>
          <a:prstGeom prst="rect">
            <a:avLst/>
          </a:prstGeom>
        </p:spPr>
        <p:txBody>
          <a:bodyPr wrap="square">
            <a:spAutoFit/>
          </a:bodyPr>
          <a:lstStyle/>
          <a:p>
            <a:r>
              <a:rPr lang="en-US" altLang="zh-TW" sz="900" b="1" dirty="0">
                <a:solidFill>
                  <a:prstClr val="black"/>
                </a:solidFill>
                <a:latin typeface="微軟正黑體" panose="020B0604030504040204" pitchFamily="34" charset="-120"/>
                <a:ea typeface="微軟正黑體" panose="020B0604030504040204" pitchFamily="34" charset="-120"/>
              </a:rPr>
              <a:t>1.</a:t>
            </a:r>
            <a:r>
              <a:rPr lang="zh-TW" altLang="en-US" sz="900" b="1" dirty="0">
                <a:latin typeface="微軟正黑體" panose="020B0604030504040204" pitchFamily="34" charset="-120"/>
                <a:ea typeface="微軟正黑體" panose="020B0604030504040204" pitchFamily="34" charset="-120"/>
              </a:rPr>
              <a:t>利用</a:t>
            </a:r>
            <a:r>
              <a:rPr lang="en-US" altLang="zh-TW" sz="900" b="1" dirty="0">
                <a:latin typeface="微軟正黑體" panose="020B0604030504040204" pitchFamily="34" charset="-120"/>
                <a:ea typeface="微軟正黑體" panose="020B0604030504040204" pitchFamily="34" charset="-120"/>
              </a:rPr>
              <a:t>python</a:t>
            </a:r>
            <a:r>
              <a:rPr lang="zh-TW" altLang="en-US" sz="900" b="1" dirty="0">
                <a:latin typeface="微軟正黑體" panose="020B0604030504040204" pitchFamily="34" charset="-120"/>
                <a:ea typeface="微軟正黑體" panose="020B0604030504040204" pitchFamily="34" charset="-120"/>
              </a:rPr>
              <a:t>爬蟲到</a:t>
            </a:r>
            <a:r>
              <a:rPr lang="en-US" altLang="zh-TW" sz="900" b="1" dirty="0">
                <a:latin typeface="微軟正黑體" panose="020B0604030504040204" pitchFamily="34" charset="-120"/>
                <a:ea typeface="微軟正黑體" panose="020B0604030504040204" pitchFamily="34" charset="-120"/>
              </a:rPr>
              <a:t>MFG</a:t>
            </a:r>
            <a:r>
              <a:rPr lang="zh-TW" altLang="en-US" sz="900" b="1" dirty="0">
                <a:latin typeface="微軟正黑體" panose="020B0604030504040204" pitchFamily="34" charset="-120"/>
                <a:ea typeface="微軟正黑體" panose="020B0604030504040204" pitchFamily="34" charset="-120"/>
              </a:rPr>
              <a:t>網頁撈機台蝕刻資料</a:t>
            </a:r>
            <a:endParaRPr lang="en-US" altLang="zh-TW" sz="900" b="1" dirty="0">
              <a:solidFill>
                <a:prstClr val="black"/>
              </a:solidFill>
              <a:latin typeface="微軟正黑體" panose="020B0604030504040204" pitchFamily="34" charset="-120"/>
              <a:ea typeface="微軟正黑體" panose="020B0604030504040204" pitchFamily="34" charset="-120"/>
            </a:endParaRPr>
          </a:p>
          <a:p>
            <a:r>
              <a:rPr lang="en-US" altLang="zh-TW" sz="900" b="1" dirty="0">
                <a:solidFill>
                  <a:prstClr val="black"/>
                </a:solidFill>
                <a:latin typeface="微軟正黑體" panose="020B0604030504040204" pitchFamily="34" charset="-120"/>
                <a:ea typeface="微軟正黑體" panose="020B0604030504040204" pitchFamily="34" charset="-120"/>
              </a:rPr>
              <a:t>2.</a:t>
            </a:r>
            <a:r>
              <a:rPr lang="zh-TW" altLang="en-US" sz="900" b="1" dirty="0">
                <a:latin typeface="微軟正黑體" panose="020B0604030504040204" pitchFamily="34" charset="-120"/>
                <a:ea typeface="微軟正黑體" panose="020B0604030504040204" pitchFamily="34" charset="-120"/>
              </a:rPr>
              <a:t>再利用資料計算出工程參數後輸出</a:t>
            </a:r>
            <a:r>
              <a:rPr lang="en-US" altLang="zh-TW" sz="900" b="1" dirty="0">
                <a:latin typeface="微軟正黑體" panose="020B0604030504040204" pitchFamily="34" charset="-120"/>
                <a:ea typeface="微軟正黑體" panose="020B0604030504040204" pitchFamily="34" charset="-120"/>
              </a:rPr>
              <a:t>Data</a:t>
            </a:r>
            <a:r>
              <a:rPr lang="zh-TW" altLang="en-US" sz="900" b="1" dirty="0">
                <a:latin typeface="微軟正黑體" panose="020B0604030504040204" pitchFamily="34" charset="-120"/>
                <a:ea typeface="微軟正黑體" panose="020B0604030504040204" pitchFamily="34" charset="-120"/>
              </a:rPr>
              <a:t> </a:t>
            </a:r>
            <a:r>
              <a:rPr lang="en-US" altLang="zh-TW" sz="900" b="1" dirty="0">
                <a:latin typeface="微軟正黑體" panose="020B0604030504040204" pitchFamily="34" charset="-120"/>
                <a:ea typeface="微軟正黑體" panose="020B0604030504040204" pitchFamily="34" charset="-120"/>
              </a:rPr>
              <a:t>frame</a:t>
            </a:r>
            <a:endParaRPr lang="en-US" altLang="zh-TW" sz="900" b="1" dirty="0">
              <a:solidFill>
                <a:prstClr val="black"/>
              </a:solidFill>
              <a:latin typeface="微軟正黑體" panose="020B0604030504040204" pitchFamily="34" charset="-120"/>
              <a:ea typeface="微軟正黑體" panose="020B0604030504040204" pitchFamily="34" charset="-120"/>
            </a:endParaRPr>
          </a:p>
          <a:p>
            <a:r>
              <a:rPr lang="en-US" altLang="zh-TW" sz="900" b="1" dirty="0">
                <a:solidFill>
                  <a:prstClr val="black"/>
                </a:solidFill>
                <a:latin typeface="微軟正黑體" panose="020B0604030504040204" pitchFamily="34" charset="-120"/>
                <a:ea typeface="微軟正黑體" panose="020B0604030504040204" pitchFamily="34" charset="-120"/>
              </a:rPr>
              <a:t>3.</a:t>
            </a:r>
            <a:r>
              <a:rPr lang="zh-TW" altLang="en-US" sz="900" b="1" dirty="0">
                <a:latin typeface="微軟正黑體" panose="020B0604030504040204" pitchFamily="34" charset="-120"/>
                <a:ea typeface="微軟正黑體" panose="020B0604030504040204" pitchFamily="34" charset="-120"/>
              </a:rPr>
              <a:t>使用</a:t>
            </a:r>
            <a:r>
              <a:rPr lang="en-US" altLang="zh-TW" sz="900" b="1" dirty="0">
                <a:latin typeface="微軟正黑體" panose="020B0604030504040204" pitchFamily="34" charset="-120"/>
                <a:ea typeface="微軟正黑體" panose="020B0604030504040204" pitchFamily="34" charset="-120"/>
              </a:rPr>
              <a:t>tableau</a:t>
            </a:r>
            <a:r>
              <a:rPr lang="zh-TW" altLang="en-US" sz="900" b="1" dirty="0">
                <a:latin typeface="微軟正黑體" panose="020B0604030504040204" pitchFamily="34" charset="-120"/>
                <a:ea typeface="微軟正黑體" panose="020B0604030504040204" pitchFamily="34" charset="-120"/>
              </a:rPr>
              <a:t>製作成可視化報表，最終發佈至</a:t>
            </a:r>
            <a:r>
              <a:rPr lang="en-US" altLang="zh-TW" sz="900" b="1" dirty="0">
                <a:latin typeface="微軟正黑體" panose="020B0604030504040204" pitchFamily="34" charset="-120"/>
                <a:ea typeface="微軟正黑體" panose="020B0604030504040204" pitchFamily="34" charset="-120"/>
              </a:rPr>
              <a:t>EDA</a:t>
            </a:r>
            <a:endParaRPr lang="zh-TW" altLang="en-US" sz="900" b="1" dirty="0">
              <a:latin typeface="微軟正黑體" panose="020B0604030504040204" pitchFamily="34" charset="-120"/>
              <a:ea typeface="微軟正黑體" panose="020B0604030504040204" pitchFamily="34" charset="-120"/>
            </a:endParaRPr>
          </a:p>
        </p:txBody>
      </p:sp>
      <p:pic>
        <p:nvPicPr>
          <p:cNvPr id="53" name="圖片 52"/>
          <p:cNvPicPr>
            <a:picLocks noChangeAspect="1"/>
          </p:cNvPicPr>
          <p:nvPr/>
        </p:nvPicPr>
        <p:blipFill>
          <a:blip r:embed="rId3"/>
          <a:stretch>
            <a:fillRect/>
          </a:stretch>
        </p:blipFill>
        <p:spPr>
          <a:xfrm>
            <a:off x="1855569" y="1622985"/>
            <a:ext cx="778457" cy="1293243"/>
          </a:xfrm>
          <a:prstGeom prst="rect">
            <a:avLst/>
          </a:prstGeom>
        </p:spPr>
      </p:pic>
      <p:pic>
        <p:nvPicPr>
          <p:cNvPr id="54" name="圖片 53" descr="畫面剪輯"/>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8711" y="1767126"/>
            <a:ext cx="2558240" cy="965521"/>
          </a:xfrm>
          <a:prstGeom prst="rect">
            <a:avLst/>
          </a:prstGeom>
          <a:ln w="12700">
            <a:solidFill>
              <a:schemeClr val="tx1"/>
            </a:solidFill>
          </a:ln>
        </p:spPr>
      </p:pic>
      <p:pic>
        <p:nvPicPr>
          <p:cNvPr id="55" name="圖片 54" descr="畫面剪輯"/>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91775" y="2759885"/>
            <a:ext cx="1776473" cy="807937"/>
          </a:xfrm>
          <a:prstGeom prst="rect">
            <a:avLst/>
          </a:prstGeom>
          <a:ln w="12700">
            <a:solidFill>
              <a:schemeClr val="tx1"/>
            </a:solidFill>
          </a:ln>
        </p:spPr>
      </p:pic>
      <p:pic>
        <p:nvPicPr>
          <p:cNvPr id="56" name="圖片 55" descr="畫面剪輯"/>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02157" y="2759885"/>
            <a:ext cx="1242886" cy="803733"/>
          </a:xfrm>
          <a:prstGeom prst="rect">
            <a:avLst/>
          </a:prstGeom>
          <a:ln w="12700">
            <a:solidFill>
              <a:schemeClr val="tx1"/>
            </a:solidFill>
          </a:ln>
        </p:spPr>
      </p:pic>
      <p:sp>
        <p:nvSpPr>
          <p:cNvPr id="52" name="矩形 51"/>
          <p:cNvSpPr/>
          <p:nvPr/>
        </p:nvSpPr>
        <p:spPr>
          <a:xfrm>
            <a:off x="296525" y="3245015"/>
            <a:ext cx="4320480" cy="715581"/>
          </a:xfrm>
          <a:prstGeom prst="rect">
            <a:avLst/>
          </a:prstGeom>
        </p:spPr>
        <p:txBody>
          <a:bodyPr wrap="square">
            <a:spAutoFit/>
          </a:bodyPr>
          <a:lstStyle/>
          <a:p>
            <a:pPr marL="171450" indent="-171450">
              <a:lnSpc>
                <a:spcPct val="150000"/>
              </a:lnSpc>
              <a:buAutoNum type="arabicPeriod"/>
            </a:pPr>
            <a:r>
              <a:rPr lang="zh-TW" altLang="en-US" sz="900" b="1" dirty="0">
                <a:latin typeface="微軟正黑體" pitchFamily="34" charset="-120"/>
                <a:ea typeface="微軟正黑體" pitchFamily="34" charset="-120"/>
              </a:rPr>
              <a:t>減少異常貨發生</a:t>
            </a:r>
            <a:endParaRPr lang="en-US" altLang="zh-TW" sz="900" b="1" dirty="0">
              <a:latin typeface="微軟正黑體" pitchFamily="34" charset="-120"/>
              <a:ea typeface="微軟正黑體" pitchFamily="34" charset="-120"/>
            </a:endParaRPr>
          </a:p>
          <a:p>
            <a:pPr marL="171450" indent="-171450">
              <a:lnSpc>
                <a:spcPct val="150000"/>
              </a:lnSpc>
              <a:buFontTx/>
              <a:buAutoNum type="arabicPeriod"/>
            </a:pPr>
            <a:r>
              <a:rPr lang="zh-TW" altLang="en-US" sz="900" b="1" dirty="0">
                <a:latin typeface="微軟正黑體" pitchFamily="34" charset="-120"/>
                <a:ea typeface="微軟正黑體" pitchFamily="34" charset="-120"/>
              </a:rPr>
              <a:t>快速找到機差點</a:t>
            </a:r>
            <a:endParaRPr lang="en-US" altLang="zh-TW" sz="900" b="1" dirty="0">
              <a:latin typeface="微軟正黑體" pitchFamily="34" charset="-120"/>
              <a:ea typeface="微軟正黑體" pitchFamily="34" charset="-120"/>
            </a:endParaRPr>
          </a:p>
          <a:p>
            <a:pPr marL="171450" indent="-171450">
              <a:lnSpc>
                <a:spcPct val="150000"/>
              </a:lnSpc>
              <a:buFontTx/>
              <a:buAutoNum type="arabicPeriod"/>
            </a:pPr>
            <a:r>
              <a:rPr lang="zh-TW" altLang="en-US" sz="900" b="1" dirty="0">
                <a:latin typeface="微軟正黑體" pitchFamily="34" charset="-120"/>
                <a:ea typeface="微軟正黑體" pitchFamily="34" charset="-120"/>
              </a:rPr>
              <a:t>對產品可知機台極限</a:t>
            </a:r>
            <a:endParaRPr lang="en-US" altLang="zh-TW" sz="900" b="1" dirty="0">
              <a:latin typeface="微軟正黑體" pitchFamily="34" charset="-120"/>
              <a:ea typeface="微軟正黑體" pitchFamily="34" charset="-120"/>
            </a:endParaRPr>
          </a:p>
        </p:txBody>
      </p:sp>
      <p:pic>
        <p:nvPicPr>
          <p:cNvPr id="58" name="圖片 57" descr="畫面剪輯"/>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3806" y="3937513"/>
            <a:ext cx="2603525" cy="858050"/>
          </a:xfrm>
          <a:prstGeom prst="rect">
            <a:avLst/>
          </a:prstGeom>
          <a:ln w="19050">
            <a:solidFill>
              <a:schemeClr val="tx1"/>
            </a:solidFill>
          </a:ln>
        </p:spPr>
      </p:pic>
      <p:sp>
        <p:nvSpPr>
          <p:cNvPr id="50" name="標題 1"/>
          <p:cNvSpPr txBox="1">
            <a:spLocks/>
          </p:cNvSpPr>
          <p:nvPr/>
        </p:nvSpPr>
        <p:spPr>
          <a:xfrm>
            <a:off x="0" y="10617"/>
            <a:ext cx="9110501" cy="560180"/>
          </a:xfrm>
          <a:prstGeom prst="rect">
            <a:avLst/>
          </a:prstGeom>
        </p:spPr>
        <p:txBody>
          <a:bodyPr vert="horz" lIns="91440" tIns="45720" rIns="91440" bIns="45720" rtlCol="0" anchor="t">
            <a:normAutofit fontScale="85000" lnSpcReduction="10000"/>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a:cs typeface="Arial" panose="020B0604020202020204" pitchFamily="34" charset="0"/>
              </a:rPr>
              <a:t>WMA Over Etch By Model </a:t>
            </a:r>
            <a:r>
              <a:rPr lang="zh-TW" altLang="en-US" dirty="0">
                <a:cs typeface="Arial" panose="020B0604020202020204" pitchFamily="34" charset="0"/>
              </a:rPr>
              <a:t>智慧運算系統化</a:t>
            </a:r>
          </a:p>
          <a:p>
            <a:endParaRPr lang="zh-TW" altLang="en-US" dirty="0">
              <a:cs typeface="Arial" panose="020B0604020202020204" pitchFamily="34" charset="0"/>
            </a:endParaRPr>
          </a:p>
        </p:txBody>
      </p:sp>
      <p:sp>
        <p:nvSpPr>
          <p:cNvPr id="51" name="圓角矩形 50"/>
          <p:cNvSpPr/>
          <p:nvPr/>
        </p:nvSpPr>
        <p:spPr>
          <a:xfrm>
            <a:off x="4907056" y="4075134"/>
            <a:ext cx="2865344" cy="801304"/>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微軟正黑體" panose="020B0604030504040204" pitchFamily="34" charset="-120"/>
              <a:ea typeface="微軟正黑體" panose="020B0604030504040204" pitchFamily="34" charset="-120"/>
            </a:endParaRPr>
          </a:p>
        </p:txBody>
      </p:sp>
      <p:sp>
        <p:nvSpPr>
          <p:cNvPr id="49" name="文字方塊 48"/>
          <p:cNvSpPr txBox="1"/>
          <p:nvPr/>
        </p:nvSpPr>
        <p:spPr>
          <a:xfrm>
            <a:off x="4832879" y="4466284"/>
            <a:ext cx="3154916" cy="253916"/>
          </a:xfrm>
          <a:prstGeom prst="rect">
            <a:avLst/>
          </a:prstGeom>
          <a:noFill/>
        </p:spPr>
        <p:txBody>
          <a:bodyPr wrap="square" rtlCol="0">
            <a:spAutoFit/>
          </a:bodyPr>
          <a:lstStyle/>
          <a:p>
            <a:r>
              <a:rPr lang="zh-TW" altLang="en-US" sz="1050" b="1" dirty="0" smtClean="0">
                <a:latin typeface="微軟正黑體" panose="020B0604030504040204" pitchFamily="34" charset="-120"/>
                <a:ea typeface="微軟正黑體" panose="020B0604030504040204" pitchFamily="34" charset="-120"/>
              </a:rPr>
              <a:t>     可節省人員檢視資料 </a:t>
            </a:r>
            <a:r>
              <a:rPr lang="en-US" altLang="zh-TW" sz="1050" b="1" dirty="0">
                <a:latin typeface="微軟正黑體" panose="020B0604030504040204" pitchFamily="34" charset="-120"/>
                <a:ea typeface="微軟正黑體" panose="020B0604030504040204" pitchFamily="34" charset="-120"/>
              </a:rPr>
              <a:t>6</a:t>
            </a:r>
            <a:r>
              <a:rPr lang="zh-TW" altLang="en-US" sz="1050" b="1" dirty="0">
                <a:latin typeface="微軟正黑體" panose="020B0604030504040204" pitchFamily="34" charset="-120"/>
                <a:ea typeface="微軟正黑體" panose="020B0604030504040204" pitchFamily="34" charset="-120"/>
              </a:rPr>
              <a:t> </a:t>
            </a:r>
            <a:r>
              <a:rPr lang="zh-TW" altLang="en-US" sz="1050" b="1" dirty="0" smtClean="0">
                <a:latin typeface="微軟正黑體" panose="020B0604030504040204" pitchFamily="34" charset="-120"/>
                <a:ea typeface="微軟正黑體" panose="020B0604030504040204" pitchFamily="34" charset="-120"/>
              </a:rPr>
              <a:t>小時</a:t>
            </a:r>
            <a:r>
              <a:rPr lang="en-US" altLang="zh-TW" sz="1050" b="1" dirty="0" smtClean="0">
                <a:latin typeface="微軟正黑體" panose="020B0604030504040204" pitchFamily="34" charset="-120"/>
                <a:ea typeface="微軟正黑體" panose="020B0604030504040204" pitchFamily="34" charset="-120"/>
              </a:rPr>
              <a:t>/</a:t>
            </a:r>
            <a:r>
              <a:rPr lang="zh-TW" altLang="en-US" sz="1050" b="1" dirty="0" smtClean="0">
                <a:latin typeface="微軟正黑體" panose="020B0604030504040204" pitchFamily="34" charset="-120"/>
                <a:ea typeface="微軟正黑體" panose="020B0604030504040204" pitchFamily="34" charset="-120"/>
              </a:rPr>
              <a:t>天</a:t>
            </a:r>
            <a:r>
              <a:rPr lang="en-US" altLang="zh-TW" sz="1050" b="1" dirty="0" smtClean="0">
                <a:latin typeface="微軟正黑體" panose="020B0604030504040204" pitchFamily="34" charset="-120"/>
                <a:ea typeface="微軟正黑體" panose="020B0604030504040204" pitchFamily="34" charset="-120"/>
              </a:rPr>
              <a:t>=</a:t>
            </a:r>
            <a:r>
              <a:rPr lang="en-US" altLang="zh-TW" sz="1050" b="1" dirty="0" smtClean="0">
                <a:solidFill>
                  <a:schemeClr val="accent1"/>
                </a:solidFill>
                <a:latin typeface="微軟正黑體" panose="020B0604030504040204" pitchFamily="34" charset="-120"/>
                <a:ea typeface="微軟正黑體" panose="020B0604030504040204" pitchFamily="34" charset="-120"/>
              </a:rPr>
              <a:t>180</a:t>
            </a:r>
            <a:r>
              <a:rPr lang="zh-TW" altLang="en-US" sz="1050" b="1" dirty="0" smtClean="0">
                <a:solidFill>
                  <a:schemeClr val="accent1"/>
                </a:solidFill>
                <a:latin typeface="微軟正黑體" panose="020B0604030504040204" pitchFamily="34" charset="-120"/>
                <a:ea typeface="微軟正黑體" panose="020B0604030504040204" pitchFamily="34" charset="-120"/>
              </a:rPr>
              <a:t>小時</a:t>
            </a:r>
            <a:r>
              <a:rPr lang="en-US" altLang="zh-TW" sz="1050" b="1" dirty="0" smtClean="0">
                <a:solidFill>
                  <a:schemeClr val="accent1"/>
                </a:solidFill>
                <a:latin typeface="微軟正黑體" panose="020B0604030504040204" pitchFamily="34" charset="-120"/>
                <a:ea typeface="微軟正黑體" panose="020B0604030504040204" pitchFamily="34" charset="-120"/>
              </a:rPr>
              <a:t>/</a:t>
            </a:r>
            <a:r>
              <a:rPr lang="zh-TW" altLang="en-US" sz="1050" b="1" dirty="0" smtClean="0">
                <a:solidFill>
                  <a:schemeClr val="accent1"/>
                </a:solidFill>
                <a:latin typeface="微軟正黑體" panose="020B0604030504040204" pitchFamily="34" charset="-120"/>
                <a:ea typeface="微軟正黑體" panose="020B0604030504040204" pitchFamily="34" charset="-120"/>
              </a:rPr>
              <a:t>月</a:t>
            </a:r>
            <a:endParaRPr lang="en-US" altLang="zh-TW" sz="1050" b="1" dirty="0">
              <a:solidFill>
                <a:schemeClr val="accent1"/>
              </a:solidFill>
              <a:latin typeface="微軟正黑體" panose="020B0604030504040204" pitchFamily="34" charset="-120"/>
              <a:ea typeface="微軟正黑體" panose="020B0604030504040204" pitchFamily="34" charset="-120"/>
            </a:endParaRPr>
          </a:p>
        </p:txBody>
      </p:sp>
      <p:sp>
        <p:nvSpPr>
          <p:cNvPr id="5" name="矩形 4"/>
          <p:cNvSpPr/>
          <p:nvPr/>
        </p:nvSpPr>
        <p:spPr>
          <a:xfrm>
            <a:off x="4960163" y="4144216"/>
            <a:ext cx="902811" cy="307777"/>
          </a:xfrm>
          <a:prstGeom prst="rect">
            <a:avLst/>
          </a:prstGeom>
        </p:spPr>
        <p:txBody>
          <a:bodyPr wrap="none">
            <a:spAutoFit/>
          </a:bodyPr>
          <a:lstStyle/>
          <a:p>
            <a:pPr lvl="0"/>
            <a:r>
              <a:rPr lang="zh-TW" altLang="en-US" sz="1400" b="1" dirty="0" smtClean="0">
                <a:latin typeface="微軟正黑體" panose="020B0604030504040204" pitchFamily="34" charset="-120"/>
                <a:ea typeface="微軟正黑體" panose="020B0604030504040204" pitchFamily="34" charset="-120"/>
              </a:rPr>
              <a:t>節省工</a:t>
            </a:r>
            <a:r>
              <a:rPr lang="zh-TW" altLang="en-US" sz="1400" b="1" dirty="0">
                <a:latin typeface="微軟正黑體" panose="020B0604030504040204" pitchFamily="34" charset="-120"/>
                <a:ea typeface="微軟正黑體" panose="020B0604030504040204" pitchFamily="34" charset="-120"/>
              </a:rPr>
              <a:t>時</a:t>
            </a:r>
          </a:p>
        </p:txBody>
      </p:sp>
    </p:spTree>
    <p:extLst>
      <p:ext uri="{BB962C8B-B14F-4D97-AF65-F5344CB8AC3E}">
        <p14:creationId xmlns:p14="http://schemas.microsoft.com/office/powerpoint/2010/main" val="289319366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流程圖: 程序 20"/>
          <p:cNvSpPr/>
          <p:nvPr/>
        </p:nvSpPr>
        <p:spPr>
          <a:xfrm>
            <a:off x="5641964" y="150540"/>
            <a:ext cx="2724965" cy="611581"/>
          </a:xfrm>
          <a:prstGeom prst="flowChartProcess">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500" b="1" dirty="0">
                <a:solidFill>
                  <a:schemeClr val="accent2"/>
                </a:solidFill>
                <a:latin typeface="微軟正黑體" panose="020B0604030504040204" pitchFamily="34" charset="-120"/>
                <a:ea typeface="微軟正黑體" panose="020B0604030504040204" pitchFamily="34" charset="-120"/>
              </a:rPr>
              <a:t>系統撈取數據</a:t>
            </a:r>
            <a:r>
              <a:rPr lang="en-US" altLang="zh-TW" sz="1500" b="1" dirty="0">
                <a:solidFill>
                  <a:schemeClr val="accent2"/>
                </a:solidFill>
                <a:latin typeface="微軟正黑體" panose="020B0604030504040204" pitchFamily="34" charset="-120"/>
                <a:ea typeface="微軟正黑體" panose="020B0604030504040204" pitchFamily="34" charset="-120"/>
              </a:rPr>
              <a:t>+</a:t>
            </a:r>
            <a:r>
              <a:rPr lang="zh-TW" altLang="en-US" sz="1500" b="1" dirty="0">
                <a:solidFill>
                  <a:schemeClr val="accent2"/>
                </a:solidFill>
                <a:latin typeface="微軟正黑體" panose="020B0604030504040204" pitchFamily="34" charset="-120"/>
                <a:ea typeface="微軟正黑體" panose="020B0604030504040204" pitchFamily="34" charset="-120"/>
              </a:rPr>
              <a:t>計算</a:t>
            </a:r>
            <a:endParaRPr lang="en-US" altLang="zh-TW" sz="1500" b="1" dirty="0">
              <a:solidFill>
                <a:schemeClr val="accent2"/>
              </a:solidFill>
              <a:latin typeface="微軟正黑體" panose="020B0604030504040204" pitchFamily="34" charset="-120"/>
              <a:ea typeface="微軟正黑體" panose="020B0604030504040204" pitchFamily="34" charset="-120"/>
            </a:endParaRPr>
          </a:p>
          <a:p>
            <a:pPr algn="ctr"/>
            <a:r>
              <a:rPr lang="zh-TW" altLang="en-US" sz="1500" b="1" dirty="0">
                <a:solidFill>
                  <a:schemeClr val="accent2"/>
                </a:solidFill>
                <a:latin typeface="微軟正黑體" panose="020B0604030504040204" pitchFamily="34" charset="-120"/>
                <a:ea typeface="微軟正黑體" panose="020B0604030504040204" pitchFamily="34" charset="-120"/>
              </a:rPr>
              <a:t>即時</a:t>
            </a:r>
            <a:r>
              <a:rPr lang="en-US" altLang="zh-TW" sz="1500" b="1" dirty="0">
                <a:solidFill>
                  <a:schemeClr val="accent2"/>
                </a:solidFill>
                <a:latin typeface="微軟正黑體" panose="020B0604030504040204" pitchFamily="34" charset="-120"/>
                <a:ea typeface="微軟正黑體" panose="020B0604030504040204" pitchFamily="34" charset="-120"/>
              </a:rPr>
              <a:t>WMA</a:t>
            </a:r>
            <a:r>
              <a:rPr lang="zh-TW" altLang="en-US" sz="1500" b="1" dirty="0">
                <a:solidFill>
                  <a:schemeClr val="accent2"/>
                </a:solidFill>
                <a:latin typeface="微軟正黑體" panose="020B0604030504040204" pitchFamily="34" charset="-120"/>
                <a:ea typeface="微軟正黑體" panose="020B0604030504040204" pitchFamily="34" charset="-120"/>
              </a:rPr>
              <a:t> </a:t>
            </a:r>
            <a:r>
              <a:rPr lang="en-US" altLang="zh-TW" sz="1500" b="1" dirty="0">
                <a:solidFill>
                  <a:schemeClr val="accent2"/>
                </a:solidFill>
                <a:latin typeface="微軟正黑體" panose="020B0604030504040204" pitchFamily="34" charset="-120"/>
                <a:ea typeface="微軟正黑體" panose="020B0604030504040204" pitchFamily="34" charset="-120"/>
              </a:rPr>
              <a:t>Over Etch%</a:t>
            </a:r>
            <a:endParaRPr lang="zh-TW" altLang="en-US" sz="1500" b="1" dirty="0">
              <a:solidFill>
                <a:schemeClr val="accent2"/>
              </a:solidFill>
              <a:latin typeface="微軟正黑體" panose="020B0604030504040204" pitchFamily="34" charset="-120"/>
              <a:ea typeface="微軟正黑體" panose="020B0604030504040204" pitchFamily="34" charset="-120"/>
            </a:endParaRPr>
          </a:p>
        </p:txBody>
      </p:sp>
      <p:sp>
        <p:nvSpPr>
          <p:cNvPr id="3" name="標題 2"/>
          <p:cNvSpPr>
            <a:spLocks noGrp="1"/>
          </p:cNvSpPr>
          <p:nvPr>
            <p:ph type="title"/>
          </p:nvPr>
        </p:nvSpPr>
        <p:spPr>
          <a:xfrm>
            <a:off x="70879" y="76281"/>
            <a:ext cx="3907009" cy="465518"/>
          </a:xfrm>
        </p:spPr>
        <p:txBody>
          <a:bodyPr vert="horz" lIns="91440" tIns="45720" rIns="91440" bIns="45720" rtlCol="0" anchor="t">
            <a:normAutofit fontScale="90000"/>
          </a:bodyPr>
          <a:lstStyle/>
          <a:p>
            <a:r>
              <a:rPr lang="zh-TW" altLang="en-US" sz="2800" b="1" dirty="0">
                <a:solidFill>
                  <a:srgbClr val="005087"/>
                </a:solidFill>
                <a:latin typeface="微軟正黑體" pitchFamily="34" charset="-120"/>
                <a:ea typeface="微軟正黑體" panose="020B0604030504040204" pitchFamily="34" charset="-120"/>
              </a:rPr>
              <a:t>節省效應</a:t>
            </a:r>
          </a:p>
        </p:txBody>
      </p:sp>
      <p:pic>
        <p:nvPicPr>
          <p:cNvPr id="15" name="Picture 2"/>
          <p:cNvPicPr>
            <a:picLocks noChangeAspect="1" noChangeArrowheads="1"/>
          </p:cNvPicPr>
          <p:nvPr/>
        </p:nvPicPr>
        <p:blipFill rotWithShape="1">
          <a:blip r:embed="rId3"/>
          <a:srcRect l="18229" t="78310" r="26771" b="8518"/>
          <a:stretch/>
        </p:blipFill>
        <p:spPr bwMode="auto">
          <a:xfrm>
            <a:off x="-28575" y="1606607"/>
            <a:ext cx="4550569" cy="613013"/>
          </a:xfrm>
          <a:prstGeom prst="rect">
            <a:avLst/>
          </a:prstGeom>
          <a:noFill/>
          <a:ln w="9525">
            <a:noFill/>
            <a:miter lim="800000"/>
            <a:headEnd/>
            <a:tailEnd/>
          </a:ln>
        </p:spPr>
      </p:pic>
      <p:sp>
        <p:nvSpPr>
          <p:cNvPr id="25" name="流程圖: 程序 24"/>
          <p:cNvSpPr/>
          <p:nvPr/>
        </p:nvSpPr>
        <p:spPr>
          <a:xfrm>
            <a:off x="417600" y="890618"/>
            <a:ext cx="3514725" cy="627468"/>
          </a:xfrm>
          <a:prstGeom prst="flowChartProcess">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500" b="1" dirty="0">
                <a:solidFill>
                  <a:srgbClr val="FF0000"/>
                </a:solidFill>
                <a:latin typeface="微軟正黑體" panose="020B0604030504040204" pitchFamily="34" charset="-120"/>
                <a:ea typeface="微軟正黑體" panose="020B0604030504040204" pitchFamily="34" charset="-120"/>
              </a:rPr>
              <a:t>比較 </a:t>
            </a:r>
            <a:r>
              <a:rPr lang="en-US" altLang="zh-TW" sz="1500" b="1" dirty="0">
                <a:solidFill>
                  <a:srgbClr val="FF0000"/>
                </a:solidFill>
                <a:latin typeface="微軟正黑體" panose="020B0604030504040204" pitchFamily="34" charset="-120"/>
                <a:ea typeface="微軟正黑體" panose="020B0604030504040204" pitchFamily="34" charset="-120"/>
              </a:rPr>
              <a:t>By Model WMA</a:t>
            </a:r>
            <a:r>
              <a:rPr lang="zh-TW" altLang="en-US" sz="1500" b="1" dirty="0">
                <a:solidFill>
                  <a:srgbClr val="FF0000"/>
                </a:solidFill>
                <a:latin typeface="微軟正黑體" panose="020B0604030504040204" pitchFamily="34" charset="-120"/>
                <a:ea typeface="微軟正黑體" panose="020B0604030504040204" pitchFamily="34" charset="-120"/>
              </a:rPr>
              <a:t> </a:t>
            </a:r>
            <a:r>
              <a:rPr lang="en-US" altLang="zh-TW" sz="1500" b="1" dirty="0">
                <a:solidFill>
                  <a:srgbClr val="FF0000"/>
                </a:solidFill>
                <a:latin typeface="微軟正黑體" panose="020B0604030504040204" pitchFamily="34" charset="-120"/>
                <a:ea typeface="微軟正黑體" panose="020B0604030504040204" pitchFamily="34" charset="-120"/>
              </a:rPr>
              <a:t>Over Etch</a:t>
            </a:r>
          </a:p>
          <a:p>
            <a:pPr algn="ctr"/>
            <a:r>
              <a:rPr lang="zh-TW" altLang="en-US" sz="1500" b="1" dirty="0">
                <a:solidFill>
                  <a:srgbClr val="FF0000"/>
                </a:solidFill>
                <a:latin typeface="微軟正黑體" panose="020B0604030504040204" pitchFamily="34" charset="-120"/>
                <a:ea typeface="微軟正黑體" panose="020B0604030504040204" pitchFamily="34" charset="-120"/>
              </a:rPr>
              <a:t>各</a:t>
            </a:r>
            <a:r>
              <a:rPr lang="en-US" altLang="zh-TW" sz="1500" b="1" dirty="0">
                <a:solidFill>
                  <a:srgbClr val="FF0000"/>
                </a:solidFill>
                <a:latin typeface="微軟正黑體" panose="020B0604030504040204" pitchFamily="34" charset="-120"/>
                <a:ea typeface="微軟正黑體" panose="020B0604030504040204" pitchFamily="34" charset="-120"/>
              </a:rPr>
              <a:t>DATA </a:t>
            </a:r>
            <a:r>
              <a:rPr lang="zh-TW" altLang="en-US" sz="1500" b="1" dirty="0">
                <a:solidFill>
                  <a:srgbClr val="FF0000"/>
                </a:solidFill>
                <a:latin typeface="微軟正黑體" panose="020B0604030504040204" pitchFamily="34" charset="-120"/>
                <a:ea typeface="微軟正黑體" panose="020B0604030504040204" pitchFamily="34" charset="-120"/>
              </a:rPr>
              <a:t>都用人工手動抓取</a:t>
            </a:r>
            <a:r>
              <a:rPr lang="en-US" altLang="zh-TW" sz="1500" b="1" dirty="0">
                <a:solidFill>
                  <a:srgbClr val="FF0000"/>
                </a:solidFill>
                <a:latin typeface="微軟正黑體" panose="020B0604030504040204" pitchFamily="34" charset="-120"/>
                <a:ea typeface="微軟正黑體" panose="020B0604030504040204" pitchFamily="34" charset="-120"/>
              </a:rPr>
              <a:t>+</a:t>
            </a:r>
            <a:r>
              <a:rPr lang="zh-TW" altLang="en-US" sz="1500" b="1" dirty="0">
                <a:solidFill>
                  <a:srgbClr val="FF0000"/>
                </a:solidFill>
                <a:latin typeface="微軟正黑體" panose="020B0604030504040204" pitchFamily="34" charset="-120"/>
                <a:ea typeface="微軟正黑體" panose="020B0604030504040204" pitchFamily="34" charset="-120"/>
              </a:rPr>
              <a:t>計算</a:t>
            </a:r>
          </a:p>
        </p:txBody>
      </p:sp>
      <p:cxnSp>
        <p:nvCxnSpPr>
          <p:cNvPr id="26" name="直線單箭頭接點 25"/>
          <p:cNvCxnSpPr/>
          <p:nvPr/>
        </p:nvCxnSpPr>
        <p:spPr>
          <a:xfrm>
            <a:off x="134885" y="2298893"/>
            <a:ext cx="617013" cy="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sp>
        <p:nvSpPr>
          <p:cNvPr id="27" name="流程圖: 程序 26"/>
          <p:cNvSpPr/>
          <p:nvPr/>
        </p:nvSpPr>
        <p:spPr>
          <a:xfrm>
            <a:off x="-28575" y="2384965"/>
            <a:ext cx="908764" cy="243222"/>
          </a:xfrm>
          <a:prstGeom prst="flowChartProcess">
            <a:avLst/>
          </a:prstGeom>
          <a:noFill/>
          <a:ln w="38100">
            <a:no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050" dirty="0">
                <a:latin typeface="微軟正黑體" panose="020B0604030504040204" pitchFamily="34" charset="-120"/>
                <a:ea typeface="微軟正黑體" panose="020B0604030504040204" pitchFamily="34" charset="-120"/>
              </a:rPr>
              <a:t>找</a:t>
            </a:r>
            <a:r>
              <a:rPr lang="en-US" altLang="zh-TW" sz="1050" dirty="0">
                <a:latin typeface="微軟正黑體" panose="020B0604030504040204" pitchFamily="34" charset="-120"/>
                <a:ea typeface="微軟正黑體" panose="020B0604030504040204" pitchFamily="34" charset="-120"/>
              </a:rPr>
              <a:t>DVT</a:t>
            </a:r>
            <a:r>
              <a:rPr lang="zh-TW" altLang="en-US" sz="1050" dirty="0">
                <a:latin typeface="微軟正黑體" panose="020B0604030504040204" pitchFamily="34" charset="-120"/>
                <a:ea typeface="微軟正黑體" panose="020B0604030504040204" pitchFamily="34" charset="-120"/>
              </a:rPr>
              <a:t>數據</a:t>
            </a:r>
            <a:endParaRPr lang="en-US" altLang="zh-TW" sz="1050" dirty="0">
              <a:latin typeface="微軟正黑體" panose="020B0604030504040204" pitchFamily="34" charset="-120"/>
              <a:ea typeface="微軟正黑體" panose="020B0604030504040204" pitchFamily="34" charset="-120"/>
            </a:endParaRPr>
          </a:p>
        </p:txBody>
      </p:sp>
      <p:sp>
        <p:nvSpPr>
          <p:cNvPr id="6" name="文字方塊 5"/>
          <p:cNvSpPr txBox="1"/>
          <p:nvPr/>
        </p:nvSpPr>
        <p:spPr>
          <a:xfrm>
            <a:off x="140174" y="2556581"/>
            <a:ext cx="505267" cy="253916"/>
          </a:xfrm>
          <a:prstGeom prst="rect">
            <a:avLst/>
          </a:prstGeom>
          <a:noFill/>
        </p:spPr>
        <p:txBody>
          <a:bodyPr wrap="none" rtlCol="0">
            <a:spAutoFit/>
          </a:bodyPr>
          <a:lstStyle/>
          <a:p>
            <a:r>
              <a:rPr lang="en-US" altLang="zh-TW" sz="1050" dirty="0">
                <a:solidFill>
                  <a:srgbClr val="FF0000"/>
                </a:solidFill>
                <a:latin typeface="微軟正黑體" panose="020B0604030504040204" pitchFamily="34" charset="-120"/>
                <a:ea typeface="微軟正黑體" panose="020B0604030504040204" pitchFamily="34" charset="-120"/>
              </a:rPr>
              <a:t>1min</a:t>
            </a:r>
            <a:endParaRPr lang="zh-TW" altLang="en-US" sz="1050" dirty="0">
              <a:solidFill>
                <a:srgbClr val="FF0000"/>
              </a:solidFill>
              <a:latin typeface="微軟正黑體" panose="020B0604030504040204" pitchFamily="34" charset="-120"/>
              <a:ea typeface="微軟正黑體" panose="020B0604030504040204" pitchFamily="34" charset="-120"/>
            </a:endParaRPr>
          </a:p>
        </p:txBody>
      </p:sp>
      <p:cxnSp>
        <p:nvCxnSpPr>
          <p:cNvPr id="28" name="直線單箭頭接點 27"/>
          <p:cNvCxnSpPr/>
          <p:nvPr/>
        </p:nvCxnSpPr>
        <p:spPr>
          <a:xfrm>
            <a:off x="940274" y="2320846"/>
            <a:ext cx="540000" cy="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sp>
        <p:nvSpPr>
          <p:cNvPr id="29" name="流程圖: 程序 28"/>
          <p:cNvSpPr/>
          <p:nvPr/>
        </p:nvSpPr>
        <p:spPr>
          <a:xfrm>
            <a:off x="757238" y="2376968"/>
            <a:ext cx="908764" cy="243222"/>
          </a:xfrm>
          <a:prstGeom prst="flowChartProcess">
            <a:avLst/>
          </a:prstGeom>
          <a:noFill/>
          <a:ln w="38100">
            <a:no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050" dirty="0">
                <a:latin typeface="微軟正黑體" panose="020B0604030504040204" pitchFamily="34" charset="-120"/>
                <a:ea typeface="微軟正黑體" panose="020B0604030504040204" pitchFamily="34" charset="-120"/>
              </a:rPr>
              <a:t>找</a:t>
            </a:r>
            <a:r>
              <a:rPr lang="en-US" altLang="zh-TW" sz="1050" dirty="0">
                <a:latin typeface="微軟正黑體" panose="020B0604030504040204" pitchFamily="34" charset="-120"/>
                <a:ea typeface="微軟正黑體" panose="020B0604030504040204" pitchFamily="34" charset="-120"/>
              </a:rPr>
              <a:t>ER</a:t>
            </a:r>
            <a:r>
              <a:rPr lang="zh-TW" altLang="en-US" sz="1050" dirty="0">
                <a:latin typeface="微軟正黑體" panose="020B0604030504040204" pitchFamily="34" charset="-120"/>
                <a:ea typeface="微軟正黑體" panose="020B0604030504040204" pitchFamily="34" charset="-120"/>
              </a:rPr>
              <a:t>數據</a:t>
            </a:r>
            <a:endParaRPr lang="en-US" altLang="zh-TW" sz="1050" dirty="0">
              <a:latin typeface="微軟正黑體" panose="020B0604030504040204" pitchFamily="34" charset="-120"/>
              <a:ea typeface="微軟正黑體" panose="020B0604030504040204" pitchFamily="34" charset="-120"/>
            </a:endParaRPr>
          </a:p>
        </p:txBody>
      </p:sp>
      <p:sp>
        <p:nvSpPr>
          <p:cNvPr id="30" name="文字方塊 29"/>
          <p:cNvSpPr txBox="1"/>
          <p:nvPr/>
        </p:nvSpPr>
        <p:spPr>
          <a:xfrm>
            <a:off x="925987" y="2527154"/>
            <a:ext cx="505267" cy="253916"/>
          </a:xfrm>
          <a:prstGeom prst="rect">
            <a:avLst/>
          </a:prstGeom>
          <a:noFill/>
        </p:spPr>
        <p:txBody>
          <a:bodyPr wrap="none" rtlCol="0">
            <a:spAutoFit/>
          </a:bodyPr>
          <a:lstStyle/>
          <a:p>
            <a:r>
              <a:rPr lang="en-US" altLang="zh-TW" sz="1050" dirty="0">
                <a:solidFill>
                  <a:srgbClr val="FF0000"/>
                </a:solidFill>
                <a:latin typeface="微軟正黑體" panose="020B0604030504040204" pitchFamily="34" charset="-120"/>
                <a:ea typeface="微軟正黑體" panose="020B0604030504040204" pitchFamily="34" charset="-120"/>
              </a:rPr>
              <a:t>1min</a:t>
            </a:r>
            <a:endParaRPr lang="zh-TW" altLang="en-US" sz="1050" dirty="0">
              <a:solidFill>
                <a:srgbClr val="FF0000"/>
              </a:solidFill>
              <a:latin typeface="微軟正黑體" panose="020B0604030504040204" pitchFamily="34" charset="-120"/>
              <a:ea typeface="微軟正黑體" panose="020B0604030504040204" pitchFamily="34" charset="-120"/>
            </a:endParaRPr>
          </a:p>
        </p:txBody>
      </p:sp>
      <p:cxnSp>
        <p:nvCxnSpPr>
          <p:cNvPr id="31" name="直線單箭頭接點 30"/>
          <p:cNvCxnSpPr/>
          <p:nvPr/>
        </p:nvCxnSpPr>
        <p:spPr>
          <a:xfrm>
            <a:off x="1576644" y="2320846"/>
            <a:ext cx="540000" cy="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sp>
        <p:nvSpPr>
          <p:cNvPr id="32" name="流程圖: 程序 31"/>
          <p:cNvSpPr/>
          <p:nvPr/>
        </p:nvSpPr>
        <p:spPr>
          <a:xfrm>
            <a:off x="1411744" y="2389696"/>
            <a:ext cx="908764" cy="243222"/>
          </a:xfrm>
          <a:prstGeom prst="flowChartProcess">
            <a:avLst/>
          </a:prstGeom>
          <a:noFill/>
          <a:ln w="38100">
            <a:no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050" dirty="0">
                <a:latin typeface="微軟正黑體" panose="020B0604030504040204" pitchFamily="34" charset="-120"/>
                <a:ea typeface="微軟正黑體" panose="020B0604030504040204" pitchFamily="34" charset="-120"/>
              </a:rPr>
              <a:t>撈</a:t>
            </a:r>
            <a:r>
              <a:rPr lang="en-US" altLang="zh-TW" sz="1050" dirty="0">
                <a:latin typeface="微軟正黑體" panose="020B0604030504040204" pitchFamily="34" charset="-120"/>
                <a:ea typeface="微軟正黑體" panose="020B0604030504040204" pitchFamily="34" charset="-120"/>
              </a:rPr>
              <a:t>ER</a:t>
            </a:r>
            <a:r>
              <a:rPr lang="zh-TW" altLang="en-US" sz="1050" dirty="0">
                <a:latin typeface="微軟正黑體" panose="020B0604030504040204" pitchFamily="34" charset="-120"/>
                <a:ea typeface="微軟正黑體" panose="020B0604030504040204" pitchFamily="34" charset="-120"/>
              </a:rPr>
              <a:t> </a:t>
            </a:r>
            <a:r>
              <a:rPr lang="en-US" altLang="zh-TW" sz="1050" dirty="0">
                <a:latin typeface="微軟正黑體" panose="020B0604030504040204" pitchFamily="34" charset="-120"/>
                <a:ea typeface="微軟正黑體" panose="020B0604030504040204" pitchFamily="34" charset="-120"/>
              </a:rPr>
              <a:t>KPC </a:t>
            </a:r>
          </a:p>
        </p:txBody>
      </p:sp>
      <p:sp>
        <p:nvSpPr>
          <p:cNvPr id="33" name="文字方塊 32"/>
          <p:cNvSpPr txBox="1"/>
          <p:nvPr/>
        </p:nvSpPr>
        <p:spPr>
          <a:xfrm>
            <a:off x="1580493" y="2561313"/>
            <a:ext cx="566181" cy="253916"/>
          </a:xfrm>
          <a:prstGeom prst="rect">
            <a:avLst/>
          </a:prstGeom>
          <a:noFill/>
        </p:spPr>
        <p:txBody>
          <a:bodyPr wrap="none" rtlCol="0">
            <a:spAutoFit/>
          </a:bodyPr>
          <a:lstStyle/>
          <a:p>
            <a:r>
              <a:rPr lang="en-US" altLang="zh-TW" sz="1050" dirty="0">
                <a:solidFill>
                  <a:srgbClr val="FF0000"/>
                </a:solidFill>
                <a:latin typeface="微軟正黑體" panose="020B0604030504040204" pitchFamily="34" charset="-120"/>
                <a:ea typeface="微軟正黑體" panose="020B0604030504040204" pitchFamily="34" charset="-120"/>
              </a:rPr>
              <a:t>5mins</a:t>
            </a:r>
            <a:endParaRPr lang="zh-TW" altLang="en-US" sz="1050" dirty="0">
              <a:solidFill>
                <a:srgbClr val="FF0000"/>
              </a:solidFill>
              <a:latin typeface="微軟正黑體" panose="020B0604030504040204" pitchFamily="34" charset="-120"/>
              <a:ea typeface="微軟正黑體" panose="020B0604030504040204" pitchFamily="34" charset="-120"/>
            </a:endParaRPr>
          </a:p>
        </p:txBody>
      </p:sp>
      <p:cxnSp>
        <p:nvCxnSpPr>
          <p:cNvPr id="34" name="直線單箭頭接點 33"/>
          <p:cNvCxnSpPr/>
          <p:nvPr/>
        </p:nvCxnSpPr>
        <p:spPr>
          <a:xfrm>
            <a:off x="2300986" y="2320846"/>
            <a:ext cx="540000" cy="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sp>
        <p:nvSpPr>
          <p:cNvPr id="35" name="流程圖: 程序 34"/>
          <p:cNvSpPr/>
          <p:nvPr/>
        </p:nvSpPr>
        <p:spPr>
          <a:xfrm>
            <a:off x="2133736" y="2408298"/>
            <a:ext cx="908764" cy="243222"/>
          </a:xfrm>
          <a:prstGeom prst="flowChartProcess">
            <a:avLst/>
          </a:prstGeom>
          <a:noFill/>
          <a:ln w="38100">
            <a:no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050" dirty="0">
                <a:latin typeface="微軟正黑體" panose="020B0604030504040204" pitchFamily="34" charset="-120"/>
                <a:ea typeface="微軟正黑體" panose="020B0604030504040204" pitchFamily="34" charset="-120"/>
              </a:rPr>
              <a:t>計算</a:t>
            </a:r>
            <a:r>
              <a:rPr lang="en-US" altLang="zh-TW" sz="1050" dirty="0">
                <a:latin typeface="微軟正黑體" panose="020B0604030504040204" pitchFamily="34" charset="-120"/>
                <a:ea typeface="微軟正黑體" panose="020B0604030504040204" pitchFamily="34" charset="-120"/>
              </a:rPr>
              <a:t>JE</a:t>
            </a:r>
            <a:r>
              <a:rPr lang="zh-TW" altLang="en-US" sz="1050" dirty="0">
                <a:latin typeface="微軟正黑體" panose="020B0604030504040204" pitchFamily="34" charset="-120"/>
                <a:ea typeface="微軟正黑體" panose="020B0604030504040204" pitchFamily="34" charset="-120"/>
              </a:rPr>
              <a:t> </a:t>
            </a:r>
            <a:r>
              <a:rPr lang="en-US" altLang="zh-TW" sz="1050" dirty="0">
                <a:latin typeface="微軟正黑體" panose="020B0604030504040204" pitchFamily="34" charset="-120"/>
                <a:ea typeface="微軟正黑體" panose="020B0604030504040204" pitchFamily="34" charset="-120"/>
              </a:rPr>
              <a:t>time </a:t>
            </a:r>
          </a:p>
        </p:txBody>
      </p:sp>
      <p:sp>
        <p:nvSpPr>
          <p:cNvPr id="36" name="文字方塊 35"/>
          <p:cNvSpPr txBox="1"/>
          <p:nvPr/>
        </p:nvSpPr>
        <p:spPr>
          <a:xfrm>
            <a:off x="2314730" y="2578413"/>
            <a:ext cx="505267" cy="253916"/>
          </a:xfrm>
          <a:prstGeom prst="rect">
            <a:avLst/>
          </a:prstGeom>
          <a:noFill/>
        </p:spPr>
        <p:txBody>
          <a:bodyPr wrap="none" rtlCol="0">
            <a:spAutoFit/>
          </a:bodyPr>
          <a:lstStyle/>
          <a:p>
            <a:r>
              <a:rPr lang="en-US" altLang="zh-TW" sz="1050" dirty="0">
                <a:solidFill>
                  <a:srgbClr val="FF0000"/>
                </a:solidFill>
                <a:latin typeface="微軟正黑體" panose="020B0604030504040204" pitchFamily="34" charset="-120"/>
                <a:ea typeface="微軟正黑體" panose="020B0604030504040204" pitchFamily="34" charset="-120"/>
              </a:rPr>
              <a:t>1min</a:t>
            </a:r>
            <a:endParaRPr lang="zh-TW" altLang="en-US" sz="1050" dirty="0">
              <a:solidFill>
                <a:srgbClr val="FF0000"/>
              </a:solidFill>
              <a:latin typeface="微軟正黑體" panose="020B0604030504040204" pitchFamily="34" charset="-120"/>
              <a:ea typeface="微軟正黑體" panose="020B0604030504040204" pitchFamily="34" charset="-120"/>
            </a:endParaRPr>
          </a:p>
        </p:txBody>
      </p:sp>
      <p:cxnSp>
        <p:nvCxnSpPr>
          <p:cNvPr id="37" name="直線單箭頭接點 36"/>
          <p:cNvCxnSpPr/>
          <p:nvPr/>
        </p:nvCxnSpPr>
        <p:spPr>
          <a:xfrm>
            <a:off x="3063806" y="2325477"/>
            <a:ext cx="540000" cy="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sp>
        <p:nvSpPr>
          <p:cNvPr id="38" name="流程圖: 程序 37"/>
          <p:cNvSpPr/>
          <p:nvPr/>
        </p:nvSpPr>
        <p:spPr>
          <a:xfrm>
            <a:off x="2855728" y="2482461"/>
            <a:ext cx="1010181" cy="243222"/>
          </a:xfrm>
          <a:prstGeom prst="flowChartProcess">
            <a:avLst/>
          </a:prstGeom>
          <a:noFill/>
          <a:ln w="38100">
            <a:no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050" dirty="0">
                <a:latin typeface="微軟正黑體" panose="020B0604030504040204" pitchFamily="34" charset="-120"/>
                <a:ea typeface="微軟正黑體" panose="020B0604030504040204" pitchFamily="34" charset="-120"/>
              </a:rPr>
              <a:t>撈 </a:t>
            </a:r>
            <a:r>
              <a:rPr lang="en-US" altLang="zh-TW" sz="1050" dirty="0">
                <a:latin typeface="微軟正黑體" panose="020B0604030504040204" pitchFamily="34" charset="-120"/>
                <a:ea typeface="微軟正黑體" panose="020B0604030504040204" pitchFamily="34" charset="-120"/>
              </a:rPr>
              <a:t>Model KPC </a:t>
            </a:r>
          </a:p>
        </p:txBody>
      </p:sp>
      <p:sp>
        <p:nvSpPr>
          <p:cNvPr id="39" name="文字方塊 38"/>
          <p:cNvSpPr txBox="1"/>
          <p:nvPr/>
        </p:nvSpPr>
        <p:spPr>
          <a:xfrm>
            <a:off x="3037625" y="2711283"/>
            <a:ext cx="566181" cy="253916"/>
          </a:xfrm>
          <a:prstGeom prst="rect">
            <a:avLst/>
          </a:prstGeom>
          <a:noFill/>
        </p:spPr>
        <p:txBody>
          <a:bodyPr wrap="none" rtlCol="0">
            <a:spAutoFit/>
          </a:bodyPr>
          <a:lstStyle/>
          <a:p>
            <a:r>
              <a:rPr lang="en-US" altLang="zh-TW" sz="1050" dirty="0">
                <a:solidFill>
                  <a:srgbClr val="FF0000"/>
                </a:solidFill>
                <a:latin typeface="微軟正黑體" panose="020B0604030504040204" pitchFamily="34" charset="-120"/>
                <a:ea typeface="微軟正黑體" panose="020B0604030504040204" pitchFamily="34" charset="-120"/>
              </a:rPr>
              <a:t>5mins</a:t>
            </a:r>
            <a:endParaRPr lang="zh-TW" altLang="en-US" sz="1050" dirty="0">
              <a:solidFill>
                <a:srgbClr val="FF0000"/>
              </a:solidFill>
              <a:latin typeface="微軟正黑體" panose="020B0604030504040204" pitchFamily="34" charset="-120"/>
              <a:ea typeface="微軟正黑體" panose="020B0604030504040204" pitchFamily="34" charset="-120"/>
            </a:endParaRPr>
          </a:p>
        </p:txBody>
      </p:sp>
      <p:cxnSp>
        <p:nvCxnSpPr>
          <p:cNvPr id="40" name="直線單箭頭接點 39"/>
          <p:cNvCxnSpPr/>
          <p:nvPr/>
        </p:nvCxnSpPr>
        <p:spPr>
          <a:xfrm>
            <a:off x="3874466" y="2363876"/>
            <a:ext cx="540000" cy="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sp>
        <p:nvSpPr>
          <p:cNvPr id="41" name="流程圖: 程序 40"/>
          <p:cNvSpPr/>
          <p:nvPr/>
        </p:nvSpPr>
        <p:spPr>
          <a:xfrm>
            <a:off x="3641734" y="2489630"/>
            <a:ext cx="1010181" cy="243222"/>
          </a:xfrm>
          <a:prstGeom prst="flowChartProcess">
            <a:avLst/>
          </a:prstGeom>
          <a:noFill/>
          <a:ln w="38100">
            <a:noFill/>
          </a:ln>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050" dirty="0">
                <a:latin typeface="微軟正黑體" panose="020B0604030504040204" pitchFamily="34" charset="-120"/>
                <a:ea typeface="微軟正黑體" panose="020B0604030504040204" pitchFamily="34" charset="-120"/>
              </a:rPr>
              <a:t>人工手算</a:t>
            </a:r>
            <a:endParaRPr lang="en-US" altLang="zh-TW" sz="1050" dirty="0">
              <a:latin typeface="微軟正黑體" panose="020B0604030504040204" pitchFamily="34" charset="-120"/>
              <a:ea typeface="微軟正黑體" panose="020B0604030504040204" pitchFamily="34" charset="-120"/>
            </a:endParaRPr>
          </a:p>
        </p:txBody>
      </p:sp>
      <p:sp>
        <p:nvSpPr>
          <p:cNvPr id="42" name="文字方塊 41"/>
          <p:cNvSpPr txBox="1"/>
          <p:nvPr/>
        </p:nvSpPr>
        <p:spPr>
          <a:xfrm>
            <a:off x="3853394" y="2643330"/>
            <a:ext cx="566181" cy="253916"/>
          </a:xfrm>
          <a:prstGeom prst="rect">
            <a:avLst/>
          </a:prstGeom>
          <a:noFill/>
        </p:spPr>
        <p:txBody>
          <a:bodyPr wrap="none" rtlCol="0">
            <a:spAutoFit/>
          </a:bodyPr>
          <a:lstStyle/>
          <a:p>
            <a:r>
              <a:rPr lang="en-US" altLang="zh-TW" sz="1050" dirty="0">
                <a:solidFill>
                  <a:srgbClr val="FF0000"/>
                </a:solidFill>
                <a:latin typeface="微軟正黑體" panose="020B0604030504040204" pitchFamily="34" charset="-120"/>
                <a:ea typeface="微軟正黑體" panose="020B0604030504040204" pitchFamily="34" charset="-120"/>
              </a:rPr>
              <a:t>3mins</a:t>
            </a:r>
            <a:endParaRPr lang="zh-TW" altLang="en-US" sz="1050" dirty="0">
              <a:solidFill>
                <a:srgbClr val="FF0000"/>
              </a:solidFill>
              <a:latin typeface="微軟正黑體" panose="020B0604030504040204" pitchFamily="34" charset="-120"/>
              <a:ea typeface="微軟正黑體" panose="020B0604030504040204" pitchFamily="34" charset="-120"/>
            </a:endParaRPr>
          </a:p>
        </p:txBody>
      </p:sp>
      <p:sp>
        <p:nvSpPr>
          <p:cNvPr id="45" name="流程圖: 程序 44"/>
          <p:cNvSpPr/>
          <p:nvPr/>
        </p:nvSpPr>
        <p:spPr>
          <a:xfrm>
            <a:off x="254188" y="3116983"/>
            <a:ext cx="3701126" cy="284657"/>
          </a:xfrm>
          <a:prstGeom prst="flowChartProcess">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500" b="1" dirty="0">
                <a:solidFill>
                  <a:srgbClr val="FF0000"/>
                </a:solidFill>
                <a:latin typeface="微軟正黑體" panose="020B0604030504040204" pitchFamily="34" charset="-120"/>
                <a:ea typeface="微軟正黑體" panose="020B0604030504040204" pitchFamily="34" charset="-120"/>
              </a:rPr>
              <a:t>熟手算 </a:t>
            </a:r>
            <a:r>
              <a:rPr lang="en-US" altLang="zh-TW" sz="1500" b="1" dirty="0">
                <a:solidFill>
                  <a:srgbClr val="FF0000"/>
                </a:solidFill>
                <a:latin typeface="微軟正黑體" panose="020B0604030504040204" pitchFamily="34" charset="-120"/>
                <a:ea typeface="微軟正黑體" panose="020B0604030504040204" pitchFamily="34" charset="-120"/>
              </a:rPr>
              <a:t>OE</a:t>
            </a:r>
            <a:r>
              <a:rPr lang="zh-TW" altLang="en-US" sz="1500" b="1" dirty="0">
                <a:solidFill>
                  <a:srgbClr val="FF0000"/>
                </a:solidFill>
                <a:latin typeface="微軟正黑體" panose="020B0604030504040204" pitchFamily="34" charset="-120"/>
                <a:ea typeface="微軟正黑體" panose="020B0604030504040204" pitchFamily="34" charset="-120"/>
              </a:rPr>
              <a:t> </a:t>
            </a:r>
            <a:r>
              <a:rPr lang="en-US" altLang="zh-TW" sz="1500" b="1" dirty="0">
                <a:solidFill>
                  <a:srgbClr val="FF0000"/>
                </a:solidFill>
                <a:latin typeface="微軟正黑體" panose="020B0604030504040204" pitchFamily="34" charset="-120"/>
                <a:ea typeface="微軟正黑體" panose="020B0604030504040204" pitchFamily="34" charset="-120"/>
              </a:rPr>
              <a:t>By Model --&gt; </a:t>
            </a:r>
            <a:r>
              <a:rPr lang="zh-TW" altLang="en-US" sz="1500" b="1" dirty="0">
                <a:solidFill>
                  <a:srgbClr val="FF0000"/>
                </a:solidFill>
                <a:latin typeface="微軟正黑體" panose="020B0604030504040204" pitchFamily="34" charset="-120"/>
                <a:ea typeface="微軟正黑體" panose="020B0604030504040204" pitchFamily="34" charset="-120"/>
              </a:rPr>
              <a:t>一筆花</a:t>
            </a:r>
            <a:r>
              <a:rPr lang="en-US" altLang="zh-TW" sz="1500" b="1" dirty="0">
                <a:solidFill>
                  <a:srgbClr val="FF0000"/>
                </a:solidFill>
                <a:latin typeface="微軟正黑體" panose="020B0604030504040204" pitchFamily="34" charset="-120"/>
                <a:ea typeface="微軟正黑體" panose="020B0604030504040204" pitchFamily="34" charset="-120"/>
              </a:rPr>
              <a:t>15mins</a:t>
            </a:r>
            <a:endParaRPr lang="zh-TW" altLang="en-US" sz="1500" b="1" dirty="0">
              <a:solidFill>
                <a:srgbClr val="FF0000"/>
              </a:solidFill>
              <a:latin typeface="微軟正黑體" panose="020B0604030504040204" pitchFamily="34" charset="-120"/>
              <a:ea typeface="微軟正黑體" panose="020B0604030504040204" pitchFamily="34" charset="-120"/>
            </a:endParaRPr>
          </a:p>
        </p:txBody>
      </p:sp>
      <p:sp>
        <p:nvSpPr>
          <p:cNvPr id="44" name="左中括弧 43"/>
          <p:cNvSpPr/>
          <p:nvPr/>
        </p:nvSpPr>
        <p:spPr>
          <a:xfrm rot="16200000">
            <a:off x="2202062" y="629936"/>
            <a:ext cx="196362" cy="4575694"/>
          </a:xfrm>
          <a:prstGeom prst="leftBracket">
            <a:avLst/>
          </a:prstGeom>
          <a:ln w="28575">
            <a:solidFill>
              <a:srgbClr val="3B383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50">
              <a:latin typeface="微軟正黑體" panose="020B0604030504040204" pitchFamily="34" charset="-120"/>
              <a:ea typeface="微軟正黑體" panose="020B0604030504040204" pitchFamily="34" charset="-120"/>
            </a:endParaRPr>
          </a:p>
        </p:txBody>
      </p:sp>
      <p:sp>
        <p:nvSpPr>
          <p:cNvPr id="48" name="流程圖: 程序 47"/>
          <p:cNvSpPr/>
          <p:nvPr/>
        </p:nvSpPr>
        <p:spPr>
          <a:xfrm>
            <a:off x="751898" y="3514477"/>
            <a:ext cx="2726292" cy="1370531"/>
          </a:xfrm>
          <a:prstGeom prst="flowChartProcess">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500" b="1" dirty="0">
                <a:solidFill>
                  <a:srgbClr val="0000CC"/>
                </a:solidFill>
                <a:latin typeface="微軟正黑體" panose="020B0604030504040204" pitchFamily="34" charset="-120"/>
                <a:ea typeface="微軟正黑體" panose="020B0604030504040204" pitchFamily="34" charset="-120"/>
              </a:rPr>
              <a:t>缺點</a:t>
            </a:r>
            <a:r>
              <a:rPr lang="en-US" altLang="zh-TW" sz="1500" b="1" dirty="0">
                <a:solidFill>
                  <a:srgbClr val="0000CC"/>
                </a:solidFill>
                <a:latin typeface="微軟正黑體" panose="020B0604030504040204" pitchFamily="34" charset="-120"/>
                <a:ea typeface="微軟正黑體" panose="020B0604030504040204" pitchFamily="34" charset="-120"/>
              </a:rPr>
              <a:t>:</a:t>
            </a:r>
            <a:r>
              <a:rPr lang="zh-TW" altLang="en-US" sz="1500" b="1" dirty="0">
                <a:solidFill>
                  <a:srgbClr val="0000CC"/>
                </a:solidFill>
                <a:latin typeface="微軟正黑體" panose="020B0604030504040204" pitchFamily="34" charset="-120"/>
                <a:ea typeface="微軟正黑體" panose="020B0604030504040204" pitchFamily="34" charset="-120"/>
              </a:rPr>
              <a:t> 僅計算單點</a:t>
            </a:r>
            <a:r>
              <a:rPr lang="en-US" altLang="zh-TW" sz="1500" b="1" dirty="0">
                <a:solidFill>
                  <a:srgbClr val="0000CC"/>
                </a:solidFill>
                <a:latin typeface="微軟正黑體" panose="020B0604030504040204" pitchFamily="34" charset="-120"/>
                <a:ea typeface="微軟正黑體" panose="020B0604030504040204" pitchFamily="34" charset="-120"/>
              </a:rPr>
              <a:t>(</a:t>
            </a:r>
            <a:r>
              <a:rPr lang="zh-TW" altLang="en-US" sz="1500" b="1" dirty="0">
                <a:solidFill>
                  <a:srgbClr val="0000CC"/>
                </a:solidFill>
                <a:latin typeface="微軟正黑體" panose="020B0604030504040204" pitchFamily="34" charset="-120"/>
                <a:ea typeface="微軟正黑體" panose="020B0604030504040204" pitchFamily="34" charset="-120"/>
              </a:rPr>
              <a:t>一天</a:t>
            </a:r>
            <a:r>
              <a:rPr lang="en-US" altLang="zh-TW" sz="1500" b="1" dirty="0">
                <a:solidFill>
                  <a:srgbClr val="0000CC"/>
                </a:solidFill>
                <a:latin typeface="微軟正黑體" panose="020B0604030504040204" pitchFamily="34" charset="-120"/>
                <a:ea typeface="微軟正黑體" panose="020B0604030504040204" pitchFamily="34" charset="-120"/>
              </a:rPr>
              <a:t>)</a:t>
            </a:r>
          </a:p>
          <a:p>
            <a:pPr algn="ctr"/>
            <a:r>
              <a:rPr lang="zh-TW" altLang="en-US" sz="1500" b="1" dirty="0">
                <a:solidFill>
                  <a:srgbClr val="0000CC"/>
                </a:solidFill>
                <a:latin typeface="微軟正黑體" panose="020B0604030504040204" pitchFamily="34" charset="-120"/>
                <a:ea typeface="微軟正黑體" panose="020B0604030504040204" pitchFamily="34" charset="-120"/>
              </a:rPr>
              <a:t>無法看趨勢</a:t>
            </a:r>
            <a:endParaRPr lang="en-US" altLang="zh-TW" sz="1500" b="1" dirty="0">
              <a:solidFill>
                <a:srgbClr val="0000CC"/>
              </a:solidFill>
              <a:latin typeface="微軟正黑體" panose="020B0604030504040204" pitchFamily="34" charset="-120"/>
              <a:ea typeface="微軟正黑體" panose="020B0604030504040204" pitchFamily="34" charset="-120"/>
            </a:endParaRPr>
          </a:p>
          <a:p>
            <a:pPr algn="ctr"/>
            <a:r>
              <a:rPr lang="zh-TW" altLang="en-US" sz="1500" b="1" dirty="0">
                <a:solidFill>
                  <a:srgbClr val="0000CC"/>
                </a:solidFill>
                <a:latin typeface="微軟正黑體" panose="020B0604030504040204" pitchFamily="34" charset="-120"/>
                <a:ea typeface="微軟正黑體" panose="020B0604030504040204" pitchFamily="34" charset="-120"/>
              </a:rPr>
              <a:t>無法看機差</a:t>
            </a:r>
            <a:endParaRPr lang="en-US" altLang="zh-TW" sz="1500" b="1" dirty="0">
              <a:solidFill>
                <a:srgbClr val="0000CC"/>
              </a:solidFill>
              <a:latin typeface="微軟正黑體" panose="020B0604030504040204" pitchFamily="34" charset="-120"/>
              <a:ea typeface="微軟正黑體" panose="020B0604030504040204" pitchFamily="34" charset="-120"/>
            </a:endParaRPr>
          </a:p>
          <a:p>
            <a:pPr algn="ctr"/>
            <a:r>
              <a:rPr lang="zh-TW" altLang="en-US" sz="1500" b="1" dirty="0">
                <a:solidFill>
                  <a:srgbClr val="0000CC"/>
                </a:solidFill>
                <a:latin typeface="微軟正黑體" panose="020B0604030504040204" pitchFamily="34" charset="-120"/>
                <a:ea typeface="微軟正黑體" panose="020B0604030504040204" pitchFamily="34" charset="-120"/>
              </a:rPr>
              <a:t>無法定</a:t>
            </a:r>
            <a:r>
              <a:rPr lang="en-US" altLang="zh-TW" sz="1500" b="1" dirty="0">
                <a:solidFill>
                  <a:srgbClr val="0000CC"/>
                </a:solidFill>
                <a:latin typeface="微軟正黑體" panose="020B0604030504040204" pitchFamily="34" charset="-120"/>
                <a:ea typeface="微軟正黑體" panose="020B0604030504040204" pitchFamily="34" charset="-120"/>
              </a:rPr>
              <a:t>window</a:t>
            </a:r>
          </a:p>
          <a:p>
            <a:pPr algn="ctr"/>
            <a:r>
              <a:rPr lang="zh-TW" altLang="en-US" sz="1500" b="1" dirty="0">
                <a:solidFill>
                  <a:srgbClr val="0000CC"/>
                </a:solidFill>
                <a:latin typeface="微軟正黑體" panose="020B0604030504040204" pitchFamily="34" charset="-120"/>
                <a:ea typeface="微軟正黑體" panose="020B0604030504040204" pitchFamily="34" charset="-120"/>
              </a:rPr>
              <a:t>非常容易算錯</a:t>
            </a:r>
            <a:r>
              <a:rPr lang="en-US" altLang="zh-TW" sz="1500" b="1" dirty="0">
                <a:solidFill>
                  <a:srgbClr val="0000CC"/>
                </a:solidFill>
                <a:latin typeface="微軟正黑體" panose="020B0604030504040204" pitchFamily="34" charset="-120"/>
                <a:ea typeface="微軟正黑體" panose="020B0604030504040204" pitchFamily="34" charset="-120"/>
              </a:rPr>
              <a:t>!</a:t>
            </a:r>
          </a:p>
        </p:txBody>
      </p:sp>
      <p:pic>
        <p:nvPicPr>
          <p:cNvPr id="46" name="圖片 45"/>
          <p:cNvPicPr>
            <a:picLocks noChangeAspect="1"/>
          </p:cNvPicPr>
          <p:nvPr/>
        </p:nvPicPr>
        <p:blipFill>
          <a:blip r:embed="rId4"/>
          <a:stretch>
            <a:fillRect/>
          </a:stretch>
        </p:blipFill>
        <p:spPr>
          <a:xfrm>
            <a:off x="5146470" y="791758"/>
            <a:ext cx="3984828" cy="2027843"/>
          </a:xfrm>
          <a:prstGeom prst="rect">
            <a:avLst/>
          </a:prstGeom>
        </p:spPr>
      </p:pic>
      <p:sp>
        <p:nvSpPr>
          <p:cNvPr id="47" name="向右箭號 46"/>
          <p:cNvSpPr/>
          <p:nvPr/>
        </p:nvSpPr>
        <p:spPr>
          <a:xfrm>
            <a:off x="4537560" y="2200573"/>
            <a:ext cx="530721" cy="490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微軟正黑體" panose="020B0604030504040204" pitchFamily="34" charset="-120"/>
              <a:ea typeface="微軟正黑體" panose="020B0604030504040204" pitchFamily="34" charset="-120"/>
            </a:endParaRPr>
          </a:p>
        </p:txBody>
      </p:sp>
      <p:sp>
        <p:nvSpPr>
          <p:cNvPr id="51" name="流程圖: 程序 50"/>
          <p:cNvSpPr/>
          <p:nvPr/>
        </p:nvSpPr>
        <p:spPr>
          <a:xfrm>
            <a:off x="5943599" y="3514477"/>
            <a:ext cx="2726292" cy="1370531"/>
          </a:xfrm>
          <a:prstGeom prst="flowChartProcess">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500" b="1" dirty="0">
                <a:solidFill>
                  <a:srgbClr val="0000CC"/>
                </a:solidFill>
                <a:latin typeface="微軟正黑體" panose="020B0604030504040204" pitchFamily="34" charset="-120"/>
                <a:ea typeface="微軟正黑體" panose="020B0604030504040204" pitchFamily="34" charset="-120"/>
              </a:rPr>
              <a:t>優點</a:t>
            </a:r>
            <a:r>
              <a:rPr lang="en-US" altLang="zh-TW" sz="1500" b="1" dirty="0">
                <a:solidFill>
                  <a:srgbClr val="0000CC"/>
                </a:solidFill>
                <a:latin typeface="微軟正黑體" panose="020B0604030504040204" pitchFamily="34" charset="-120"/>
                <a:ea typeface="微軟正黑體" panose="020B0604030504040204" pitchFamily="34" charset="-120"/>
              </a:rPr>
              <a:t>:</a:t>
            </a:r>
            <a:r>
              <a:rPr lang="zh-TW" altLang="en-US" sz="1500" b="1" dirty="0">
                <a:solidFill>
                  <a:srgbClr val="0000CC"/>
                </a:solidFill>
                <a:latin typeface="微軟正黑體" panose="020B0604030504040204" pitchFamily="34" charset="-120"/>
                <a:ea typeface="微軟正黑體" panose="020B0604030504040204" pitchFamily="34" charset="-120"/>
              </a:rPr>
              <a:t> 連續計算</a:t>
            </a:r>
            <a:endParaRPr lang="en-US" altLang="zh-TW" sz="1500" b="1" dirty="0">
              <a:solidFill>
                <a:srgbClr val="0000CC"/>
              </a:solidFill>
              <a:latin typeface="微軟正黑體" panose="020B0604030504040204" pitchFamily="34" charset="-120"/>
              <a:ea typeface="微軟正黑體" panose="020B0604030504040204" pitchFamily="34" charset="-120"/>
            </a:endParaRPr>
          </a:p>
          <a:p>
            <a:pPr algn="ctr"/>
            <a:r>
              <a:rPr lang="zh-TW" altLang="en-US" sz="1500" b="1" dirty="0">
                <a:solidFill>
                  <a:srgbClr val="0000CC"/>
                </a:solidFill>
                <a:latin typeface="微軟正黑體" panose="020B0604030504040204" pitchFamily="34" charset="-120"/>
                <a:ea typeface="微軟正黑體" panose="020B0604030504040204" pitchFamily="34" charset="-120"/>
              </a:rPr>
              <a:t>一眼看趨勢</a:t>
            </a:r>
            <a:endParaRPr lang="en-US" altLang="zh-TW" sz="1500" b="1" dirty="0">
              <a:solidFill>
                <a:srgbClr val="0000CC"/>
              </a:solidFill>
              <a:latin typeface="微軟正黑體" panose="020B0604030504040204" pitchFamily="34" charset="-120"/>
              <a:ea typeface="微軟正黑體" panose="020B0604030504040204" pitchFamily="34" charset="-120"/>
            </a:endParaRPr>
          </a:p>
          <a:p>
            <a:pPr algn="ctr"/>
            <a:r>
              <a:rPr lang="zh-TW" altLang="en-US" sz="1500" b="1" dirty="0">
                <a:solidFill>
                  <a:srgbClr val="0000CC"/>
                </a:solidFill>
                <a:latin typeface="微軟正黑體" panose="020B0604030504040204" pitchFamily="34" charset="-120"/>
                <a:ea typeface="微軟正黑體" panose="020B0604030504040204" pitchFamily="34" charset="-120"/>
              </a:rPr>
              <a:t>一秒比機差</a:t>
            </a:r>
            <a:endParaRPr lang="en-US" altLang="zh-TW" sz="1500" b="1" dirty="0">
              <a:solidFill>
                <a:srgbClr val="0000CC"/>
              </a:solidFill>
              <a:latin typeface="微軟正黑體" panose="020B0604030504040204" pitchFamily="34" charset="-120"/>
              <a:ea typeface="微軟正黑體" panose="020B0604030504040204" pitchFamily="34" charset="-120"/>
            </a:endParaRPr>
          </a:p>
          <a:p>
            <a:pPr algn="ctr"/>
            <a:r>
              <a:rPr lang="en-US" altLang="zh-TW" sz="1500" b="1" dirty="0">
                <a:solidFill>
                  <a:srgbClr val="0000CC"/>
                </a:solidFill>
                <a:latin typeface="微軟正黑體" panose="020B0604030504040204" pitchFamily="34" charset="-120"/>
                <a:ea typeface="微軟正黑體" panose="020B0604030504040204" pitchFamily="34" charset="-120"/>
              </a:rPr>
              <a:t>BY</a:t>
            </a:r>
            <a:r>
              <a:rPr lang="zh-TW" altLang="en-US" sz="1500" b="1" dirty="0">
                <a:solidFill>
                  <a:srgbClr val="0000CC"/>
                </a:solidFill>
                <a:latin typeface="微軟正黑體" panose="020B0604030504040204" pitchFamily="34" charset="-120"/>
                <a:ea typeface="微軟正黑體" panose="020B0604030504040204" pitchFamily="34" charset="-120"/>
              </a:rPr>
              <a:t>產品看差異</a:t>
            </a:r>
            <a:endParaRPr lang="en-US" altLang="zh-TW" sz="1500" b="1" dirty="0">
              <a:solidFill>
                <a:srgbClr val="0000CC"/>
              </a:solidFill>
              <a:latin typeface="微軟正黑體" panose="020B0604030504040204" pitchFamily="34" charset="-120"/>
              <a:ea typeface="微軟正黑體" panose="020B0604030504040204" pitchFamily="34" charset="-120"/>
            </a:endParaRPr>
          </a:p>
          <a:p>
            <a:pPr algn="ctr"/>
            <a:r>
              <a:rPr lang="zh-TW" altLang="en-US" sz="1500" b="1" dirty="0">
                <a:solidFill>
                  <a:srgbClr val="0000CC"/>
                </a:solidFill>
                <a:latin typeface="微軟正黑體" panose="020B0604030504040204" pitchFamily="34" charset="-120"/>
                <a:ea typeface="微軟正黑體" panose="020B0604030504040204" pitchFamily="34" charset="-120"/>
              </a:rPr>
              <a:t>直接定</a:t>
            </a:r>
            <a:r>
              <a:rPr lang="en-US" altLang="zh-TW" sz="1500" b="1" dirty="0">
                <a:solidFill>
                  <a:srgbClr val="0000CC"/>
                </a:solidFill>
                <a:latin typeface="微軟正黑體" panose="020B0604030504040204" pitchFamily="34" charset="-120"/>
                <a:ea typeface="微軟正黑體" panose="020B0604030504040204" pitchFamily="34" charset="-120"/>
              </a:rPr>
              <a:t>window</a:t>
            </a:r>
          </a:p>
          <a:p>
            <a:pPr algn="ctr"/>
            <a:r>
              <a:rPr lang="zh-TW" altLang="en-US" sz="1500" b="1" dirty="0">
                <a:solidFill>
                  <a:srgbClr val="0000CC"/>
                </a:solidFill>
                <a:latin typeface="微軟正黑體" panose="020B0604030504040204" pitchFamily="34" charset="-120"/>
                <a:ea typeface="微軟正黑體" panose="020B0604030504040204" pitchFamily="34" charset="-120"/>
              </a:rPr>
              <a:t>程式可抓錯</a:t>
            </a:r>
            <a:endParaRPr lang="en-US" altLang="zh-TW" sz="1500" b="1" dirty="0">
              <a:solidFill>
                <a:srgbClr val="0000CC"/>
              </a:solidFill>
              <a:latin typeface="微軟正黑體" panose="020B0604030504040204" pitchFamily="34" charset="-120"/>
              <a:ea typeface="微軟正黑體" panose="020B0604030504040204" pitchFamily="34" charset="-120"/>
            </a:endParaRPr>
          </a:p>
        </p:txBody>
      </p:sp>
      <p:sp>
        <p:nvSpPr>
          <p:cNvPr id="52" name="流程圖: 程序 51"/>
          <p:cNvSpPr/>
          <p:nvPr/>
        </p:nvSpPr>
        <p:spPr>
          <a:xfrm>
            <a:off x="5014911" y="3095373"/>
            <a:ext cx="3979069" cy="306267"/>
          </a:xfrm>
          <a:prstGeom prst="flowChartProcess">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500" b="1" dirty="0">
                <a:solidFill>
                  <a:srgbClr val="FF0000"/>
                </a:solidFill>
                <a:latin typeface="微軟正黑體" panose="020B0604030504040204" pitchFamily="34" charset="-120"/>
                <a:ea typeface="微軟正黑體" panose="020B0604030504040204" pitchFamily="34" charset="-120"/>
              </a:rPr>
              <a:t>手按網頁數百筆</a:t>
            </a:r>
            <a:r>
              <a:rPr lang="en-US" altLang="zh-TW" sz="1500" b="1" dirty="0">
                <a:solidFill>
                  <a:srgbClr val="FF0000"/>
                </a:solidFill>
                <a:latin typeface="微軟正黑體" panose="020B0604030504040204" pitchFamily="34" charset="-120"/>
                <a:ea typeface="微軟正黑體" panose="020B0604030504040204" pitchFamily="34" charset="-120"/>
              </a:rPr>
              <a:t>OE%</a:t>
            </a:r>
            <a:r>
              <a:rPr lang="zh-TW" altLang="en-US" sz="1500" b="1" dirty="0">
                <a:solidFill>
                  <a:srgbClr val="FF0000"/>
                </a:solidFill>
                <a:latin typeface="微軟正黑體" panose="020B0604030504040204" pitchFamily="34" charset="-120"/>
                <a:ea typeface="微軟正黑體" panose="020B0604030504040204" pitchFamily="34" charset="-120"/>
              </a:rPr>
              <a:t>就出現</a:t>
            </a:r>
            <a:r>
              <a:rPr lang="en-US" altLang="zh-TW" sz="1500" b="1" dirty="0">
                <a:solidFill>
                  <a:srgbClr val="FF0000"/>
                </a:solidFill>
                <a:latin typeface="微軟正黑體" panose="020B0604030504040204" pitchFamily="34" charset="-120"/>
                <a:ea typeface="微軟正黑體" panose="020B0604030504040204" pitchFamily="34" charset="-120"/>
              </a:rPr>
              <a:t>-&gt;</a:t>
            </a:r>
            <a:r>
              <a:rPr lang="zh-TW" altLang="en-US" sz="1500" b="1" dirty="0">
                <a:solidFill>
                  <a:srgbClr val="FF0000"/>
                </a:solidFill>
                <a:latin typeface="微軟正黑體" panose="020B0604030504040204" pitchFamily="34" charset="-120"/>
                <a:ea typeface="微軟正黑體" panose="020B0604030504040204" pitchFamily="34" charset="-120"/>
              </a:rPr>
              <a:t>只要</a:t>
            </a:r>
            <a:r>
              <a:rPr lang="en-US" altLang="zh-TW" sz="1500" b="1" dirty="0">
                <a:solidFill>
                  <a:srgbClr val="FF0000"/>
                </a:solidFill>
                <a:latin typeface="微軟正黑體" panose="020B0604030504040204" pitchFamily="34" charset="-120"/>
                <a:ea typeface="微軟正黑體" panose="020B0604030504040204" pitchFamily="34" charset="-120"/>
              </a:rPr>
              <a:t>3</a:t>
            </a:r>
            <a:r>
              <a:rPr lang="zh-TW" altLang="en-US" sz="1500" b="1" dirty="0">
                <a:solidFill>
                  <a:srgbClr val="FF0000"/>
                </a:solidFill>
                <a:latin typeface="微軟正黑體" panose="020B0604030504040204" pitchFamily="34" charset="-120"/>
                <a:ea typeface="微軟正黑體" panose="020B0604030504040204" pitchFamily="34" charset="-120"/>
              </a:rPr>
              <a:t>秒</a:t>
            </a:r>
          </a:p>
        </p:txBody>
      </p:sp>
      <p:sp>
        <p:nvSpPr>
          <p:cNvPr id="53" name="爆炸 2 52"/>
          <p:cNvSpPr/>
          <p:nvPr/>
        </p:nvSpPr>
        <p:spPr>
          <a:xfrm>
            <a:off x="2983002" y="3008214"/>
            <a:ext cx="3197394" cy="2097275"/>
          </a:xfrm>
          <a:prstGeom prst="irregularSeal2">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微軟正黑體" panose="020B0604030504040204" pitchFamily="34" charset="-120"/>
              <a:ea typeface="微軟正黑體" panose="020B0604030504040204" pitchFamily="34" charset="-120"/>
            </a:endParaRPr>
          </a:p>
        </p:txBody>
      </p:sp>
      <p:sp>
        <p:nvSpPr>
          <p:cNvPr id="54" name="文字方塊 53"/>
          <p:cNvSpPr txBox="1"/>
          <p:nvPr/>
        </p:nvSpPr>
        <p:spPr>
          <a:xfrm>
            <a:off x="3605648" y="3772186"/>
            <a:ext cx="1527982" cy="577081"/>
          </a:xfrm>
          <a:prstGeom prst="rect">
            <a:avLst/>
          </a:prstGeom>
          <a:noFill/>
        </p:spPr>
        <p:txBody>
          <a:bodyPr wrap="none" rtlCol="0">
            <a:spAutoFit/>
          </a:bodyPr>
          <a:lstStyle/>
          <a:p>
            <a:r>
              <a:rPr lang="zh-TW" altLang="en-US" sz="1050" b="1" dirty="0">
                <a:solidFill>
                  <a:srgbClr val="FF0000"/>
                </a:solidFill>
                <a:latin typeface="微軟正黑體" panose="020B0604030504040204" pitchFamily="34" charset="-120"/>
                <a:ea typeface="微軟正黑體" panose="020B0604030504040204" pitchFamily="34" charset="-120"/>
              </a:rPr>
              <a:t>      工程師檢視資料</a:t>
            </a:r>
            <a:endParaRPr lang="en-US" altLang="zh-TW" sz="1050" b="1" dirty="0">
              <a:solidFill>
                <a:srgbClr val="FF0000"/>
              </a:solidFill>
              <a:latin typeface="微軟正黑體" panose="020B0604030504040204" pitchFamily="34" charset="-120"/>
              <a:ea typeface="微軟正黑體" panose="020B0604030504040204" pitchFamily="34" charset="-120"/>
            </a:endParaRPr>
          </a:p>
          <a:p>
            <a:r>
              <a:rPr lang="zh-TW" altLang="en-US" sz="1050" b="1" dirty="0">
                <a:solidFill>
                  <a:srgbClr val="FF0000"/>
                </a:solidFill>
                <a:latin typeface="微軟正黑體" panose="020B0604030504040204" pitchFamily="34" charset="-120"/>
                <a:ea typeface="微軟正黑體" panose="020B0604030504040204" pitchFamily="34" charset="-120"/>
              </a:rPr>
              <a:t>      每天可省 </a:t>
            </a:r>
            <a:r>
              <a:rPr lang="en-US" altLang="zh-TW" sz="1050" b="1" dirty="0">
                <a:solidFill>
                  <a:srgbClr val="FF0000"/>
                </a:solidFill>
                <a:latin typeface="微軟正黑體" panose="020B0604030504040204" pitchFamily="34" charset="-120"/>
                <a:ea typeface="微軟正黑體" panose="020B0604030504040204" pitchFamily="34" charset="-120"/>
              </a:rPr>
              <a:t>6</a:t>
            </a:r>
            <a:r>
              <a:rPr lang="zh-TW" altLang="en-US" sz="1050" b="1" dirty="0">
                <a:solidFill>
                  <a:srgbClr val="FF0000"/>
                </a:solidFill>
                <a:latin typeface="微軟正黑體" panose="020B0604030504040204" pitchFamily="34" charset="-120"/>
                <a:ea typeface="微軟正黑體" panose="020B0604030504040204" pitchFamily="34" charset="-120"/>
              </a:rPr>
              <a:t> 小時</a:t>
            </a:r>
            <a:endParaRPr lang="en-US" altLang="zh-TW" sz="1050" b="1" dirty="0">
              <a:solidFill>
                <a:srgbClr val="FF0000"/>
              </a:solidFill>
              <a:latin typeface="微軟正黑體" panose="020B0604030504040204" pitchFamily="34" charset="-120"/>
              <a:ea typeface="微軟正黑體" panose="020B0604030504040204" pitchFamily="34" charset="-120"/>
            </a:endParaRPr>
          </a:p>
          <a:p>
            <a:r>
              <a:rPr lang="zh-TW" altLang="zh-TW" sz="1050" b="1" dirty="0">
                <a:solidFill>
                  <a:srgbClr val="FF0000"/>
                </a:solidFill>
                <a:latin typeface="微軟正黑體" panose="020B0604030504040204" pitchFamily="34" charset="-120"/>
                <a:ea typeface="微軟正黑體" panose="020B0604030504040204" pitchFamily="34" charset="-120"/>
              </a:rPr>
              <a:t>節省工時</a:t>
            </a:r>
            <a:r>
              <a:rPr lang="zh-TW" altLang="en-US" sz="1050" b="1" dirty="0">
                <a:solidFill>
                  <a:srgbClr val="FF0000"/>
                </a:solidFill>
                <a:latin typeface="微軟正黑體" panose="020B0604030504040204" pitchFamily="34" charset="-120"/>
                <a:ea typeface="微軟正黑體" panose="020B0604030504040204" pitchFamily="34" charset="-120"/>
              </a:rPr>
              <a:t>  </a:t>
            </a:r>
            <a:r>
              <a:rPr lang="en-US" altLang="zh-TW" sz="1050" b="1" dirty="0">
                <a:solidFill>
                  <a:srgbClr val="FF0000"/>
                </a:solidFill>
                <a:latin typeface="微軟正黑體" panose="020B0604030504040204" pitchFamily="34" charset="-120"/>
                <a:ea typeface="微軟正黑體" panose="020B0604030504040204" pitchFamily="34" charset="-120"/>
              </a:rPr>
              <a:t>180</a:t>
            </a:r>
            <a:r>
              <a:rPr lang="zh-TW" altLang="en-US" sz="1050" b="1" dirty="0">
                <a:solidFill>
                  <a:srgbClr val="FF0000"/>
                </a:solidFill>
                <a:latin typeface="微軟正黑體" panose="020B0604030504040204" pitchFamily="34" charset="-120"/>
                <a:ea typeface="微軟正黑體" panose="020B0604030504040204" pitchFamily="34" charset="-120"/>
              </a:rPr>
              <a:t> </a:t>
            </a:r>
            <a:r>
              <a:rPr lang="zh-TW" altLang="zh-TW" sz="1050" b="1" dirty="0">
                <a:solidFill>
                  <a:srgbClr val="FF0000"/>
                </a:solidFill>
                <a:latin typeface="微軟正黑體" panose="020B0604030504040204" pitchFamily="34" charset="-120"/>
                <a:ea typeface="微軟正黑體" panose="020B0604030504040204" pitchFamily="34" charset="-120"/>
              </a:rPr>
              <a:t>小時</a:t>
            </a:r>
            <a:r>
              <a:rPr lang="en-US" altLang="zh-TW" sz="1050" b="1" dirty="0">
                <a:solidFill>
                  <a:srgbClr val="FF0000"/>
                </a:solidFill>
                <a:latin typeface="微軟正黑體" panose="020B0604030504040204" pitchFamily="34" charset="-120"/>
                <a:ea typeface="微軟正黑體" panose="020B0604030504040204" pitchFamily="34" charset="-120"/>
              </a:rPr>
              <a:t>/</a:t>
            </a:r>
            <a:r>
              <a:rPr lang="zh-TW" altLang="zh-TW" sz="1050" b="1" dirty="0">
                <a:solidFill>
                  <a:srgbClr val="FF0000"/>
                </a:solidFill>
                <a:latin typeface="微軟正黑體" panose="020B0604030504040204" pitchFamily="34" charset="-120"/>
                <a:ea typeface="微軟正黑體" panose="020B0604030504040204" pitchFamily="34" charset="-120"/>
              </a:rPr>
              <a:t>月</a:t>
            </a:r>
            <a:endParaRPr lang="zh-TW" altLang="en-US" sz="1050" b="1"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06868671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4528934" y="727282"/>
            <a:ext cx="4485737" cy="2843728"/>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166640" y="762503"/>
            <a:ext cx="4253810" cy="2280754"/>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grpSp>
        <p:nvGrpSpPr>
          <p:cNvPr id="6" name="组合 25"/>
          <p:cNvGrpSpPr>
            <a:grpSpLocks/>
          </p:cNvGrpSpPr>
          <p:nvPr/>
        </p:nvGrpSpPr>
        <p:grpSpPr bwMode="auto">
          <a:xfrm rot="19467343">
            <a:off x="4258429" y="864294"/>
            <a:ext cx="372776" cy="311254"/>
            <a:chOff x="6811963" y="4252913"/>
            <a:chExt cx="1397000" cy="1397000"/>
          </a:xfrm>
        </p:grpSpPr>
        <p:sp>
          <p:nvSpPr>
            <p:cNvPr id="7" name="Freeform 9"/>
            <p:cNvSpPr>
              <a:spLocks noEditPoints="1"/>
            </p:cNvSpPr>
            <p:nvPr/>
          </p:nvSpPr>
          <p:spPr bwMode="auto">
            <a:xfrm>
              <a:off x="6811963" y="4252913"/>
              <a:ext cx="1397000" cy="139700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a:solidFill>
                  <a:prstClr val="black"/>
                </a:solidFill>
                <a:latin typeface="微軟正黑體" panose="020B0604030504040204" pitchFamily="34" charset="-120"/>
                <a:ea typeface="微軟正黑體" panose="020B0604030504040204" pitchFamily="34" charset="-120"/>
              </a:endParaRPr>
            </a:p>
          </p:txBody>
        </p:sp>
        <p:sp>
          <p:nvSpPr>
            <p:cNvPr id="8" name="Freeform 10"/>
            <p:cNvSpPr>
              <a:spLocks/>
            </p:cNvSpPr>
            <p:nvPr/>
          </p:nvSpPr>
          <p:spPr bwMode="auto">
            <a:xfrm>
              <a:off x="7235826" y="4679950"/>
              <a:ext cx="565150" cy="565150"/>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a:solidFill>
                  <a:prstClr val="black"/>
                </a:solidFill>
                <a:latin typeface="微軟正黑體" panose="020B0604030504040204" pitchFamily="34" charset="-120"/>
                <a:ea typeface="微軟正黑體" panose="020B0604030504040204" pitchFamily="34" charset="-120"/>
              </a:endParaRPr>
            </a:p>
          </p:txBody>
        </p:sp>
      </p:grpSp>
      <p:sp>
        <p:nvSpPr>
          <p:cNvPr id="9" name="矩形 8"/>
          <p:cNvSpPr/>
          <p:nvPr/>
        </p:nvSpPr>
        <p:spPr>
          <a:xfrm>
            <a:off x="155416" y="991925"/>
            <a:ext cx="997203"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改善前</a:t>
            </a:r>
            <a:r>
              <a:rPr lang="en-US" altLang="zh-TW" sz="1600" b="1" dirty="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sp>
        <p:nvSpPr>
          <p:cNvPr id="41" name="矩形 40"/>
          <p:cNvSpPr/>
          <p:nvPr/>
        </p:nvSpPr>
        <p:spPr>
          <a:xfrm>
            <a:off x="246353" y="1357177"/>
            <a:ext cx="4185321" cy="528350"/>
          </a:xfrm>
          <a:prstGeom prst="rect">
            <a:avLst/>
          </a:prstGeom>
        </p:spPr>
        <p:txBody>
          <a:bodyPr wrap="square">
            <a:spAutoFit/>
          </a:bodyPr>
          <a:lstStyle/>
          <a:p>
            <a:pPr algn="just">
              <a:lnSpc>
                <a:spcPts val="1700"/>
              </a:lnSpc>
            </a:pPr>
            <a:r>
              <a:rPr lang="en-US" altLang="zh-TW" sz="1100" b="1" dirty="0">
                <a:solidFill>
                  <a:prstClr val="black">
                    <a:lumMod val="75000"/>
                    <a:lumOff val="25000"/>
                  </a:prstClr>
                </a:solidFill>
                <a:latin typeface="微軟正黑體" panose="020B0604030504040204" pitchFamily="34" charset="-120"/>
                <a:ea typeface="微軟正黑體" panose="020B0604030504040204" pitchFamily="34" charset="-120"/>
              </a:rPr>
              <a:t>S</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can</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機台共</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26</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台，平均每日</a:t>
            </a:r>
            <a:r>
              <a:rPr lang="zh-TW" altLang="en-US" sz="1100" b="1" dirty="0" smtClean="0">
                <a:solidFill>
                  <a:srgbClr val="FF0000"/>
                </a:solidFill>
                <a:latin typeface="微軟正黑體" panose="020B0604030504040204" pitchFamily="34" charset="-120"/>
                <a:ea typeface="微軟正黑體" panose="020B0604030504040204" pitchFamily="34" charset="-120"/>
              </a:rPr>
              <a:t>耗費 </a:t>
            </a:r>
            <a:r>
              <a:rPr lang="en-US" altLang="zh-TW" sz="1100" b="1" dirty="0" smtClean="0">
                <a:solidFill>
                  <a:srgbClr val="FF0000"/>
                </a:solidFill>
                <a:latin typeface="微軟正黑體" panose="020B0604030504040204" pitchFamily="34" charset="-120"/>
                <a:ea typeface="微軟正黑體" panose="020B0604030504040204" pitchFamily="34" charset="-120"/>
              </a:rPr>
              <a:t>&gt;</a:t>
            </a:r>
            <a:r>
              <a:rPr lang="zh-TW" altLang="en-US" sz="1100" b="1" dirty="0" smtClean="0">
                <a:solidFill>
                  <a:srgbClr val="FF0000"/>
                </a:solidFill>
                <a:latin typeface="微軟正黑體" panose="020B0604030504040204" pitchFamily="34" charset="-120"/>
                <a:ea typeface="微軟正黑體" panose="020B0604030504040204" pitchFamily="34" charset="-120"/>
              </a:rPr>
              <a:t> １小時</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清理光罩</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algn="just">
              <a:lnSpc>
                <a:spcPts val="1700"/>
              </a:lnSpc>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處理辦法</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機台</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Particle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map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NG(</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單一光罩</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或全機構大範圍清理</a:t>
            </a:r>
            <a:endPar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endParaRPr>
          </a:p>
        </p:txBody>
      </p:sp>
      <p:grpSp>
        <p:nvGrpSpPr>
          <p:cNvPr id="52" name="组合 65"/>
          <p:cNvGrpSpPr>
            <a:grpSpLocks/>
          </p:cNvGrpSpPr>
          <p:nvPr/>
        </p:nvGrpSpPr>
        <p:grpSpPr bwMode="auto">
          <a:xfrm rot="4723889">
            <a:off x="6443231" y="294808"/>
            <a:ext cx="723088" cy="1050156"/>
            <a:chOff x="5008933" y="2278557"/>
            <a:chExt cx="2491360" cy="2362847"/>
          </a:xfrm>
        </p:grpSpPr>
        <p:sp>
          <p:nvSpPr>
            <p:cNvPr id="53"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4" name="组合 67"/>
            <p:cNvGrpSpPr>
              <a:grpSpLocks/>
            </p:cNvGrpSpPr>
            <p:nvPr/>
          </p:nvGrpSpPr>
          <p:grpSpPr bwMode="auto">
            <a:xfrm>
              <a:off x="5008933" y="2278557"/>
              <a:ext cx="2491360" cy="2323893"/>
              <a:chOff x="1123476" y="1681897"/>
              <a:chExt cx="3206311" cy="2990785"/>
            </a:xfrm>
          </p:grpSpPr>
          <p:grpSp>
            <p:nvGrpSpPr>
              <p:cNvPr id="55" name="组合 68"/>
              <p:cNvGrpSpPr>
                <a:grpSpLocks/>
              </p:cNvGrpSpPr>
              <p:nvPr/>
            </p:nvGrpSpPr>
            <p:grpSpPr bwMode="auto">
              <a:xfrm>
                <a:off x="1123476" y="1763461"/>
                <a:ext cx="2798050" cy="2798050"/>
                <a:chOff x="1123476" y="1763461"/>
                <a:chExt cx="2798050" cy="2798050"/>
              </a:xfrm>
            </p:grpSpPr>
            <p:sp>
              <p:nvSpPr>
                <p:cNvPr id="61" name="弧形 60"/>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4" name="弧形 63"/>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6" name="组合 69"/>
              <p:cNvGrpSpPr>
                <a:grpSpLocks/>
              </p:cNvGrpSpPr>
              <p:nvPr/>
            </p:nvGrpSpPr>
            <p:grpSpPr bwMode="auto">
              <a:xfrm rot="-7200000">
                <a:off x="1273270" y="1616165"/>
                <a:ext cx="2990785" cy="3122249"/>
                <a:chOff x="891209" y="1807143"/>
                <a:chExt cx="2990785" cy="3122249"/>
              </a:xfrm>
            </p:grpSpPr>
            <p:sp>
              <p:nvSpPr>
                <p:cNvPr id="57" name="弧形 56"/>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0" name="弧形 59"/>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grpSp>
        <p:nvGrpSpPr>
          <p:cNvPr id="65" name="组合 65"/>
          <p:cNvGrpSpPr>
            <a:grpSpLocks/>
          </p:cNvGrpSpPr>
          <p:nvPr/>
        </p:nvGrpSpPr>
        <p:grpSpPr bwMode="auto">
          <a:xfrm rot="4723889">
            <a:off x="1892884" y="335901"/>
            <a:ext cx="723088" cy="1050156"/>
            <a:chOff x="5008933" y="2278557"/>
            <a:chExt cx="2491360" cy="2362847"/>
          </a:xfrm>
        </p:grpSpPr>
        <p:sp>
          <p:nvSpPr>
            <p:cNvPr id="66"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7" name="组合 67"/>
            <p:cNvGrpSpPr>
              <a:grpSpLocks/>
            </p:cNvGrpSpPr>
            <p:nvPr/>
          </p:nvGrpSpPr>
          <p:grpSpPr bwMode="auto">
            <a:xfrm>
              <a:off x="5008933" y="2278557"/>
              <a:ext cx="2491360" cy="2323893"/>
              <a:chOff x="1123476" y="1681897"/>
              <a:chExt cx="3206311" cy="2990785"/>
            </a:xfrm>
          </p:grpSpPr>
          <p:grpSp>
            <p:nvGrpSpPr>
              <p:cNvPr id="68" name="组合 68"/>
              <p:cNvGrpSpPr>
                <a:grpSpLocks/>
              </p:cNvGrpSpPr>
              <p:nvPr/>
            </p:nvGrpSpPr>
            <p:grpSpPr bwMode="auto">
              <a:xfrm>
                <a:off x="1123476" y="1763461"/>
                <a:ext cx="2798050" cy="2798050"/>
                <a:chOff x="1123476" y="1763461"/>
                <a:chExt cx="2798050" cy="2798050"/>
              </a:xfrm>
            </p:grpSpPr>
            <p:sp>
              <p:nvSpPr>
                <p:cNvPr id="74" name="弧形 73"/>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7" name="弧形 76"/>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9" name="组合 69"/>
              <p:cNvGrpSpPr>
                <a:grpSpLocks/>
              </p:cNvGrpSpPr>
              <p:nvPr/>
            </p:nvGrpSpPr>
            <p:grpSpPr bwMode="auto">
              <a:xfrm rot="-7200000">
                <a:off x="1273270" y="1616165"/>
                <a:ext cx="2990785" cy="3122249"/>
                <a:chOff x="891209" y="1807143"/>
                <a:chExt cx="2990785" cy="3122249"/>
              </a:xfrm>
            </p:grpSpPr>
            <p:sp>
              <p:nvSpPr>
                <p:cNvPr id="70" name="弧形 69"/>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3" name="弧形 72"/>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sp>
        <p:nvSpPr>
          <p:cNvPr id="25" name="矩形 24"/>
          <p:cNvSpPr/>
          <p:nvPr/>
        </p:nvSpPr>
        <p:spPr>
          <a:xfrm>
            <a:off x="6290113" y="466779"/>
            <a:ext cx="987250" cy="599006"/>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解決</a:t>
            </a:r>
            <a:endParaRPr lang="en-US" altLang="zh-TW" sz="1600" b="1" dirty="0">
              <a:solidFill>
                <a:prstClr val="black">
                  <a:lumMod val="65000"/>
                  <a:lumOff val="35000"/>
                </a:prstClr>
              </a:solidFill>
              <a:latin typeface="微軟正黑體" panose="020B0604030504040204" pitchFamily="34" charset="-120"/>
              <a:ea typeface="微軟正黑體" panose="020B0604030504040204" pitchFamily="34" charset="-120"/>
            </a:endParaRPr>
          </a:p>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方案</a:t>
            </a:r>
          </a:p>
        </p:txBody>
      </p:sp>
      <p:sp>
        <p:nvSpPr>
          <p:cNvPr id="40" name="矩形 39"/>
          <p:cNvSpPr/>
          <p:nvPr/>
        </p:nvSpPr>
        <p:spPr>
          <a:xfrm>
            <a:off x="1742639" y="634664"/>
            <a:ext cx="987250" cy="338554"/>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痛點</a:t>
            </a:r>
          </a:p>
        </p:txBody>
      </p:sp>
      <p:sp>
        <p:nvSpPr>
          <p:cNvPr id="80" name="圓角矩形 79"/>
          <p:cNvSpPr/>
          <p:nvPr/>
        </p:nvSpPr>
        <p:spPr>
          <a:xfrm>
            <a:off x="4641886" y="3890886"/>
            <a:ext cx="1938650" cy="711654"/>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微軟正黑體" panose="020B0604030504040204" pitchFamily="34" charset="-120"/>
              <a:ea typeface="微軟正黑體" panose="020B0604030504040204" pitchFamily="34" charset="-120"/>
            </a:endParaRPr>
          </a:p>
        </p:txBody>
      </p:sp>
      <p:sp>
        <p:nvSpPr>
          <p:cNvPr id="81" name="文字方塊 80"/>
          <p:cNvSpPr txBox="1"/>
          <p:nvPr/>
        </p:nvSpPr>
        <p:spPr>
          <a:xfrm>
            <a:off x="5081850" y="3976449"/>
            <a:ext cx="1498685" cy="246221"/>
          </a:xfrm>
          <a:prstGeom prst="rect">
            <a:avLst/>
          </a:prstGeom>
          <a:noFill/>
        </p:spPr>
        <p:txBody>
          <a:bodyPr wrap="square" rtlCol="0">
            <a:spAutoFit/>
          </a:bodyPr>
          <a:lstStyle/>
          <a:p>
            <a:r>
              <a:rPr lang="zh-TW" altLang="en-US" sz="1000" b="1" dirty="0" smtClean="0">
                <a:solidFill>
                  <a:srgbClr val="F64C00"/>
                </a:solidFill>
                <a:latin typeface="微軟正黑體" panose="020B0604030504040204" pitchFamily="34" charset="-120"/>
                <a:ea typeface="微軟正黑體" panose="020B0604030504040204" pitchFamily="34" charset="-120"/>
              </a:rPr>
              <a:t>減少</a:t>
            </a:r>
            <a:r>
              <a:rPr lang="zh-TW" altLang="en-US" sz="1000" b="1" dirty="0">
                <a:latin typeface="微軟正黑體" panose="020B0604030504040204" pitchFamily="34" charset="-120"/>
                <a:ea typeface="微軟正黑體" panose="020B0604030504040204" pitchFamily="34" charset="-120"/>
              </a:rPr>
              <a:t> </a:t>
            </a:r>
            <a:r>
              <a:rPr lang="en-US" altLang="zh-TW" sz="1000" b="1" dirty="0" smtClean="0">
                <a:solidFill>
                  <a:schemeClr val="accent1"/>
                </a:solidFill>
                <a:latin typeface="微軟正黑體" panose="020B0604030504040204" pitchFamily="34" charset="-120"/>
                <a:ea typeface="微軟正黑體" panose="020B0604030504040204" pitchFamily="34" charset="-120"/>
              </a:rPr>
              <a:t>DL HC 0.15/</a:t>
            </a:r>
            <a:r>
              <a:rPr lang="zh-TW" altLang="en-US" sz="1000" b="1" dirty="0">
                <a:solidFill>
                  <a:schemeClr val="accent1"/>
                </a:solidFill>
                <a:latin typeface="微軟正黑體" panose="020B0604030504040204" pitchFamily="34" charset="-120"/>
                <a:ea typeface="微軟正黑體" panose="020B0604030504040204" pitchFamily="34" charset="-120"/>
              </a:rPr>
              <a:t>人</a:t>
            </a:r>
          </a:p>
        </p:txBody>
      </p:sp>
      <p:sp>
        <p:nvSpPr>
          <p:cNvPr id="82" name="文字方塊 81"/>
          <p:cNvSpPr txBox="1"/>
          <p:nvPr/>
        </p:nvSpPr>
        <p:spPr>
          <a:xfrm>
            <a:off x="4643580" y="3969814"/>
            <a:ext cx="492443" cy="276999"/>
          </a:xfrm>
          <a:prstGeom prst="rect">
            <a:avLst/>
          </a:prstGeom>
          <a:noFill/>
        </p:spPr>
        <p:txBody>
          <a:bodyPr wrap="none" rtlCol="0">
            <a:spAutoFit/>
          </a:bodyPr>
          <a:lstStyle/>
          <a:p>
            <a:pPr lvl="0"/>
            <a:r>
              <a:rPr lang="zh-TW" altLang="en-US" sz="1200" b="1" dirty="0" smtClean="0">
                <a:latin typeface="微軟正黑體" panose="020B0604030504040204" pitchFamily="34" charset="-120"/>
                <a:ea typeface="微軟正黑體" panose="020B0604030504040204" pitchFamily="34" charset="-120"/>
              </a:rPr>
              <a:t>隱性</a:t>
            </a:r>
            <a:endParaRPr lang="zh-TW" altLang="en-US" sz="1200" b="1" dirty="0">
              <a:latin typeface="微軟正黑體" panose="020B0604030504040204" pitchFamily="34" charset="-120"/>
              <a:ea typeface="微軟正黑體" panose="020B0604030504040204" pitchFamily="34" charset="-120"/>
            </a:endParaRPr>
          </a:p>
        </p:txBody>
      </p:sp>
      <p:sp>
        <p:nvSpPr>
          <p:cNvPr id="84" name="圓角矩形 83"/>
          <p:cNvSpPr/>
          <p:nvPr/>
        </p:nvSpPr>
        <p:spPr>
          <a:xfrm>
            <a:off x="6693751" y="3891720"/>
            <a:ext cx="1938650" cy="710820"/>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微軟正黑體" panose="020B0604030504040204" pitchFamily="34" charset="-120"/>
              <a:ea typeface="微軟正黑體" panose="020B0604030504040204" pitchFamily="34" charset="-120"/>
            </a:endParaRPr>
          </a:p>
        </p:txBody>
      </p:sp>
      <p:sp>
        <p:nvSpPr>
          <p:cNvPr id="85" name="文字方塊 84"/>
          <p:cNvSpPr txBox="1"/>
          <p:nvPr/>
        </p:nvSpPr>
        <p:spPr>
          <a:xfrm>
            <a:off x="6809283" y="4218031"/>
            <a:ext cx="1880313" cy="256417"/>
          </a:xfrm>
          <a:prstGeom prst="rect">
            <a:avLst/>
          </a:prstGeom>
          <a:noFill/>
        </p:spPr>
        <p:txBody>
          <a:bodyPr wrap="square" rtlCol="0">
            <a:spAutoFit/>
          </a:bodyPr>
          <a:lstStyle/>
          <a:p>
            <a:pPr>
              <a:lnSpc>
                <a:spcPts val="1400"/>
              </a:lnSpc>
            </a:pPr>
            <a:r>
              <a:rPr lang="zh-TW" altLang="en-US" sz="1000" b="1" dirty="0" smtClean="0">
                <a:solidFill>
                  <a:schemeClr val="accent1"/>
                </a:solidFill>
                <a:latin typeface="微軟正黑體" panose="020B0604030504040204" pitchFamily="34" charset="-120"/>
                <a:ea typeface="微軟正黑體" panose="020B0604030504040204" pitchFamily="34" charset="-120"/>
              </a:rPr>
              <a:t>提升</a:t>
            </a:r>
            <a:r>
              <a:rPr lang="zh-TW" altLang="en-US" sz="1000" b="1" dirty="0">
                <a:solidFill>
                  <a:schemeClr val="accent1"/>
                </a:solidFill>
                <a:latin typeface="微軟正黑體" panose="020B0604030504040204" pitchFamily="34" charset="-120"/>
                <a:ea typeface="微軟正黑體" panose="020B0604030504040204" pitchFamily="34" charset="-120"/>
              </a:rPr>
              <a:t>排</a:t>
            </a:r>
            <a:r>
              <a:rPr lang="zh-TW" altLang="en-US" sz="1000" b="1" dirty="0" smtClean="0">
                <a:solidFill>
                  <a:schemeClr val="accent1"/>
                </a:solidFill>
                <a:latin typeface="微軟正黑體" panose="020B0604030504040204" pitchFamily="34" charset="-120"/>
                <a:ea typeface="微軟正黑體" panose="020B0604030504040204" pitchFamily="34" charset="-120"/>
              </a:rPr>
              <a:t>查及結構清潔效率</a:t>
            </a:r>
            <a:endParaRPr lang="zh-TW" altLang="en-US" sz="1000" b="1" dirty="0">
              <a:solidFill>
                <a:schemeClr val="accent1"/>
              </a:solidFill>
              <a:latin typeface="微軟正黑體" panose="020B0604030504040204" pitchFamily="34" charset="-120"/>
              <a:ea typeface="微軟正黑體" panose="020B0604030504040204" pitchFamily="34" charset="-120"/>
            </a:endParaRPr>
          </a:p>
        </p:txBody>
      </p:sp>
      <p:sp>
        <p:nvSpPr>
          <p:cNvPr id="86" name="文字方塊 85"/>
          <p:cNvSpPr txBox="1"/>
          <p:nvPr/>
        </p:nvSpPr>
        <p:spPr>
          <a:xfrm>
            <a:off x="6718111" y="3921970"/>
            <a:ext cx="862776" cy="276999"/>
          </a:xfrm>
          <a:prstGeom prst="rect">
            <a:avLst/>
          </a:prstGeom>
          <a:noFill/>
        </p:spPr>
        <p:txBody>
          <a:bodyPr wrap="square" rtlCol="0">
            <a:spAutoFit/>
          </a:bodyPr>
          <a:lstStyle/>
          <a:p>
            <a:pPr lvl="0"/>
            <a:r>
              <a:rPr lang="zh-TW" altLang="en-US" sz="1200" b="1" dirty="0" smtClean="0">
                <a:latin typeface="微軟正黑體" panose="020B0604030504040204" pitchFamily="34" charset="-120"/>
                <a:ea typeface="微軟正黑體" panose="020B0604030504040204" pitchFamily="34" charset="-120"/>
              </a:rPr>
              <a:t>排</a:t>
            </a:r>
            <a:r>
              <a:rPr lang="zh-TW" altLang="en-US" sz="1200" b="1" dirty="0">
                <a:latin typeface="微軟正黑體" panose="020B0604030504040204" pitchFamily="34" charset="-120"/>
                <a:ea typeface="微軟正黑體" panose="020B0604030504040204" pitchFamily="34" charset="-120"/>
              </a:rPr>
              <a:t>查</a:t>
            </a:r>
            <a:r>
              <a:rPr lang="zh-TW" altLang="en-US" sz="1200" b="1" dirty="0" smtClean="0">
                <a:latin typeface="微軟正黑體" panose="020B0604030504040204" pitchFamily="34" charset="-120"/>
                <a:ea typeface="微軟正黑體" panose="020B0604030504040204" pitchFamily="34" charset="-120"/>
              </a:rPr>
              <a:t>頻率</a:t>
            </a:r>
            <a:endParaRPr lang="zh-TW" altLang="en-US" sz="1200" b="1" dirty="0">
              <a:latin typeface="微軟正黑體" panose="020B0604030504040204" pitchFamily="34" charset="-120"/>
              <a:ea typeface="微軟正黑體" panose="020B0604030504040204" pitchFamily="34" charset="-120"/>
            </a:endParaRPr>
          </a:p>
        </p:txBody>
      </p:sp>
      <p:sp>
        <p:nvSpPr>
          <p:cNvPr id="88" name="矩形 218"/>
          <p:cNvSpPr>
            <a:spLocks noChangeArrowheads="1"/>
          </p:cNvSpPr>
          <p:nvPr/>
        </p:nvSpPr>
        <p:spPr bwMode="auto">
          <a:xfrm>
            <a:off x="4528934" y="3529860"/>
            <a:ext cx="1080121"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fontAlgn="auto" hangingPunct="1">
              <a:spcBef>
                <a:spcPts val="0"/>
              </a:spcBef>
              <a:spcAft>
                <a:spcPts val="0"/>
              </a:spcAft>
            </a:pPr>
            <a:r>
              <a:rPr lang="zh-TW" altLang="en-US" sz="1600" b="1" dirty="0">
                <a:solidFill>
                  <a:prstClr val="black"/>
                </a:solidFill>
                <a:latin typeface="微軟正黑體" panose="020B0604030504040204" pitchFamily="34" charset="-120"/>
                <a:ea typeface="微軟正黑體" panose="020B0604030504040204" pitchFamily="34" charset="-120"/>
              </a:rPr>
              <a:t>效益</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pic>
        <p:nvPicPr>
          <p:cNvPr id="18" name="圖片 17"/>
          <p:cNvPicPr>
            <a:picLocks noChangeAspect="1"/>
          </p:cNvPicPr>
          <p:nvPr/>
        </p:nvPicPr>
        <p:blipFill>
          <a:blip r:embed="rId3" cstate="print">
            <a:clrChange>
              <a:clrFrom>
                <a:srgbClr val="000000"/>
              </a:clrFrom>
              <a:clrTo>
                <a:srgbClr val="000000">
                  <a:alpha val="0"/>
                </a:srgbClr>
              </a:clrTo>
            </a:clrChange>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a:off x="8304974" y="3788275"/>
            <a:ext cx="385764" cy="385764"/>
          </a:xfrm>
          <a:prstGeom prst="rect">
            <a:avLst/>
          </a:prstGeom>
        </p:spPr>
      </p:pic>
      <p:pic>
        <p:nvPicPr>
          <p:cNvPr id="78" name="圖片版面配置區 4" descr="Window"/>
          <p:cNvPicPr>
            <a:picLocks noGrp="1" noChangeAspect="1"/>
          </p:cNvPicPr>
          <p:nvPr/>
        </p:nvPicPr>
        <p:blipFill rotWithShape="1">
          <a:blip r:embed="rId5" cstate="print">
            <a:extLst>
              <a:ext uri="{28A0092B-C50C-407E-A947-70E740481C1C}">
                <a14:useLocalDpi xmlns:a14="http://schemas.microsoft.com/office/drawing/2010/main" val="0"/>
              </a:ext>
            </a:extLst>
          </a:blip>
          <a:srcRect l="813" t="7095" r="61358" b="52212"/>
          <a:stretch/>
        </p:blipFill>
        <p:spPr>
          <a:xfrm>
            <a:off x="1499003" y="1902342"/>
            <a:ext cx="1272398" cy="872710"/>
          </a:xfrm>
          <a:prstGeom prst="rect">
            <a:avLst/>
          </a:prstGeom>
          <a:ln>
            <a:noFill/>
          </a:ln>
          <a:effectLst>
            <a:softEdge rad="63500"/>
          </a:effectLst>
        </p:spPr>
      </p:pic>
      <p:pic>
        <p:nvPicPr>
          <p:cNvPr id="79" name="圖片 78"/>
          <p:cNvPicPr>
            <a:picLocks noChangeAspect="1"/>
          </p:cNvPicPr>
          <p:nvPr/>
        </p:nvPicPr>
        <p:blipFill rotWithShape="1">
          <a:blip r:embed="rId6"/>
          <a:srcRect t="18233"/>
          <a:stretch/>
        </p:blipFill>
        <p:spPr>
          <a:xfrm>
            <a:off x="340940" y="1799230"/>
            <a:ext cx="1146839" cy="1092853"/>
          </a:xfrm>
          <a:prstGeom prst="rect">
            <a:avLst/>
          </a:prstGeom>
          <a:ln>
            <a:noFill/>
          </a:ln>
          <a:effectLst>
            <a:softEdge rad="63500"/>
          </a:effectLst>
        </p:spPr>
      </p:pic>
      <p:sp>
        <p:nvSpPr>
          <p:cNvPr id="87" name="文字方塊 86"/>
          <p:cNvSpPr txBox="1"/>
          <p:nvPr/>
        </p:nvSpPr>
        <p:spPr>
          <a:xfrm>
            <a:off x="822230" y="2631225"/>
            <a:ext cx="606256" cy="207749"/>
          </a:xfrm>
          <a:prstGeom prst="rect">
            <a:avLst/>
          </a:prstGeom>
          <a:solidFill>
            <a:srgbClr val="E3F1F3"/>
          </a:solidFill>
        </p:spPr>
        <p:txBody>
          <a:bodyPr wrap="none" rtlCol="0">
            <a:spAutoFit/>
          </a:bodyPr>
          <a:lstStyle/>
          <a:p>
            <a:pPr lvl="0">
              <a:lnSpc>
                <a:spcPts val="900"/>
              </a:lnSpc>
            </a:pPr>
            <a:r>
              <a:rPr lang="en-US" altLang="zh-TW" sz="1050" b="1" dirty="0" smtClean="0">
                <a:latin typeface="微軟正黑體" panose="020B0604030504040204" pitchFamily="34" charset="-120"/>
                <a:ea typeface="微軟正黑體" panose="020B0604030504040204" pitchFamily="34" charset="-120"/>
              </a:rPr>
              <a:t>Canon</a:t>
            </a:r>
            <a:endParaRPr lang="zh-TW" altLang="en-US" sz="1050" b="1" dirty="0">
              <a:latin typeface="微軟正黑體" panose="020B0604030504040204" pitchFamily="34" charset="-120"/>
              <a:ea typeface="微軟正黑體" panose="020B0604030504040204" pitchFamily="34" charset="-120"/>
            </a:endParaRPr>
          </a:p>
        </p:txBody>
      </p:sp>
      <p:sp>
        <p:nvSpPr>
          <p:cNvPr id="94" name="文字方塊 93"/>
          <p:cNvSpPr txBox="1"/>
          <p:nvPr/>
        </p:nvSpPr>
        <p:spPr>
          <a:xfrm>
            <a:off x="2214614" y="2571825"/>
            <a:ext cx="579005" cy="209801"/>
          </a:xfrm>
          <a:prstGeom prst="rect">
            <a:avLst/>
          </a:prstGeom>
          <a:solidFill>
            <a:srgbClr val="E3F1F3"/>
          </a:solidFill>
        </p:spPr>
        <p:txBody>
          <a:bodyPr wrap="none" rtlCol="0">
            <a:spAutoFit/>
          </a:bodyPr>
          <a:lstStyle/>
          <a:p>
            <a:pPr lvl="0">
              <a:lnSpc>
                <a:spcPts val="900"/>
              </a:lnSpc>
            </a:pPr>
            <a:r>
              <a:rPr lang="en-US" altLang="zh-TW" sz="1050" b="1" dirty="0" smtClean="0">
                <a:latin typeface="微軟正黑體" panose="020B0604030504040204" pitchFamily="34" charset="-120"/>
                <a:ea typeface="微軟正黑體" panose="020B0604030504040204" pitchFamily="34" charset="-120"/>
              </a:rPr>
              <a:t>Nikon</a:t>
            </a:r>
            <a:endParaRPr lang="zh-TW" altLang="en-US" sz="1050" b="1" dirty="0">
              <a:latin typeface="微軟正黑體" panose="020B0604030504040204" pitchFamily="34" charset="-120"/>
              <a:ea typeface="微軟正黑體" panose="020B0604030504040204" pitchFamily="34" charset="-120"/>
            </a:endParaRPr>
          </a:p>
        </p:txBody>
      </p:sp>
      <p:sp>
        <p:nvSpPr>
          <p:cNvPr id="2" name="文字方塊 1"/>
          <p:cNvSpPr txBox="1"/>
          <p:nvPr/>
        </p:nvSpPr>
        <p:spPr>
          <a:xfrm>
            <a:off x="2757356" y="2025158"/>
            <a:ext cx="1723549" cy="400110"/>
          </a:xfrm>
          <a:prstGeom prst="rect">
            <a:avLst/>
          </a:prstGeom>
          <a:noFill/>
        </p:spPr>
        <p:txBody>
          <a:bodyPr wrap="none" rtlCol="0">
            <a:spAutoFit/>
          </a:bodyPr>
          <a:lstStyle/>
          <a:p>
            <a:r>
              <a:rPr lang="zh-TW" altLang="en-US" sz="1000" b="1" kern="0" dirty="0">
                <a:solidFill>
                  <a:srgbClr val="F64C00"/>
                </a:solidFill>
                <a:latin typeface="微軟正黑體" panose="020B0604030504040204" pitchFamily="34" charset="-120"/>
                <a:ea typeface="微軟正黑體" panose="020B0604030504040204" pitchFamily="34" charset="-120"/>
              </a:rPr>
              <a:t>僅能顯示單一</a:t>
            </a:r>
            <a:r>
              <a:rPr lang="en-US" altLang="zh-TW" sz="1000" b="1" kern="0" dirty="0" smtClean="0">
                <a:solidFill>
                  <a:srgbClr val="F64C00"/>
                </a:solidFill>
                <a:latin typeface="微軟正黑體" panose="020B0604030504040204" pitchFamily="34" charset="-120"/>
                <a:ea typeface="微軟正黑體" panose="020B0604030504040204" pitchFamily="34" charset="-120"/>
              </a:rPr>
              <a:t>Mask</a:t>
            </a:r>
          </a:p>
          <a:p>
            <a:r>
              <a:rPr lang="en-US" altLang="zh-TW" sz="1000" b="1" kern="0" dirty="0" smtClean="0">
                <a:solidFill>
                  <a:srgbClr val="F64C00"/>
                </a:solidFill>
                <a:latin typeface="微軟正黑體" panose="020B0604030504040204" pitchFamily="34" charset="-120"/>
                <a:ea typeface="微軟正黑體" panose="020B0604030504040204" pitchFamily="34" charset="-120"/>
              </a:rPr>
              <a:t>Particle</a:t>
            </a:r>
            <a:r>
              <a:rPr lang="zh-TW" altLang="en-US" sz="1000" b="1" kern="0" dirty="0" smtClean="0">
                <a:solidFill>
                  <a:srgbClr val="F64C00"/>
                </a:solidFill>
                <a:latin typeface="微軟正黑體" panose="020B0604030504040204" pitchFamily="34" charset="-120"/>
                <a:ea typeface="微軟正黑體" panose="020B0604030504040204" pitchFamily="34" charset="-120"/>
              </a:rPr>
              <a:t> </a:t>
            </a:r>
            <a:r>
              <a:rPr lang="en-US" altLang="zh-TW" sz="1000" b="1" kern="0" dirty="0" smtClean="0">
                <a:solidFill>
                  <a:srgbClr val="F64C00"/>
                </a:solidFill>
                <a:latin typeface="微軟正黑體" panose="020B0604030504040204" pitchFamily="34" charset="-120"/>
                <a:ea typeface="微軟正黑體" panose="020B0604030504040204" pitchFamily="34" charset="-120"/>
              </a:rPr>
              <a:t>rank</a:t>
            </a:r>
            <a:r>
              <a:rPr lang="zh-TW" altLang="en-US" sz="1000" b="1" kern="0" dirty="0" smtClean="0">
                <a:solidFill>
                  <a:srgbClr val="F64C00"/>
                </a:solidFill>
                <a:latin typeface="微軟正黑體" panose="020B0604030504040204" pitchFamily="34" charset="-120"/>
                <a:ea typeface="微軟正黑體" panose="020B0604030504040204" pitchFamily="34" charset="-120"/>
              </a:rPr>
              <a:t>顯示方式簡略</a:t>
            </a:r>
            <a:endParaRPr lang="zh-TW" altLang="en-US" sz="1000" b="1" kern="0" dirty="0">
              <a:solidFill>
                <a:srgbClr val="F64C00"/>
              </a:solidFill>
              <a:latin typeface="微軟正黑體" panose="020B0604030504040204" pitchFamily="34" charset="-120"/>
              <a:ea typeface="微軟正黑體" panose="020B0604030504040204" pitchFamily="34" charset="-120"/>
            </a:endParaRPr>
          </a:p>
        </p:txBody>
      </p:sp>
      <p:sp>
        <p:nvSpPr>
          <p:cNvPr id="95" name="矩形 94"/>
          <p:cNvSpPr/>
          <p:nvPr/>
        </p:nvSpPr>
        <p:spPr>
          <a:xfrm>
            <a:off x="59543" y="3065192"/>
            <a:ext cx="1387361"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技術對策</a:t>
            </a:r>
            <a:r>
              <a:rPr lang="en-US" altLang="zh-TW" sz="1600" b="1" dirty="0">
                <a:solidFill>
                  <a:prstClr val="black"/>
                </a:solidFill>
                <a:latin typeface="微軟正黑體" pitchFamily="34" charset="-120"/>
                <a:ea typeface="微軟正黑體" panose="020B0604030504040204" pitchFamily="34" charset="-120"/>
              </a:rPr>
              <a:t>:</a:t>
            </a:r>
            <a:endParaRPr lang="zh-TW" altLang="en-US" sz="1600" dirty="0">
              <a:solidFill>
                <a:prstClr val="black">
                  <a:lumMod val="95000"/>
                  <a:lumOff val="5000"/>
                </a:prstClr>
              </a:solidFill>
              <a:latin typeface="微軟正黑體" pitchFamily="34" charset="-120"/>
              <a:ea typeface="微軟正黑體" panose="020B0604030504040204" pitchFamily="34" charset="-120"/>
            </a:endParaRPr>
          </a:p>
        </p:txBody>
      </p:sp>
      <p:sp>
        <p:nvSpPr>
          <p:cNvPr id="96" name="矩形 95"/>
          <p:cNvSpPr/>
          <p:nvPr/>
        </p:nvSpPr>
        <p:spPr>
          <a:xfrm>
            <a:off x="273790" y="3389466"/>
            <a:ext cx="2405169" cy="1438855"/>
          </a:xfrm>
          <a:prstGeom prst="rect">
            <a:avLst/>
          </a:prstGeom>
        </p:spPr>
        <p:txBody>
          <a:bodyPr wrap="square">
            <a:spAutoFit/>
          </a:bodyPr>
          <a:lstStyle/>
          <a:p>
            <a:pPr marL="304792" indent="-304792">
              <a:lnSpc>
                <a:spcPts val="1700"/>
              </a:lnSpc>
              <a:spcBef>
                <a:spcPts val="133"/>
              </a:spcBef>
              <a:buFontTx/>
              <a:buAutoNum type="arabicPeriod"/>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解析機台</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Log</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&amp;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數據清理提</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取</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304792" indent="-304792">
              <a:lnSpc>
                <a:spcPts val="1700"/>
              </a:lnSpc>
              <a:spcBef>
                <a:spcPts val="133"/>
              </a:spcBef>
              <a:buFontTx/>
              <a:buAutoNum type="arabicPeriod"/>
            </a:pP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By</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機台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Plate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to</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by</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Model</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scan</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range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座標點位計算</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304792" indent="-304792">
              <a:lnSpc>
                <a:spcPts val="1700"/>
              </a:lnSpc>
              <a:spcBef>
                <a:spcPts val="133"/>
              </a:spcBef>
              <a:buFontTx/>
              <a:buAutoNum type="arabicPeriod"/>
            </a:pP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Particle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Map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點位疊加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&amp;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Rank</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權重計算</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304792" indent="-304792">
              <a:lnSpc>
                <a:spcPts val="1700"/>
              </a:lnSpc>
              <a:spcBef>
                <a:spcPts val="133"/>
              </a:spcBef>
              <a:buFontTx/>
              <a:buAutoNum type="arabicPeriod"/>
            </a:pP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UI</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介面 、資料庫</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p:txBody>
      </p:sp>
      <p:sp>
        <p:nvSpPr>
          <p:cNvPr id="97" name="矩形 218"/>
          <p:cNvSpPr>
            <a:spLocks noChangeArrowheads="1"/>
          </p:cNvSpPr>
          <p:nvPr/>
        </p:nvSpPr>
        <p:spPr bwMode="auto">
          <a:xfrm>
            <a:off x="4608974" y="997080"/>
            <a:ext cx="1019142"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600" b="1" dirty="0">
                <a:solidFill>
                  <a:prstClr val="black"/>
                </a:solidFill>
                <a:latin typeface="微軟正黑體" panose="020B0604030504040204" pitchFamily="34" charset="-120"/>
                <a:ea typeface="微軟正黑體" panose="020B0604030504040204" pitchFamily="34" charset="-120"/>
              </a:rPr>
              <a:t>改善後</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pic>
        <p:nvPicPr>
          <p:cNvPr id="14" name="圖片 13"/>
          <p:cNvPicPr>
            <a:picLocks noChangeAspect="1"/>
          </p:cNvPicPr>
          <p:nvPr/>
        </p:nvPicPr>
        <p:blipFill>
          <a:blip r:embed="rId7"/>
          <a:stretch>
            <a:fillRect/>
          </a:stretch>
        </p:blipFill>
        <p:spPr>
          <a:xfrm>
            <a:off x="4733352" y="1365392"/>
            <a:ext cx="3087228" cy="1660113"/>
          </a:xfrm>
          <a:prstGeom prst="rect">
            <a:avLst/>
          </a:prstGeom>
        </p:spPr>
      </p:pic>
      <p:pic>
        <p:nvPicPr>
          <p:cNvPr id="15" name="圖片 14"/>
          <p:cNvPicPr>
            <a:picLocks noChangeAspect="1"/>
          </p:cNvPicPr>
          <p:nvPr/>
        </p:nvPicPr>
        <p:blipFill>
          <a:blip r:embed="rId8"/>
          <a:stretch>
            <a:fillRect/>
          </a:stretch>
        </p:blipFill>
        <p:spPr>
          <a:xfrm>
            <a:off x="5571409" y="2040367"/>
            <a:ext cx="3395233" cy="1453986"/>
          </a:xfrm>
          <a:prstGeom prst="rect">
            <a:avLst/>
          </a:prstGeom>
        </p:spPr>
      </p:pic>
      <p:sp>
        <p:nvSpPr>
          <p:cNvPr id="98" name="文字方塊 97"/>
          <p:cNvSpPr txBox="1"/>
          <p:nvPr/>
        </p:nvSpPr>
        <p:spPr>
          <a:xfrm>
            <a:off x="5718870" y="1185871"/>
            <a:ext cx="2217274" cy="246221"/>
          </a:xfrm>
          <a:prstGeom prst="rect">
            <a:avLst/>
          </a:prstGeom>
          <a:noFill/>
        </p:spPr>
        <p:txBody>
          <a:bodyPr wrap="none" rtlCol="0">
            <a:spAutoFit/>
          </a:bodyPr>
          <a:lstStyle/>
          <a:p>
            <a:r>
              <a:rPr lang="en-US" altLang="zh-TW" sz="1000" b="1" kern="0" dirty="0" smtClean="0">
                <a:solidFill>
                  <a:srgbClr val="F64C00"/>
                </a:solidFill>
                <a:latin typeface="微軟正黑體" panose="020B0604030504040204" pitchFamily="34" charset="-120"/>
                <a:ea typeface="微軟正黑體" panose="020B0604030504040204" pitchFamily="34" charset="-120"/>
              </a:rPr>
              <a:t>By</a:t>
            </a:r>
            <a:r>
              <a:rPr lang="zh-TW" altLang="en-US" sz="1000" b="1" kern="0" dirty="0" smtClean="0">
                <a:solidFill>
                  <a:srgbClr val="F64C00"/>
                </a:solidFill>
                <a:latin typeface="微軟正黑體" panose="020B0604030504040204" pitchFamily="34" charset="-120"/>
                <a:ea typeface="微軟正黑體" panose="020B0604030504040204" pitchFamily="34" charset="-120"/>
              </a:rPr>
              <a:t> 時間</a:t>
            </a:r>
            <a:r>
              <a:rPr lang="zh-TW" altLang="en-US" sz="1000" b="1" kern="0" dirty="0">
                <a:solidFill>
                  <a:srgbClr val="F64C00"/>
                </a:solidFill>
                <a:latin typeface="微軟正黑體" panose="020B0604030504040204" pitchFamily="34" charset="-120"/>
                <a:ea typeface="微軟正黑體" panose="020B0604030504040204" pitchFamily="34" charset="-120"/>
              </a:rPr>
              <a:t> </a:t>
            </a:r>
            <a:r>
              <a:rPr lang="en-US" altLang="zh-TW" sz="1000" b="1" kern="0" dirty="0" smtClean="0">
                <a:solidFill>
                  <a:srgbClr val="F64C00"/>
                </a:solidFill>
                <a:latin typeface="微軟正黑體" panose="020B0604030504040204" pitchFamily="34" charset="-120"/>
                <a:ea typeface="微軟正黑體" panose="020B0604030504040204" pitchFamily="34" charset="-120"/>
              </a:rPr>
              <a:t>/</a:t>
            </a:r>
            <a:r>
              <a:rPr lang="zh-TW" altLang="en-US" sz="1000" b="1" kern="0" dirty="0" smtClean="0">
                <a:solidFill>
                  <a:srgbClr val="F64C00"/>
                </a:solidFill>
                <a:latin typeface="微軟正黑體" panose="020B0604030504040204" pitchFamily="34" charset="-120"/>
                <a:ea typeface="微軟正黑體" panose="020B0604030504040204" pitchFamily="34" charset="-120"/>
              </a:rPr>
              <a:t> 機台別 </a:t>
            </a:r>
            <a:r>
              <a:rPr lang="en-US" altLang="zh-TW" sz="1000" b="1" kern="0" dirty="0" smtClean="0">
                <a:solidFill>
                  <a:srgbClr val="F64C00"/>
                </a:solidFill>
                <a:latin typeface="微軟正黑體" panose="020B0604030504040204" pitchFamily="34" charset="-120"/>
                <a:ea typeface="微軟正黑體" panose="020B0604030504040204" pitchFamily="34" charset="-120"/>
              </a:rPr>
              <a:t>/</a:t>
            </a:r>
            <a:r>
              <a:rPr lang="zh-TW" altLang="en-US" sz="1000" b="1" kern="0" dirty="0" smtClean="0">
                <a:solidFill>
                  <a:srgbClr val="F64C00"/>
                </a:solidFill>
                <a:latin typeface="微軟正黑體" panose="020B0604030504040204" pitchFamily="34" charset="-120"/>
                <a:ea typeface="微軟正黑體" panose="020B0604030504040204" pitchFamily="34" charset="-120"/>
              </a:rPr>
              <a:t> </a:t>
            </a:r>
            <a:r>
              <a:rPr lang="en-US" altLang="zh-TW" sz="1000" b="1" kern="0" dirty="0" smtClean="0">
                <a:solidFill>
                  <a:srgbClr val="F64C00"/>
                </a:solidFill>
                <a:latin typeface="微軟正黑體" panose="020B0604030504040204" pitchFamily="34" charset="-120"/>
                <a:ea typeface="微軟正黑體" panose="020B0604030504040204" pitchFamily="34" charset="-120"/>
              </a:rPr>
              <a:t>Mask(</a:t>
            </a:r>
            <a:r>
              <a:rPr lang="zh-TW" altLang="en-US" sz="1000" b="1" kern="0" dirty="0" smtClean="0">
                <a:solidFill>
                  <a:srgbClr val="F64C00"/>
                </a:solidFill>
                <a:latin typeface="微軟正黑體" panose="020B0604030504040204" pitchFamily="34" charset="-120"/>
                <a:ea typeface="微軟正黑體" panose="020B0604030504040204" pitchFamily="34" charset="-120"/>
              </a:rPr>
              <a:t>數量自選</a:t>
            </a:r>
            <a:r>
              <a:rPr lang="en-US" altLang="zh-TW" sz="1000" b="1" kern="0" dirty="0" smtClean="0">
                <a:solidFill>
                  <a:srgbClr val="F64C00"/>
                </a:solidFill>
                <a:latin typeface="微軟正黑體" panose="020B0604030504040204" pitchFamily="34" charset="-120"/>
                <a:ea typeface="微軟正黑體" panose="020B0604030504040204" pitchFamily="34" charset="-120"/>
              </a:rPr>
              <a:t>)</a:t>
            </a:r>
            <a:r>
              <a:rPr lang="zh-TW" altLang="en-US" sz="1000" b="1" kern="0" dirty="0" smtClean="0">
                <a:solidFill>
                  <a:srgbClr val="F64C00"/>
                </a:solidFill>
                <a:latin typeface="微軟正黑體" panose="020B0604030504040204" pitchFamily="34" charset="-120"/>
                <a:ea typeface="微軟正黑體" panose="020B0604030504040204" pitchFamily="34" charset="-120"/>
              </a:rPr>
              <a:t> </a:t>
            </a:r>
            <a:endParaRPr lang="zh-TW" altLang="en-US" sz="1000" b="1" kern="0" dirty="0">
              <a:solidFill>
                <a:srgbClr val="F64C00"/>
              </a:solidFill>
              <a:latin typeface="微軟正黑體" panose="020B0604030504040204" pitchFamily="34" charset="-120"/>
              <a:ea typeface="微軟正黑體" panose="020B0604030504040204" pitchFamily="34" charset="-120"/>
            </a:endParaRPr>
          </a:p>
        </p:txBody>
      </p:sp>
      <p:sp>
        <p:nvSpPr>
          <p:cNvPr id="100" name="文字方塊 99"/>
          <p:cNvSpPr txBox="1"/>
          <p:nvPr/>
        </p:nvSpPr>
        <p:spPr>
          <a:xfrm>
            <a:off x="7144898" y="2873124"/>
            <a:ext cx="1723549" cy="246221"/>
          </a:xfrm>
          <a:prstGeom prst="rect">
            <a:avLst/>
          </a:prstGeom>
          <a:noFill/>
        </p:spPr>
        <p:txBody>
          <a:bodyPr wrap="none" rtlCol="0">
            <a:spAutoFit/>
          </a:bodyPr>
          <a:lstStyle/>
          <a:p>
            <a:r>
              <a:rPr lang="zh-TW" altLang="en-US" sz="1000" b="1" kern="0" dirty="0" smtClean="0">
                <a:solidFill>
                  <a:srgbClr val="F64C00"/>
                </a:solidFill>
                <a:latin typeface="微軟正黑體" panose="020B0604030504040204" pitchFamily="34" charset="-120"/>
                <a:ea typeface="微軟正黑體" panose="020B0604030504040204" pitchFamily="34" charset="-120"/>
              </a:rPr>
              <a:t>可選擇座標看單點疊加狀態</a:t>
            </a:r>
            <a:endParaRPr lang="zh-TW" altLang="en-US" sz="1000" b="1" kern="0" dirty="0">
              <a:solidFill>
                <a:srgbClr val="F64C00"/>
              </a:solidFill>
              <a:latin typeface="微軟正黑體" panose="020B0604030504040204" pitchFamily="34" charset="-120"/>
              <a:ea typeface="微軟正黑體" panose="020B0604030504040204" pitchFamily="34" charset="-120"/>
            </a:endParaRPr>
          </a:p>
        </p:txBody>
      </p:sp>
      <p:sp>
        <p:nvSpPr>
          <p:cNvPr id="101" name="文字方塊 100"/>
          <p:cNvSpPr txBox="1"/>
          <p:nvPr/>
        </p:nvSpPr>
        <p:spPr>
          <a:xfrm>
            <a:off x="5068994" y="4294688"/>
            <a:ext cx="1840421" cy="246221"/>
          </a:xfrm>
          <a:prstGeom prst="rect">
            <a:avLst/>
          </a:prstGeom>
          <a:noFill/>
        </p:spPr>
        <p:txBody>
          <a:bodyPr wrap="square" rtlCol="0">
            <a:spAutoFit/>
          </a:bodyPr>
          <a:lstStyle/>
          <a:p>
            <a:pPr lvl="0"/>
            <a:r>
              <a:rPr lang="zh-TW" altLang="en-US" sz="1000" b="1" dirty="0">
                <a:solidFill>
                  <a:srgbClr val="F64C00"/>
                </a:solidFill>
                <a:latin typeface="微軟正黑體" panose="020B0604030504040204" pitchFamily="34" charset="-120"/>
                <a:ea typeface="微軟正黑體" panose="020B0604030504040204" pitchFamily="34" charset="-120"/>
              </a:rPr>
              <a:t>人事成本 </a:t>
            </a:r>
            <a:r>
              <a:rPr lang="zh-TW" altLang="en-US" sz="1000" b="1" dirty="0" smtClean="0">
                <a:solidFill>
                  <a:schemeClr val="accent1"/>
                </a:solidFill>
                <a:latin typeface="微軟正黑體" panose="020B0604030504040204" pitchFamily="34" charset="-120"/>
                <a:ea typeface="微軟正黑體" panose="020B0604030504040204" pitchFamily="34" charset="-120"/>
              </a:rPr>
              <a:t>每月 </a:t>
            </a:r>
            <a:r>
              <a:rPr lang="en-US" altLang="zh-TW" sz="1000" b="1" dirty="0" smtClean="0">
                <a:solidFill>
                  <a:schemeClr val="accent1"/>
                </a:solidFill>
                <a:latin typeface="微軟正黑體" panose="020B0604030504040204" pitchFamily="34" charset="-120"/>
                <a:ea typeface="微軟正黑體" panose="020B0604030504040204" pitchFamily="34" charset="-120"/>
              </a:rPr>
              <a:t>5000/</a:t>
            </a:r>
            <a:r>
              <a:rPr lang="zh-TW" altLang="en-US" sz="1000" b="1" dirty="0" smtClean="0">
                <a:solidFill>
                  <a:schemeClr val="accent1"/>
                </a:solidFill>
                <a:latin typeface="微軟正黑體" panose="020B0604030504040204" pitchFamily="34" charset="-120"/>
                <a:ea typeface="微軟正黑體" panose="020B0604030504040204" pitchFamily="34" charset="-120"/>
              </a:rPr>
              <a:t>元</a:t>
            </a:r>
            <a:endParaRPr lang="zh-TW" altLang="en-US" sz="1000" b="1" dirty="0">
              <a:solidFill>
                <a:schemeClr val="accent1"/>
              </a:solidFill>
              <a:latin typeface="微軟正黑體" panose="020B0604030504040204" pitchFamily="34" charset="-120"/>
              <a:ea typeface="微軟正黑體" panose="020B0604030504040204" pitchFamily="34" charset="-120"/>
            </a:endParaRPr>
          </a:p>
        </p:txBody>
      </p:sp>
      <p:sp>
        <p:nvSpPr>
          <p:cNvPr id="102" name="文字方塊 101"/>
          <p:cNvSpPr txBox="1"/>
          <p:nvPr/>
        </p:nvSpPr>
        <p:spPr>
          <a:xfrm>
            <a:off x="4641886" y="4268251"/>
            <a:ext cx="492443" cy="276999"/>
          </a:xfrm>
          <a:prstGeom prst="rect">
            <a:avLst/>
          </a:prstGeom>
          <a:noFill/>
        </p:spPr>
        <p:txBody>
          <a:bodyPr wrap="none" rtlCol="0">
            <a:spAutoFit/>
          </a:bodyPr>
          <a:lstStyle/>
          <a:p>
            <a:pPr lvl="0"/>
            <a:r>
              <a:rPr lang="zh-TW" altLang="en-US" sz="1200" b="1" dirty="0">
                <a:latin typeface="微軟正黑體" panose="020B0604030504040204" pitchFamily="34" charset="-120"/>
                <a:ea typeface="微軟正黑體" panose="020B0604030504040204" pitchFamily="34" charset="-120"/>
              </a:rPr>
              <a:t>顯</a:t>
            </a:r>
            <a:r>
              <a:rPr lang="zh-TW" altLang="en-US" sz="1200" b="1" dirty="0" smtClean="0">
                <a:latin typeface="微軟正黑體" panose="020B0604030504040204" pitchFamily="34" charset="-120"/>
                <a:ea typeface="微軟正黑體" panose="020B0604030504040204" pitchFamily="34" charset="-120"/>
              </a:rPr>
              <a:t>性</a:t>
            </a:r>
            <a:endParaRPr lang="zh-TW" altLang="en-US" sz="1200" b="1" dirty="0">
              <a:latin typeface="微軟正黑體" panose="020B0604030504040204" pitchFamily="34" charset="-120"/>
              <a:ea typeface="微軟正黑體" panose="020B0604030504040204" pitchFamily="34" charset="-120"/>
            </a:endParaRPr>
          </a:p>
        </p:txBody>
      </p:sp>
      <p:sp>
        <p:nvSpPr>
          <p:cNvPr id="19" name="矩形 18"/>
          <p:cNvSpPr/>
          <p:nvPr/>
        </p:nvSpPr>
        <p:spPr>
          <a:xfrm>
            <a:off x="5063111" y="3345381"/>
            <a:ext cx="1101097" cy="176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串 </a:t>
            </a:r>
            <a:r>
              <a:rPr lang="en-US" altLang="zh-TW" sz="1000" dirty="0" smtClean="0">
                <a:latin typeface="微軟正黑體" panose="020B0604030504040204" pitchFamily="34" charset="-120"/>
                <a:ea typeface="微軟正黑體" panose="020B0604030504040204" pitchFamily="34" charset="-120"/>
              </a:rPr>
              <a:t>e-Stone</a:t>
            </a:r>
            <a:r>
              <a:rPr lang="zh-TW" altLang="en-US" sz="1000" dirty="0" smtClean="0">
                <a:latin typeface="微軟正黑體" panose="020B0604030504040204" pitchFamily="34" charset="-120"/>
                <a:ea typeface="微軟正黑體" panose="020B0604030504040204" pitchFamily="34" charset="-120"/>
              </a:rPr>
              <a:t>閉環</a:t>
            </a:r>
            <a:endParaRPr lang="zh-TW" altLang="en-US" sz="1000" dirty="0">
              <a:latin typeface="微軟正黑體" panose="020B0604030504040204" pitchFamily="34" charset="-120"/>
              <a:ea typeface="微軟正黑體" panose="020B0604030504040204" pitchFamily="34" charset="-120"/>
            </a:endParaRPr>
          </a:p>
        </p:txBody>
      </p:sp>
      <p:cxnSp>
        <p:nvCxnSpPr>
          <p:cNvPr id="21" name="肘形接點 20"/>
          <p:cNvCxnSpPr>
            <a:endCxn id="19" idx="1"/>
          </p:cNvCxnSpPr>
          <p:nvPr/>
        </p:nvCxnSpPr>
        <p:spPr>
          <a:xfrm rot="16200000" flipH="1">
            <a:off x="4748558" y="3118928"/>
            <a:ext cx="392641" cy="23646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23" name="圖片 22"/>
          <p:cNvPicPr>
            <a:picLocks noChangeAspect="1"/>
          </p:cNvPicPr>
          <p:nvPr/>
        </p:nvPicPr>
        <p:blipFill>
          <a:blip r:embed="rId9"/>
          <a:stretch>
            <a:fillRect/>
          </a:stretch>
        </p:blipFill>
        <p:spPr>
          <a:xfrm>
            <a:off x="2616004" y="3362008"/>
            <a:ext cx="1725365" cy="1396922"/>
          </a:xfrm>
          <a:prstGeom prst="rect">
            <a:avLst/>
          </a:prstGeom>
        </p:spPr>
      </p:pic>
      <p:pic>
        <p:nvPicPr>
          <p:cNvPr id="24" name="圖片 23"/>
          <p:cNvPicPr>
            <a:picLocks noChangeAspect="1"/>
          </p:cNvPicPr>
          <p:nvPr/>
        </p:nvPicPr>
        <p:blipFill rotWithShape="1">
          <a:blip r:embed="rId10"/>
          <a:srcRect r="28759"/>
          <a:stretch/>
        </p:blipFill>
        <p:spPr>
          <a:xfrm>
            <a:off x="7989186" y="1883778"/>
            <a:ext cx="947950" cy="451227"/>
          </a:xfrm>
          <a:prstGeom prst="rect">
            <a:avLst/>
          </a:prstGeom>
        </p:spPr>
      </p:pic>
      <p:pic>
        <p:nvPicPr>
          <p:cNvPr id="27" name="圖片 26"/>
          <p:cNvPicPr>
            <a:picLocks noChangeAspect="1"/>
          </p:cNvPicPr>
          <p:nvPr/>
        </p:nvPicPr>
        <p:blipFill>
          <a:blip r:embed="rId11"/>
          <a:stretch>
            <a:fillRect/>
          </a:stretch>
        </p:blipFill>
        <p:spPr>
          <a:xfrm>
            <a:off x="7053779" y="1559345"/>
            <a:ext cx="952893" cy="423925"/>
          </a:xfrm>
          <a:prstGeom prst="rect">
            <a:avLst/>
          </a:prstGeom>
        </p:spPr>
      </p:pic>
      <p:sp>
        <p:nvSpPr>
          <p:cNvPr id="99" name="文字方塊 98"/>
          <p:cNvSpPr txBox="1"/>
          <p:nvPr/>
        </p:nvSpPr>
        <p:spPr>
          <a:xfrm>
            <a:off x="7445430" y="1660451"/>
            <a:ext cx="1414170" cy="246221"/>
          </a:xfrm>
          <a:prstGeom prst="rect">
            <a:avLst/>
          </a:prstGeom>
          <a:noFill/>
        </p:spPr>
        <p:txBody>
          <a:bodyPr wrap="none" rtlCol="0">
            <a:spAutoFit/>
          </a:bodyPr>
          <a:lstStyle/>
          <a:p>
            <a:r>
              <a:rPr lang="en-US" altLang="zh-TW" sz="1000" b="1" kern="0" dirty="0" smtClean="0">
                <a:solidFill>
                  <a:srgbClr val="F64C00"/>
                </a:solidFill>
                <a:latin typeface="微軟正黑體" panose="020B0604030504040204" pitchFamily="34" charset="-120"/>
                <a:ea typeface="微軟正黑體" panose="020B0604030504040204" pitchFamily="34" charset="-120"/>
              </a:rPr>
              <a:t>By</a:t>
            </a:r>
            <a:r>
              <a:rPr lang="zh-TW" altLang="en-US" sz="1000" b="1" kern="0" dirty="0" smtClean="0">
                <a:solidFill>
                  <a:srgbClr val="F64C00"/>
                </a:solidFill>
                <a:latin typeface="微軟正黑體" panose="020B0604030504040204" pitchFamily="34" charset="-120"/>
                <a:ea typeface="微軟正黑體" panose="020B0604030504040204" pitchFamily="34" charset="-120"/>
              </a:rPr>
              <a:t> 機台</a:t>
            </a:r>
            <a:r>
              <a:rPr lang="zh-TW" altLang="en-US" sz="1000" b="1" kern="0" dirty="0">
                <a:solidFill>
                  <a:srgbClr val="F64C00"/>
                </a:solidFill>
                <a:latin typeface="微軟正黑體" panose="020B0604030504040204" pitchFamily="34" charset="-120"/>
                <a:ea typeface="微軟正黑體" panose="020B0604030504040204" pitchFamily="34" charset="-120"/>
              </a:rPr>
              <a:t>疊</a:t>
            </a:r>
            <a:r>
              <a:rPr lang="zh-TW" altLang="en-US" sz="1000" b="1" kern="0" dirty="0" smtClean="0">
                <a:solidFill>
                  <a:srgbClr val="F64C00"/>
                </a:solidFill>
                <a:latin typeface="微軟正黑體" panose="020B0604030504040204" pitchFamily="34" charset="-120"/>
                <a:ea typeface="微軟正黑體" panose="020B0604030504040204" pitchFamily="34" charset="-120"/>
              </a:rPr>
              <a:t>加</a:t>
            </a:r>
            <a:r>
              <a:rPr lang="en-US" altLang="zh-TW" sz="1000" b="1" kern="0" dirty="0" smtClean="0">
                <a:solidFill>
                  <a:srgbClr val="F64C00"/>
                </a:solidFill>
                <a:latin typeface="微軟正黑體" panose="020B0604030504040204" pitchFamily="34" charset="-120"/>
                <a:ea typeface="微軟正黑體" panose="020B0604030504040204" pitchFamily="34" charset="-120"/>
              </a:rPr>
              <a:t>rank</a:t>
            </a:r>
            <a:r>
              <a:rPr lang="zh-TW" altLang="en-US" sz="1000" b="1" kern="0" dirty="0" smtClean="0">
                <a:solidFill>
                  <a:srgbClr val="F64C00"/>
                </a:solidFill>
                <a:latin typeface="微軟正黑體" panose="020B0604030504040204" pitchFamily="34" charset="-120"/>
                <a:ea typeface="微軟正黑體" panose="020B0604030504040204" pitchFamily="34" charset="-120"/>
              </a:rPr>
              <a:t>狀</a:t>
            </a:r>
            <a:r>
              <a:rPr lang="zh-TW" altLang="en-US" sz="1000" b="1" kern="0" dirty="0">
                <a:solidFill>
                  <a:srgbClr val="F64C00"/>
                </a:solidFill>
                <a:latin typeface="微軟正黑體" panose="020B0604030504040204" pitchFamily="34" charset="-120"/>
                <a:ea typeface="微軟正黑體" panose="020B0604030504040204" pitchFamily="34" charset="-120"/>
              </a:rPr>
              <a:t>況</a:t>
            </a:r>
          </a:p>
        </p:txBody>
      </p:sp>
      <p:sp>
        <p:nvSpPr>
          <p:cNvPr id="90"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a:cs typeface="Arial" panose="020B0604020202020204" pitchFamily="34" charset="0"/>
              </a:rPr>
              <a:t>Nikon</a:t>
            </a:r>
            <a:r>
              <a:rPr lang="zh-TW" altLang="en-US" dirty="0">
                <a:cs typeface="Arial" panose="020B0604020202020204" pitchFamily="34" charset="0"/>
              </a:rPr>
              <a:t>機台</a:t>
            </a:r>
            <a:r>
              <a:rPr lang="en-US" altLang="zh-TW" dirty="0">
                <a:cs typeface="Arial" panose="020B0604020202020204" pitchFamily="34" charset="0"/>
              </a:rPr>
              <a:t>PPC</a:t>
            </a:r>
            <a:r>
              <a:rPr lang="zh-TW" altLang="en-US" dirty="0">
                <a:cs typeface="Arial" panose="020B0604020202020204" pitchFamily="34" charset="0"/>
              </a:rPr>
              <a:t>預警</a:t>
            </a:r>
          </a:p>
          <a:p>
            <a:endParaRPr lang="zh-TW" altLang="en-US" dirty="0">
              <a:cs typeface="Arial" panose="020B0604020202020204" pitchFamily="34" charset="0"/>
            </a:endParaRPr>
          </a:p>
          <a:p>
            <a:endParaRPr lang="zh-TW" altLang="en-US" dirty="0">
              <a:cs typeface="Arial" panose="020B0604020202020204" pitchFamily="34" charset="0"/>
            </a:endParaRPr>
          </a:p>
        </p:txBody>
      </p:sp>
    </p:spTree>
    <p:extLst>
      <p:ext uri="{BB962C8B-B14F-4D97-AF65-F5344CB8AC3E}">
        <p14:creationId xmlns:p14="http://schemas.microsoft.com/office/powerpoint/2010/main" val="242626267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4532533" y="813872"/>
            <a:ext cx="4485737" cy="1708232"/>
          </a:xfrm>
          <a:prstGeom prst="roundRect">
            <a:avLst>
              <a:gd name="adj" fmla="val 7070"/>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155416" y="775652"/>
            <a:ext cx="4253810" cy="1746452"/>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grpSp>
        <p:nvGrpSpPr>
          <p:cNvPr id="6" name="组合 25"/>
          <p:cNvGrpSpPr>
            <a:grpSpLocks/>
          </p:cNvGrpSpPr>
          <p:nvPr/>
        </p:nvGrpSpPr>
        <p:grpSpPr bwMode="auto">
          <a:xfrm rot="19467343">
            <a:off x="4258429" y="864294"/>
            <a:ext cx="372776" cy="311254"/>
            <a:chOff x="6811963" y="4252913"/>
            <a:chExt cx="1397000" cy="1397000"/>
          </a:xfrm>
        </p:grpSpPr>
        <p:sp>
          <p:nvSpPr>
            <p:cNvPr id="7" name="Freeform 9"/>
            <p:cNvSpPr>
              <a:spLocks noEditPoints="1"/>
            </p:cNvSpPr>
            <p:nvPr/>
          </p:nvSpPr>
          <p:spPr bwMode="auto">
            <a:xfrm>
              <a:off x="6811963" y="4252913"/>
              <a:ext cx="1397000" cy="1397000"/>
            </a:xfrm>
            <a:custGeom>
              <a:avLst/>
              <a:gdLst>
                <a:gd name="T0" fmla="*/ 2147483647 w 880"/>
                <a:gd name="T1" fmla="*/ 2147483647 h 880"/>
                <a:gd name="T2" fmla="*/ 2147483647 w 880"/>
                <a:gd name="T3" fmla="*/ 2147483647 h 880"/>
                <a:gd name="T4" fmla="*/ 2147483647 w 880"/>
                <a:gd name="T5" fmla="*/ 2147483647 h 880"/>
                <a:gd name="T6" fmla="*/ 2147483647 w 880"/>
                <a:gd name="T7" fmla="*/ 2147483647 h 880"/>
                <a:gd name="T8" fmla="*/ 2147483647 w 880"/>
                <a:gd name="T9" fmla="*/ 2147483647 h 880"/>
                <a:gd name="T10" fmla="*/ 2147483647 w 880"/>
                <a:gd name="T11" fmla="*/ 2147483647 h 880"/>
                <a:gd name="T12" fmla="*/ 2147483647 w 880"/>
                <a:gd name="T13" fmla="*/ 2147483647 h 880"/>
                <a:gd name="T14" fmla="*/ 2147483647 w 880"/>
                <a:gd name="T15" fmla="*/ 2147483647 h 880"/>
                <a:gd name="T16" fmla="*/ 2147483647 w 880"/>
                <a:gd name="T17" fmla="*/ 2147483647 h 880"/>
                <a:gd name="T18" fmla="*/ 2147483647 w 880"/>
                <a:gd name="T19" fmla="*/ 2147483647 h 880"/>
                <a:gd name="T20" fmla="*/ 2147483647 w 880"/>
                <a:gd name="T21" fmla="*/ 2147483647 h 880"/>
                <a:gd name="T22" fmla="*/ 2147483647 w 880"/>
                <a:gd name="T23" fmla="*/ 2147483647 h 880"/>
                <a:gd name="T24" fmla="*/ 2147483647 w 880"/>
                <a:gd name="T25" fmla="*/ 2147483647 h 880"/>
                <a:gd name="T26" fmla="*/ 2147483647 w 880"/>
                <a:gd name="T27" fmla="*/ 2147483647 h 880"/>
                <a:gd name="T28" fmla="*/ 0 w 880"/>
                <a:gd name="T29" fmla="*/ 2147483647 h 880"/>
                <a:gd name="T30" fmla="*/ 2147483647 w 880"/>
                <a:gd name="T31" fmla="*/ 2147483647 h 880"/>
                <a:gd name="T32" fmla="*/ 2147483647 w 880"/>
                <a:gd name="T33" fmla="*/ 2147483647 h 880"/>
                <a:gd name="T34" fmla="*/ 2147483647 w 880"/>
                <a:gd name="T35" fmla="*/ 2147483647 h 880"/>
                <a:gd name="T36" fmla="*/ 2147483647 w 880"/>
                <a:gd name="T37" fmla="*/ 2147483647 h 880"/>
                <a:gd name="T38" fmla="*/ 2147483647 w 880"/>
                <a:gd name="T39" fmla="*/ 2147483647 h 880"/>
                <a:gd name="T40" fmla="*/ 2147483647 w 880"/>
                <a:gd name="T41" fmla="*/ 2147483647 h 880"/>
                <a:gd name="T42" fmla="*/ 2147483647 w 880"/>
                <a:gd name="T43" fmla="*/ 2147483647 h 880"/>
                <a:gd name="T44" fmla="*/ 2147483647 w 880"/>
                <a:gd name="T45" fmla="*/ 2147483647 h 880"/>
                <a:gd name="T46" fmla="*/ 2147483647 w 880"/>
                <a:gd name="T47" fmla="*/ 2147483647 h 880"/>
                <a:gd name="T48" fmla="*/ 2147483647 w 880"/>
                <a:gd name="T49" fmla="*/ 2147483647 h 880"/>
                <a:gd name="T50" fmla="*/ 2147483647 w 880"/>
                <a:gd name="T51" fmla="*/ 2147483647 h 880"/>
                <a:gd name="T52" fmla="*/ 2147483647 w 880"/>
                <a:gd name="T53" fmla="*/ 2147483647 h 880"/>
                <a:gd name="T54" fmla="*/ 2147483647 w 880"/>
                <a:gd name="T55" fmla="*/ 2147483647 h 880"/>
                <a:gd name="T56" fmla="*/ 2147483647 w 880"/>
                <a:gd name="T57" fmla="*/ 2147483647 h 880"/>
                <a:gd name="T58" fmla="*/ 2147483647 w 880"/>
                <a:gd name="T59" fmla="*/ 2147483647 h 880"/>
                <a:gd name="T60" fmla="*/ 2147483647 w 880"/>
                <a:gd name="T61" fmla="*/ 2147483647 h 880"/>
                <a:gd name="T62" fmla="*/ 2147483647 w 880"/>
                <a:gd name="T63" fmla="*/ 2147483647 h 880"/>
                <a:gd name="T64" fmla="*/ 2147483647 w 880"/>
                <a:gd name="T65" fmla="*/ 2147483647 h 880"/>
                <a:gd name="T66" fmla="*/ 2147483647 w 880"/>
                <a:gd name="T67" fmla="*/ 2147483647 h 880"/>
                <a:gd name="T68" fmla="*/ 2147483647 w 880"/>
                <a:gd name="T69" fmla="*/ 2147483647 h 880"/>
                <a:gd name="T70" fmla="*/ 2147483647 w 880"/>
                <a:gd name="T71" fmla="*/ 2147483647 h 880"/>
                <a:gd name="T72" fmla="*/ 2147483647 w 880"/>
                <a:gd name="T73" fmla="*/ 2147483647 h 880"/>
                <a:gd name="T74" fmla="*/ 2147483647 w 880"/>
                <a:gd name="T75" fmla="*/ 2147483647 h 880"/>
                <a:gd name="T76" fmla="*/ 2147483647 w 880"/>
                <a:gd name="T77" fmla="*/ 2147483647 h 880"/>
                <a:gd name="T78" fmla="*/ 2147483647 w 880"/>
                <a:gd name="T79" fmla="*/ 2147483647 h 880"/>
                <a:gd name="T80" fmla="*/ 2147483647 w 880"/>
                <a:gd name="T81" fmla="*/ 2147483647 h 880"/>
                <a:gd name="T82" fmla="*/ 2147483647 w 880"/>
                <a:gd name="T83" fmla="*/ 2147483647 h 880"/>
                <a:gd name="T84" fmla="*/ 2147483647 w 880"/>
                <a:gd name="T85" fmla="*/ 2147483647 h 880"/>
                <a:gd name="T86" fmla="*/ 2147483647 w 880"/>
                <a:gd name="T87" fmla="*/ 2147483647 h 880"/>
                <a:gd name="T88" fmla="*/ 2147483647 w 880"/>
                <a:gd name="T89" fmla="*/ 2147483647 h 880"/>
                <a:gd name="T90" fmla="*/ 2147483647 w 880"/>
                <a:gd name="T91" fmla="*/ 2147483647 h 880"/>
                <a:gd name="T92" fmla="*/ 2147483647 w 880"/>
                <a:gd name="T93" fmla="*/ 2147483647 h 880"/>
                <a:gd name="T94" fmla="*/ 2147483647 w 880"/>
                <a:gd name="T95" fmla="*/ 2147483647 h 880"/>
                <a:gd name="T96" fmla="*/ 2147483647 w 880"/>
                <a:gd name="T97" fmla="*/ 2147483647 h 880"/>
                <a:gd name="T98" fmla="*/ 2147483647 w 880"/>
                <a:gd name="T99" fmla="*/ 2147483647 h 880"/>
                <a:gd name="T100" fmla="*/ 2147483647 w 880"/>
                <a:gd name="T101" fmla="*/ 2147483647 h 880"/>
                <a:gd name="T102" fmla="*/ 2147483647 w 880"/>
                <a:gd name="T103" fmla="*/ 2147483647 h 880"/>
                <a:gd name="T104" fmla="*/ 2147483647 w 880"/>
                <a:gd name="T105" fmla="*/ 2147483647 h 880"/>
                <a:gd name="T106" fmla="*/ 2147483647 w 880"/>
                <a:gd name="T107" fmla="*/ 2147483647 h 8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80"/>
                <a:gd name="T163" fmla="*/ 0 h 880"/>
                <a:gd name="T164" fmla="*/ 880 w 880"/>
                <a:gd name="T165" fmla="*/ 880 h 88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80" h="880">
                  <a:moveTo>
                    <a:pt x="273" y="137"/>
                  </a:moveTo>
                  <a:lnTo>
                    <a:pt x="493" y="356"/>
                  </a:lnTo>
                  <a:lnTo>
                    <a:pt x="498" y="340"/>
                  </a:lnTo>
                  <a:lnTo>
                    <a:pt x="502" y="325"/>
                  </a:lnTo>
                  <a:lnTo>
                    <a:pt x="504" y="309"/>
                  </a:lnTo>
                  <a:lnTo>
                    <a:pt x="506" y="291"/>
                  </a:lnTo>
                  <a:lnTo>
                    <a:pt x="506" y="273"/>
                  </a:lnTo>
                  <a:lnTo>
                    <a:pt x="504" y="253"/>
                  </a:lnTo>
                  <a:lnTo>
                    <a:pt x="502" y="236"/>
                  </a:lnTo>
                  <a:lnTo>
                    <a:pt x="496" y="218"/>
                  </a:lnTo>
                  <a:lnTo>
                    <a:pt x="489" y="200"/>
                  </a:lnTo>
                  <a:lnTo>
                    <a:pt x="481" y="184"/>
                  </a:lnTo>
                  <a:lnTo>
                    <a:pt x="469" y="170"/>
                  </a:lnTo>
                  <a:lnTo>
                    <a:pt x="457" y="156"/>
                  </a:lnTo>
                  <a:lnTo>
                    <a:pt x="350" y="50"/>
                  </a:lnTo>
                  <a:lnTo>
                    <a:pt x="336" y="36"/>
                  </a:lnTo>
                  <a:lnTo>
                    <a:pt x="320" y="26"/>
                  </a:lnTo>
                  <a:lnTo>
                    <a:pt x="303" y="16"/>
                  </a:lnTo>
                  <a:lnTo>
                    <a:pt x="287" y="10"/>
                  </a:lnTo>
                  <a:lnTo>
                    <a:pt x="269" y="4"/>
                  </a:lnTo>
                  <a:lnTo>
                    <a:pt x="249" y="2"/>
                  </a:lnTo>
                  <a:lnTo>
                    <a:pt x="231" y="0"/>
                  </a:lnTo>
                  <a:lnTo>
                    <a:pt x="212" y="2"/>
                  </a:lnTo>
                  <a:lnTo>
                    <a:pt x="192" y="4"/>
                  </a:lnTo>
                  <a:lnTo>
                    <a:pt x="172" y="8"/>
                  </a:lnTo>
                  <a:lnTo>
                    <a:pt x="154" y="14"/>
                  </a:lnTo>
                  <a:lnTo>
                    <a:pt x="135" y="22"/>
                  </a:lnTo>
                  <a:lnTo>
                    <a:pt x="117" y="30"/>
                  </a:lnTo>
                  <a:lnTo>
                    <a:pt x="99" y="42"/>
                  </a:lnTo>
                  <a:lnTo>
                    <a:pt x="83" y="54"/>
                  </a:lnTo>
                  <a:lnTo>
                    <a:pt x="67" y="69"/>
                  </a:lnTo>
                  <a:lnTo>
                    <a:pt x="54" y="83"/>
                  </a:lnTo>
                  <a:lnTo>
                    <a:pt x="40" y="101"/>
                  </a:lnTo>
                  <a:lnTo>
                    <a:pt x="30" y="119"/>
                  </a:lnTo>
                  <a:lnTo>
                    <a:pt x="20" y="137"/>
                  </a:lnTo>
                  <a:lnTo>
                    <a:pt x="12" y="155"/>
                  </a:lnTo>
                  <a:lnTo>
                    <a:pt x="6" y="174"/>
                  </a:lnTo>
                  <a:lnTo>
                    <a:pt x="2" y="194"/>
                  </a:lnTo>
                  <a:lnTo>
                    <a:pt x="0" y="212"/>
                  </a:lnTo>
                  <a:lnTo>
                    <a:pt x="0" y="232"/>
                  </a:lnTo>
                  <a:lnTo>
                    <a:pt x="0" y="251"/>
                  </a:lnTo>
                  <a:lnTo>
                    <a:pt x="4" y="269"/>
                  </a:lnTo>
                  <a:lnTo>
                    <a:pt x="8" y="287"/>
                  </a:lnTo>
                  <a:lnTo>
                    <a:pt x="16" y="305"/>
                  </a:lnTo>
                  <a:lnTo>
                    <a:pt x="24" y="321"/>
                  </a:lnTo>
                  <a:lnTo>
                    <a:pt x="36" y="336"/>
                  </a:lnTo>
                  <a:lnTo>
                    <a:pt x="48" y="350"/>
                  </a:lnTo>
                  <a:lnTo>
                    <a:pt x="154" y="459"/>
                  </a:lnTo>
                  <a:lnTo>
                    <a:pt x="174" y="475"/>
                  </a:lnTo>
                  <a:lnTo>
                    <a:pt x="198" y="489"/>
                  </a:lnTo>
                  <a:lnTo>
                    <a:pt x="222" y="499"/>
                  </a:lnTo>
                  <a:lnTo>
                    <a:pt x="247" y="506"/>
                  </a:lnTo>
                  <a:lnTo>
                    <a:pt x="275" y="508"/>
                  </a:lnTo>
                  <a:lnTo>
                    <a:pt x="301" y="506"/>
                  </a:lnTo>
                  <a:lnTo>
                    <a:pt x="328" y="502"/>
                  </a:lnTo>
                  <a:lnTo>
                    <a:pt x="354" y="495"/>
                  </a:lnTo>
                  <a:lnTo>
                    <a:pt x="135" y="275"/>
                  </a:lnTo>
                  <a:lnTo>
                    <a:pt x="127" y="263"/>
                  </a:lnTo>
                  <a:lnTo>
                    <a:pt x="121" y="249"/>
                  </a:lnTo>
                  <a:lnTo>
                    <a:pt x="119" y="234"/>
                  </a:lnTo>
                  <a:lnTo>
                    <a:pt x="121" y="216"/>
                  </a:lnTo>
                  <a:lnTo>
                    <a:pt x="125" y="200"/>
                  </a:lnTo>
                  <a:lnTo>
                    <a:pt x="131" y="184"/>
                  </a:lnTo>
                  <a:lnTo>
                    <a:pt x="141" y="168"/>
                  </a:lnTo>
                  <a:lnTo>
                    <a:pt x="152" y="155"/>
                  </a:lnTo>
                  <a:lnTo>
                    <a:pt x="166" y="143"/>
                  </a:lnTo>
                  <a:lnTo>
                    <a:pt x="182" y="133"/>
                  </a:lnTo>
                  <a:lnTo>
                    <a:pt x="198" y="125"/>
                  </a:lnTo>
                  <a:lnTo>
                    <a:pt x="216" y="121"/>
                  </a:lnTo>
                  <a:lnTo>
                    <a:pt x="231" y="121"/>
                  </a:lnTo>
                  <a:lnTo>
                    <a:pt x="247" y="123"/>
                  </a:lnTo>
                  <a:lnTo>
                    <a:pt x="261" y="127"/>
                  </a:lnTo>
                  <a:lnTo>
                    <a:pt x="273" y="137"/>
                  </a:lnTo>
                  <a:close/>
                  <a:moveTo>
                    <a:pt x="831" y="530"/>
                  </a:moveTo>
                  <a:lnTo>
                    <a:pt x="724" y="423"/>
                  </a:lnTo>
                  <a:lnTo>
                    <a:pt x="710" y="412"/>
                  </a:lnTo>
                  <a:lnTo>
                    <a:pt x="694" y="400"/>
                  </a:lnTo>
                  <a:lnTo>
                    <a:pt x="678" y="392"/>
                  </a:lnTo>
                  <a:lnTo>
                    <a:pt x="663" y="384"/>
                  </a:lnTo>
                  <a:lnTo>
                    <a:pt x="645" y="378"/>
                  </a:lnTo>
                  <a:lnTo>
                    <a:pt x="627" y="374"/>
                  </a:lnTo>
                  <a:lnTo>
                    <a:pt x="607" y="372"/>
                  </a:lnTo>
                  <a:lnTo>
                    <a:pt x="587" y="372"/>
                  </a:lnTo>
                  <a:lnTo>
                    <a:pt x="572" y="374"/>
                  </a:lnTo>
                  <a:lnTo>
                    <a:pt x="556" y="378"/>
                  </a:lnTo>
                  <a:lnTo>
                    <a:pt x="540" y="382"/>
                  </a:lnTo>
                  <a:lnTo>
                    <a:pt x="524" y="386"/>
                  </a:lnTo>
                  <a:lnTo>
                    <a:pt x="744" y="605"/>
                  </a:lnTo>
                  <a:lnTo>
                    <a:pt x="752" y="617"/>
                  </a:lnTo>
                  <a:lnTo>
                    <a:pt x="757" y="633"/>
                  </a:lnTo>
                  <a:lnTo>
                    <a:pt x="759" y="647"/>
                  </a:lnTo>
                  <a:lnTo>
                    <a:pt x="757" y="665"/>
                  </a:lnTo>
                  <a:lnTo>
                    <a:pt x="754" y="680"/>
                  </a:lnTo>
                  <a:lnTo>
                    <a:pt x="748" y="698"/>
                  </a:lnTo>
                  <a:lnTo>
                    <a:pt x="738" y="712"/>
                  </a:lnTo>
                  <a:lnTo>
                    <a:pt x="726" y="726"/>
                  </a:lnTo>
                  <a:lnTo>
                    <a:pt x="712" y="740"/>
                  </a:lnTo>
                  <a:lnTo>
                    <a:pt x="696" y="748"/>
                  </a:lnTo>
                  <a:lnTo>
                    <a:pt x="680" y="756"/>
                  </a:lnTo>
                  <a:lnTo>
                    <a:pt x="663" y="759"/>
                  </a:lnTo>
                  <a:lnTo>
                    <a:pt x="647" y="761"/>
                  </a:lnTo>
                  <a:lnTo>
                    <a:pt x="631" y="758"/>
                  </a:lnTo>
                  <a:lnTo>
                    <a:pt x="617" y="754"/>
                  </a:lnTo>
                  <a:lnTo>
                    <a:pt x="605" y="744"/>
                  </a:lnTo>
                  <a:lnTo>
                    <a:pt x="386" y="524"/>
                  </a:lnTo>
                  <a:lnTo>
                    <a:pt x="378" y="552"/>
                  </a:lnTo>
                  <a:lnTo>
                    <a:pt x="372" y="578"/>
                  </a:lnTo>
                  <a:lnTo>
                    <a:pt x="372" y="605"/>
                  </a:lnTo>
                  <a:lnTo>
                    <a:pt x="374" y="631"/>
                  </a:lnTo>
                  <a:lnTo>
                    <a:pt x="380" y="657"/>
                  </a:lnTo>
                  <a:lnTo>
                    <a:pt x="390" y="682"/>
                  </a:lnTo>
                  <a:lnTo>
                    <a:pt x="404" y="704"/>
                  </a:lnTo>
                  <a:lnTo>
                    <a:pt x="421" y="726"/>
                  </a:lnTo>
                  <a:lnTo>
                    <a:pt x="530" y="833"/>
                  </a:lnTo>
                  <a:lnTo>
                    <a:pt x="544" y="845"/>
                  </a:lnTo>
                  <a:lnTo>
                    <a:pt x="560" y="856"/>
                  </a:lnTo>
                  <a:lnTo>
                    <a:pt x="576" y="864"/>
                  </a:lnTo>
                  <a:lnTo>
                    <a:pt x="593" y="872"/>
                  </a:lnTo>
                  <a:lnTo>
                    <a:pt x="611" y="876"/>
                  </a:lnTo>
                  <a:lnTo>
                    <a:pt x="629" y="880"/>
                  </a:lnTo>
                  <a:lnTo>
                    <a:pt x="649" y="880"/>
                  </a:lnTo>
                  <a:lnTo>
                    <a:pt x="668" y="880"/>
                  </a:lnTo>
                  <a:lnTo>
                    <a:pt x="686" y="878"/>
                  </a:lnTo>
                  <a:lnTo>
                    <a:pt x="706" y="874"/>
                  </a:lnTo>
                  <a:lnTo>
                    <a:pt x="726" y="868"/>
                  </a:lnTo>
                  <a:lnTo>
                    <a:pt x="744" y="860"/>
                  </a:lnTo>
                  <a:lnTo>
                    <a:pt x="763" y="850"/>
                  </a:lnTo>
                  <a:lnTo>
                    <a:pt x="779" y="841"/>
                  </a:lnTo>
                  <a:lnTo>
                    <a:pt x="797" y="829"/>
                  </a:lnTo>
                  <a:lnTo>
                    <a:pt x="813" y="813"/>
                  </a:lnTo>
                  <a:lnTo>
                    <a:pt x="827" y="797"/>
                  </a:lnTo>
                  <a:lnTo>
                    <a:pt x="839" y="781"/>
                  </a:lnTo>
                  <a:lnTo>
                    <a:pt x="850" y="763"/>
                  </a:lnTo>
                  <a:lnTo>
                    <a:pt x="860" y="746"/>
                  </a:lnTo>
                  <a:lnTo>
                    <a:pt x="866" y="728"/>
                  </a:lnTo>
                  <a:lnTo>
                    <a:pt x="872" y="708"/>
                  </a:lnTo>
                  <a:lnTo>
                    <a:pt x="876" y="688"/>
                  </a:lnTo>
                  <a:lnTo>
                    <a:pt x="880" y="669"/>
                  </a:lnTo>
                  <a:lnTo>
                    <a:pt x="880" y="651"/>
                  </a:lnTo>
                  <a:lnTo>
                    <a:pt x="878" y="631"/>
                  </a:lnTo>
                  <a:lnTo>
                    <a:pt x="876" y="613"/>
                  </a:lnTo>
                  <a:lnTo>
                    <a:pt x="870" y="593"/>
                  </a:lnTo>
                  <a:lnTo>
                    <a:pt x="864" y="578"/>
                  </a:lnTo>
                  <a:lnTo>
                    <a:pt x="854" y="560"/>
                  </a:lnTo>
                  <a:lnTo>
                    <a:pt x="844" y="544"/>
                  </a:lnTo>
                  <a:lnTo>
                    <a:pt x="831" y="530"/>
                  </a:lnTo>
                  <a:close/>
                </a:path>
              </a:pathLst>
            </a:custGeom>
            <a:solidFill>
              <a:srgbClr val="1A3953">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a:solidFill>
                  <a:prstClr val="black"/>
                </a:solidFill>
                <a:latin typeface="微軟正黑體" panose="020B0604030504040204" pitchFamily="34" charset="-120"/>
                <a:ea typeface="微軟正黑體" panose="020B0604030504040204" pitchFamily="34" charset="-120"/>
              </a:endParaRPr>
            </a:p>
          </p:txBody>
        </p:sp>
        <p:sp>
          <p:nvSpPr>
            <p:cNvPr id="8" name="Freeform 10"/>
            <p:cNvSpPr>
              <a:spLocks/>
            </p:cNvSpPr>
            <p:nvPr/>
          </p:nvSpPr>
          <p:spPr bwMode="auto">
            <a:xfrm>
              <a:off x="7235826" y="4679950"/>
              <a:ext cx="565150" cy="565150"/>
            </a:xfrm>
            <a:custGeom>
              <a:avLst/>
              <a:gdLst>
                <a:gd name="T0" fmla="*/ 2147483647 w 356"/>
                <a:gd name="T1" fmla="*/ 2147483647 h 356"/>
                <a:gd name="T2" fmla="*/ 2147483647 w 356"/>
                <a:gd name="T3" fmla="*/ 2147483647 h 356"/>
                <a:gd name="T4" fmla="*/ 2147483647 w 356"/>
                <a:gd name="T5" fmla="*/ 2147483647 h 356"/>
                <a:gd name="T6" fmla="*/ 2147483647 w 356"/>
                <a:gd name="T7" fmla="*/ 2147483647 h 356"/>
                <a:gd name="T8" fmla="*/ 2147483647 w 356"/>
                <a:gd name="T9" fmla="*/ 2147483647 h 356"/>
                <a:gd name="T10" fmla="*/ 2147483647 w 356"/>
                <a:gd name="T11" fmla="*/ 2147483647 h 356"/>
                <a:gd name="T12" fmla="*/ 2147483647 w 356"/>
                <a:gd name="T13" fmla="*/ 2147483647 h 356"/>
                <a:gd name="T14" fmla="*/ 2147483647 w 356"/>
                <a:gd name="T15" fmla="*/ 2147483647 h 356"/>
                <a:gd name="T16" fmla="*/ 2147483647 w 356"/>
                <a:gd name="T17" fmla="*/ 2147483647 h 356"/>
                <a:gd name="T18" fmla="*/ 2147483647 w 356"/>
                <a:gd name="T19" fmla="*/ 2147483647 h 356"/>
                <a:gd name="T20" fmla="*/ 2147483647 w 356"/>
                <a:gd name="T21" fmla="*/ 2147483647 h 356"/>
                <a:gd name="T22" fmla="*/ 2147483647 w 356"/>
                <a:gd name="T23" fmla="*/ 2147483647 h 356"/>
                <a:gd name="T24" fmla="*/ 2147483647 w 356"/>
                <a:gd name="T25" fmla="*/ 2147483647 h 356"/>
                <a:gd name="T26" fmla="*/ 2147483647 w 356"/>
                <a:gd name="T27" fmla="*/ 2147483647 h 356"/>
                <a:gd name="T28" fmla="*/ 2147483647 w 356"/>
                <a:gd name="T29" fmla="*/ 2147483647 h 356"/>
                <a:gd name="T30" fmla="*/ 2147483647 w 356"/>
                <a:gd name="T31" fmla="*/ 2147483647 h 356"/>
                <a:gd name="T32" fmla="*/ 2147483647 w 356"/>
                <a:gd name="T33" fmla="*/ 2147483647 h 356"/>
                <a:gd name="T34" fmla="*/ 2147483647 w 356"/>
                <a:gd name="T35" fmla="*/ 2147483647 h 356"/>
                <a:gd name="T36" fmla="*/ 2147483647 w 356"/>
                <a:gd name="T37" fmla="*/ 2147483647 h 356"/>
                <a:gd name="T38" fmla="*/ 2147483647 w 356"/>
                <a:gd name="T39" fmla="*/ 2147483647 h 356"/>
                <a:gd name="T40" fmla="*/ 2147483647 w 356"/>
                <a:gd name="T41" fmla="*/ 2147483647 h 356"/>
                <a:gd name="T42" fmla="*/ 2147483647 w 356"/>
                <a:gd name="T43" fmla="*/ 2147483647 h 356"/>
                <a:gd name="T44" fmla="*/ 2147483647 w 356"/>
                <a:gd name="T45" fmla="*/ 2147483647 h 356"/>
                <a:gd name="T46" fmla="*/ 2147483647 w 356"/>
                <a:gd name="T47" fmla="*/ 2147483647 h 356"/>
                <a:gd name="T48" fmla="*/ 0 w 356"/>
                <a:gd name="T49" fmla="*/ 2147483647 h 356"/>
                <a:gd name="T50" fmla="*/ 0 w 356"/>
                <a:gd name="T51" fmla="*/ 2147483647 h 356"/>
                <a:gd name="T52" fmla="*/ 2147483647 w 356"/>
                <a:gd name="T53" fmla="*/ 2147483647 h 356"/>
                <a:gd name="T54" fmla="*/ 2147483647 w 356"/>
                <a:gd name="T55" fmla="*/ 2147483647 h 356"/>
                <a:gd name="T56" fmla="*/ 2147483647 w 356"/>
                <a:gd name="T57" fmla="*/ 2147483647 h 356"/>
                <a:gd name="T58" fmla="*/ 2147483647 w 356"/>
                <a:gd name="T59" fmla="*/ 2147483647 h 356"/>
                <a:gd name="T60" fmla="*/ 2147483647 w 356"/>
                <a:gd name="T61" fmla="*/ 2147483647 h 356"/>
                <a:gd name="T62" fmla="*/ 2147483647 w 356"/>
                <a:gd name="T63" fmla="*/ 2147483647 h 356"/>
                <a:gd name="T64" fmla="*/ 2147483647 w 356"/>
                <a:gd name="T65" fmla="*/ 2147483647 h 356"/>
                <a:gd name="T66" fmla="*/ 2147483647 w 356"/>
                <a:gd name="T67" fmla="*/ 2147483647 h 356"/>
                <a:gd name="T68" fmla="*/ 2147483647 w 356"/>
                <a:gd name="T69" fmla="*/ 0 h 356"/>
                <a:gd name="T70" fmla="*/ 2147483647 w 356"/>
                <a:gd name="T71" fmla="*/ 0 h 356"/>
                <a:gd name="T72" fmla="*/ 2147483647 w 356"/>
                <a:gd name="T73" fmla="*/ 2147483647 h 356"/>
                <a:gd name="T74" fmla="*/ 2147483647 w 356"/>
                <a:gd name="T75" fmla="*/ 2147483647 h 356"/>
                <a:gd name="T76" fmla="*/ 2147483647 w 356"/>
                <a:gd name="T77" fmla="*/ 2147483647 h 356"/>
                <a:gd name="T78" fmla="*/ 2147483647 w 356"/>
                <a:gd name="T79" fmla="*/ 2147483647 h 35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6"/>
                <a:gd name="T121" fmla="*/ 0 h 356"/>
                <a:gd name="T122" fmla="*/ 356 w 356"/>
                <a:gd name="T123" fmla="*/ 356 h 35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6" h="356">
                  <a:moveTo>
                    <a:pt x="344" y="265"/>
                  </a:moveTo>
                  <a:lnTo>
                    <a:pt x="344" y="265"/>
                  </a:lnTo>
                  <a:lnTo>
                    <a:pt x="350" y="271"/>
                  </a:lnTo>
                  <a:lnTo>
                    <a:pt x="354" y="281"/>
                  </a:lnTo>
                  <a:lnTo>
                    <a:pt x="356" y="289"/>
                  </a:lnTo>
                  <a:lnTo>
                    <a:pt x="356" y="301"/>
                  </a:lnTo>
                  <a:lnTo>
                    <a:pt x="354" y="311"/>
                  </a:lnTo>
                  <a:lnTo>
                    <a:pt x="350" y="320"/>
                  </a:lnTo>
                  <a:lnTo>
                    <a:pt x="346" y="328"/>
                  </a:lnTo>
                  <a:lnTo>
                    <a:pt x="338" y="338"/>
                  </a:lnTo>
                  <a:lnTo>
                    <a:pt x="330" y="344"/>
                  </a:lnTo>
                  <a:lnTo>
                    <a:pt x="320" y="350"/>
                  </a:lnTo>
                  <a:lnTo>
                    <a:pt x="311" y="354"/>
                  </a:lnTo>
                  <a:lnTo>
                    <a:pt x="301" y="356"/>
                  </a:lnTo>
                  <a:lnTo>
                    <a:pt x="291" y="356"/>
                  </a:lnTo>
                  <a:lnTo>
                    <a:pt x="281" y="354"/>
                  </a:lnTo>
                  <a:lnTo>
                    <a:pt x="273" y="350"/>
                  </a:lnTo>
                  <a:lnTo>
                    <a:pt x="265" y="344"/>
                  </a:lnTo>
                  <a:lnTo>
                    <a:pt x="12" y="91"/>
                  </a:lnTo>
                  <a:lnTo>
                    <a:pt x="6" y="83"/>
                  </a:lnTo>
                  <a:lnTo>
                    <a:pt x="2" y="75"/>
                  </a:lnTo>
                  <a:lnTo>
                    <a:pt x="0" y="65"/>
                  </a:lnTo>
                  <a:lnTo>
                    <a:pt x="0" y="56"/>
                  </a:lnTo>
                  <a:lnTo>
                    <a:pt x="2" y="46"/>
                  </a:lnTo>
                  <a:lnTo>
                    <a:pt x="6" y="36"/>
                  </a:lnTo>
                  <a:lnTo>
                    <a:pt x="12" y="26"/>
                  </a:lnTo>
                  <a:lnTo>
                    <a:pt x="18" y="18"/>
                  </a:lnTo>
                  <a:lnTo>
                    <a:pt x="28" y="10"/>
                  </a:lnTo>
                  <a:lnTo>
                    <a:pt x="36" y="6"/>
                  </a:lnTo>
                  <a:lnTo>
                    <a:pt x="46" y="2"/>
                  </a:lnTo>
                  <a:lnTo>
                    <a:pt x="55" y="0"/>
                  </a:lnTo>
                  <a:lnTo>
                    <a:pt x="65" y="0"/>
                  </a:lnTo>
                  <a:lnTo>
                    <a:pt x="75" y="2"/>
                  </a:lnTo>
                  <a:lnTo>
                    <a:pt x="85" y="6"/>
                  </a:lnTo>
                  <a:lnTo>
                    <a:pt x="91" y="12"/>
                  </a:lnTo>
                  <a:lnTo>
                    <a:pt x="344" y="265"/>
                  </a:lnTo>
                  <a:close/>
                </a:path>
              </a:pathLst>
            </a:custGeom>
            <a:solidFill>
              <a:srgbClr val="25A4D6">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400">
                <a:solidFill>
                  <a:prstClr val="black"/>
                </a:solidFill>
                <a:latin typeface="微軟正黑體" panose="020B0604030504040204" pitchFamily="34" charset="-120"/>
                <a:ea typeface="微軟正黑體" panose="020B0604030504040204" pitchFamily="34" charset="-120"/>
              </a:endParaRPr>
            </a:p>
          </p:txBody>
        </p:sp>
      </p:grpSp>
      <p:sp>
        <p:nvSpPr>
          <p:cNvPr id="9" name="矩形 8"/>
          <p:cNvSpPr/>
          <p:nvPr/>
        </p:nvSpPr>
        <p:spPr>
          <a:xfrm>
            <a:off x="155416" y="991925"/>
            <a:ext cx="997203"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改善前</a:t>
            </a:r>
            <a:r>
              <a:rPr lang="en-US" altLang="zh-TW" sz="1600" b="1" dirty="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sp>
        <p:nvSpPr>
          <p:cNvPr id="10" name="矩形 218"/>
          <p:cNvSpPr>
            <a:spLocks noChangeArrowheads="1"/>
          </p:cNvSpPr>
          <p:nvPr/>
        </p:nvSpPr>
        <p:spPr bwMode="auto">
          <a:xfrm>
            <a:off x="2741902" y="2539180"/>
            <a:ext cx="1019142"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600" b="1" dirty="0">
                <a:solidFill>
                  <a:prstClr val="black"/>
                </a:solidFill>
                <a:latin typeface="微軟正黑體" panose="020B0604030504040204" pitchFamily="34" charset="-120"/>
                <a:ea typeface="微軟正黑體" panose="020B0604030504040204" pitchFamily="34" charset="-120"/>
              </a:rPr>
              <a:t>改善後</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sp>
        <p:nvSpPr>
          <p:cNvPr id="11" name="矩形 10"/>
          <p:cNvSpPr/>
          <p:nvPr/>
        </p:nvSpPr>
        <p:spPr>
          <a:xfrm>
            <a:off x="4658015" y="909019"/>
            <a:ext cx="1387361"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技術對策</a:t>
            </a:r>
            <a:r>
              <a:rPr lang="en-US" altLang="zh-TW" sz="1600" b="1" dirty="0">
                <a:solidFill>
                  <a:prstClr val="black"/>
                </a:solidFill>
                <a:latin typeface="微軟正黑體" pitchFamily="34" charset="-120"/>
                <a:ea typeface="微軟正黑體" panose="020B0604030504040204" pitchFamily="34" charset="-120"/>
              </a:rPr>
              <a:t>:</a:t>
            </a:r>
            <a:endParaRPr lang="zh-TW" altLang="en-US" sz="1600" dirty="0">
              <a:solidFill>
                <a:prstClr val="black">
                  <a:lumMod val="95000"/>
                  <a:lumOff val="5000"/>
                </a:prstClr>
              </a:solidFill>
              <a:latin typeface="微軟正黑體" pitchFamily="34" charset="-120"/>
              <a:ea typeface="微軟正黑體" panose="020B0604030504040204" pitchFamily="34" charset="-120"/>
            </a:endParaRPr>
          </a:p>
        </p:txBody>
      </p:sp>
      <p:sp>
        <p:nvSpPr>
          <p:cNvPr id="26" name="矩形 25"/>
          <p:cNvSpPr/>
          <p:nvPr/>
        </p:nvSpPr>
        <p:spPr>
          <a:xfrm>
            <a:off x="4834823" y="1262573"/>
            <a:ext cx="3859798" cy="1233671"/>
          </a:xfrm>
          <a:prstGeom prst="rect">
            <a:avLst/>
          </a:prstGeom>
        </p:spPr>
        <p:txBody>
          <a:bodyPr wrap="square">
            <a:spAutoFit/>
          </a:bodyPr>
          <a:lstStyle/>
          <a:p>
            <a:pPr marL="304792" indent="-304792">
              <a:lnSpc>
                <a:spcPts val="1700"/>
              </a:lnSpc>
              <a:spcBef>
                <a:spcPts val="133"/>
              </a:spcBef>
              <a:buFontTx/>
              <a:buAutoNum type="arabicPeriod"/>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查找</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Canon</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recipe</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particle map data</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儲存檔</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案</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304792" indent="-304792">
              <a:lnSpc>
                <a:spcPts val="1700"/>
              </a:lnSpc>
              <a:spcBef>
                <a:spcPts val="133"/>
              </a:spcBef>
              <a:buFontTx/>
              <a:buAutoNum type="arabicPeriod"/>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查找</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log</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檔</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Map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位址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&amp;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　全篇解碼</a:t>
            </a:r>
            <a:endPar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endParaRPr>
          </a:p>
          <a:p>
            <a:pPr marL="304792" indent="-304792">
              <a:lnSpc>
                <a:spcPts val="1700"/>
              </a:lnSpc>
              <a:spcBef>
                <a:spcPts val="133"/>
              </a:spcBef>
              <a:buFontTx/>
              <a:buAutoNum type="arabicPeriod"/>
            </a:pP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PPC Map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資料清理</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&amp;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建立</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model</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particle</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rank table</a:t>
            </a:r>
          </a:p>
          <a:p>
            <a:pPr marL="304792" indent="-304792">
              <a:lnSpc>
                <a:spcPts val="1700"/>
              </a:lnSpc>
              <a:spcBef>
                <a:spcPts val="133"/>
              </a:spcBef>
              <a:buFontTx/>
              <a:buAutoNum type="arabicPeriod"/>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依據</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NG rank </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堆疊</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particle map(</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區分</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A,B rank)</a:t>
            </a:r>
          </a:p>
          <a:p>
            <a:pPr marL="304792" indent="-304792">
              <a:lnSpc>
                <a:spcPts val="1700"/>
              </a:lnSpc>
              <a:spcBef>
                <a:spcPts val="133"/>
              </a:spcBef>
              <a:buFontTx/>
              <a:buAutoNum type="arabicPeriod"/>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閉環</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管理</a:t>
            </a:r>
            <a:r>
              <a:rPr lang="en-US" altLang="zh-TW" sz="1100" b="1" dirty="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資料視覺化</a:t>
            </a:r>
            <a:r>
              <a:rPr lang="en-US" altLang="zh-TW" sz="1100" b="1" dirty="0">
                <a:solidFill>
                  <a:prstClr val="black">
                    <a:lumMod val="75000"/>
                    <a:lumOff val="25000"/>
                  </a:prstClr>
                </a:solidFill>
                <a:latin typeface="微軟正黑體" panose="020B0604030504040204" pitchFamily="34" charset="-120"/>
                <a:ea typeface="微軟正黑體" panose="020B0604030504040204" pitchFamily="34" charset="-120"/>
              </a:rPr>
              <a:t>EDA</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即時遠端監控</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t>
            </a:r>
            <a:endPar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endParaRPr>
          </a:p>
        </p:txBody>
      </p:sp>
      <p:sp>
        <p:nvSpPr>
          <p:cNvPr id="41" name="矩形 40"/>
          <p:cNvSpPr/>
          <p:nvPr/>
        </p:nvSpPr>
        <p:spPr>
          <a:xfrm>
            <a:off x="544749" y="1492398"/>
            <a:ext cx="3780251" cy="746358"/>
          </a:xfrm>
          <a:prstGeom prst="rect">
            <a:avLst/>
          </a:prstGeom>
        </p:spPr>
        <p:txBody>
          <a:bodyPr wrap="square">
            <a:spAutoFit/>
          </a:bodyPr>
          <a:lstStyle/>
          <a:p>
            <a:pPr algn="just">
              <a:lnSpc>
                <a:spcPts val="1700"/>
              </a:lnSpc>
            </a:pP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部門內</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Canon scan</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機台共</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8</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台，平均每日約耗費</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0.5</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小時清理光罩，一定時間累積多片</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Mask</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上之</a:t>
            </a:r>
            <a:r>
              <a:rPr lang="en-US" altLang="zh-TW" sz="1100" b="1" dirty="0">
                <a:solidFill>
                  <a:prstClr val="black">
                    <a:lumMod val="75000"/>
                    <a:lumOff val="25000"/>
                  </a:prstClr>
                </a:solidFill>
                <a:latin typeface="微軟正黑體" panose="020B0604030504040204" pitchFamily="34" charset="-120"/>
                <a:ea typeface="微軟正黑體" panose="020B0604030504040204" pitchFamily="34" charset="-120"/>
              </a:rPr>
              <a:t>Particle NG</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處</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相同，則須於機構內一一排查源頭，花費多位人力及工時處</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理</a:t>
            </a:r>
          </a:p>
        </p:txBody>
      </p:sp>
      <p:sp>
        <p:nvSpPr>
          <p:cNvPr id="42" name="內容版面配置區 4"/>
          <p:cNvSpPr txBox="1">
            <a:spLocks/>
          </p:cNvSpPr>
          <p:nvPr/>
        </p:nvSpPr>
        <p:spPr>
          <a:xfrm>
            <a:off x="2838393" y="2915883"/>
            <a:ext cx="3801952" cy="2158191"/>
          </a:xfrm>
          <a:prstGeom prst="rect">
            <a:avLst/>
          </a:prstGeom>
        </p:spPr>
        <p:txBody>
          <a:bodyPr/>
          <a:lstStyle>
            <a:lvl1pPr marL="0" indent="0" algn="l" defTabSz="914400" rtl="0" eaLnBrk="1" latinLnBrk="0" hangingPunct="1">
              <a:spcBef>
                <a:spcPct val="20000"/>
              </a:spcBef>
              <a:buFont typeface="Arial" pitchFamily="34" charset="0"/>
              <a:buNone/>
              <a:defRPr sz="2000" kern="1200" baseline="0">
                <a:solidFill>
                  <a:schemeClr val="tx1">
                    <a:lumMod val="75000"/>
                    <a:lumOff val="25000"/>
                  </a:schemeClr>
                </a:solidFill>
                <a:latin typeface="Gill Sans MT" pitchFamily="34" charset="0"/>
                <a:ea typeface="微軟正黑體" pitchFamily="34" charset="-120"/>
                <a:cs typeface="+mn-cs"/>
              </a:defRPr>
            </a:lvl1pPr>
            <a:lvl2pPr marL="742950" indent="-285750" algn="l" defTabSz="914400" rtl="0" eaLnBrk="1" latinLnBrk="0" hangingPunct="1">
              <a:spcBef>
                <a:spcPct val="20000"/>
              </a:spcBef>
              <a:buFont typeface="Arial" pitchFamily="34" charset="0"/>
              <a:buNone/>
              <a:defRPr sz="2000" kern="1200" baseline="0">
                <a:solidFill>
                  <a:schemeClr val="tx1">
                    <a:lumMod val="75000"/>
                    <a:lumOff val="25000"/>
                  </a:schemeClr>
                </a:solidFill>
                <a:latin typeface="Gill Sans MT" pitchFamily="34" charset="0"/>
                <a:ea typeface="微軟正黑體" pitchFamily="34" charset="-120"/>
                <a:cs typeface="+mn-cs"/>
              </a:defRPr>
            </a:lvl2pPr>
            <a:lvl3pPr marL="1143000" indent="-228600" algn="l" defTabSz="914400" rtl="0" eaLnBrk="1" latinLnBrk="0" hangingPunct="1">
              <a:spcBef>
                <a:spcPct val="20000"/>
              </a:spcBef>
              <a:buFont typeface="Arial" pitchFamily="34" charset="0"/>
              <a:buNone/>
              <a:defRPr sz="2000" kern="1200" baseline="0">
                <a:solidFill>
                  <a:schemeClr val="tx1">
                    <a:lumMod val="75000"/>
                    <a:lumOff val="25000"/>
                  </a:schemeClr>
                </a:solidFill>
                <a:latin typeface="Gill Sans MT" pitchFamily="34" charset="0"/>
                <a:ea typeface="微軟正黑體" pitchFamily="34" charset="-120"/>
                <a:cs typeface="+mn-cs"/>
              </a:defRPr>
            </a:lvl3pPr>
            <a:lvl4pPr marL="1600200" indent="-228600" algn="l" defTabSz="914400" rtl="0" eaLnBrk="1" latinLnBrk="0" hangingPunct="1">
              <a:spcBef>
                <a:spcPct val="20000"/>
              </a:spcBef>
              <a:buFont typeface="Arial" pitchFamily="34" charset="0"/>
              <a:buNone/>
              <a:defRPr sz="2000" kern="1200" baseline="0">
                <a:solidFill>
                  <a:schemeClr val="tx1">
                    <a:lumMod val="75000"/>
                    <a:lumOff val="25000"/>
                  </a:schemeClr>
                </a:solidFill>
                <a:latin typeface="Gill Sans MT" pitchFamily="34" charset="0"/>
                <a:ea typeface="微軟正黑體" pitchFamily="34" charset="-120"/>
                <a:cs typeface="+mn-cs"/>
              </a:defRPr>
            </a:lvl4pPr>
            <a:lvl5pPr marL="2057400" indent="-228600" algn="l" defTabSz="914400" rtl="0" eaLnBrk="1" latinLnBrk="0" hangingPunct="1">
              <a:spcBef>
                <a:spcPct val="20000"/>
              </a:spcBef>
              <a:buFont typeface="Arial" pitchFamily="34" charset="0"/>
              <a:buNone/>
              <a:defRPr sz="2000" kern="1200" baseline="0">
                <a:solidFill>
                  <a:schemeClr val="tx1">
                    <a:lumMod val="75000"/>
                    <a:lumOff val="25000"/>
                  </a:schemeClr>
                </a:solidFill>
                <a:latin typeface="Gill Sans MT" pitchFamily="34" charset="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a:lnSpc>
                <a:spcPts val="500"/>
              </a:lnSpc>
              <a:spcAft>
                <a:spcPts val="800"/>
              </a:spcAft>
              <a:buClr>
                <a:schemeClr val="accent6">
                  <a:lumMod val="75000"/>
                </a:schemeClr>
              </a:buClr>
              <a:buFont typeface="Wingdings" panose="05000000000000000000" pitchFamily="2" charset="2"/>
              <a:buChar char="ü"/>
            </a:pPr>
            <a:r>
              <a:rPr lang="en-US" altLang="zh-TW" sz="1100" b="1" dirty="0" smtClean="0">
                <a:latin typeface="微軟正黑體" panose="020B0604030504040204" pitchFamily="34" charset="-120"/>
              </a:rPr>
              <a:t>EDA</a:t>
            </a:r>
            <a:r>
              <a:rPr lang="zh-TW" altLang="en-US" sz="1100" b="1" dirty="0" smtClean="0">
                <a:latin typeface="微軟正黑體" panose="020B0604030504040204" pitchFamily="34" charset="-120"/>
              </a:rPr>
              <a:t>視覺化監控機台 </a:t>
            </a:r>
            <a:r>
              <a:rPr lang="en-US" altLang="zh-TW" sz="1100" b="1" dirty="0" smtClean="0">
                <a:latin typeface="微軟正黑體" panose="020B0604030504040204" pitchFamily="34" charset="-120"/>
              </a:rPr>
              <a:t>Particle map</a:t>
            </a:r>
          </a:p>
          <a:p>
            <a:pPr marL="171450" indent="-171450">
              <a:lnSpc>
                <a:spcPts val="500"/>
              </a:lnSpc>
              <a:spcAft>
                <a:spcPts val="800"/>
              </a:spcAft>
              <a:buClr>
                <a:schemeClr val="accent6">
                  <a:lumMod val="75000"/>
                </a:schemeClr>
              </a:buClr>
              <a:buFont typeface="Wingdings" panose="05000000000000000000" pitchFamily="2" charset="2"/>
              <a:buChar char="ü"/>
            </a:pPr>
            <a:r>
              <a:rPr lang="zh-TW" altLang="en-US" sz="1100" b="1" dirty="0" smtClean="0">
                <a:latin typeface="微軟正黑體" panose="020B0604030504040204" pitchFamily="34" charset="-120"/>
              </a:rPr>
              <a:t>可依據</a:t>
            </a:r>
            <a:r>
              <a:rPr lang="zh-TW" altLang="en-US" sz="1100" b="1" dirty="0">
                <a:latin typeface="微軟正黑體" panose="020B0604030504040204" pitchFamily="34" charset="-120"/>
              </a:rPr>
              <a:t>機台</a:t>
            </a:r>
            <a:r>
              <a:rPr lang="zh-TW" altLang="en-US" sz="1100" b="1" dirty="0" smtClean="0">
                <a:latin typeface="微軟正黑體" panose="020B0604030504040204" pitchFamily="34" charset="-120"/>
              </a:rPr>
              <a:t>、</a:t>
            </a:r>
            <a:r>
              <a:rPr lang="en-US" altLang="zh-TW" sz="1100" b="1" dirty="0" smtClean="0">
                <a:latin typeface="微軟正黑體" panose="020B0604030504040204" pitchFamily="34" charset="-120"/>
              </a:rPr>
              <a:t>RANK</a:t>
            </a:r>
            <a:r>
              <a:rPr lang="zh-TW" altLang="en-US" sz="1100" b="1" dirty="0" smtClean="0">
                <a:latin typeface="微軟正黑體" panose="020B0604030504040204" pitchFamily="34" charset="-120"/>
              </a:rPr>
              <a:t>及時間堆疊</a:t>
            </a:r>
            <a:r>
              <a:rPr lang="en-US" altLang="zh-TW" sz="1100" b="1" dirty="0" smtClean="0">
                <a:latin typeface="微軟正黑體" panose="020B0604030504040204" pitchFamily="34" charset="-120"/>
              </a:rPr>
              <a:t>MAP</a:t>
            </a:r>
            <a:r>
              <a:rPr lang="zh-TW" altLang="en-US" sz="1100" b="1" dirty="0" smtClean="0">
                <a:latin typeface="微軟正黑體" panose="020B0604030504040204" pitchFamily="34" charset="-120"/>
              </a:rPr>
              <a:t>快速查找集中區域</a:t>
            </a:r>
            <a:endParaRPr lang="en-US" altLang="zh-TW" sz="1100" b="1" dirty="0">
              <a:latin typeface="微軟正黑體" panose="020B0604030504040204" pitchFamily="34" charset="-120"/>
            </a:endParaRPr>
          </a:p>
        </p:txBody>
      </p:sp>
      <p:grpSp>
        <p:nvGrpSpPr>
          <p:cNvPr id="52" name="组合 65"/>
          <p:cNvGrpSpPr>
            <a:grpSpLocks/>
          </p:cNvGrpSpPr>
          <p:nvPr/>
        </p:nvGrpSpPr>
        <p:grpSpPr bwMode="auto">
          <a:xfrm rot="4723889">
            <a:off x="6453693" y="325003"/>
            <a:ext cx="723088" cy="1050156"/>
            <a:chOff x="5008933" y="2278557"/>
            <a:chExt cx="2491360" cy="2362847"/>
          </a:xfrm>
        </p:grpSpPr>
        <p:sp>
          <p:nvSpPr>
            <p:cNvPr id="53"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4" name="组合 67"/>
            <p:cNvGrpSpPr>
              <a:grpSpLocks/>
            </p:cNvGrpSpPr>
            <p:nvPr/>
          </p:nvGrpSpPr>
          <p:grpSpPr bwMode="auto">
            <a:xfrm>
              <a:off x="5008933" y="2278557"/>
              <a:ext cx="2491360" cy="2323893"/>
              <a:chOff x="1123476" y="1681897"/>
              <a:chExt cx="3206311" cy="2990785"/>
            </a:xfrm>
          </p:grpSpPr>
          <p:grpSp>
            <p:nvGrpSpPr>
              <p:cNvPr id="55" name="组合 68"/>
              <p:cNvGrpSpPr>
                <a:grpSpLocks/>
              </p:cNvGrpSpPr>
              <p:nvPr/>
            </p:nvGrpSpPr>
            <p:grpSpPr bwMode="auto">
              <a:xfrm>
                <a:off x="1123476" y="1763461"/>
                <a:ext cx="2798050" cy="2798050"/>
                <a:chOff x="1123476" y="1763461"/>
                <a:chExt cx="2798050" cy="2798050"/>
              </a:xfrm>
            </p:grpSpPr>
            <p:sp>
              <p:nvSpPr>
                <p:cNvPr id="61" name="弧形 60"/>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2" name="弧形 61"/>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4" name="弧形 63"/>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56" name="组合 69"/>
              <p:cNvGrpSpPr>
                <a:grpSpLocks/>
              </p:cNvGrpSpPr>
              <p:nvPr/>
            </p:nvGrpSpPr>
            <p:grpSpPr bwMode="auto">
              <a:xfrm rot="-7200000">
                <a:off x="1273270" y="1616165"/>
                <a:ext cx="2990785" cy="3122249"/>
                <a:chOff x="891209" y="1807143"/>
                <a:chExt cx="2990785" cy="3122249"/>
              </a:xfrm>
            </p:grpSpPr>
            <p:sp>
              <p:nvSpPr>
                <p:cNvPr id="57" name="弧形 56"/>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8" name="弧形 57"/>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9" name="弧形 58"/>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0" name="弧形 59"/>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grpSp>
        <p:nvGrpSpPr>
          <p:cNvPr id="65" name="组合 65"/>
          <p:cNvGrpSpPr>
            <a:grpSpLocks/>
          </p:cNvGrpSpPr>
          <p:nvPr/>
        </p:nvGrpSpPr>
        <p:grpSpPr bwMode="auto">
          <a:xfrm rot="4723889">
            <a:off x="1892884" y="335901"/>
            <a:ext cx="723088" cy="1050156"/>
            <a:chOff x="5008933" y="2278557"/>
            <a:chExt cx="2491360" cy="2362847"/>
          </a:xfrm>
        </p:grpSpPr>
        <p:sp>
          <p:nvSpPr>
            <p:cNvPr id="66"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67" name="组合 67"/>
            <p:cNvGrpSpPr>
              <a:grpSpLocks/>
            </p:cNvGrpSpPr>
            <p:nvPr/>
          </p:nvGrpSpPr>
          <p:grpSpPr bwMode="auto">
            <a:xfrm>
              <a:off x="5008933" y="2278557"/>
              <a:ext cx="2491360" cy="2323893"/>
              <a:chOff x="1123476" y="1681897"/>
              <a:chExt cx="3206311" cy="2990785"/>
            </a:xfrm>
          </p:grpSpPr>
          <p:grpSp>
            <p:nvGrpSpPr>
              <p:cNvPr id="68" name="组合 68"/>
              <p:cNvGrpSpPr>
                <a:grpSpLocks/>
              </p:cNvGrpSpPr>
              <p:nvPr/>
            </p:nvGrpSpPr>
            <p:grpSpPr bwMode="auto">
              <a:xfrm>
                <a:off x="1123476" y="1763461"/>
                <a:ext cx="2798050" cy="2798050"/>
                <a:chOff x="1123476" y="1763461"/>
                <a:chExt cx="2798050" cy="2798050"/>
              </a:xfrm>
            </p:grpSpPr>
            <p:sp>
              <p:nvSpPr>
                <p:cNvPr id="74" name="弧形 73"/>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5" name="弧形 74"/>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6" name="弧形 75"/>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7" name="弧形 76"/>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9" name="组合 69"/>
              <p:cNvGrpSpPr>
                <a:grpSpLocks/>
              </p:cNvGrpSpPr>
              <p:nvPr/>
            </p:nvGrpSpPr>
            <p:grpSpPr bwMode="auto">
              <a:xfrm rot="-7200000">
                <a:off x="1273270" y="1616165"/>
                <a:ext cx="2990785" cy="3122249"/>
                <a:chOff x="891209" y="1807143"/>
                <a:chExt cx="2990785" cy="3122249"/>
              </a:xfrm>
            </p:grpSpPr>
            <p:sp>
              <p:nvSpPr>
                <p:cNvPr id="70" name="弧形 69"/>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1" name="弧形 70"/>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2" name="弧形 71"/>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73" name="弧形 72"/>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sp>
        <p:nvSpPr>
          <p:cNvPr id="25" name="矩形 24"/>
          <p:cNvSpPr/>
          <p:nvPr/>
        </p:nvSpPr>
        <p:spPr>
          <a:xfrm>
            <a:off x="6281776" y="523251"/>
            <a:ext cx="987250" cy="599006"/>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解決</a:t>
            </a:r>
            <a:endParaRPr lang="en-US" altLang="zh-TW" sz="1600" b="1" dirty="0">
              <a:solidFill>
                <a:prstClr val="black">
                  <a:lumMod val="65000"/>
                  <a:lumOff val="35000"/>
                </a:prstClr>
              </a:solidFill>
              <a:latin typeface="微軟正黑體" panose="020B0604030504040204" pitchFamily="34" charset="-120"/>
              <a:ea typeface="微軟正黑體" panose="020B0604030504040204" pitchFamily="34" charset="-120"/>
            </a:endParaRPr>
          </a:p>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方案</a:t>
            </a:r>
          </a:p>
        </p:txBody>
      </p:sp>
      <p:sp>
        <p:nvSpPr>
          <p:cNvPr id="40" name="矩形 39"/>
          <p:cNvSpPr/>
          <p:nvPr/>
        </p:nvSpPr>
        <p:spPr>
          <a:xfrm>
            <a:off x="1742639" y="634664"/>
            <a:ext cx="987250" cy="338554"/>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痛點</a:t>
            </a:r>
          </a:p>
        </p:txBody>
      </p:sp>
      <p:sp>
        <p:nvSpPr>
          <p:cNvPr id="80" name="圓角矩形 79"/>
          <p:cNvSpPr/>
          <p:nvPr/>
        </p:nvSpPr>
        <p:spPr>
          <a:xfrm>
            <a:off x="6851176" y="3028835"/>
            <a:ext cx="1938650" cy="338700"/>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微軟正黑體" panose="020B0604030504040204" pitchFamily="34" charset="-120"/>
              <a:ea typeface="微軟正黑體" panose="020B0604030504040204" pitchFamily="34" charset="-120"/>
            </a:endParaRPr>
          </a:p>
        </p:txBody>
      </p:sp>
      <p:sp>
        <p:nvSpPr>
          <p:cNvPr id="81" name="文字方塊 80"/>
          <p:cNvSpPr txBox="1"/>
          <p:nvPr/>
        </p:nvSpPr>
        <p:spPr>
          <a:xfrm>
            <a:off x="7346952" y="3071714"/>
            <a:ext cx="1797048" cy="246221"/>
          </a:xfrm>
          <a:prstGeom prst="rect">
            <a:avLst/>
          </a:prstGeom>
          <a:noFill/>
        </p:spPr>
        <p:txBody>
          <a:bodyPr wrap="square" rtlCol="0">
            <a:spAutoFit/>
          </a:bodyPr>
          <a:lstStyle/>
          <a:p>
            <a:r>
              <a:rPr lang="zh-TW" altLang="en-US" sz="1000" b="1" dirty="0" smtClean="0">
                <a:solidFill>
                  <a:srgbClr val="F64C00"/>
                </a:solidFill>
                <a:latin typeface="微軟正黑體" panose="020B0604030504040204" pitchFamily="34" charset="-120"/>
                <a:ea typeface="微軟正黑體" panose="020B0604030504040204" pitchFamily="34" charset="-120"/>
              </a:rPr>
              <a:t>減少</a:t>
            </a:r>
            <a:r>
              <a:rPr lang="zh-TW" altLang="en-US" sz="1000" b="1" dirty="0">
                <a:latin typeface="微軟正黑體" panose="020B0604030504040204" pitchFamily="34" charset="-120"/>
                <a:ea typeface="微軟正黑體" panose="020B0604030504040204" pitchFamily="34" charset="-120"/>
              </a:rPr>
              <a:t> </a:t>
            </a:r>
            <a:r>
              <a:rPr lang="en-US" altLang="zh-TW" sz="1000" b="1" dirty="0">
                <a:solidFill>
                  <a:schemeClr val="accent1"/>
                </a:solidFill>
                <a:latin typeface="微軟正黑體" panose="020B0604030504040204" pitchFamily="34" charset="-120"/>
                <a:ea typeface="微軟正黑體" panose="020B0604030504040204" pitchFamily="34" charset="-120"/>
              </a:rPr>
              <a:t>DL </a:t>
            </a:r>
            <a:r>
              <a:rPr lang="en-US" altLang="zh-TW" sz="1000" b="1" dirty="0" smtClean="0">
                <a:solidFill>
                  <a:schemeClr val="accent1"/>
                </a:solidFill>
                <a:latin typeface="微軟正黑體" panose="020B0604030504040204" pitchFamily="34" charset="-120"/>
                <a:ea typeface="微軟正黑體" panose="020B0604030504040204" pitchFamily="34" charset="-120"/>
              </a:rPr>
              <a:t>0.05/</a:t>
            </a:r>
            <a:r>
              <a:rPr lang="zh-TW" altLang="en-US" sz="1000" b="1" dirty="0">
                <a:solidFill>
                  <a:schemeClr val="accent1"/>
                </a:solidFill>
                <a:latin typeface="微軟正黑體" panose="020B0604030504040204" pitchFamily="34" charset="-120"/>
                <a:ea typeface="微軟正黑體" panose="020B0604030504040204" pitchFamily="34" charset="-120"/>
              </a:rPr>
              <a:t>人</a:t>
            </a:r>
          </a:p>
        </p:txBody>
      </p:sp>
      <p:sp>
        <p:nvSpPr>
          <p:cNvPr id="82" name="文字方塊 81"/>
          <p:cNvSpPr txBox="1"/>
          <p:nvPr/>
        </p:nvSpPr>
        <p:spPr>
          <a:xfrm>
            <a:off x="6877412" y="3051431"/>
            <a:ext cx="492443" cy="276999"/>
          </a:xfrm>
          <a:prstGeom prst="rect">
            <a:avLst/>
          </a:prstGeom>
          <a:noFill/>
        </p:spPr>
        <p:txBody>
          <a:bodyPr wrap="none" rtlCol="0">
            <a:spAutoFit/>
          </a:bodyPr>
          <a:lstStyle/>
          <a:p>
            <a:pPr lvl="0"/>
            <a:r>
              <a:rPr lang="zh-TW" altLang="en-US" sz="1200" b="1" dirty="0" smtClean="0">
                <a:latin typeface="微軟正黑體" panose="020B0604030504040204" pitchFamily="34" charset="-120"/>
                <a:ea typeface="微軟正黑體" panose="020B0604030504040204" pitchFamily="34" charset="-120"/>
              </a:rPr>
              <a:t>隱性</a:t>
            </a:r>
            <a:endParaRPr lang="zh-TW" altLang="en-US" sz="1200" b="1" dirty="0">
              <a:latin typeface="微軟正黑體" panose="020B0604030504040204" pitchFamily="34" charset="-120"/>
              <a:ea typeface="微軟正黑體" panose="020B0604030504040204" pitchFamily="34" charset="-120"/>
            </a:endParaRPr>
          </a:p>
        </p:txBody>
      </p:sp>
      <p:sp>
        <p:nvSpPr>
          <p:cNvPr id="84" name="圓角矩形 83"/>
          <p:cNvSpPr/>
          <p:nvPr/>
        </p:nvSpPr>
        <p:spPr>
          <a:xfrm>
            <a:off x="6851176" y="3986258"/>
            <a:ext cx="1938650" cy="798615"/>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微軟正黑體" panose="020B0604030504040204" pitchFamily="34" charset="-120"/>
              <a:ea typeface="微軟正黑體" panose="020B0604030504040204" pitchFamily="34" charset="-120"/>
            </a:endParaRPr>
          </a:p>
        </p:txBody>
      </p:sp>
      <p:sp>
        <p:nvSpPr>
          <p:cNvPr id="85" name="文字方塊 84"/>
          <p:cNvSpPr txBox="1"/>
          <p:nvPr/>
        </p:nvSpPr>
        <p:spPr>
          <a:xfrm>
            <a:off x="6875536" y="4283202"/>
            <a:ext cx="1494549" cy="451406"/>
          </a:xfrm>
          <a:prstGeom prst="rect">
            <a:avLst/>
          </a:prstGeom>
          <a:noFill/>
        </p:spPr>
        <p:txBody>
          <a:bodyPr wrap="square" rtlCol="0">
            <a:spAutoFit/>
          </a:bodyPr>
          <a:lstStyle/>
          <a:p>
            <a:pPr>
              <a:lnSpc>
                <a:spcPts val="1400"/>
              </a:lnSpc>
            </a:pPr>
            <a:r>
              <a:rPr lang="zh-TW" altLang="en-US" sz="1000" b="1" dirty="0" smtClean="0">
                <a:solidFill>
                  <a:srgbClr val="F64C00"/>
                </a:solidFill>
                <a:latin typeface="微軟正黑體" panose="020B0604030504040204" pitchFamily="34" charset="-120"/>
                <a:ea typeface="微軟正黑體" panose="020B0604030504040204" pitchFamily="34" charset="-120"/>
              </a:rPr>
              <a:t>省略</a:t>
            </a:r>
            <a:r>
              <a:rPr lang="en-US" altLang="zh-TW" sz="1000" b="1" dirty="0" smtClean="0">
                <a:solidFill>
                  <a:srgbClr val="F64C00"/>
                </a:solidFill>
                <a:latin typeface="微軟正黑體" panose="020B0604030504040204" pitchFamily="34" charset="-120"/>
                <a:ea typeface="微軟正黑體" panose="020B0604030504040204" pitchFamily="34" charset="-120"/>
              </a:rPr>
              <a:t>Map</a:t>
            </a:r>
            <a:r>
              <a:rPr lang="zh-TW" altLang="en-US" sz="1000" b="1" dirty="0" smtClean="0">
                <a:solidFill>
                  <a:srgbClr val="F64C00"/>
                </a:solidFill>
                <a:latin typeface="微軟正黑體" panose="020B0604030504040204" pitchFamily="34" charset="-120"/>
                <a:ea typeface="微軟正黑體" panose="020B0604030504040204" pitchFamily="34" charset="-120"/>
              </a:rPr>
              <a:t>比對堆疊時間</a:t>
            </a:r>
            <a:r>
              <a:rPr lang="zh-TW" altLang="en-US" sz="1000" b="1" dirty="0" smtClean="0">
                <a:solidFill>
                  <a:schemeClr val="accent1"/>
                </a:solidFill>
                <a:latin typeface="微軟正黑體" panose="020B0604030504040204" pitchFamily="34" charset="-120"/>
                <a:ea typeface="微軟正黑體" panose="020B0604030504040204" pitchFamily="34" charset="-120"/>
              </a:rPr>
              <a:t>提升</a:t>
            </a:r>
            <a:r>
              <a:rPr lang="zh-TW" altLang="en-US" sz="1000" b="1" dirty="0">
                <a:solidFill>
                  <a:schemeClr val="accent1"/>
                </a:solidFill>
                <a:latin typeface="微軟正黑體" panose="020B0604030504040204" pitchFamily="34" charset="-120"/>
                <a:ea typeface="微軟正黑體" panose="020B0604030504040204" pitchFamily="34" charset="-120"/>
              </a:rPr>
              <a:t>排查效率</a:t>
            </a:r>
          </a:p>
        </p:txBody>
      </p:sp>
      <p:sp>
        <p:nvSpPr>
          <p:cNvPr id="86" name="文字方塊 85"/>
          <p:cNvSpPr txBox="1"/>
          <p:nvPr/>
        </p:nvSpPr>
        <p:spPr>
          <a:xfrm>
            <a:off x="6875536" y="4016509"/>
            <a:ext cx="862776" cy="276999"/>
          </a:xfrm>
          <a:prstGeom prst="rect">
            <a:avLst/>
          </a:prstGeom>
          <a:noFill/>
        </p:spPr>
        <p:txBody>
          <a:bodyPr wrap="square" rtlCol="0">
            <a:spAutoFit/>
          </a:bodyPr>
          <a:lstStyle/>
          <a:p>
            <a:pPr lvl="0"/>
            <a:r>
              <a:rPr lang="zh-TW" altLang="en-US" sz="1200" b="1" dirty="0" smtClean="0">
                <a:latin typeface="微軟正黑體" panose="020B0604030504040204" pitchFamily="34" charset="-120"/>
                <a:ea typeface="微軟正黑體" panose="020B0604030504040204" pitchFamily="34" charset="-120"/>
              </a:rPr>
              <a:t>排</a:t>
            </a:r>
            <a:r>
              <a:rPr lang="zh-TW" altLang="en-US" sz="1200" b="1" dirty="0">
                <a:latin typeface="微軟正黑體" panose="020B0604030504040204" pitchFamily="34" charset="-120"/>
                <a:ea typeface="微軟正黑體" panose="020B0604030504040204" pitchFamily="34" charset="-120"/>
              </a:rPr>
              <a:t>查</a:t>
            </a:r>
            <a:r>
              <a:rPr lang="zh-TW" altLang="en-US" sz="1200" b="1" dirty="0" smtClean="0">
                <a:latin typeface="微軟正黑體" panose="020B0604030504040204" pitchFamily="34" charset="-120"/>
                <a:ea typeface="微軟正黑體" panose="020B0604030504040204" pitchFamily="34" charset="-120"/>
              </a:rPr>
              <a:t>頻率</a:t>
            </a:r>
            <a:endParaRPr lang="zh-TW" altLang="en-US" sz="1200" b="1" dirty="0">
              <a:latin typeface="微軟正黑體" panose="020B0604030504040204" pitchFamily="34" charset="-120"/>
              <a:ea typeface="微軟正黑體" panose="020B0604030504040204" pitchFamily="34" charset="-120"/>
            </a:endParaRPr>
          </a:p>
        </p:txBody>
      </p:sp>
      <p:sp>
        <p:nvSpPr>
          <p:cNvPr id="88" name="矩形 218"/>
          <p:cNvSpPr>
            <a:spLocks noChangeArrowheads="1"/>
          </p:cNvSpPr>
          <p:nvPr/>
        </p:nvSpPr>
        <p:spPr bwMode="auto">
          <a:xfrm>
            <a:off x="6614898" y="2570374"/>
            <a:ext cx="1080121"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fontAlgn="auto" hangingPunct="1">
              <a:spcBef>
                <a:spcPts val="0"/>
              </a:spcBef>
              <a:spcAft>
                <a:spcPts val="0"/>
              </a:spcAft>
            </a:pPr>
            <a:r>
              <a:rPr lang="zh-TW" altLang="en-US" sz="1600" b="1" dirty="0">
                <a:solidFill>
                  <a:prstClr val="black"/>
                </a:solidFill>
                <a:latin typeface="微軟正黑體" panose="020B0604030504040204" pitchFamily="34" charset="-120"/>
                <a:ea typeface="微軟正黑體" panose="020B0604030504040204" pitchFamily="34" charset="-120"/>
              </a:rPr>
              <a:t>效益</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grpSp>
        <p:nvGrpSpPr>
          <p:cNvPr id="2" name="群組 1"/>
          <p:cNvGrpSpPr/>
          <p:nvPr/>
        </p:nvGrpSpPr>
        <p:grpSpPr>
          <a:xfrm>
            <a:off x="3391070" y="3373036"/>
            <a:ext cx="2540826" cy="1662990"/>
            <a:chOff x="594879" y="3260633"/>
            <a:chExt cx="2540826" cy="1662990"/>
          </a:xfrm>
        </p:grpSpPr>
        <p:pic>
          <p:nvPicPr>
            <p:cNvPr id="79" name="圖片 78"/>
            <p:cNvPicPr>
              <a:picLocks noChangeAspect="1"/>
            </p:cNvPicPr>
            <p:nvPr/>
          </p:nvPicPr>
          <p:blipFill>
            <a:blip r:embed="rId3"/>
            <a:stretch>
              <a:fillRect/>
            </a:stretch>
          </p:blipFill>
          <p:spPr>
            <a:xfrm>
              <a:off x="701110" y="3260633"/>
              <a:ext cx="2434595" cy="1641563"/>
            </a:xfrm>
            <a:prstGeom prst="rect">
              <a:avLst/>
            </a:prstGeom>
            <a:ln>
              <a:noFill/>
            </a:ln>
            <a:effectLst>
              <a:outerShdw blurRad="190500" algn="tl" rotWithShape="0">
                <a:srgbClr val="000000">
                  <a:alpha val="70000"/>
                </a:srgbClr>
              </a:outerShdw>
            </a:effectLst>
          </p:spPr>
        </p:pic>
        <p:sp>
          <p:nvSpPr>
            <p:cNvPr id="89" name="文字方塊 88"/>
            <p:cNvSpPr txBox="1"/>
            <p:nvPr/>
          </p:nvSpPr>
          <p:spPr>
            <a:xfrm>
              <a:off x="1708020" y="4672046"/>
              <a:ext cx="492342" cy="246221"/>
            </a:xfrm>
            <a:prstGeom prst="rect">
              <a:avLst/>
            </a:prstGeom>
            <a:noFill/>
          </p:spPr>
          <p:txBody>
            <a:bodyPr wrap="square" rtlCol="0">
              <a:spAutoFit/>
            </a:bodyPr>
            <a:lstStyle/>
            <a:p>
              <a:pPr lvl="0"/>
              <a:r>
                <a:rPr lang="zh-TW" altLang="en-US" sz="1000" dirty="0" smtClean="0">
                  <a:solidFill>
                    <a:srgbClr val="F64C00"/>
                  </a:solidFill>
                  <a:latin typeface="微軟正黑體" panose="020B0604030504040204" pitchFamily="34" charset="-120"/>
                  <a:ea typeface="微軟正黑體" panose="020B0604030504040204" pitchFamily="34" charset="-120"/>
                </a:rPr>
                <a:t>背面</a:t>
              </a:r>
              <a:endParaRPr lang="zh-TW" altLang="en-US" sz="1000" dirty="0">
                <a:solidFill>
                  <a:schemeClr val="accent1"/>
                </a:solidFill>
                <a:latin typeface="微軟正黑體" panose="020B0604030504040204" pitchFamily="34" charset="-120"/>
                <a:ea typeface="微軟正黑體" panose="020B0604030504040204" pitchFamily="34" charset="-120"/>
              </a:endParaRPr>
            </a:p>
          </p:txBody>
        </p:sp>
        <p:sp>
          <p:nvSpPr>
            <p:cNvPr id="90" name="文字方塊 89"/>
            <p:cNvSpPr txBox="1"/>
            <p:nvPr/>
          </p:nvSpPr>
          <p:spPr>
            <a:xfrm>
              <a:off x="594879" y="4677402"/>
              <a:ext cx="492342" cy="246221"/>
            </a:xfrm>
            <a:prstGeom prst="rect">
              <a:avLst/>
            </a:prstGeom>
            <a:noFill/>
          </p:spPr>
          <p:txBody>
            <a:bodyPr wrap="square" rtlCol="0">
              <a:spAutoFit/>
            </a:bodyPr>
            <a:lstStyle/>
            <a:p>
              <a:pPr lvl="0"/>
              <a:r>
                <a:rPr lang="zh-TW" altLang="en-US" sz="1000" dirty="0">
                  <a:solidFill>
                    <a:srgbClr val="F64C00"/>
                  </a:solidFill>
                  <a:latin typeface="微軟正黑體" panose="020B0604030504040204" pitchFamily="34" charset="-120"/>
                  <a:ea typeface="微軟正黑體" panose="020B0604030504040204" pitchFamily="34" charset="-120"/>
                </a:rPr>
                <a:t>正</a:t>
              </a:r>
              <a:r>
                <a:rPr lang="zh-TW" altLang="en-US" sz="1000" dirty="0" smtClean="0">
                  <a:solidFill>
                    <a:srgbClr val="F64C00"/>
                  </a:solidFill>
                  <a:latin typeface="微軟正黑體" panose="020B0604030504040204" pitchFamily="34" charset="-120"/>
                  <a:ea typeface="微軟正黑體" panose="020B0604030504040204" pitchFamily="34" charset="-120"/>
                </a:rPr>
                <a:t>面</a:t>
              </a:r>
              <a:endParaRPr lang="zh-TW" altLang="en-US" sz="1000" dirty="0">
                <a:solidFill>
                  <a:schemeClr val="accent1"/>
                </a:solidFill>
                <a:latin typeface="微軟正黑體" panose="020B0604030504040204" pitchFamily="34" charset="-120"/>
                <a:ea typeface="微軟正黑體" panose="020B0604030504040204" pitchFamily="34" charset="-120"/>
              </a:endParaRPr>
            </a:p>
          </p:txBody>
        </p:sp>
      </p:grpSp>
      <p:sp>
        <p:nvSpPr>
          <p:cNvPr id="91" name="圓角矩形 90"/>
          <p:cNvSpPr/>
          <p:nvPr/>
        </p:nvSpPr>
        <p:spPr>
          <a:xfrm>
            <a:off x="6851176" y="3490532"/>
            <a:ext cx="1938650" cy="359580"/>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微軟正黑體" panose="020B0604030504040204" pitchFamily="34" charset="-120"/>
              <a:ea typeface="微軟正黑體" panose="020B0604030504040204" pitchFamily="34" charset="-120"/>
            </a:endParaRPr>
          </a:p>
        </p:txBody>
      </p:sp>
      <p:sp>
        <p:nvSpPr>
          <p:cNvPr id="92" name="文字方塊 91"/>
          <p:cNvSpPr txBox="1"/>
          <p:nvPr/>
        </p:nvSpPr>
        <p:spPr>
          <a:xfrm>
            <a:off x="7249768" y="3542565"/>
            <a:ext cx="1840421" cy="246221"/>
          </a:xfrm>
          <a:prstGeom prst="rect">
            <a:avLst/>
          </a:prstGeom>
          <a:noFill/>
        </p:spPr>
        <p:txBody>
          <a:bodyPr wrap="square" rtlCol="0">
            <a:spAutoFit/>
          </a:bodyPr>
          <a:lstStyle/>
          <a:p>
            <a:pPr lvl="0"/>
            <a:r>
              <a:rPr lang="zh-TW" altLang="en-US" sz="1000" b="1" dirty="0">
                <a:solidFill>
                  <a:srgbClr val="F64C00"/>
                </a:solidFill>
                <a:latin typeface="微軟正黑體" panose="020B0604030504040204" pitchFamily="34" charset="-120"/>
                <a:ea typeface="微軟正黑體" panose="020B0604030504040204" pitchFamily="34" charset="-120"/>
              </a:rPr>
              <a:t>人事成本 </a:t>
            </a:r>
            <a:r>
              <a:rPr lang="zh-TW" altLang="en-US" sz="1000" b="1" dirty="0" smtClean="0">
                <a:solidFill>
                  <a:schemeClr val="accent1"/>
                </a:solidFill>
                <a:latin typeface="微軟正黑體" panose="020B0604030504040204" pitchFamily="34" charset="-120"/>
                <a:ea typeface="微軟正黑體" panose="020B0604030504040204" pitchFamily="34" charset="-120"/>
              </a:rPr>
              <a:t>每月 </a:t>
            </a:r>
            <a:r>
              <a:rPr lang="en-US" altLang="zh-TW" sz="1000" b="1" dirty="0" smtClean="0">
                <a:solidFill>
                  <a:schemeClr val="accent1"/>
                </a:solidFill>
                <a:latin typeface="微軟正黑體" panose="020B0604030504040204" pitchFamily="34" charset="-120"/>
                <a:ea typeface="微軟正黑體" panose="020B0604030504040204" pitchFamily="34" charset="-120"/>
              </a:rPr>
              <a:t>2500/</a:t>
            </a:r>
            <a:r>
              <a:rPr lang="zh-TW" altLang="en-US" sz="1000" b="1" dirty="0" smtClean="0">
                <a:solidFill>
                  <a:schemeClr val="accent1"/>
                </a:solidFill>
                <a:latin typeface="微軟正黑體" panose="020B0604030504040204" pitchFamily="34" charset="-120"/>
                <a:ea typeface="微軟正黑體" panose="020B0604030504040204" pitchFamily="34" charset="-120"/>
              </a:rPr>
              <a:t>元</a:t>
            </a:r>
            <a:endParaRPr lang="zh-TW" altLang="en-US" sz="1000" b="1" dirty="0">
              <a:solidFill>
                <a:schemeClr val="accent1"/>
              </a:solidFill>
              <a:latin typeface="微軟正黑體" panose="020B0604030504040204" pitchFamily="34" charset="-120"/>
              <a:ea typeface="微軟正黑體" panose="020B0604030504040204" pitchFamily="34" charset="-120"/>
            </a:endParaRPr>
          </a:p>
        </p:txBody>
      </p:sp>
      <p:sp>
        <p:nvSpPr>
          <p:cNvPr id="93" name="文字方塊 92"/>
          <p:cNvSpPr txBox="1"/>
          <p:nvPr/>
        </p:nvSpPr>
        <p:spPr>
          <a:xfrm>
            <a:off x="6877412" y="3513128"/>
            <a:ext cx="492443" cy="276999"/>
          </a:xfrm>
          <a:prstGeom prst="rect">
            <a:avLst/>
          </a:prstGeom>
          <a:noFill/>
        </p:spPr>
        <p:txBody>
          <a:bodyPr wrap="none" rtlCol="0">
            <a:spAutoFit/>
          </a:bodyPr>
          <a:lstStyle/>
          <a:p>
            <a:pPr lvl="0"/>
            <a:r>
              <a:rPr lang="zh-TW" altLang="en-US" sz="1200" b="1" dirty="0">
                <a:latin typeface="微軟正黑體" panose="020B0604030504040204" pitchFamily="34" charset="-120"/>
                <a:ea typeface="微軟正黑體" panose="020B0604030504040204" pitchFamily="34" charset="-120"/>
              </a:rPr>
              <a:t>顯</a:t>
            </a:r>
            <a:r>
              <a:rPr lang="zh-TW" altLang="en-US" sz="1200" b="1" dirty="0" smtClean="0">
                <a:latin typeface="微軟正黑體" panose="020B0604030504040204" pitchFamily="34" charset="-120"/>
                <a:ea typeface="微軟正黑體" panose="020B0604030504040204" pitchFamily="34" charset="-120"/>
              </a:rPr>
              <a:t>性</a:t>
            </a:r>
            <a:endParaRPr lang="zh-TW" altLang="en-US" sz="1200" b="1" dirty="0">
              <a:latin typeface="微軟正黑體" panose="020B0604030504040204" pitchFamily="34" charset="-120"/>
              <a:ea typeface="微軟正黑體" panose="020B0604030504040204" pitchFamily="34" charset="-120"/>
            </a:endParaRPr>
          </a:p>
        </p:txBody>
      </p:sp>
      <p:pic>
        <p:nvPicPr>
          <p:cNvPr id="18" name="圖片 17"/>
          <p:cNvPicPr>
            <a:picLocks noChangeAspect="1"/>
          </p:cNvPicPr>
          <p:nvPr/>
        </p:nvPicPr>
        <p:blipFill>
          <a:blip r:embed="rId4" cstate="print">
            <a:clrChange>
              <a:clrFrom>
                <a:srgbClr val="000000"/>
              </a:clrFrom>
              <a:clrTo>
                <a:srgbClr val="000000">
                  <a:alpha val="0"/>
                </a:srgbClr>
              </a:clrTo>
            </a:clrChange>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8318178" y="4417340"/>
            <a:ext cx="261777" cy="261777"/>
          </a:xfrm>
          <a:prstGeom prst="rect">
            <a:avLst/>
          </a:prstGeom>
        </p:spPr>
      </p:pic>
      <p:sp>
        <p:nvSpPr>
          <p:cNvPr id="105" name="矩形 218"/>
          <p:cNvSpPr>
            <a:spLocks noChangeArrowheads="1"/>
          </p:cNvSpPr>
          <p:nvPr/>
        </p:nvSpPr>
        <p:spPr bwMode="auto">
          <a:xfrm>
            <a:off x="133476" y="2580931"/>
            <a:ext cx="1215425"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600" b="1" dirty="0" smtClean="0">
                <a:solidFill>
                  <a:prstClr val="black"/>
                </a:solidFill>
                <a:latin typeface="微軟正黑體" panose="020B0604030504040204" pitchFamily="34" charset="-120"/>
                <a:ea typeface="微軟正黑體" panose="020B0604030504040204" pitchFamily="34" charset="-120"/>
              </a:rPr>
              <a:t>解碼流程</a:t>
            </a:r>
            <a:r>
              <a:rPr lang="en-US" altLang="zh-TW" sz="1600" b="1" dirty="0" smtClean="0">
                <a:solidFill>
                  <a:prstClr val="black"/>
                </a:solidFill>
                <a:latin typeface="微軟正黑體" panose="020B0604030504040204" pitchFamily="34" charset="-120"/>
                <a:ea typeface="微軟正黑體" panose="020B0604030504040204" pitchFamily="34" charset="-120"/>
              </a:rPr>
              <a:t>:</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pic>
        <p:nvPicPr>
          <p:cNvPr id="106" name="圖片 105"/>
          <p:cNvPicPr>
            <a:picLocks noChangeAspect="1"/>
          </p:cNvPicPr>
          <p:nvPr/>
        </p:nvPicPr>
        <p:blipFill rotWithShape="1">
          <a:blip r:embed="rId6"/>
          <a:srcRect r="43943" b="65233"/>
          <a:stretch/>
        </p:blipFill>
        <p:spPr>
          <a:xfrm>
            <a:off x="343350" y="2955502"/>
            <a:ext cx="1405799" cy="845911"/>
          </a:xfrm>
          <a:prstGeom prst="rect">
            <a:avLst/>
          </a:prstGeom>
          <a:ln>
            <a:noFill/>
          </a:ln>
          <a:effectLst/>
        </p:spPr>
      </p:pic>
      <p:pic>
        <p:nvPicPr>
          <p:cNvPr id="107" name="圖片 106"/>
          <p:cNvPicPr>
            <a:picLocks noChangeAspect="1"/>
          </p:cNvPicPr>
          <p:nvPr/>
        </p:nvPicPr>
        <p:blipFill rotWithShape="1">
          <a:blip r:embed="rId7"/>
          <a:srcRect l="-1" r="-189" b="70132"/>
          <a:stretch/>
        </p:blipFill>
        <p:spPr>
          <a:xfrm>
            <a:off x="378882" y="3981987"/>
            <a:ext cx="724612" cy="872312"/>
          </a:xfrm>
          <a:prstGeom prst="rect">
            <a:avLst/>
          </a:prstGeom>
          <a:ln>
            <a:noFill/>
          </a:ln>
          <a:effectLst/>
        </p:spPr>
      </p:pic>
      <p:sp>
        <p:nvSpPr>
          <p:cNvPr id="108" name="矩形 107"/>
          <p:cNvSpPr/>
          <p:nvPr/>
        </p:nvSpPr>
        <p:spPr>
          <a:xfrm>
            <a:off x="1346613" y="3631700"/>
            <a:ext cx="480702" cy="230832"/>
          </a:xfrm>
          <a:prstGeom prst="rect">
            <a:avLst/>
          </a:prstGeom>
          <a:solidFill>
            <a:schemeClr val="bg1"/>
          </a:solidFill>
        </p:spPr>
        <p:txBody>
          <a:bodyPr wrap="square">
            <a:spAutoFit/>
          </a:bodyPr>
          <a:lstStyle/>
          <a:p>
            <a:r>
              <a:rPr lang="en-US" altLang="zh-TW" sz="900" dirty="0" smtClean="0">
                <a:latin typeface="微軟正黑體" panose="020B0604030504040204" pitchFamily="34" charset="-120"/>
                <a:ea typeface="微軟正黑體" panose="020B0604030504040204" pitchFamily="34" charset="-120"/>
              </a:rPr>
              <a:t>Log </a:t>
            </a:r>
          </a:p>
        </p:txBody>
      </p:sp>
      <p:grpSp>
        <p:nvGrpSpPr>
          <p:cNvPr id="110" name="群組 109"/>
          <p:cNvGrpSpPr/>
          <p:nvPr/>
        </p:nvGrpSpPr>
        <p:grpSpPr>
          <a:xfrm>
            <a:off x="1364085" y="3956047"/>
            <a:ext cx="1036678" cy="1047769"/>
            <a:chOff x="631449" y="2983210"/>
            <a:chExt cx="2705946" cy="2023211"/>
          </a:xfrm>
        </p:grpSpPr>
        <p:pic>
          <p:nvPicPr>
            <p:cNvPr id="112" name="圖片 111"/>
            <p:cNvPicPr>
              <a:picLocks noChangeAspect="1"/>
            </p:cNvPicPr>
            <p:nvPr/>
          </p:nvPicPr>
          <p:blipFill rotWithShape="1">
            <a:blip r:embed="rId8"/>
            <a:srcRect t="34780" b="4503"/>
            <a:stretch/>
          </p:blipFill>
          <p:spPr>
            <a:xfrm>
              <a:off x="631449" y="2983210"/>
              <a:ext cx="1912627" cy="1798188"/>
            </a:xfrm>
            <a:prstGeom prst="rect">
              <a:avLst/>
            </a:prstGeom>
            <a:ln>
              <a:noFill/>
            </a:ln>
            <a:effectLst/>
          </p:spPr>
        </p:pic>
        <p:pic>
          <p:nvPicPr>
            <p:cNvPr id="113" name="圖片 112"/>
            <p:cNvPicPr>
              <a:picLocks noChangeAspect="1"/>
            </p:cNvPicPr>
            <p:nvPr/>
          </p:nvPicPr>
          <p:blipFill rotWithShape="1">
            <a:blip r:embed="rId8"/>
            <a:srcRect t="34780" b="4503"/>
            <a:stretch/>
          </p:blipFill>
          <p:spPr>
            <a:xfrm>
              <a:off x="1049417" y="3097713"/>
              <a:ext cx="1912627" cy="1798188"/>
            </a:xfrm>
            <a:prstGeom prst="rect">
              <a:avLst/>
            </a:prstGeom>
            <a:ln>
              <a:noFill/>
            </a:ln>
            <a:effectLst/>
          </p:spPr>
        </p:pic>
        <p:pic>
          <p:nvPicPr>
            <p:cNvPr id="114" name="圖片 113"/>
            <p:cNvPicPr>
              <a:picLocks noChangeAspect="1"/>
            </p:cNvPicPr>
            <p:nvPr/>
          </p:nvPicPr>
          <p:blipFill rotWithShape="1">
            <a:blip r:embed="rId8"/>
            <a:srcRect t="34780" b="4503"/>
            <a:stretch/>
          </p:blipFill>
          <p:spPr>
            <a:xfrm>
              <a:off x="1424768" y="3208233"/>
              <a:ext cx="1912627" cy="1798188"/>
            </a:xfrm>
            <a:prstGeom prst="rect">
              <a:avLst/>
            </a:prstGeom>
            <a:ln>
              <a:noFill/>
            </a:ln>
            <a:effectLst/>
          </p:spPr>
        </p:pic>
      </p:grpSp>
      <p:pic>
        <p:nvPicPr>
          <p:cNvPr id="115" name="圖片 114"/>
          <p:cNvPicPr>
            <a:picLocks noChangeAspect="1"/>
          </p:cNvPicPr>
          <p:nvPr/>
        </p:nvPicPr>
        <p:blipFill>
          <a:blip r:embed="rId9"/>
          <a:stretch>
            <a:fillRect/>
          </a:stretch>
        </p:blipFill>
        <p:spPr>
          <a:xfrm>
            <a:off x="1329974" y="3360959"/>
            <a:ext cx="1104900" cy="471013"/>
          </a:xfrm>
          <a:prstGeom prst="rect">
            <a:avLst/>
          </a:prstGeom>
          <a:ln>
            <a:noFill/>
          </a:ln>
          <a:effectLst/>
        </p:spPr>
      </p:pic>
      <p:cxnSp>
        <p:nvCxnSpPr>
          <p:cNvPr id="19" name="肘形接點 18"/>
          <p:cNvCxnSpPr>
            <a:stCxn id="115" idx="3"/>
            <a:endCxn id="107" idx="1"/>
          </p:cNvCxnSpPr>
          <p:nvPr/>
        </p:nvCxnSpPr>
        <p:spPr>
          <a:xfrm flipH="1">
            <a:off x="378882" y="3596466"/>
            <a:ext cx="2055992" cy="821677"/>
          </a:xfrm>
          <a:prstGeom prst="bentConnector5">
            <a:avLst>
              <a:gd name="adj1" fmla="val -11119"/>
              <a:gd name="adj2" fmla="val 37790"/>
              <a:gd name="adj3" fmla="val 111119"/>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107" idx="3"/>
            <a:endCxn id="112" idx="1"/>
          </p:cNvCxnSpPr>
          <p:nvPr/>
        </p:nvCxnSpPr>
        <p:spPr>
          <a:xfrm>
            <a:off x="1103494" y="4418143"/>
            <a:ext cx="260591" cy="35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3"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a:cs typeface="Arial" panose="020B0604020202020204" pitchFamily="34" charset="0"/>
              </a:rPr>
              <a:t>Canon</a:t>
            </a:r>
            <a:r>
              <a:rPr lang="zh-TW" altLang="en-US" dirty="0">
                <a:cs typeface="Arial" panose="020B0604020202020204" pitchFamily="34" charset="0"/>
              </a:rPr>
              <a:t>機台</a:t>
            </a:r>
            <a:r>
              <a:rPr lang="en-US" altLang="zh-TW" dirty="0">
                <a:cs typeface="Arial" panose="020B0604020202020204" pitchFamily="34" charset="0"/>
              </a:rPr>
              <a:t>PPC</a:t>
            </a:r>
            <a:r>
              <a:rPr lang="zh-TW" altLang="en-US" dirty="0">
                <a:cs typeface="Arial" panose="020B0604020202020204" pitchFamily="34" charset="0"/>
              </a:rPr>
              <a:t>預警</a:t>
            </a:r>
          </a:p>
          <a:p>
            <a:endParaRPr lang="zh-TW" altLang="en-US" dirty="0">
              <a:cs typeface="Arial" panose="020B0604020202020204" pitchFamily="34" charset="0"/>
            </a:endParaRPr>
          </a:p>
          <a:p>
            <a:endParaRPr lang="zh-TW" altLang="en-US" dirty="0">
              <a:cs typeface="Arial" panose="020B0604020202020204" pitchFamily="34" charset="0"/>
            </a:endParaRPr>
          </a:p>
        </p:txBody>
      </p:sp>
    </p:spTree>
    <p:extLst>
      <p:ext uri="{BB962C8B-B14F-4D97-AF65-F5344CB8AC3E}">
        <p14:creationId xmlns:p14="http://schemas.microsoft.com/office/powerpoint/2010/main" val="97482243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圓角矩形 181"/>
          <p:cNvSpPr/>
          <p:nvPr/>
        </p:nvSpPr>
        <p:spPr>
          <a:xfrm>
            <a:off x="4556743" y="676112"/>
            <a:ext cx="4368654" cy="1824561"/>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5" name="圓角矩形 4"/>
          <p:cNvSpPr/>
          <p:nvPr/>
        </p:nvSpPr>
        <p:spPr>
          <a:xfrm>
            <a:off x="172513" y="676449"/>
            <a:ext cx="4253810" cy="980549"/>
          </a:xfrm>
          <a:prstGeom prst="roundRect">
            <a:avLst>
              <a:gd name="adj" fmla="val 7469"/>
            </a:avLst>
          </a:prstGeom>
          <a:solidFill>
            <a:srgbClr val="BBE0E3">
              <a:lumMod val="40000"/>
              <a:lumOff val="60000"/>
            </a:srgbClr>
          </a:solidFill>
          <a:ln w="25400" cap="flat" cmpd="sng" algn="ctr">
            <a:noFill/>
            <a:prstDash val="solid"/>
          </a:ln>
          <a:effectLst>
            <a:outerShdw blurRad="57785" dist="33020" dir="3180000" algn="ctr">
              <a:srgbClr val="000000">
                <a:alpha val="30000"/>
              </a:srgbClr>
            </a:outerShdw>
            <a:reflection blurRad="6350" stA="52000" endA="300" endPos="35000" dir="5400000" sy="-100000" algn="bl" rotWithShape="0"/>
          </a:effectLst>
          <a:scene3d>
            <a:camera prst="orthographicFront">
              <a:rot lat="0" lon="0" rev="0"/>
            </a:camera>
            <a:lightRig rig="brightRoom" dir="t">
              <a:rot lat="0" lon="0" rev="600000"/>
            </a:lightRig>
          </a:scene3d>
          <a:sp3d prstMaterial="metal">
            <a:bevelT w="38100" h="57150" prst="angle"/>
          </a:sp3d>
        </p:spPr>
        <p:txBody>
          <a:bodyPr anchor="ctr"/>
          <a:lstStyle/>
          <a:p>
            <a:pPr algn="ctr">
              <a:defRPr/>
            </a:pPr>
            <a:endParaRPr lang="zh-TW" altLang="en-US" sz="2000" b="1" kern="0" dirty="0">
              <a:solidFill>
                <a:srgbClr val="FFFFFF"/>
              </a:solidFill>
              <a:latin typeface="微軟正黑體" panose="020B0604030504040204" pitchFamily="34" charset="-120"/>
              <a:ea typeface="微軟正黑體" panose="020B0604030504040204" pitchFamily="34" charset="-120"/>
            </a:endParaRPr>
          </a:p>
        </p:txBody>
      </p:sp>
      <p:sp>
        <p:nvSpPr>
          <p:cNvPr id="9" name="矩形 8"/>
          <p:cNvSpPr/>
          <p:nvPr/>
        </p:nvSpPr>
        <p:spPr>
          <a:xfrm>
            <a:off x="166788" y="704912"/>
            <a:ext cx="997203" cy="338554"/>
          </a:xfrm>
          <a:prstGeom prst="rect">
            <a:avLst/>
          </a:prstGeom>
        </p:spPr>
        <p:txBody>
          <a:bodyPr wrap="square">
            <a:spAutoFit/>
          </a:bodyPr>
          <a:lstStyle/>
          <a:p>
            <a:pPr>
              <a:defRPr/>
            </a:pPr>
            <a:r>
              <a:rPr lang="zh-TW" altLang="en-US" sz="1600" b="1" dirty="0">
                <a:solidFill>
                  <a:prstClr val="black"/>
                </a:solidFill>
                <a:latin typeface="微軟正黑體" pitchFamily="34" charset="-120"/>
                <a:ea typeface="微軟正黑體" panose="020B0604030504040204" pitchFamily="34" charset="-120"/>
              </a:rPr>
              <a:t>改善前</a:t>
            </a:r>
            <a:r>
              <a:rPr lang="en-US" altLang="zh-TW" sz="1600" b="1" dirty="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sp>
        <p:nvSpPr>
          <p:cNvPr id="41" name="矩形 40"/>
          <p:cNvSpPr/>
          <p:nvPr/>
        </p:nvSpPr>
        <p:spPr>
          <a:xfrm>
            <a:off x="161432" y="1076138"/>
            <a:ext cx="4275971" cy="528350"/>
          </a:xfrm>
          <a:prstGeom prst="rect">
            <a:avLst/>
          </a:prstGeom>
        </p:spPr>
        <p:txBody>
          <a:bodyPr wrap="square">
            <a:spAutoFit/>
          </a:bodyPr>
          <a:lstStyle/>
          <a:p>
            <a:pPr algn="just">
              <a:lnSpc>
                <a:spcPts val="1700"/>
              </a:lnSpc>
            </a:pPr>
            <a:r>
              <a:rPr lang="en-US" altLang="zh-TW" sz="1100" b="1" dirty="0">
                <a:solidFill>
                  <a:prstClr val="black">
                    <a:lumMod val="75000"/>
                    <a:lumOff val="25000"/>
                  </a:prstClr>
                </a:solidFill>
                <a:latin typeface="微軟正黑體" panose="020B0604030504040204" pitchFamily="34" charset="-120"/>
                <a:ea typeface="微軟正黑體" panose="020B0604030504040204" pitchFamily="34" charset="-120"/>
              </a:rPr>
              <a:t>Canon z offset </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值隨機台溫度變化匹配特定值</a:t>
            </a:r>
            <a:r>
              <a:rPr lang="en-US" altLang="zh-TW" sz="1100" b="1" dirty="0">
                <a:solidFill>
                  <a:prstClr val="black">
                    <a:lumMod val="75000"/>
                    <a:lumOff val="25000"/>
                  </a:prstClr>
                </a:solidFill>
                <a:latin typeface="微軟正黑體" panose="020B0604030504040204" pitchFamily="34" charset="-120"/>
                <a:ea typeface="微軟正黑體" panose="020B0604030504040204" pitchFamily="34" charset="-120"/>
              </a:rPr>
              <a:t>, </a:t>
            </a:r>
            <a:r>
              <a:rPr lang="zh-TW" altLang="en-US"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需有人員隨時監控查看機台溫度，若</a:t>
            </a:r>
            <a:r>
              <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rPr>
              <a:t>溫度跳動由製程人員修改數值或需新</a:t>
            </a:r>
            <a:r>
              <a:rPr lang="en-US" altLang="zh-TW" sz="1100" b="1" dirty="0">
                <a:solidFill>
                  <a:prstClr val="black">
                    <a:lumMod val="75000"/>
                    <a:lumOff val="25000"/>
                  </a:prstClr>
                </a:solidFill>
                <a:latin typeface="微軟正黑體" panose="020B0604030504040204" pitchFamily="34" charset="-120"/>
                <a:ea typeface="微軟正黑體" panose="020B0604030504040204" pitchFamily="34" charset="-120"/>
              </a:rPr>
              <a:t>Tune </a:t>
            </a:r>
            <a:r>
              <a:rPr lang="en-US" altLang="zh-TW" sz="1100" b="1" dirty="0" smtClean="0">
                <a:solidFill>
                  <a:prstClr val="black">
                    <a:lumMod val="75000"/>
                    <a:lumOff val="25000"/>
                  </a:prstClr>
                </a:solidFill>
                <a:latin typeface="微軟正黑體" panose="020B0604030504040204" pitchFamily="34" charset="-120"/>
                <a:ea typeface="微軟正黑體" panose="020B0604030504040204" pitchFamily="34" charset="-120"/>
              </a:rPr>
              <a:t>AFC</a:t>
            </a:r>
            <a:endPar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endParaRPr>
          </a:p>
        </p:txBody>
      </p:sp>
      <p:pic>
        <p:nvPicPr>
          <p:cNvPr id="13" name="圖片 12"/>
          <p:cNvPicPr>
            <a:picLocks noChangeAspect="1"/>
          </p:cNvPicPr>
          <p:nvPr/>
        </p:nvPicPr>
        <p:blipFill>
          <a:blip r:embed="rId3"/>
          <a:stretch>
            <a:fillRect/>
          </a:stretch>
        </p:blipFill>
        <p:spPr>
          <a:xfrm>
            <a:off x="-20138" y="1778298"/>
            <a:ext cx="2754098" cy="2897375"/>
          </a:xfrm>
          <a:prstGeom prst="rect">
            <a:avLst/>
          </a:prstGeom>
        </p:spPr>
      </p:pic>
      <p:pic>
        <p:nvPicPr>
          <p:cNvPr id="15" name="圖片 14"/>
          <p:cNvPicPr>
            <a:picLocks noChangeAspect="1"/>
          </p:cNvPicPr>
          <p:nvPr/>
        </p:nvPicPr>
        <p:blipFill>
          <a:blip r:embed="rId4"/>
          <a:stretch>
            <a:fillRect/>
          </a:stretch>
        </p:blipFill>
        <p:spPr>
          <a:xfrm>
            <a:off x="2185927" y="2776694"/>
            <a:ext cx="834561" cy="1185153"/>
          </a:xfrm>
          <a:prstGeom prst="rect">
            <a:avLst/>
          </a:prstGeom>
        </p:spPr>
      </p:pic>
      <p:pic>
        <p:nvPicPr>
          <p:cNvPr id="136" name="圖片 135"/>
          <p:cNvPicPr>
            <a:picLocks noChangeAspect="1"/>
          </p:cNvPicPr>
          <p:nvPr/>
        </p:nvPicPr>
        <p:blipFill rotWithShape="1">
          <a:blip r:embed="rId5"/>
          <a:srcRect r="9249"/>
          <a:stretch/>
        </p:blipFill>
        <p:spPr>
          <a:xfrm>
            <a:off x="6505192" y="3741217"/>
            <a:ext cx="1656468" cy="542006"/>
          </a:xfrm>
          <a:prstGeom prst="rect">
            <a:avLst/>
          </a:prstGeom>
        </p:spPr>
      </p:pic>
      <p:pic>
        <p:nvPicPr>
          <p:cNvPr id="137" name="圖片 136"/>
          <p:cNvPicPr>
            <a:picLocks noChangeAspect="1"/>
          </p:cNvPicPr>
          <p:nvPr/>
        </p:nvPicPr>
        <p:blipFill rotWithShape="1">
          <a:blip r:embed="rId6"/>
          <a:srcRect t="9690" r="36625" b="-1"/>
          <a:stretch/>
        </p:blipFill>
        <p:spPr>
          <a:xfrm>
            <a:off x="3247178" y="2776694"/>
            <a:ext cx="2843124" cy="568734"/>
          </a:xfrm>
          <a:prstGeom prst="rect">
            <a:avLst/>
          </a:prstGeom>
        </p:spPr>
      </p:pic>
      <p:pic>
        <p:nvPicPr>
          <p:cNvPr id="139" name="圖片 138"/>
          <p:cNvPicPr>
            <a:picLocks noChangeAspect="1"/>
          </p:cNvPicPr>
          <p:nvPr/>
        </p:nvPicPr>
        <p:blipFill rotWithShape="1">
          <a:blip r:embed="rId7"/>
          <a:srcRect l="58959"/>
          <a:stretch/>
        </p:blipFill>
        <p:spPr>
          <a:xfrm>
            <a:off x="3255610" y="3489784"/>
            <a:ext cx="1856459" cy="741395"/>
          </a:xfrm>
          <a:prstGeom prst="rect">
            <a:avLst/>
          </a:prstGeom>
        </p:spPr>
      </p:pic>
      <p:sp>
        <p:nvSpPr>
          <p:cNvPr id="141" name="矩形 140"/>
          <p:cNvSpPr/>
          <p:nvPr/>
        </p:nvSpPr>
        <p:spPr>
          <a:xfrm>
            <a:off x="3250054" y="2716232"/>
            <a:ext cx="795411" cy="261610"/>
          </a:xfrm>
          <a:prstGeom prst="rect">
            <a:avLst/>
          </a:prstGeom>
          <a:solidFill>
            <a:schemeClr val="bg1"/>
          </a:solidFill>
        </p:spPr>
        <p:txBody>
          <a:bodyPr wrap="none">
            <a:spAutoFit/>
          </a:bodyPr>
          <a:lstStyle/>
          <a:p>
            <a:r>
              <a:rPr lang="en-US" altLang="zh-TW" sz="1100" dirty="0">
                <a:latin typeface="微軟正黑體" panose="020B0604030504040204" pitchFamily="34" charset="-120"/>
                <a:ea typeface="微軟正黑體" panose="020B0604030504040204" pitchFamily="34" charset="-120"/>
              </a:rPr>
              <a:t>UM table</a:t>
            </a:r>
            <a:endParaRPr lang="zh-TW" altLang="en-US" sz="1100" dirty="0">
              <a:latin typeface="微軟正黑體" panose="020B0604030504040204" pitchFamily="34" charset="-120"/>
              <a:ea typeface="微軟正黑體" panose="020B0604030504040204" pitchFamily="34" charset="-120"/>
            </a:endParaRPr>
          </a:p>
        </p:txBody>
      </p:sp>
      <p:sp>
        <p:nvSpPr>
          <p:cNvPr id="142" name="矩形 141"/>
          <p:cNvSpPr/>
          <p:nvPr/>
        </p:nvSpPr>
        <p:spPr>
          <a:xfrm>
            <a:off x="3218424" y="3347164"/>
            <a:ext cx="1082348" cy="261610"/>
          </a:xfrm>
          <a:prstGeom prst="rect">
            <a:avLst/>
          </a:prstGeom>
          <a:solidFill>
            <a:schemeClr val="bg1"/>
          </a:solidFill>
        </p:spPr>
        <p:txBody>
          <a:bodyPr wrap="none">
            <a:spAutoFit/>
          </a:bodyPr>
          <a:lstStyle/>
          <a:p>
            <a:r>
              <a:rPr lang="en-US" altLang="zh-TW" sz="1100" dirty="0">
                <a:latin typeface="微軟正黑體" panose="020B0604030504040204" pitchFamily="34" charset="-120"/>
                <a:ea typeface="微軟正黑體" panose="020B0604030504040204" pitchFamily="34" charset="-120"/>
              </a:rPr>
              <a:t>APC UM data</a:t>
            </a:r>
            <a:endParaRPr lang="zh-TW" altLang="en-US" sz="1100" dirty="0">
              <a:latin typeface="微軟正黑體" panose="020B0604030504040204" pitchFamily="34" charset="-120"/>
              <a:ea typeface="微軟正黑體" panose="020B0604030504040204" pitchFamily="34" charset="-120"/>
            </a:endParaRPr>
          </a:p>
        </p:txBody>
      </p:sp>
      <p:pic>
        <p:nvPicPr>
          <p:cNvPr id="143" name="圖片 142"/>
          <p:cNvPicPr>
            <a:picLocks noChangeAspect="1"/>
          </p:cNvPicPr>
          <p:nvPr/>
        </p:nvPicPr>
        <p:blipFill rotWithShape="1">
          <a:blip r:embed="rId8" cstate="print">
            <a:extLst>
              <a:ext uri="{28A0092B-C50C-407E-A947-70E740481C1C}">
                <a14:useLocalDpi xmlns:a14="http://schemas.microsoft.com/office/drawing/2010/main" val="0"/>
              </a:ext>
            </a:extLst>
          </a:blip>
          <a:srcRect l="9360" t="38791" r="58703"/>
          <a:stretch/>
        </p:blipFill>
        <p:spPr>
          <a:xfrm>
            <a:off x="6274320" y="2761894"/>
            <a:ext cx="1146379" cy="833449"/>
          </a:xfrm>
          <a:prstGeom prst="rect">
            <a:avLst/>
          </a:prstGeom>
        </p:spPr>
      </p:pic>
      <p:pic>
        <p:nvPicPr>
          <p:cNvPr id="144" name="圖片 143"/>
          <p:cNvPicPr>
            <a:picLocks noChangeAspect="1"/>
          </p:cNvPicPr>
          <p:nvPr/>
        </p:nvPicPr>
        <p:blipFill rotWithShape="1">
          <a:blip r:embed="rId9"/>
          <a:srcRect l="2754" r="57569" b="65642"/>
          <a:stretch/>
        </p:blipFill>
        <p:spPr>
          <a:xfrm>
            <a:off x="7485065" y="2800979"/>
            <a:ext cx="1086029" cy="790022"/>
          </a:xfrm>
          <a:prstGeom prst="rect">
            <a:avLst/>
          </a:prstGeom>
        </p:spPr>
      </p:pic>
      <p:sp>
        <p:nvSpPr>
          <p:cNvPr id="145" name="向右箭號 144"/>
          <p:cNvSpPr/>
          <p:nvPr/>
        </p:nvSpPr>
        <p:spPr>
          <a:xfrm>
            <a:off x="7386086" y="3178617"/>
            <a:ext cx="98980" cy="93498"/>
          </a:xfrm>
          <a:prstGeom prst="rightArrow">
            <a:avLst>
              <a:gd name="adj1" fmla="val 25662"/>
              <a:gd name="adj2" fmla="val 6216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sz="1800">
              <a:latin typeface="微軟正黑體" panose="020B0604030504040204" pitchFamily="34" charset="-120"/>
              <a:ea typeface="微軟正黑體" panose="020B0604030504040204" pitchFamily="34" charset="-120"/>
            </a:endParaRPr>
          </a:p>
        </p:txBody>
      </p:sp>
      <p:sp>
        <p:nvSpPr>
          <p:cNvPr id="146" name="矩形 145"/>
          <p:cNvSpPr/>
          <p:nvPr/>
        </p:nvSpPr>
        <p:spPr>
          <a:xfrm>
            <a:off x="6205482" y="2670174"/>
            <a:ext cx="1757212" cy="261610"/>
          </a:xfrm>
          <a:prstGeom prst="rect">
            <a:avLst/>
          </a:prstGeom>
          <a:solidFill>
            <a:schemeClr val="bg1"/>
          </a:solidFill>
        </p:spPr>
        <p:txBody>
          <a:bodyPr wrap="none">
            <a:spAutoFit/>
          </a:bodyPr>
          <a:lstStyle/>
          <a:p>
            <a:r>
              <a:rPr lang="en-US" altLang="zh-TW" sz="1100" dirty="0">
                <a:latin typeface="微軟正黑體" panose="020B0604030504040204" pitchFamily="34" charset="-120"/>
                <a:ea typeface="微軟正黑體" panose="020B0604030504040204" pitchFamily="34" charset="-120"/>
              </a:rPr>
              <a:t> Canon recipe z address</a:t>
            </a:r>
            <a:endParaRPr lang="zh-TW" altLang="en-US" sz="1100" dirty="0">
              <a:latin typeface="微軟正黑體" panose="020B0604030504040204" pitchFamily="34" charset="-120"/>
              <a:ea typeface="微軟正黑體" panose="020B0604030504040204" pitchFamily="34" charset="-120"/>
            </a:endParaRPr>
          </a:p>
        </p:txBody>
      </p:sp>
      <p:sp>
        <p:nvSpPr>
          <p:cNvPr id="148" name="矩形 147"/>
          <p:cNvSpPr/>
          <p:nvPr/>
        </p:nvSpPr>
        <p:spPr>
          <a:xfrm>
            <a:off x="7756827" y="3989338"/>
            <a:ext cx="830677" cy="253916"/>
          </a:xfrm>
          <a:prstGeom prst="rect">
            <a:avLst/>
          </a:prstGeom>
          <a:solidFill>
            <a:schemeClr val="bg1"/>
          </a:solidFill>
        </p:spPr>
        <p:txBody>
          <a:bodyPr wrap="none">
            <a:spAutoFit/>
          </a:bodyPr>
          <a:lstStyle/>
          <a:p>
            <a:r>
              <a:rPr lang="zh-TW" altLang="en-US" sz="1050" dirty="0">
                <a:latin typeface="微軟正黑體" panose="020B0604030504040204" pitchFamily="34" charset="-120"/>
                <a:ea typeface="微軟正黑體" panose="020B0604030504040204" pitchFamily="34" charset="-120"/>
              </a:rPr>
              <a:t>解析</a:t>
            </a:r>
            <a:r>
              <a:rPr lang="en-US" altLang="zh-TW" sz="1050" dirty="0">
                <a:latin typeface="微軟正黑體" panose="020B0604030504040204" pitchFamily="34" charset="-120"/>
                <a:ea typeface="微軟正黑體" panose="020B0604030504040204" pitchFamily="34" charset="-120"/>
              </a:rPr>
              <a:t>&amp;</a:t>
            </a:r>
            <a:r>
              <a:rPr lang="zh-TW" altLang="en-US" sz="1050" dirty="0">
                <a:latin typeface="微軟正黑體" panose="020B0604030504040204" pitchFamily="34" charset="-120"/>
                <a:ea typeface="微軟正黑體" panose="020B0604030504040204" pitchFamily="34" charset="-120"/>
              </a:rPr>
              <a:t>編譯</a:t>
            </a:r>
          </a:p>
        </p:txBody>
      </p:sp>
      <p:sp>
        <p:nvSpPr>
          <p:cNvPr id="159" name="矩形 158"/>
          <p:cNvSpPr/>
          <p:nvPr/>
        </p:nvSpPr>
        <p:spPr>
          <a:xfrm>
            <a:off x="4536021" y="3911259"/>
            <a:ext cx="1601721" cy="246221"/>
          </a:xfrm>
          <a:prstGeom prst="rect">
            <a:avLst/>
          </a:prstGeom>
          <a:solidFill>
            <a:schemeClr val="accent6"/>
          </a:solidFill>
        </p:spPr>
        <p:txBody>
          <a:bodyPr wrap="none">
            <a:spAutoFit/>
          </a:bodyPr>
          <a:lstStyle/>
          <a:p>
            <a:r>
              <a:rPr lang="zh-TW" altLang="en-US" sz="1000" dirty="0">
                <a:solidFill>
                  <a:srgbClr val="F64C00"/>
                </a:solidFill>
                <a:latin typeface="微軟正黑體" panose="020B0604030504040204" pitchFamily="34" charset="-120"/>
                <a:ea typeface="微軟正黑體" panose="020B0604030504040204" pitchFamily="34" charset="-120"/>
              </a:rPr>
              <a:t>自動比對多個數據流</a:t>
            </a:r>
            <a:r>
              <a:rPr lang="en-US" altLang="zh-TW" sz="1000" dirty="0">
                <a:solidFill>
                  <a:srgbClr val="F64C00"/>
                </a:solidFill>
                <a:latin typeface="微軟正黑體" panose="020B0604030504040204" pitchFamily="34" charset="-120"/>
                <a:ea typeface="微軟正黑體" panose="020B0604030504040204" pitchFamily="34" charset="-120"/>
              </a:rPr>
              <a:t>data</a:t>
            </a:r>
            <a:endParaRPr lang="zh-TW" altLang="en-US" sz="1000" dirty="0">
              <a:solidFill>
                <a:srgbClr val="F64C00"/>
              </a:solidFill>
              <a:latin typeface="微軟正黑體" panose="020B0604030504040204" pitchFamily="34" charset="-120"/>
              <a:ea typeface="微軟正黑體" panose="020B0604030504040204" pitchFamily="34" charset="-120"/>
            </a:endParaRPr>
          </a:p>
        </p:txBody>
      </p:sp>
      <p:sp>
        <p:nvSpPr>
          <p:cNvPr id="160" name="橢圓 159"/>
          <p:cNvSpPr/>
          <p:nvPr/>
        </p:nvSpPr>
        <p:spPr>
          <a:xfrm>
            <a:off x="3128553" y="2797016"/>
            <a:ext cx="168053" cy="126984"/>
          </a:xfrm>
          <a:prstGeom prst="ellipse">
            <a:avLst/>
          </a:prstGeom>
          <a:solidFill>
            <a:srgbClr val="00508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800" dirty="0">
                <a:latin typeface="微軟正黑體" panose="020B0604030504040204" pitchFamily="34" charset="-120"/>
                <a:ea typeface="微軟正黑體" panose="020B0604030504040204" pitchFamily="34" charset="-120"/>
              </a:rPr>
              <a:t>1</a:t>
            </a:r>
            <a:endParaRPr lang="zh-TW" altLang="en-US" sz="1800" dirty="0">
              <a:latin typeface="微軟正黑體" panose="020B0604030504040204" pitchFamily="34" charset="-120"/>
              <a:ea typeface="微軟正黑體" panose="020B0604030504040204" pitchFamily="34" charset="-120"/>
            </a:endParaRPr>
          </a:p>
        </p:txBody>
      </p:sp>
      <p:sp>
        <p:nvSpPr>
          <p:cNvPr id="161" name="橢圓 160"/>
          <p:cNvSpPr/>
          <p:nvPr/>
        </p:nvSpPr>
        <p:spPr>
          <a:xfrm>
            <a:off x="3134398" y="3455995"/>
            <a:ext cx="168053" cy="126984"/>
          </a:xfrm>
          <a:prstGeom prst="ellipse">
            <a:avLst/>
          </a:prstGeom>
          <a:solidFill>
            <a:srgbClr val="00508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800" dirty="0">
                <a:latin typeface="微軟正黑體" panose="020B0604030504040204" pitchFamily="34" charset="-120"/>
                <a:ea typeface="微軟正黑體" panose="020B0604030504040204" pitchFamily="34" charset="-120"/>
              </a:rPr>
              <a:t>2</a:t>
            </a:r>
            <a:endParaRPr lang="zh-TW" altLang="en-US" sz="1800" dirty="0">
              <a:latin typeface="微軟正黑體" panose="020B0604030504040204" pitchFamily="34" charset="-120"/>
              <a:ea typeface="微軟正黑體" panose="020B0604030504040204" pitchFamily="34" charset="-120"/>
            </a:endParaRPr>
          </a:p>
        </p:txBody>
      </p:sp>
      <p:sp>
        <p:nvSpPr>
          <p:cNvPr id="162" name="橢圓 161"/>
          <p:cNvSpPr/>
          <p:nvPr/>
        </p:nvSpPr>
        <p:spPr>
          <a:xfrm>
            <a:off x="6176751" y="2767367"/>
            <a:ext cx="168053" cy="126984"/>
          </a:xfrm>
          <a:prstGeom prst="ellipse">
            <a:avLst/>
          </a:prstGeom>
          <a:solidFill>
            <a:srgbClr val="00508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800" dirty="0">
                <a:latin typeface="微軟正黑體" panose="020B0604030504040204" pitchFamily="34" charset="-120"/>
                <a:ea typeface="微軟正黑體" panose="020B0604030504040204" pitchFamily="34" charset="-120"/>
              </a:rPr>
              <a:t>3</a:t>
            </a:r>
            <a:endParaRPr lang="zh-TW" altLang="en-US" sz="1800" dirty="0">
              <a:latin typeface="微軟正黑體" panose="020B0604030504040204" pitchFamily="34" charset="-120"/>
              <a:ea typeface="微軟正黑體" panose="020B0604030504040204" pitchFamily="34" charset="-120"/>
            </a:endParaRPr>
          </a:p>
        </p:txBody>
      </p:sp>
      <p:cxnSp>
        <p:nvCxnSpPr>
          <p:cNvPr id="20" name="肘形接點 19"/>
          <p:cNvCxnSpPr>
            <a:stCxn id="144" idx="3"/>
            <a:endCxn id="136" idx="1"/>
          </p:cNvCxnSpPr>
          <p:nvPr/>
        </p:nvCxnSpPr>
        <p:spPr>
          <a:xfrm flipH="1">
            <a:off x="6505192" y="3195990"/>
            <a:ext cx="2065902" cy="816230"/>
          </a:xfrm>
          <a:prstGeom prst="bentConnector5">
            <a:avLst>
              <a:gd name="adj1" fmla="val -11065"/>
              <a:gd name="adj2" fmla="val 57596"/>
              <a:gd name="adj3" fmla="val 111065"/>
            </a:avLst>
          </a:prstGeom>
          <a:ln w="19050">
            <a:solidFill>
              <a:srgbClr val="E3CD58"/>
            </a:solidFill>
            <a:tailEnd type="triangle"/>
          </a:ln>
        </p:spPr>
        <p:style>
          <a:lnRef idx="1">
            <a:schemeClr val="accent1"/>
          </a:lnRef>
          <a:fillRef idx="0">
            <a:schemeClr val="accent1"/>
          </a:fillRef>
          <a:effectRef idx="0">
            <a:schemeClr val="accent1"/>
          </a:effectRef>
          <a:fontRef idx="minor">
            <a:schemeClr val="tx1"/>
          </a:fontRef>
        </p:style>
      </p:cxnSp>
      <p:sp>
        <p:nvSpPr>
          <p:cNvPr id="164" name="矩形 163"/>
          <p:cNvSpPr/>
          <p:nvPr/>
        </p:nvSpPr>
        <p:spPr>
          <a:xfrm>
            <a:off x="2972939" y="2405528"/>
            <a:ext cx="997203" cy="338554"/>
          </a:xfrm>
          <a:prstGeom prst="rect">
            <a:avLst/>
          </a:prstGeom>
        </p:spPr>
        <p:txBody>
          <a:bodyPr wrap="square">
            <a:spAutoFit/>
          </a:bodyPr>
          <a:lstStyle/>
          <a:p>
            <a:pPr>
              <a:defRPr/>
            </a:pPr>
            <a:r>
              <a:rPr lang="zh-TW" altLang="en-US" sz="1600" b="1" dirty="0" smtClean="0">
                <a:solidFill>
                  <a:prstClr val="black"/>
                </a:solidFill>
                <a:latin typeface="微軟正黑體" pitchFamily="34" charset="-120"/>
                <a:ea typeface="微軟正黑體" panose="020B0604030504040204" pitchFamily="34" charset="-120"/>
              </a:rPr>
              <a:t>技術說明</a:t>
            </a:r>
            <a:r>
              <a:rPr lang="en-US" altLang="zh-TW" sz="1600" b="1" dirty="0" smtClean="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grpSp>
        <p:nvGrpSpPr>
          <p:cNvPr id="28" name="群組 27"/>
          <p:cNvGrpSpPr/>
          <p:nvPr/>
        </p:nvGrpSpPr>
        <p:grpSpPr>
          <a:xfrm>
            <a:off x="3970142" y="4526508"/>
            <a:ext cx="2292824" cy="401027"/>
            <a:chOff x="6744572" y="-72775"/>
            <a:chExt cx="2292824" cy="401027"/>
          </a:xfrm>
        </p:grpSpPr>
        <p:sp>
          <p:nvSpPr>
            <p:cNvPr id="170" name="圓角矩形 169"/>
            <p:cNvSpPr/>
            <p:nvPr/>
          </p:nvSpPr>
          <p:spPr>
            <a:xfrm>
              <a:off x="6744572" y="-72775"/>
              <a:ext cx="1938650" cy="401027"/>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微軟正黑體" panose="020B0604030504040204" pitchFamily="34" charset="-120"/>
                <a:ea typeface="微軟正黑體" panose="020B0604030504040204" pitchFamily="34" charset="-120"/>
              </a:endParaRPr>
            </a:p>
          </p:txBody>
        </p:sp>
        <p:sp>
          <p:nvSpPr>
            <p:cNvPr id="171" name="文字方塊 170"/>
            <p:cNvSpPr txBox="1"/>
            <p:nvPr/>
          </p:nvSpPr>
          <p:spPr>
            <a:xfrm>
              <a:off x="7240348" y="-29895"/>
              <a:ext cx="1797048" cy="246221"/>
            </a:xfrm>
            <a:prstGeom prst="rect">
              <a:avLst/>
            </a:prstGeom>
            <a:noFill/>
          </p:spPr>
          <p:txBody>
            <a:bodyPr wrap="square" rtlCol="0">
              <a:spAutoFit/>
            </a:bodyPr>
            <a:lstStyle/>
            <a:p>
              <a:r>
                <a:rPr lang="zh-TW" altLang="en-US" sz="1000" b="1" dirty="0" smtClean="0">
                  <a:solidFill>
                    <a:srgbClr val="F64C00"/>
                  </a:solidFill>
                  <a:latin typeface="微軟正黑體" panose="020B0604030504040204" pitchFamily="34" charset="-120"/>
                  <a:ea typeface="微軟正黑體" panose="020B0604030504040204" pitchFamily="34" charset="-120"/>
                </a:rPr>
                <a:t>減少</a:t>
              </a:r>
              <a:r>
                <a:rPr lang="zh-TW" altLang="en-US" sz="1000" b="1" dirty="0">
                  <a:latin typeface="微軟正黑體" panose="020B0604030504040204" pitchFamily="34" charset="-120"/>
                  <a:ea typeface="微軟正黑體" panose="020B0604030504040204" pitchFamily="34" charset="-120"/>
                </a:rPr>
                <a:t> </a:t>
              </a:r>
              <a:r>
                <a:rPr lang="en-US" altLang="zh-TW" sz="1000" b="1" dirty="0" smtClean="0">
                  <a:solidFill>
                    <a:schemeClr val="accent1"/>
                  </a:solidFill>
                  <a:latin typeface="微軟正黑體" panose="020B0604030504040204" pitchFamily="34" charset="-120"/>
                  <a:ea typeface="微軟正黑體" panose="020B0604030504040204" pitchFamily="34" charset="-120"/>
                </a:rPr>
                <a:t>15h /</a:t>
              </a:r>
              <a:r>
                <a:rPr lang="zh-TW" altLang="en-US" sz="1000" b="1" dirty="0" smtClean="0">
                  <a:solidFill>
                    <a:schemeClr val="accent1"/>
                  </a:solidFill>
                  <a:latin typeface="微軟正黑體" panose="020B0604030504040204" pitchFamily="34" charset="-120"/>
                  <a:ea typeface="微軟正黑體" panose="020B0604030504040204" pitchFamily="34" charset="-120"/>
                </a:rPr>
                <a:t>月</a:t>
              </a:r>
              <a:r>
                <a:rPr lang="en-US" altLang="zh-TW" sz="1000" b="1" dirty="0" smtClean="0">
                  <a:solidFill>
                    <a:schemeClr val="accent1"/>
                  </a:solidFill>
                  <a:latin typeface="微軟正黑體" panose="020B0604030504040204" pitchFamily="34" charset="-120"/>
                  <a:ea typeface="微軟正黑體" panose="020B0604030504040204" pitchFamily="34" charset="-120"/>
                </a:rPr>
                <a:t> </a:t>
              </a:r>
              <a:endParaRPr lang="zh-TW" altLang="en-US" sz="1000" b="1" dirty="0">
                <a:solidFill>
                  <a:schemeClr val="accent1"/>
                </a:solidFill>
                <a:latin typeface="微軟正黑體" panose="020B0604030504040204" pitchFamily="34" charset="-120"/>
                <a:ea typeface="微軟正黑體" panose="020B0604030504040204" pitchFamily="34" charset="-120"/>
              </a:endParaRPr>
            </a:p>
          </p:txBody>
        </p:sp>
        <p:sp>
          <p:nvSpPr>
            <p:cNvPr id="172" name="文字方塊 171"/>
            <p:cNvSpPr txBox="1"/>
            <p:nvPr/>
          </p:nvSpPr>
          <p:spPr>
            <a:xfrm>
              <a:off x="6770808" y="-50178"/>
              <a:ext cx="492443" cy="276999"/>
            </a:xfrm>
            <a:prstGeom prst="rect">
              <a:avLst/>
            </a:prstGeom>
            <a:noFill/>
          </p:spPr>
          <p:txBody>
            <a:bodyPr wrap="none" rtlCol="0">
              <a:spAutoFit/>
            </a:bodyPr>
            <a:lstStyle/>
            <a:p>
              <a:pPr lvl="0"/>
              <a:r>
                <a:rPr lang="zh-TW" altLang="en-US" sz="1200" b="1" dirty="0" smtClean="0">
                  <a:latin typeface="微軟正黑體" panose="020B0604030504040204" pitchFamily="34" charset="-120"/>
                  <a:ea typeface="微軟正黑體" panose="020B0604030504040204" pitchFamily="34" charset="-120"/>
                </a:rPr>
                <a:t>隱性</a:t>
              </a:r>
              <a:endParaRPr lang="zh-TW" altLang="en-US" sz="1200" b="1" dirty="0">
                <a:latin typeface="微軟正黑體" panose="020B0604030504040204" pitchFamily="34" charset="-120"/>
                <a:ea typeface="微軟正黑體" panose="020B0604030504040204" pitchFamily="34" charset="-120"/>
              </a:endParaRPr>
            </a:p>
          </p:txBody>
        </p:sp>
      </p:grpSp>
      <p:sp>
        <p:nvSpPr>
          <p:cNvPr id="173" name="圓角矩形 172"/>
          <p:cNvSpPr/>
          <p:nvPr/>
        </p:nvSpPr>
        <p:spPr>
          <a:xfrm>
            <a:off x="6076580" y="4399673"/>
            <a:ext cx="1938650" cy="620792"/>
          </a:xfrm>
          <a:prstGeom prst="roundRect">
            <a:avLst>
              <a:gd name="adj" fmla="val 1548"/>
            </a:avLst>
          </a:prstGeom>
          <a:solidFill>
            <a:schemeClr val="bg1"/>
          </a:solidFill>
          <a:ln w="9525">
            <a:solidFill>
              <a:schemeClr val="tx2">
                <a:lumMod val="50000"/>
                <a:lumOff val="50000"/>
              </a:schemeClr>
            </a:solidFill>
          </a:ln>
          <a:effectLst>
            <a:outerShdw blurRad="2540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微軟正黑體" panose="020B0604030504040204" pitchFamily="34" charset="-120"/>
              <a:ea typeface="微軟正黑體" panose="020B0604030504040204" pitchFamily="34" charset="-120"/>
            </a:endParaRPr>
          </a:p>
        </p:txBody>
      </p:sp>
      <p:sp>
        <p:nvSpPr>
          <p:cNvPr id="174" name="文字方塊 173"/>
          <p:cNvSpPr txBox="1"/>
          <p:nvPr/>
        </p:nvSpPr>
        <p:spPr>
          <a:xfrm>
            <a:off x="6072581" y="4696274"/>
            <a:ext cx="2044228" cy="256417"/>
          </a:xfrm>
          <a:prstGeom prst="rect">
            <a:avLst/>
          </a:prstGeom>
          <a:noFill/>
        </p:spPr>
        <p:txBody>
          <a:bodyPr wrap="square" rtlCol="0">
            <a:spAutoFit/>
          </a:bodyPr>
          <a:lstStyle/>
          <a:p>
            <a:pPr>
              <a:lnSpc>
                <a:spcPts val="1400"/>
              </a:lnSpc>
            </a:pPr>
            <a:r>
              <a:rPr lang="zh-TW" altLang="en-US" sz="1000" b="1" dirty="0">
                <a:solidFill>
                  <a:srgbClr val="F64C00"/>
                </a:solidFill>
                <a:latin typeface="微軟正黑體" panose="020B0604030504040204" pitchFamily="34" charset="-120"/>
                <a:ea typeface="微軟正黑體" panose="020B0604030504040204" pitchFamily="34" charset="-120"/>
              </a:rPr>
              <a:t>減少人為</a:t>
            </a:r>
            <a:r>
              <a:rPr lang="zh-TW" altLang="en-US" sz="1000" b="1" dirty="0" smtClean="0">
                <a:solidFill>
                  <a:srgbClr val="F64C00"/>
                </a:solidFill>
                <a:latin typeface="微軟正黑體" panose="020B0604030504040204" pitchFamily="34" charset="-120"/>
                <a:ea typeface="微軟正黑體" panose="020B0604030504040204" pitchFamily="34" charset="-120"/>
              </a:rPr>
              <a:t>失誤  </a:t>
            </a:r>
            <a:r>
              <a:rPr lang="zh-TW" altLang="en-US" sz="1000" b="1" dirty="0" smtClean="0">
                <a:solidFill>
                  <a:schemeClr val="accent1"/>
                </a:solidFill>
                <a:latin typeface="微軟正黑體" panose="020B0604030504040204" pitchFamily="34" charset="-120"/>
                <a:ea typeface="微軟正黑體" panose="020B0604030504040204" pitchFamily="34" charset="-120"/>
              </a:rPr>
              <a:t>提升</a:t>
            </a:r>
            <a:r>
              <a:rPr lang="en-US" altLang="zh-TW" sz="1000" b="1" dirty="0">
                <a:solidFill>
                  <a:schemeClr val="accent1"/>
                </a:solidFill>
                <a:latin typeface="微軟正黑體" panose="020B0604030504040204" pitchFamily="34" charset="-120"/>
                <a:ea typeface="微軟正黑體" panose="020B0604030504040204" pitchFamily="34" charset="-120"/>
              </a:rPr>
              <a:t>0.1%</a:t>
            </a:r>
            <a:r>
              <a:rPr lang="zh-TW" altLang="en-US" sz="1000" b="1" dirty="0">
                <a:solidFill>
                  <a:schemeClr val="accent1"/>
                </a:solidFill>
                <a:latin typeface="微軟正黑體" panose="020B0604030504040204" pitchFamily="34" charset="-120"/>
                <a:ea typeface="微軟正黑體" panose="020B0604030504040204" pitchFamily="34" charset="-120"/>
              </a:rPr>
              <a:t>良率</a:t>
            </a:r>
          </a:p>
        </p:txBody>
      </p:sp>
      <p:sp>
        <p:nvSpPr>
          <p:cNvPr id="175" name="文字方塊 174"/>
          <p:cNvSpPr txBox="1"/>
          <p:nvPr/>
        </p:nvSpPr>
        <p:spPr>
          <a:xfrm>
            <a:off x="6100939" y="4429923"/>
            <a:ext cx="1662338" cy="276999"/>
          </a:xfrm>
          <a:prstGeom prst="rect">
            <a:avLst/>
          </a:prstGeom>
          <a:noFill/>
        </p:spPr>
        <p:txBody>
          <a:bodyPr wrap="square" rtlCol="0">
            <a:spAutoFit/>
          </a:bodyPr>
          <a:lstStyle/>
          <a:p>
            <a:pPr lvl="0"/>
            <a:r>
              <a:rPr lang="zh-TW" altLang="en-US" sz="1200" b="1" dirty="0" smtClean="0">
                <a:latin typeface="微軟正黑體" panose="020B0604030504040204" pitchFamily="34" charset="-120"/>
                <a:ea typeface="微軟正黑體" panose="020B0604030504040204" pitchFamily="34" charset="-120"/>
              </a:rPr>
              <a:t>提升效率、良率</a:t>
            </a:r>
            <a:endParaRPr lang="zh-TW" altLang="en-US" sz="1200" b="1" dirty="0">
              <a:latin typeface="微軟正黑體" panose="020B0604030504040204" pitchFamily="34" charset="-120"/>
              <a:ea typeface="微軟正黑體" panose="020B0604030504040204" pitchFamily="34" charset="-120"/>
            </a:endParaRPr>
          </a:p>
        </p:txBody>
      </p:sp>
      <p:sp>
        <p:nvSpPr>
          <p:cNvPr id="176" name="矩形 218"/>
          <p:cNvSpPr>
            <a:spLocks noChangeArrowheads="1"/>
          </p:cNvSpPr>
          <p:nvPr/>
        </p:nvSpPr>
        <p:spPr bwMode="auto">
          <a:xfrm>
            <a:off x="3193527" y="4545528"/>
            <a:ext cx="1080121" cy="374571"/>
          </a:xfrm>
          <a:prstGeom prst="roundRect">
            <a:avLst/>
          </a:prstGeom>
          <a:noFill/>
          <a:ln>
            <a:noFill/>
          </a:ln>
          <a:extLst>
            <a:ext uri="{91240B29-F687-4F45-9708-019B960494DF}">
              <a14:hiddenLine xmlns:a14="http://schemas.microsoft.com/office/drawing/2010/main" w="9525">
                <a:solidFill>
                  <a:srgbClr val="000000"/>
                </a:solidFill>
                <a:miter lim="800000"/>
                <a:headEnd/>
                <a:tailEnd/>
              </a14:hiddenLine>
            </a:ext>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fontAlgn="auto" hangingPunct="1">
              <a:spcBef>
                <a:spcPts val="0"/>
              </a:spcBef>
              <a:spcAft>
                <a:spcPts val="0"/>
              </a:spcAft>
            </a:pPr>
            <a:r>
              <a:rPr lang="zh-TW" altLang="en-US" sz="1600" b="1" dirty="0">
                <a:solidFill>
                  <a:prstClr val="black"/>
                </a:solidFill>
                <a:latin typeface="微軟正黑體" panose="020B0604030504040204" pitchFamily="34" charset="-120"/>
                <a:ea typeface="微軟正黑體" panose="020B0604030504040204" pitchFamily="34" charset="-120"/>
              </a:rPr>
              <a:t>效益</a:t>
            </a:r>
            <a:r>
              <a:rPr lang="en-US" altLang="zh-TW" sz="1600" b="1" dirty="0">
                <a:solidFill>
                  <a:prstClr val="black"/>
                </a:solidFill>
                <a:latin typeface="微軟正黑體" panose="020B0604030504040204" pitchFamily="34" charset="-120"/>
                <a:ea typeface="微軟正黑體" panose="020B0604030504040204" pitchFamily="34" charset="-120"/>
              </a:rPr>
              <a:t>:</a:t>
            </a:r>
            <a:r>
              <a:rPr lang="zh-TW" altLang="en-US" sz="1600" b="1" dirty="0">
                <a:solidFill>
                  <a:prstClr val="black"/>
                </a:solidFill>
                <a:latin typeface="微軟正黑體" panose="020B0604030504040204" pitchFamily="34" charset="-120"/>
                <a:ea typeface="微軟正黑體" panose="020B0604030504040204" pitchFamily="34" charset="-120"/>
              </a:rPr>
              <a:t> </a:t>
            </a:r>
            <a:endParaRPr lang="en-US" altLang="zh-TW" sz="1600" b="1" dirty="0">
              <a:solidFill>
                <a:prstClr val="black"/>
              </a:solidFill>
              <a:latin typeface="微軟正黑體" panose="020B0604030504040204" pitchFamily="34" charset="-120"/>
              <a:ea typeface="微軟正黑體" panose="020B0604030504040204" pitchFamily="34" charset="-120"/>
            </a:endParaRPr>
          </a:p>
        </p:txBody>
      </p:sp>
      <p:pic>
        <p:nvPicPr>
          <p:cNvPr id="180" name="圖片 179"/>
          <p:cNvPicPr>
            <a:picLocks noChangeAspect="1"/>
          </p:cNvPicPr>
          <p:nvPr/>
        </p:nvPicPr>
        <p:blipFill>
          <a:blip r:embed="rId10" cstate="print">
            <a:clrChange>
              <a:clrFrom>
                <a:srgbClr val="000000"/>
              </a:clrFrom>
              <a:clrTo>
                <a:srgbClr val="000000">
                  <a:alpha val="0"/>
                </a:srgbClr>
              </a:clrTo>
            </a:clrChange>
            <a:extLst>
              <a:ext uri="{BEBA8EAE-BF5A-486C-A8C5-ECC9F3942E4B}">
                <a14:imgProps xmlns:a14="http://schemas.microsoft.com/office/drawing/2010/main">
                  <a14:imgLayer r:embed="rId11">
                    <a14:imgEffect>
                      <a14:colorTemperature colorTemp="4700"/>
                    </a14:imgEffect>
                  </a14:imgLayer>
                </a14:imgProps>
              </a:ext>
              <a:ext uri="{28A0092B-C50C-407E-A947-70E740481C1C}">
                <a14:useLocalDpi xmlns:a14="http://schemas.microsoft.com/office/drawing/2010/main" val="0"/>
              </a:ext>
            </a:extLst>
          </a:blip>
          <a:stretch>
            <a:fillRect/>
          </a:stretch>
        </p:blipFill>
        <p:spPr>
          <a:xfrm>
            <a:off x="5525950" y="4585987"/>
            <a:ext cx="261777" cy="261777"/>
          </a:xfrm>
          <a:prstGeom prst="rect">
            <a:avLst/>
          </a:prstGeom>
        </p:spPr>
      </p:pic>
      <p:grpSp>
        <p:nvGrpSpPr>
          <p:cNvPr id="44" name="组合 65"/>
          <p:cNvGrpSpPr>
            <a:grpSpLocks/>
          </p:cNvGrpSpPr>
          <p:nvPr/>
        </p:nvGrpSpPr>
        <p:grpSpPr bwMode="auto">
          <a:xfrm rot="4723889">
            <a:off x="6443231" y="294808"/>
            <a:ext cx="723088" cy="1050156"/>
            <a:chOff x="5008933" y="2278557"/>
            <a:chExt cx="2491360" cy="2362847"/>
          </a:xfrm>
        </p:grpSpPr>
        <p:sp>
          <p:nvSpPr>
            <p:cNvPr id="45"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46" name="组合 67"/>
            <p:cNvGrpSpPr>
              <a:grpSpLocks/>
            </p:cNvGrpSpPr>
            <p:nvPr/>
          </p:nvGrpSpPr>
          <p:grpSpPr bwMode="auto">
            <a:xfrm>
              <a:off x="5008933" y="2278557"/>
              <a:ext cx="2491360" cy="2323893"/>
              <a:chOff x="1123476" y="1681897"/>
              <a:chExt cx="3206311" cy="2990785"/>
            </a:xfrm>
          </p:grpSpPr>
          <p:grpSp>
            <p:nvGrpSpPr>
              <p:cNvPr id="47" name="组合 68"/>
              <p:cNvGrpSpPr>
                <a:grpSpLocks/>
              </p:cNvGrpSpPr>
              <p:nvPr/>
            </p:nvGrpSpPr>
            <p:grpSpPr bwMode="auto">
              <a:xfrm>
                <a:off x="1123476" y="1763461"/>
                <a:ext cx="2798050" cy="2798050"/>
                <a:chOff x="1123476" y="1763461"/>
                <a:chExt cx="2798050" cy="2798050"/>
              </a:xfrm>
            </p:grpSpPr>
            <p:sp>
              <p:nvSpPr>
                <p:cNvPr id="53" name="弧形 52"/>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4" name="弧形 53"/>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5" name="弧形 54"/>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6" name="弧形 55"/>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48" name="组合 69"/>
              <p:cNvGrpSpPr>
                <a:grpSpLocks/>
              </p:cNvGrpSpPr>
              <p:nvPr/>
            </p:nvGrpSpPr>
            <p:grpSpPr bwMode="auto">
              <a:xfrm rot="-7200000">
                <a:off x="1273270" y="1616165"/>
                <a:ext cx="2990785" cy="3122249"/>
                <a:chOff x="891209" y="1807143"/>
                <a:chExt cx="2990785" cy="3122249"/>
              </a:xfrm>
            </p:grpSpPr>
            <p:sp>
              <p:nvSpPr>
                <p:cNvPr id="49" name="弧形 48"/>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0" name="弧形 49"/>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1" name="弧形 50"/>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52" name="弧形 51"/>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grpSp>
        <p:nvGrpSpPr>
          <p:cNvPr id="57" name="组合 65"/>
          <p:cNvGrpSpPr>
            <a:grpSpLocks/>
          </p:cNvGrpSpPr>
          <p:nvPr/>
        </p:nvGrpSpPr>
        <p:grpSpPr bwMode="auto">
          <a:xfrm rot="4723889">
            <a:off x="1892884" y="335901"/>
            <a:ext cx="723088" cy="1050156"/>
            <a:chOff x="5008933" y="2278557"/>
            <a:chExt cx="2491360" cy="2362847"/>
          </a:xfrm>
        </p:grpSpPr>
        <p:sp>
          <p:nvSpPr>
            <p:cNvPr id="58" name="椭圆 66"/>
            <p:cNvSpPr/>
            <p:nvPr/>
          </p:nvSpPr>
          <p:spPr>
            <a:xfrm>
              <a:off x="5009325" y="2353531"/>
              <a:ext cx="2287874" cy="2287873"/>
            </a:xfrm>
            <a:prstGeom prst="ellipse">
              <a:avLst/>
            </a:prstGeom>
            <a:gradFill>
              <a:gsLst>
                <a:gs pos="0">
                  <a:schemeClr val="bg1"/>
                </a:gs>
                <a:gs pos="36000">
                  <a:schemeClr val="bg1"/>
                </a:gs>
                <a:gs pos="100000">
                  <a:srgbClr val="ECECEC"/>
                </a:gs>
              </a:gsLst>
              <a:lin ang="13500000" scaled="1"/>
            </a:gradFill>
            <a:ln w="19050">
              <a:solidFill>
                <a:schemeClr val="bg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a:defRPr/>
              </a:pPr>
              <a:endParaRPr lang="zh-CN" altLang="en-US" sz="1650">
                <a:solidFill>
                  <a:srgbClr val="FFFFFF"/>
                </a:solidFill>
                <a:latin typeface="微軟正黑體" panose="020B0604030504040204" pitchFamily="34" charset="-120"/>
                <a:ea typeface="微軟正黑體" panose="020B0604030504040204" pitchFamily="34" charset="-120"/>
              </a:endParaRPr>
            </a:p>
          </p:txBody>
        </p:sp>
        <p:grpSp>
          <p:nvGrpSpPr>
            <p:cNvPr id="59" name="组合 67"/>
            <p:cNvGrpSpPr>
              <a:grpSpLocks/>
            </p:cNvGrpSpPr>
            <p:nvPr/>
          </p:nvGrpSpPr>
          <p:grpSpPr bwMode="auto">
            <a:xfrm>
              <a:off x="5008933" y="2278557"/>
              <a:ext cx="2491360" cy="2323893"/>
              <a:chOff x="1123476" y="1681897"/>
              <a:chExt cx="3206311" cy="2990785"/>
            </a:xfrm>
          </p:grpSpPr>
          <p:grpSp>
            <p:nvGrpSpPr>
              <p:cNvPr id="60" name="组合 68"/>
              <p:cNvGrpSpPr>
                <a:grpSpLocks/>
              </p:cNvGrpSpPr>
              <p:nvPr/>
            </p:nvGrpSpPr>
            <p:grpSpPr bwMode="auto">
              <a:xfrm>
                <a:off x="1123476" y="1763461"/>
                <a:ext cx="2798050" cy="2798050"/>
                <a:chOff x="1123476" y="1763461"/>
                <a:chExt cx="2798050" cy="2798050"/>
              </a:xfrm>
            </p:grpSpPr>
            <p:sp>
              <p:nvSpPr>
                <p:cNvPr id="66" name="弧形 65"/>
                <p:cNvSpPr/>
                <p:nvPr/>
              </p:nvSpPr>
              <p:spPr>
                <a:xfrm rot="1800000" flipV="1">
                  <a:off x="1167157" y="1802993"/>
                  <a:ext cx="2710692" cy="2718984"/>
                </a:xfrm>
                <a:prstGeom prst="arc">
                  <a:avLst>
                    <a:gd name="adj1" fmla="val 17040575"/>
                    <a:gd name="adj2" fmla="val 18695273"/>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7" name="弧形 66"/>
                <p:cNvSpPr/>
                <p:nvPr/>
              </p:nvSpPr>
              <p:spPr>
                <a:xfrm rot="2700000" flipV="1">
                  <a:off x="1209359" y="1847399"/>
                  <a:ext cx="2626286" cy="2630173"/>
                </a:xfrm>
                <a:prstGeom prst="arc">
                  <a:avLst>
                    <a:gd name="adj1" fmla="val 19281952"/>
                    <a:gd name="adj2" fmla="val 0"/>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8" name="弧形 67"/>
                <p:cNvSpPr/>
                <p:nvPr/>
              </p:nvSpPr>
              <p:spPr>
                <a:xfrm flipV="1">
                  <a:off x="1251561" y="1888388"/>
                  <a:ext cx="2541883" cy="2548194"/>
                </a:xfrm>
                <a:prstGeom prst="arc">
                  <a:avLst>
                    <a:gd name="adj1" fmla="val 16200000"/>
                    <a:gd name="adj2" fmla="val 17549389"/>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9" name="弧形 68"/>
                <p:cNvSpPr/>
                <p:nvPr/>
              </p:nvSpPr>
              <p:spPr>
                <a:xfrm flipV="1">
                  <a:off x="1124956" y="1762004"/>
                  <a:ext cx="2795095" cy="2800963"/>
                </a:xfrm>
                <a:prstGeom prst="arc">
                  <a:avLst>
                    <a:gd name="adj1" fmla="val 16550962"/>
                    <a:gd name="adj2" fmla="val 19413825"/>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nvGrpSpPr>
              <p:cNvPr id="61" name="组合 69"/>
              <p:cNvGrpSpPr>
                <a:grpSpLocks/>
              </p:cNvGrpSpPr>
              <p:nvPr/>
            </p:nvGrpSpPr>
            <p:grpSpPr bwMode="auto">
              <a:xfrm rot="-7200000">
                <a:off x="1273270" y="1616165"/>
                <a:ext cx="2990785" cy="3122249"/>
                <a:chOff x="891209" y="1807143"/>
                <a:chExt cx="2990785" cy="3122249"/>
              </a:xfrm>
            </p:grpSpPr>
            <p:sp>
              <p:nvSpPr>
                <p:cNvPr id="62" name="弧形 61"/>
                <p:cNvSpPr/>
                <p:nvPr/>
              </p:nvSpPr>
              <p:spPr>
                <a:xfrm rot="1800000" flipV="1">
                  <a:off x="1163010" y="1807143"/>
                  <a:ext cx="2718984" cy="2710692"/>
                </a:xfrm>
                <a:prstGeom prst="arc">
                  <a:avLst>
                    <a:gd name="adj1" fmla="val 20395266"/>
                    <a:gd name="adj2" fmla="val 1404770"/>
                  </a:avLst>
                </a:prstGeom>
                <a:ln w="22225"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3" name="弧形 62"/>
                <p:cNvSpPr/>
                <p:nvPr/>
              </p:nvSpPr>
              <p:spPr>
                <a:xfrm rot="2700000" flipV="1">
                  <a:off x="1207415" y="1849346"/>
                  <a:ext cx="2630173" cy="2626286"/>
                </a:xfrm>
                <a:prstGeom prst="arc">
                  <a:avLst>
                    <a:gd name="adj1" fmla="val 1973607"/>
                    <a:gd name="adj2" fmla="val 3697425"/>
                  </a:avLst>
                </a:prstGeom>
                <a:ln w="22225" cap="rnd">
                  <a:solidFill>
                    <a:schemeClr val="accent3"/>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4" name="弧形 63"/>
                <p:cNvSpPr/>
                <p:nvPr/>
              </p:nvSpPr>
              <p:spPr>
                <a:xfrm flipV="1">
                  <a:off x="1248404" y="1891547"/>
                  <a:ext cx="2548194" cy="2541883"/>
                </a:xfrm>
                <a:prstGeom prst="arc">
                  <a:avLst>
                    <a:gd name="adj1" fmla="val 20190874"/>
                    <a:gd name="adj2" fmla="val 0"/>
                  </a:avLst>
                </a:prstGeom>
                <a:ln w="22225" cap="rnd">
                  <a:solidFill>
                    <a:schemeClr val="accent4"/>
                  </a:solidFill>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sp>
              <p:nvSpPr>
                <p:cNvPr id="65" name="弧形 64"/>
                <p:cNvSpPr/>
                <p:nvPr/>
              </p:nvSpPr>
              <p:spPr>
                <a:xfrm flipV="1">
                  <a:off x="891209" y="2134295"/>
                  <a:ext cx="2800963" cy="2795097"/>
                </a:xfrm>
                <a:prstGeom prst="arc">
                  <a:avLst>
                    <a:gd name="adj1" fmla="val 19260812"/>
                    <a:gd name="adj2" fmla="val 0"/>
                  </a:avLst>
                </a:prstGeom>
                <a:ln w="22225" cap="rnd">
                  <a:round/>
                </a:ln>
              </p:spPr>
              <p:style>
                <a:lnRef idx="1">
                  <a:schemeClr val="accent1"/>
                </a:lnRef>
                <a:fillRef idx="0">
                  <a:schemeClr val="accent1"/>
                </a:fillRef>
                <a:effectRef idx="0">
                  <a:schemeClr val="accent1"/>
                </a:effectRef>
                <a:fontRef idx="minor">
                  <a:schemeClr val="tx1"/>
                </a:fontRef>
              </p:style>
              <p:txBody>
                <a:bodyPr anchor="ctr"/>
                <a:lstStyle/>
                <a:p>
                  <a:pPr algn="ctr" defTabSz="685783">
                    <a:defRPr/>
                  </a:pPr>
                  <a:endParaRPr lang="zh-CN" altLang="en-US" sz="1650">
                    <a:solidFill>
                      <a:prstClr val="black"/>
                    </a:solidFill>
                    <a:latin typeface="微軟正黑體" panose="020B0604030504040204" pitchFamily="34" charset="-120"/>
                    <a:ea typeface="微軟正黑體" panose="020B0604030504040204" pitchFamily="34" charset="-120"/>
                  </a:endParaRPr>
                </a:p>
              </p:txBody>
            </p:sp>
          </p:grpSp>
        </p:grpSp>
      </p:grpSp>
      <p:sp>
        <p:nvSpPr>
          <p:cNvPr id="70" name="矩形 69"/>
          <p:cNvSpPr/>
          <p:nvPr/>
        </p:nvSpPr>
        <p:spPr>
          <a:xfrm>
            <a:off x="6290113" y="466779"/>
            <a:ext cx="987250" cy="599006"/>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解決</a:t>
            </a:r>
            <a:endParaRPr lang="en-US" altLang="zh-TW" sz="1600" b="1" dirty="0">
              <a:solidFill>
                <a:prstClr val="black">
                  <a:lumMod val="65000"/>
                  <a:lumOff val="35000"/>
                </a:prstClr>
              </a:solidFill>
              <a:latin typeface="微軟正黑體" panose="020B0604030504040204" pitchFamily="34" charset="-120"/>
              <a:ea typeface="微軟正黑體" panose="020B0604030504040204" pitchFamily="34" charset="-120"/>
            </a:endParaRPr>
          </a:p>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方案</a:t>
            </a:r>
          </a:p>
        </p:txBody>
      </p:sp>
      <p:sp>
        <p:nvSpPr>
          <p:cNvPr id="71" name="矩形 70"/>
          <p:cNvSpPr/>
          <p:nvPr/>
        </p:nvSpPr>
        <p:spPr>
          <a:xfrm>
            <a:off x="1742639" y="634664"/>
            <a:ext cx="987250" cy="338554"/>
          </a:xfrm>
          <a:prstGeom prst="rect">
            <a:avLst/>
          </a:prstGeom>
        </p:spPr>
        <p:txBody>
          <a:bodyPr wrap="square">
            <a:spAutoFit/>
          </a:bodyPr>
          <a:lstStyle/>
          <a:p>
            <a:pPr algn="ctr">
              <a:defRPr/>
            </a:pPr>
            <a:r>
              <a:rPr lang="zh-TW" altLang="en-US" sz="1600" b="1" dirty="0">
                <a:solidFill>
                  <a:prstClr val="black">
                    <a:lumMod val="65000"/>
                    <a:lumOff val="35000"/>
                  </a:prstClr>
                </a:solidFill>
                <a:latin typeface="微軟正黑體" panose="020B0604030504040204" pitchFamily="34" charset="-120"/>
                <a:ea typeface="微軟正黑體" panose="020B0604030504040204" pitchFamily="34" charset="-120"/>
              </a:rPr>
              <a:t>痛點</a:t>
            </a:r>
          </a:p>
        </p:txBody>
      </p:sp>
      <p:pic>
        <p:nvPicPr>
          <p:cNvPr id="73" name="圖片 72"/>
          <p:cNvPicPr>
            <a:picLocks noChangeAspect="1"/>
          </p:cNvPicPr>
          <p:nvPr/>
        </p:nvPicPr>
        <p:blipFill>
          <a:blip r:embed="rId12"/>
          <a:stretch>
            <a:fillRect/>
          </a:stretch>
        </p:blipFill>
        <p:spPr>
          <a:xfrm>
            <a:off x="4667862" y="1291747"/>
            <a:ext cx="2052964" cy="834016"/>
          </a:xfrm>
          <a:prstGeom prst="rect">
            <a:avLst/>
          </a:prstGeom>
          <a:ln>
            <a:noFill/>
          </a:ln>
          <a:effectLst>
            <a:outerShdw blurRad="190500" algn="tl" rotWithShape="0">
              <a:srgbClr val="000000">
                <a:alpha val="70000"/>
              </a:srgbClr>
            </a:outerShdw>
          </a:effectLst>
        </p:spPr>
      </p:pic>
      <p:pic>
        <p:nvPicPr>
          <p:cNvPr id="74" name="圖片 73"/>
          <p:cNvPicPr>
            <a:picLocks noChangeAspect="1"/>
          </p:cNvPicPr>
          <p:nvPr/>
        </p:nvPicPr>
        <p:blipFill>
          <a:blip r:embed="rId13"/>
          <a:stretch>
            <a:fillRect/>
          </a:stretch>
        </p:blipFill>
        <p:spPr>
          <a:xfrm>
            <a:off x="6979600" y="1118936"/>
            <a:ext cx="1375566" cy="1283862"/>
          </a:xfrm>
          <a:prstGeom prst="rect">
            <a:avLst/>
          </a:prstGeom>
        </p:spPr>
      </p:pic>
      <p:sp>
        <p:nvSpPr>
          <p:cNvPr id="75" name="矩形 74"/>
          <p:cNvSpPr/>
          <p:nvPr/>
        </p:nvSpPr>
        <p:spPr>
          <a:xfrm>
            <a:off x="7005793" y="2167170"/>
            <a:ext cx="937563" cy="90843"/>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800">
              <a:latin typeface="微軟正黑體" panose="020B0604030504040204" pitchFamily="34" charset="-120"/>
              <a:ea typeface="微軟正黑體" panose="020B0604030504040204" pitchFamily="34" charset="-120"/>
            </a:endParaRPr>
          </a:p>
        </p:txBody>
      </p:sp>
      <p:sp>
        <p:nvSpPr>
          <p:cNvPr id="76" name="矩形 75"/>
          <p:cNvSpPr/>
          <p:nvPr/>
        </p:nvSpPr>
        <p:spPr>
          <a:xfrm>
            <a:off x="7005794" y="2258013"/>
            <a:ext cx="1125683" cy="88107"/>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800">
              <a:latin typeface="微軟正黑體" panose="020B0604030504040204" pitchFamily="34" charset="-120"/>
              <a:ea typeface="微軟正黑體" panose="020B0604030504040204" pitchFamily="34" charset="-120"/>
            </a:endParaRPr>
          </a:p>
        </p:txBody>
      </p:sp>
      <p:sp>
        <p:nvSpPr>
          <p:cNvPr id="77" name="矩形 76"/>
          <p:cNvSpPr/>
          <p:nvPr/>
        </p:nvSpPr>
        <p:spPr>
          <a:xfrm>
            <a:off x="7020588" y="1747611"/>
            <a:ext cx="1125683" cy="88107"/>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800">
              <a:latin typeface="微軟正黑體" panose="020B0604030504040204" pitchFamily="34" charset="-120"/>
              <a:ea typeface="微軟正黑體" panose="020B0604030504040204" pitchFamily="34" charset="-120"/>
            </a:endParaRPr>
          </a:p>
        </p:txBody>
      </p:sp>
      <p:sp>
        <p:nvSpPr>
          <p:cNvPr id="78" name="矩形 77"/>
          <p:cNvSpPr/>
          <p:nvPr/>
        </p:nvSpPr>
        <p:spPr>
          <a:xfrm>
            <a:off x="8131477" y="2196600"/>
            <a:ext cx="752129" cy="215444"/>
          </a:xfrm>
          <a:prstGeom prst="rect">
            <a:avLst/>
          </a:prstGeom>
          <a:noFill/>
        </p:spPr>
        <p:txBody>
          <a:bodyPr wrap="none">
            <a:spAutoFit/>
          </a:bodyPr>
          <a:lstStyle/>
          <a:p>
            <a:r>
              <a:rPr lang="zh-TW" altLang="en-US" sz="800" dirty="0">
                <a:solidFill>
                  <a:srgbClr val="005087"/>
                </a:solidFill>
                <a:latin typeface="微軟正黑體" panose="020B0604030504040204" pitchFamily="34" charset="-120"/>
                <a:ea typeface="微軟正黑體" panose="020B0604030504040204" pitchFamily="34" charset="-120"/>
              </a:rPr>
              <a:t>當前</a:t>
            </a:r>
            <a:r>
              <a:rPr lang="en-US" altLang="zh-TW" sz="800" dirty="0">
                <a:solidFill>
                  <a:srgbClr val="005087"/>
                </a:solidFill>
                <a:latin typeface="微軟正黑體" panose="020B0604030504040204" pitchFamily="34" charset="-120"/>
                <a:ea typeface="微軟正黑體" panose="020B0604030504040204" pitchFamily="34" charset="-120"/>
              </a:rPr>
              <a:t>z</a:t>
            </a:r>
            <a:r>
              <a:rPr lang="zh-TW" altLang="en-US" sz="800" dirty="0">
                <a:solidFill>
                  <a:srgbClr val="005087"/>
                </a:solidFill>
                <a:latin typeface="微軟正黑體" panose="020B0604030504040204" pitchFamily="34" charset="-120"/>
                <a:ea typeface="微軟正黑體" panose="020B0604030504040204" pitchFamily="34" charset="-120"/>
              </a:rPr>
              <a:t> </a:t>
            </a:r>
            <a:r>
              <a:rPr lang="en-US" altLang="zh-TW" sz="800" dirty="0">
                <a:solidFill>
                  <a:srgbClr val="005087"/>
                </a:solidFill>
                <a:latin typeface="微軟正黑體" panose="020B0604030504040204" pitchFamily="34" charset="-120"/>
                <a:ea typeface="微軟正黑體" panose="020B0604030504040204" pitchFamily="34" charset="-120"/>
              </a:rPr>
              <a:t>offset</a:t>
            </a:r>
            <a:endParaRPr lang="zh-TW" altLang="en-US" sz="800" dirty="0">
              <a:solidFill>
                <a:srgbClr val="005087"/>
              </a:solidFill>
              <a:latin typeface="微軟正黑體" panose="020B0604030504040204" pitchFamily="34" charset="-120"/>
              <a:ea typeface="微軟正黑體" panose="020B0604030504040204" pitchFamily="34" charset="-120"/>
            </a:endParaRPr>
          </a:p>
        </p:txBody>
      </p:sp>
      <p:sp>
        <p:nvSpPr>
          <p:cNvPr id="79" name="矩形 78"/>
          <p:cNvSpPr/>
          <p:nvPr/>
        </p:nvSpPr>
        <p:spPr>
          <a:xfrm>
            <a:off x="7877396" y="2051293"/>
            <a:ext cx="585417" cy="215444"/>
          </a:xfrm>
          <a:prstGeom prst="rect">
            <a:avLst/>
          </a:prstGeom>
          <a:noFill/>
        </p:spPr>
        <p:txBody>
          <a:bodyPr wrap="none">
            <a:spAutoFit/>
          </a:bodyPr>
          <a:lstStyle/>
          <a:p>
            <a:r>
              <a:rPr lang="zh-TW" altLang="en-US" sz="800" dirty="0">
                <a:solidFill>
                  <a:srgbClr val="005087"/>
                </a:solidFill>
                <a:latin typeface="微軟正黑體" panose="020B0604030504040204" pitchFamily="34" charset="-120"/>
                <a:ea typeface="微軟正黑體" panose="020B0604030504040204" pitchFamily="34" charset="-120"/>
              </a:rPr>
              <a:t>當前 </a:t>
            </a:r>
            <a:r>
              <a:rPr lang="en-US" altLang="zh-TW" sz="800" dirty="0">
                <a:solidFill>
                  <a:srgbClr val="005087"/>
                </a:solidFill>
                <a:latin typeface="微軟正黑體" panose="020B0604030504040204" pitchFamily="34" charset="-120"/>
                <a:ea typeface="微軟正黑體" panose="020B0604030504040204" pitchFamily="34" charset="-120"/>
              </a:rPr>
              <a:t>UM</a:t>
            </a:r>
            <a:endParaRPr lang="zh-TW" altLang="en-US" sz="800" dirty="0">
              <a:solidFill>
                <a:srgbClr val="005087"/>
              </a:solidFill>
              <a:latin typeface="微軟正黑體" panose="020B0604030504040204" pitchFamily="34" charset="-120"/>
              <a:ea typeface="微軟正黑體" panose="020B0604030504040204" pitchFamily="34" charset="-120"/>
            </a:endParaRPr>
          </a:p>
        </p:txBody>
      </p:sp>
      <p:sp>
        <p:nvSpPr>
          <p:cNvPr id="80" name="矩形 79"/>
          <p:cNvSpPr/>
          <p:nvPr/>
        </p:nvSpPr>
        <p:spPr>
          <a:xfrm>
            <a:off x="7857768" y="1569998"/>
            <a:ext cx="492443" cy="215444"/>
          </a:xfrm>
          <a:prstGeom prst="rect">
            <a:avLst/>
          </a:prstGeom>
          <a:noFill/>
        </p:spPr>
        <p:txBody>
          <a:bodyPr wrap="none">
            <a:spAutoFit/>
          </a:bodyPr>
          <a:lstStyle/>
          <a:p>
            <a:r>
              <a:rPr lang="zh-TW" altLang="en-US" sz="800" dirty="0">
                <a:solidFill>
                  <a:srgbClr val="005087"/>
                </a:solidFill>
                <a:latin typeface="微軟正黑體" panose="020B0604030504040204" pitchFamily="34" charset="-120"/>
                <a:ea typeface="微軟正黑體" panose="020B0604030504040204" pitchFamily="34" charset="-120"/>
              </a:rPr>
              <a:t>匹配值</a:t>
            </a:r>
          </a:p>
        </p:txBody>
      </p:sp>
      <p:sp>
        <p:nvSpPr>
          <p:cNvPr id="81" name="矩形 80"/>
          <p:cNvSpPr/>
          <p:nvPr/>
        </p:nvSpPr>
        <p:spPr>
          <a:xfrm>
            <a:off x="4535204" y="829647"/>
            <a:ext cx="997203" cy="338554"/>
          </a:xfrm>
          <a:prstGeom prst="rect">
            <a:avLst/>
          </a:prstGeom>
        </p:spPr>
        <p:txBody>
          <a:bodyPr wrap="square">
            <a:spAutoFit/>
          </a:bodyPr>
          <a:lstStyle/>
          <a:p>
            <a:pPr>
              <a:defRPr/>
            </a:pPr>
            <a:r>
              <a:rPr lang="zh-TW" altLang="en-US" sz="1600" b="1" dirty="0" smtClean="0">
                <a:solidFill>
                  <a:prstClr val="black"/>
                </a:solidFill>
                <a:latin typeface="微軟正黑體" pitchFamily="34" charset="-120"/>
                <a:ea typeface="微軟正黑體" panose="020B0604030504040204" pitchFamily="34" charset="-120"/>
              </a:rPr>
              <a:t>改善</a:t>
            </a:r>
            <a:r>
              <a:rPr lang="zh-TW" altLang="en-US" sz="1600" b="1" dirty="0">
                <a:solidFill>
                  <a:prstClr val="black"/>
                </a:solidFill>
                <a:latin typeface="微軟正黑體" pitchFamily="34" charset="-120"/>
                <a:ea typeface="微軟正黑體" panose="020B0604030504040204" pitchFamily="34" charset="-120"/>
              </a:rPr>
              <a:t>後</a:t>
            </a:r>
            <a:r>
              <a:rPr lang="en-US" altLang="zh-TW" sz="1600" b="1" dirty="0" smtClean="0">
                <a:solidFill>
                  <a:prstClr val="black"/>
                </a:solidFill>
                <a:latin typeface="微軟正黑體" pitchFamily="34" charset="-120"/>
                <a:ea typeface="微軟正黑體" panose="020B0604030504040204" pitchFamily="34" charset="-120"/>
              </a:rPr>
              <a:t>:</a:t>
            </a:r>
            <a:endParaRPr lang="en-US" altLang="zh-TW" sz="1600" dirty="0">
              <a:solidFill>
                <a:srgbClr val="FF0000"/>
              </a:solidFill>
              <a:latin typeface="微軟正黑體" panose="020B0604030504040204" pitchFamily="34" charset="-120"/>
              <a:ea typeface="微軟正黑體" panose="020B0604030504040204" pitchFamily="34" charset="-120"/>
            </a:endParaRPr>
          </a:p>
        </p:txBody>
      </p:sp>
      <p:sp>
        <p:nvSpPr>
          <p:cNvPr id="82" name="矩形 81"/>
          <p:cNvSpPr/>
          <p:nvPr/>
        </p:nvSpPr>
        <p:spPr>
          <a:xfrm>
            <a:off x="5036645" y="2317427"/>
            <a:ext cx="1101097" cy="176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smtClean="0">
                <a:latin typeface="微軟正黑體" panose="020B0604030504040204" pitchFamily="34" charset="-120"/>
                <a:ea typeface="微軟正黑體" panose="020B0604030504040204" pitchFamily="34" charset="-120"/>
              </a:rPr>
              <a:t>串 </a:t>
            </a:r>
            <a:r>
              <a:rPr lang="en-US" altLang="zh-TW" sz="1000" dirty="0" smtClean="0">
                <a:latin typeface="微軟正黑體" panose="020B0604030504040204" pitchFamily="34" charset="-120"/>
                <a:ea typeface="微軟正黑體" panose="020B0604030504040204" pitchFamily="34" charset="-120"/>
              </a:rPr>
              <a:t>e-Stone</a:t>
            </a:r>
            <a:r>
              <a:rPr lang="zh-TW" altLang="en-US" sz="1000" dirty="0" smtClean="0">
                <a:latin typeface="微軟正黑體" panose="020B0604030504040204" pitchFamily="34" charset="-120"/>
                <a:ea typeface="微軟正黑體" panose="020B0604030504040204" pitchFamily="34" charset="-120"/>
              </a:rPr>
              <a:t>閉環</a:t>
            </a:r>
            <a:endParaRPr lang="zh-TW" altLang="en-US" sz="1000" dirty="0">
              <a:latin typeface="微軟正黑體" panose="020B0604030504040204" pitchFamily="34" charset="-120"/>
              <a:ea typeface="微軟正黑體" panose="020B0604030504040204" pitchFamily="34" charset="-120"/>
            </a:endParaRPr>
          </a:p>
        </p:txBody>
      </p:sp>
      <p:cxnSp>
        <p:nvCxnSpPr>
          <p:cNvPr id="83" name="肘形接點 82"/>
          <p:cNvCxnSpPr>
            <a:endCxn id="82" idx="1"/>
          </p:cNvCxnSpPr>
          <p:nvPr/>
        </p:nvCxnSpPr>
        <p:spPr>
          <a:xfrm rot="16200000" flipH="1">
            <a:off x="4789256" y="2158139"/>
            <a:ext cx="270132" cy="22464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5" name="標題 1"/>
          <p:cNvSpPr txBox="1">
            <a:spLocks/>
          </p:cNvSpPr>
          <p:nvPr/>
        </p:nvSpPr>
        <p:spPr>
          <a:xfrm>
            <a:off x="0" y="10617"/>
            <a:ext cx="9110501" cy="560180"/>
          </a:xfrm>
          <a:prstGeom prst="rect">
            <a:avLst/>
          </a:prstGeom>
        </p:spPr>
        <p:txBody>
          <a:bodyPr vert="horz" lIns="91440" tIns="45720" rIns="91440" bIns="45720" rtlCol="0" anchor="t">
            <a:normAutofit/>
          </a:bodyPr>
          <a:lstStyle>
            <a:lvl1pPr>
              <a:lnSpc>
                <a:spcPct val="90000"/>
              </a:lnSpc>
              <a:spcBef>
                <a:spcPct val="0"/>
              </a:spcBef>
              <a:buNone/>
              <a:defRPr sz="2800" b="1">
                <a:solidFill>
                  <a:srgbClr val="005087"/>
                </a:solidFill>
                <a:latin typeface="微軟正黑體" pitchFamily="34" charset="-120"/>
                <a:ea typeface="微軟正黑體" panose="020B0604030504040204" pitchFamily="34" charset="-120"/>
                <a:cs typeface="+mj-cs"/>
              </a:defRPr>
            </a:lvl1pPr>
          </a:lstStyle>
          <a:p>
            <a:r>
              <a:rPr lang="zh-TW" altLang="en-US" dirty="0"/>
              <a:t>公司貢獻補充說明</a:t>
            </a:r>
            <a:r>
              <a:rPr lang="en-US" altLang="zh-TW" dirty="0" smtClean="0"/>
              <a:t>—</a:t>
            </a:r>
            <a:r>
              <a:rPr lang="en-US" altLang="zh-TW" dirty="0">
                <a:cs typeface="Arial" panose="020B0604020202020204" pitchFamily="34" charset="0"/>
              </a:rPr>
              <a:t>Canon recipe z offset </a:t>
            </a:r>
            <a:r>
              <a:rPr lang="zh-TW" altLang="en-US" dirty="0">
                <a:cs typeface="Arial" panose="020B0604020202020204" pitchFamily="34" charset="0"/>
              </a:rPr>
              <a:t>監控</a:t>
            </a:r>
          </a:p>
          <a:p>
            <a:endParaRPr lang="zh-TW" altLang="en-US" dirty="0">
              <a:cs typeface="Arial" panose="020B0604020202020204" pitchFamily="34" charset="0"/>
            </a:endParaRPr>
          </a:p>
          <a:p>
            <a:endParaRPr lang="zh-TW" altLang="en-US" dirty="0">
              <a:cs typeface="Arial" panose="020B0604020202020204" pitchFamily="34" charset="0"/>
            </a:endParaRPr>
          </a:p>
        </p:txBody>
      </p:sp>
    </p:spTree>
    <p:extLst>
      <p:ext uri="{BB962C8B-B14F-4D97-AF65-F5344CB8AC3E}">
        <p14:creationId xmlns:p14="http://schemas.microsoft.com/office/powerpoint/2010/main" val="13676697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圓角矩形 15"/>
          <p:cNvSpPr/>
          <p:nvPr/>
        </p:nvSpPr>
        <p:spPr>
          <a:xfrm>
            <a:off x="102179" y="2542308"/>
            <a:ext cx="5643301" cy="2601191"/>
          </a:xfrm>
          <a:prstGeom prst="roundRect">
            <a:avLst>
              <a:gd name="adj" fmla="val 195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TW" altLang="en-US" sz="1400" dirty="0">
              <a:solidFill>
                <a:schemeClr val="tx1"/>
              </a:solidFill>
              <a:latin typeface="+mn-ea"/>
            </a:endParaRPr>
          </a:p>
        </p:txBody>
      </p:sp>
      <p:sp>
        <p:nvSpPr>
          <p:cNvPr id="55" name="流程圖: 程序 54"/>
          <p:cNvSpPr/>
          <p:nvPr/>
        </p:nvSpPr>
        <p:spPr>
          <a:xfrm>
            <a:off x="261400" y="4380826"/>
            <a:ext cx="3318115" cy="732955"/>
          </a:xfrm>
          <a:prstGeom prst="flowChartProcess">
            <a:avLst/>
          </a:prstGeom>
          <a:solidFill>
            <a:schemeClr val="accent3">
              <a:lumMod val="20000"/>
              <a:lumOff val="80000"/>
            </a:schemeClr>
          </a:solidFill>
          <a:ln>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n-ea"/>
            </a:endParaRPr>
          </a:p>
        </p:txBody>
      </p:sp>
      <p:sp>
        <p:nvSpPr>
          <p:cNvPr id="23" name="圓角矩形 22"/>
          <p:cNvSpPr/>
          <p:nvPr/>
        </p:nvSpPr>
        <p:spPr>
          <a:xfrm>
            <a:off x="5840467" y="2486247"/>
            <a:ext cx="3189233" cy="2618719"/>
          </a:xfrm>
          <a:prstGeom prst="roundRect">
            <a:avLst>
              <a:gd name="adj" fmla="val 181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ltLang="zh-TW" sz="1400" dirty="0">
              <a:solidFill>
                <a:schemeClr val="tx1"/>
              </a:solidFill>
              <a:latin typeface="+mn-ea"/>
            </a:endParaRPr>
          </a:p>
          <a:p>
            <a:endParaRPr lang="en-US" altLang="zh-TW" sz="1400" dirty="0">
              <a:solidFill>
                <a:schemeClr val="tx1"/>
              </a:solidFill>
              <a:latin typeface="+mn-ea"/>
            </a:endParaRPr>
          </a:p>
          <a:p>
            <a:pPr marL="342900" indent="-342900">
              <a:buFont typeface="Wingdings" panose="05000000000000000000" pitchFamily="2" charset="2"/>
              <a:buAutoNum type="circleNumWdWhitePlain"/>
            </a:pPr>
            <a:endParaRPr lang="en-US" altLang="zh-TW" sz="1400" dirty="0">
              <a:solidFill>
                <a:schemeClr val="tx1"/>
              </a:solidFill>
              <a:latin typeface="+mn-ea"/>
            </a:endParaRPr>
          </a:p>
          <a:p>
            <a:pPr marL="342900" indent="-342900">
              <a:buFont typeface="Wingdings" panose="05000000000000000000" pitchFamily="2" charset="2"/>
              <a:buAutoNum type="circleNumWdWhitePlain"/>
            </a:pPr>
            <a:endParaRPr lang="en-US" altLang="zh-TW" sz="1400" dirty="0">
              <a:solidFill>
                <a:schemeClr val="tx1"/>
              </a:solidFill>
              <a:latin typeface="+mn-ea"/>
            </a:endParaRPr>
          </a:p>
          <a:p>
            <a:pPr marL="342900" indent="-342900">
              <a:buFont typeface="Wingdings" panose="05000000000000000000" pitchFamily="2" charset="2"/>
              <a:buAutoNum type="circleNumWdWhitePlain"/>
            </a:pPr>
            <a:endParaRPr lang="en-US" altLang="zh-TW" sz="1400" dirty="0">
              <a:solidFill>
                <a:schemeClr val="tx1"/>
              </a:solidFill>
              <a:latin typeface="+mn-ea"/>
            </a:endParaRPr>
          </a:p>
          <a:p>
            <a:endParaRPr lang="zh-TW" altLang="en-US" sz="1400" dirty="0">
              <a:solidFill>
                <a:schemeClr val="tx1"/>
              </a:solidFill>
              <a:latin typeface="+mn-ea"/>
            </a:endParaRPr>
          </a:p>
        </p:txBody>
      </p:sp>
      <p:sp>
        <p:nvSpPr>
          <p:cNvPr id="3" name="圓角矩形 2"/>
          <p:cNvSpPr/>
          <p:nvPr/>
        </p:nvSpPr>
        <p:spPr>
          <a:xfrm>
            <a:off x="102180" y="884427"/>
            <a:ext cx="4117396" cy="1435360"/>
          </a:xfrm>
          <a:prstGeom prst="roundRect">
            <a:avLst>
              <a:gd name="adj" fmla="val 362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TW" altLang="en-US" sz="1400" dirty="0">
              <a:solidFill>
                <a:schemeClr val="tx1"/>
              </a:solidFill>
              <a:latin typeface="+mn-ea"/>
            </a:endParaRPr>
          </a:p>
        </p:txBody>
      </p:sp>
      <p:sp>
        <p:nvSpPr>
          <p:cNvPr id="4" name="圓角矩形 3"/>
          <p:cNvSpPr/>
          <p:nvPr/>
        </p:nvSpPr>
        <p:spPr>
          <a:xfrm>
            <a:off x="261402" y="629327"/>
            <a:ext cx="1632773" cy="30941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dirty="0">
                <a:solidFill>
                  <a:srgbClr val="FFFFFF"/>
                </a:solidFill>
                <a:latin typeface="+mn-ea"/>
              </a:rPr>
              <a:t>簡介</a:t>
            </a:r>
          </a:p>
        </p:txBody>
      </p:sp>
      <p:sp>
        <p:nvSpPr>
          <p:cNvPr id="17" name="圓角矩形 16"/>
          <p:cNvSpPr/>
          <p:nvPr/>
        </p:nvSpPr>
        <p:spPr>
          <a:xfrm>
            <a:off x="261401" y="2387602"/>
            <a:ext cx="1632773" cy="30941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dirty="0">
                <a:solidFill>
                  <a:srgbClr val="FFFFFF"/>
                </a:solidFill>
                <a:latin typeface="+mn-ea"/>
              </a:rPr>
              <a:t>技術內涵</a:t>
            </a:r>
          </a:p>
        </p:txBody>
      </p:sp>
      <p:sp>
        <p:nvSpPr>
          <p:cNvPr id="24" name="圓角矩形 23"/>
          <p:cNvSpPr/>
          <p:nvPr/>
        </p:nvSpPr>
        <p:spPr>
          <a:xfrm>
            <a:off x="5957662" y="2387600"/>
            <a:ext cx="1632773" cy="30941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dirty="0">
                <a:solidFill>
                  <a:srgbClr val="FFFFFF"/>
                </a:solidFill>
                <a:latin typeface="+mn-ea"/>
              </a:rPr>
              <a:t>技術應用</a:t>
            </a:r>
          </a:p>
        </p:txBody>
      </p:sp>
      <p:sp>
        <p:nvSpPr>
          <p:cNvPr id="7" name="矩形 6"/>
          <p:cNvSpPr/>
          <p:nvPr/>
        </p:nvSpPr>
        <p:spPr>
          <a:xfrm>
            <a:off x="261402" y="917295"/>
            <a:ext cx="4572000" cy="1338828"/>
          </a:xfrm>
          <a:prstGeom prst="rect">
            <a:avLst/>
          </a:prstGeom>
        </p:spPr>
        <p:txBody>
          <a:bodyPr>
            <a:spAutoFit/>
          </a:bodyPr>
          <a:lstStyle/>
          <a:p>
            <a:pPr marL="285750" indent="-285750">
              <a:buFont typeface="Arial" panose="020B0604020202020204" pitchFamily="34" charset="0"/>
              <a:buChar char="•"/>
            </a:pPr>
            <a:r>
              <a:rPr lang="en-US" altLang="zh-TW" dirty="0" smtClean="0">
                <a:latin typeface="+mn-ea"/>
              </a:rPr>
              <a:t>Python </a:t>
            </a:r>
            <a:r>
              <a:rPr lang="zh-TW" altLang="en-US" dirty="0">
                <a:latin typeface="+mn-ea"/>
              </a:rPr>
              <a:t>高效能 </a:t>
            </a:r>
            <a:r>
              <a:rPr lang="en-US" altLang="zh-TW" dirty="0">
                <a:latin typeface="+mn-ea"/>
              </a:rPr>
              <a:t>Web API </a:t>
            </a:r>
            <a:r>
              <a:rPr lang="zh-TW" altLang="en-US" dirty="0">
                <a:latin typeface="+mn-ea"/>
              </a:rPr>
              <a:t>框架</a:t>
            </a:r>
          </a:p>
          <a:p>
            <a:pPr marL="285750" indent="-285750">
              <a:buFont typeface="Arial" panose="020B0604020202020204" pitchFamily="34" charset="0"/>
              <a:buChar char="•"/>
            </a:pPr>
            <a:r>
              <a:rPr lang="zh-TW" altLang="en-US" dirty="0" smtClean="0">
                <a:latin typeface="+mn-ea"/>
              </a:rPr>
              <a:t>基於 </a:t>
            </a:r>
            <a:r>
              <a:rPr lang="en-US" altLang="zh-TW" dirty="0">
                <a:latin typeface="+mn-ea"/>
              </a:rPr>
              <a:t>ASGI </a:t>
            </a:r>
            <a:r>
              <a:rPr lang="zh-TW" altLang="en-US" dirty="0">
                <a:latin typeface="+mn-ea"/>
              </a:rPr>
              <a:t>具備高併發能力</a:t>
            </a:r>
          </a:p>
          <a:p>
            <a:pPr marL="285750" indent="-285750">
              <a:buFont typeface="Arial" panose="020B0604020202020204" pitchFamily="34" charset="0"/>
              <a:buChar char="•"/>
            </a:pPr>
            <a:r>
              <a:rPr lang="zh-TW" altLang="en-US" dirty="0" smtClean="0">
                <a:latin typeface="+mn-ea"/>
              </a:rPr>
              <a:t>自動</a:t>
            </a:r>
            <a:r>
              <a:rPr lang="zh-TW" altLang="en-US" dirty="0">
                <a:latin typeface="+mn-ea"/>
              </a:rPr>
              <a:t>生成 </a:t>
            </a:r>
            <a:r>
              <a:rPr lang="en-US" altLang="zh-TW" dirty="0">
                <a:latin typeface="+mn-ea"/>
              </a:rPr>
              <a:t>Swagger (OpenAPI </a:t>
            </a:r>
            <a:r>
              <a:rPr lang="zh-TW" altLang="en-US" dirty="0">
                <a:latin typeface="+mn-ea"/>
              </a:rPr>
              <a:t>文檔</a:t>
            </a:r>
            <a:r>
              <a:rPr lang="en-US" altLang="zh-TW" dirty="0">
                <a:latin typeface="+mn-ea"/>
              </a:rPr>
              <a:t>)</a:t>
            </a:r>
          </a:p>
          <a:p>
            <a:pPr marL="285750" indent="-285750">
              <a:buFont typeface="Arial" panose="020B0604020202020204" pitchFamily="34" charset="0"/>
              <a:buChar char="•"/>
            </a:pPr>
            <a:r>
              <a:rPr lang="zh-TW" altLang="en-US" dirty="0" smtClean="0">
                <a:latin typeface="+mn-ea"/>
              </a:rPr>
              <a:t>支援 </a:t>
            </a:r>
            <a:r>
              <a:rPr lang="en-US" altLang="zh-TW" dirty="0">
                <a:latin typeface="+mn-ea"/>
              </a:rPr>
              <a:t>async </a:t>
            </a:r>
            <a:r>
              <a:rPr lang="zh-TW" altLang="en-US" dirty="0">
                <a:latin typeface="+mn-ea"/>
              </a:rPr>
              <a:t>非同步</a:t>
            </a:r>
            <a:r>
              <a:rPr lang="zh-TW" altLang="en-US" dirty="0" smtClean="0">
                <a:latin typeface="+mn-ea"/>
              </a:rPr>
              <a:t>操作</a:t>
            </a:r>
            <a:endParaRPr lang="en-US" altLang="zh-TW" dirty="0" smtClean="0">
              <a:latin typeface="+mn-ea"/>
            </a:endParaRPr>
          </a:p>
          <a:p>
            <a:pPr marL="285750" indent="-285750">
              <a:buFont typeface="Arial" panose="020B0604020202020204" pitchFamily="34" charset="0"/>
              <a:buChar char="•"/>
            </a:pPr>
            <a:r>
              <a:rPr lang="zh-TW" altLang="en-US" dirty="0">
                <a:latin typeface="+mn-ea"/>
              </a:rPr>
              <a:t>內建數據驗證 </a:t>
            </a:r>
            <a:r>
              <a:rPr lang="en-US" altLang="zh-TW" dirty="0">
                <a:latin typeface="+mn-ea"/>
              </a:rPr>
              <a:t>(</a:t>
            </a:r>
            <a:r>
              <a:rPr lang="en-US" altLang="zh-TW" dirty="0" err="1">
                <a:latin typeface="+mn-ea"/>
              </a:rPr>
              <a:t>Pydantic</a:t>
            </a:r>
            <a:r>
              <a:rPr lang="en-US" altLang="zh-TW" dirty="0">
                <a:latin typeface="+mn-ea"/>
              </a:rPr>
              <a:t>)</a:t>
            </a:r>
          </a:p>
          <a:p>
            <a:pPr marL="285750" indent="-285750">
              <a:buFont typeface="Arial" panose="020B0604020202020204" pitchFamily="34" charset="0"/>
              <a:buChar char="•"/>
            </a:pPr>
            <a:r>
              <a:rPr lang="zh-TW" altLang="en-US" dirty="0">
                <a:latin typeface="+mn-ea"/>
              </a:rPr>
              <a:t>自帶 </a:t>
            </a:r>
            <a:r>
              <a:rPr lang="en-US" altLang="zh-TW" dirty="0">
                <a:latin typeface="+mn-ea"/>
              </a:rPr>
              <a:t>API </a:t>
            </a:r>
            <a:r>
              <a:rPr lang="zh-TW" altLang="en-US" dirty="0">
                <a:latin typeface="+mn-ea"/>
              </a:rPr>
              <a:t>測試與</a:t>
            </a:r>
            <a:r>
              <a:rPr lang="zh-TW" altLang="en-US" dirty="0" smtClean="0">
                <a:latin typeface="+mn-ea"/>
              </a:rPr>
              <a:t>文件</a:t>
            </a:r>
            <a:endParaRPr lang="zh-TW" altLang="en-US" dirty="0">
              <a:latin typeface="+mn-ea"/>
            </a:endParaRPr>
          </a:p>
        </p:txBody>
      </p:sp>
      <p:sp>
        <p:nvSpPr>
          <p:cNvPr id="22" name="標題 1"/>
          <p:cNvSpPr txBox="1">
            <a:spLocks/>
          </p:cNvSpPr>
          <p:nvPr/>
        </p:nvSpPr>
        <p:spPr>
          <a:xfrm>
            <a:off x="41437" y="77525"/>
            <a:ext cx="8482972" cy="553584"/>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3200" kern="1200">
                <a:solidFill>
                  <a:srgbClr val="005087"/>
                </a:solidFill>
                <a:latin typeface="+mj-lt"/>
                <a:ea typeface="+mj-ea"/>
                <a:cs typeface="+mj-cs"/>
              </a:defRPr>
            </a:lvl1pPr>
          </a:lstStyle>
          <a:p>
            <a:r>
              <a:rPr lang="zh-TW" altLang="en-US" b="1" dirty="0" smtClean="0">
                <a:latin typeface="+mj-ea"/>
              </a:rPr>
              <a:t>技術成就補充</a:t>
            </a:r>
            <a:r>
              <a:rPr lang="en-US" altLang="zh-TW" b="1" dirty="0" smtClean="0">
                <a:latin typeface="+mj-ea"/>
              </a:rPr>
              <a:t>— FastAPI</a:t>
            </a:r>
            <a:r>
              <a:rPr lang="zh-TW" altLang="en-US" b="1" dirty="0" smtClean="0">
                <a:latin typeface="+mj-ea"/>
              </a:rPr>
              <a:t> </a:t>
            </a:r>
            <a:r>
              <a:rPr lang="zh-TW" altLang="en-US" b="1" dirty="0" smtClean="0">
                <a:latin typeface="+mj-ea"/>
              </a:rPr>
              <a:t>網頁架構</a:t>
            </a:r>
            <a:endParaRPr lang="zh-TW" altLang="en-US" b="1" dirty="0">
              <a:latin typeface="+mj-ea"/>
            </a:endParaRPr>
          </a:p>
        </p:txBody>
      </p:sp>
      <p:sp>
        <p:nvSpPr>
          <p:cNvPr id="12" name="流程圖: 程序 11"/>
          <p:cNvSpPr/>
          <p:nvPr/>
        </p:nvSpPr>
        <p:spPr>
          <a:xfrm>
            <a:off x="261401" y="2720272"/>
            <a:ext cx="2035278" cy="967566"/>
          </a:xfrm>
          <a:prstGeom prst="flowChartProcess">
            <a:avLst/>
          </a:prstGeom>
          <a:solidFill>
            <a:schemeClr val="accent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n-ea"/>
            </a:endParaRPr>
          </a:p>
        </p:txBody>
      </p:sp>
      <p:sp>
        <p:nvSpPr>
          <p:cNvPr id="26" name="流程圖: 程序 25"/>
          <p:cNvSpPr/>
          <p:nvPr/>
        </p:nvSpPr>
        <p:spPr>
          <a:xfrm>
            <a:off x="2296679" y="2720272"/>
            <a:ext cx="3046845" cy="969588"/>
          </a:xfrm>
          <a:prstGeom prst="flowChartProcess">
            <a:avLst/>
          </a:prstGeom>
          <a:solidFill>
            <a:schemeClr val="accent2">
              <a:lumMod val="20000"/>
              <a:lumOff val="8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n-ea"/>
            </a:endParaRPr>
          </a:p>
        </p:txBody>
      </p:sp>
      <p:sp>
        <p:nvSpPr>
          <p:cNvPr id="25" name="矩形 24"/>
          <p:cNvSpPr/>
          <p:nvPr/>
        </p:nvSpPr>
        <p:spPr>
          <a:xfrm>
            <a:off x="2386451" y="2735493"/>
            <a:ext cx="2035278" cy="646331"/>
          </a:xfrm>
          <a:prstGeom prst="rect">
            <a:avLst/>
          </a:prstGeom>
        </p:spPr>
        <p:txBody>
          <a:bodyPr wrap="square">
            <a:spAutoFit/>
          </a:bodyPr>
          <a:lstStyle/>
          <a:p>
            <a:r>
              <a:rPr lang="en-US" altLang="zh-TW" sz="900" dirty="0" smtClean="0">
                <a:latin typeface="+mn-ea"/>
              </a:rPr>
              <a:t>FastAPI</a:t>
            </a:r>
          </a:p>
          <a:p>
            <a:pPr marL="171450" indent="-171450">
              <a:buFont typeface="Arial" panose="020B0604020202020204" pitchFamily="34" charset="0"/>
              <a:buChar char="•"/>
            </a:pPr>
            <a:r>
              <a:rPr lang="en-US" altLang="zh-TW" sz="900" dirty="0" smtClean="0">
                <a:latin typeface="+mn-ea"/>
              </a:rPr>
              <a:t>ASGI</a:t>
            </a:r>
          </a:p>
          <a:p>
            <a:pPr marL="171450" indent="-171450">
              <a:buFont typeface="Arial" panose="020B0604020202020204" pitchFamily="34" charset="0"/>
              <a:buChar char="•"/>
            </a:pPr>
            <a:r>
              <a:rPr lang="zh-TW" altLang="en-US" sz="900" dirty="0" smtClean="0">
                <a:latin typeface="+mn-ea"/>
              </a:rPr>
              <a:t>支援 </a:t>
            </a:r>
            <a:r>
              <a:rPr lang="zh-TW" altLang="en-US" sz="900" dirty="0">
                <a:latin typeface="+mn-ea"/>
              </a:rPr>
              <a:t>async / await</a:t>
            </a:r>
          </a:p>
          <a:p>
            <a:pPr marL="171450" indent="-171450">
              <a:buFont typeface="Arial" panose="020B0604020202020204" pitchFamily="34" charset="0"/>
              <a:buChar char="•"/>
            </a:pPr>
            <a:r>
              <a:rPr lang="zh-TW" altLang="en-US" sz="900" dirty="0" smtClean="0">
                <a:latin typeface="+mn-ea"/>
              </a:rPr>
              <a:t>非同步 </a:t>
            </a:r>
            <a:r>
              <a:rPr lang="zh-TW" altLang="en-US" sz="900" dirty="0">
                <a:latin typeface="+mn-ea"/>
              </a:rPr>
              <a:t>I/O</a:t>
            </a:r>
          </a:p>
        </p:txBody>
      </p:sp>
      <p:sp>
        <p:nvSpPr>
          <p:cNvPr id="27" name="矩形 26"/>
          <p:cNvSpPr/>
          <p:nvPr/>
        </p:nvSpPr>
        <p:spPr>
          <a:xfrm>
            <a:off x="3732136" y="2776508"/>
            <a:ext cx="1484701" cy="230832"/>
          </a:xfrm>
          <a:prstGeom prst="rect">
            <a:avLst/>
          </a:prstGeom>
          <a:gradFill flip="none" rotWithShape="1">
            <a:gsLst>
              <a:gs pos="0">
                <a:schemeClr val="accent2">
                  <a:lumMod val="20000"/>
                  <a:lumOff val="80000"/>
                  <a:shade val="30000"/>
                  <a:satMod val="115000"/>
                </a:schemeClr>
              </a:gs>
              <a:gs pos="50000">
                <a:schemeClr val="accent2">
                  <a:lumMod val="20000"/>
                  <a:lumOff val="80000"/>
                  <a:shade val="67500"/>
                  <a:satMod val="115000"/>
                </a:schemeClr>
              </a:gs>
              <a:gs pos="100000">
                <a:schemeClr val="accent2">
                  <a:lumMod val="20000"/>
                  <a:lumOff val="80000"/>
                  <a:shade val="100000"/>
                  <a:satMod val="115000"/>
                </a:schemeClr>
              </a:gs>
            </a:gsLst>
            <a:lin ang="13500000" scaled="1"/>
            <a:tileRect/>
          </a:gradFill>
          <a:ln w="12700">
            <a:noFill/>
          </a:ln>
        </p:spPr>
        <p:txBody>
          <a:bodyPr wrap="square">
            <a:spAutoFit/>
          </a:bodyPr>
          <a:lstStyle/>
          <a:p>
            <a:r>
              <a:rPr lang="zh-TW" altLang="en-US" sz="900" dirty="0">
                <a:latin typeface="+mn-ea"/>
              </a:rPr>
              <a:t>多人同時查詢</a:t>
            </a:r>
          </a:p>
        </p:txBody>
      </p:sp>
      <p:sp>
        <p:nvSpPr>
          <p:cNvPr id="28" name="矩形 27"/>
          <p:cNvSpPr/>
          <p:nvPr/>
        </p:nvSpPr>
        <p:spPr>
          <a:xfrm>
            <a:off x="99533" y="2669767"/>
            <a:ext cx="357790" cy="300082"/>
          </a:xfrm>
          <a:prstGeom prst="rect">
            <a:avLst/>
          </a:prstGeom>
        </p:spPr>
        <p:txBody>
          <a:bodyPr wrap="none">
            <a:spAutoFit/>
          </a:bodyPr>
          <a:lstStyle/>
          <a:p>
            <a:r>
              <a:rPr lang="zh-TW" altLang="en-US" dirty="0">
                <a:latin typeface="+mn-ea"/>
              </a:rPr>
              <a:t>📌</a:t>
            </a:r>
          </a:p>
        </p:txBody>
      </p:sp>
      <p:sp>
        <p:nvSpPr>
          <p:cNvPr id="30" name="矩形 29"/>
          <p:cNvSpPr/>
          <p:nvPr/>
        </p:nvSpPr>
        <p:spPr>
          <a:xfrm>
            <a:off x="3720108" y="3388939"/>
            <a:ext cx="1496730" cy="230832"/>
          </a:xfrm>
          <a:prstGeom prst="rect">
            <a:avLst/>
          </a:prstGeom>
          <a:gradFill flip="none" rotWithShape="1">
            <a:gsLst>
              <a:gs pos="0">
                <a:schemeClr val="accent2">
                  <a:lumMod val="20000"/>
                  <a:lumOff val="80000"/>
                  <a:shade val="30000"/>
                  <a:satMod val="115000"/>
                </a:schemeClr>
              </a:gs>
              <a:gs pos="50000">
                <a:schemeClr val="accent2">
                  <a:lumMod val="20000"/>
                  <a:lumOff val="80000"/>
                  <a:shade val="67500"/>
                  <a:satMod val="115000"/>
                </a:schemeClr>
              </a:gs>
              <a:gs pos="100000">
                <a:schemeClr val="accent2">
                  <a:lumMod val="20000"/>
                  <a:lumOff val="80000"/>
                  <a:shade val="100000"/>
                  <a:satMod val="115000"/>
                </a:schemeClr>
              </a:gs>
            </a:gsLst>
            <a:lin ang="13500000" scaled="1"/>
            <a:tileRect/>
          </a:gradFill>
          <a:ln w="12700">
            <a:noFill/>
          </a:ln>
        </p:spPr>
        <p:txBody>
          <a:bodyPr wrap="square">
            <a:spAutoFit/>
          </a:bodyPr>
          <a:lstStyle/>
          <a:p>
            <a:r>
              <a:rPr lang="zh-TW" altLang="en-US" sz="900" dirty="0">
                <a:latin typeface="+mn-ea"/>
              </a:rPr>
              <a:t>同時撈多張資料表</a:t>
            </a:r>
          </a:p>
        </p:txBody>
      </p:sp>
      <p:sp>
        <p:nvSpPr>
          <p:cNvPr id="39" name="流程圖: 程序 38"/>
          <p:cNvSpPr/>
          <p:nvPr/>
        </p:nvSpPr>
        <p:spPr>
          <a:xfrm>
            <a:off x="3810823" y="3741406"/>
            <a:ext cx="1527016" cy="1363560"/>
          </a:xfrm>
          <a:prstGeom prst="flowChartProcess">
            <a:avLst/>
          </a:prstGeom>
          <a:solidFill>
            <a:schemeClr val="accent5">
              <a:lumMod val="20000"/>
              <a:lumOff val="80000"/>
            </a:schemeClr>
          </a:solidFill>
          <a:ln>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n-ea"/>
            </a:endParaRPr>
          </a:p>
        </p:txBody>
      </p:sp>
      <p:sp>
        <p:nvSpPr>
          <p:cNvPr id="41" name="矩形 40"/>
          <p:cNvSpPr/>
          <p:nvPr/>
        </p:nvSpPr>
        <p:spPr>
          <a:xfrm>
            <a:off x="3860150" y="3827269"/>
            <a:ext cx="1521679" cy="369332"/>
          </a:xfrm>
          <a:prstGeom prst="rect">
            <a:avLst/>
          </a:prstGeom>
        </p:spPr>
        <p:txBody>
          <a:bodyPr wrap="square">
            <a:spAutoFit/>
          </a:bodyPr>
          <a:lstStyle/>
          <a:p>
            <a:r>
              <a:rPr lang="zh-TW" altLang="en-US" sz="900" dirty="0">
                <a:latin typeface="+mn-ea"/>
              </a:rPr>
              <a:t>先定義資料結構（型別）</a:t>
            </a:r>
            <a:r>
              <a:rPr lang="zh-TW" altLang="en-US" sz="900" dirty="0" smtClean="0">
                <a:latin typeface="+mn-ea"/>
              </a:rPr>
              <a:t>，</a:t>
            </a:r>
            <a:endParaRPr lang="en-US" altLang="zh-TW" sz="900" dirty="0" smtClean="0">
              <a:latin typeface="+mn-ea"/>
            </a:endParaRPr>
          </a:p>
          <a:p>
            <a:r>
              <a:rPr lang="zh-TW" altLang="en-US" sz="900" dirty="0" smtClean="0">
                <a:latin typeface="+mn-ea"/>
              </a:rPr>
              <a:t>框架</a:t>
            </a:r>
            <a:r>
              <a:rPr lang="zh-TW" altLang="en-US" sz="900" dirty="0">
                <a:latin typeface="+mn-ea"/>
              </a:rPr>
              <a:t>自動處理驗證與轉換</a:t>
            </a:r>
          </a:p>
        </p:txBody>
      </p:sp>
      <p:sp>
        <p:nvSpPr>
          <p:cNvPr id="43" name="矩形 42"/>
          <p:cNvSpPr/>
          <p:nvPr/>
        </p:nvSpPr>
        <p:spPr>
          <a:xfrm>
            <a:off x="3810823" y="4680257"/>
            <a:ext cx="1495957" cy="230832"/>
          </a:xfrm>
          <a:prstGeom prst="rect">
            <a:avLst/>
          </a:prstGeo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b="100000"/>
            </a:path>
            <a:tileRect t="-100000" r="-100000"/>
          </a:gradFill>
          <a:ln w="12700">
            <a:noFill/>
          </a:ln>
        </p:spPr>
        <p:txBody>
          <a:bodyPr wrap="square">
            <a:spAutoFit/>
          </a:bodyPr>
          <a:lstStyle/>
          <a:p>
            <a:r>
              <a:rPr lang="zh-TW" altLang="en-US" sz="900" dirty="0">
                <a:latin typeface="+mn-ea"/>
              </a:rPr>
              <a:t>減少前後端溝通成本</a:t>
            </a:r>
          </a:p>
        </p:txBody>
      </p:sp>
      <p:sp>
        <p:nvSpPr>
          <p:cNvPr id="49" name="矩形 48"/>
          <p:cNvSpPr/>
          <p:nvPr/>
        </p:nvSpPr>
        <p:spPr>
          <a:xfrm>
            <a:off x="3810823" y="4365141"/>
            <a:ext cx="1495956" cy="230832"/>
          </a:xfrm>
          <a:prstGeom prst="rect">
            <a:avLst/>
          </a:prstGeo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b="100000"/>
            </a:path>
            <a:tileRect t="-100000" r="-100000"/>
          </a:gradFill>
          <a:ln w="12700">
            <a:noFill/>
          </a:ln>
        </p:spPr>
        <p:txBody>
          <a:bodyPr wrap="square">
            <a:spAutoFit/>
          </a:bodyPr>
          <a:lstStyle/>
          <a:p>
            <a:r>
              <a:rPr lang="zh-TW" altLang="en-US" sz="900" dirty="0">
                <a:latin typeface="+mn-ea"/>
              </a:rPr>
              <a:t>型別錯就直接擋掉</a:t>
            </a:r>
          </a:p>
        </p:txBody>
      </p:sp>
      <p:sp>
        <p:nvSpPr>
          <p:cNvPr id="32" name="矩形 31"/>
          <p:cNvSpPr/>
          <p:nvPr/>
        </p:nvSpPr>
        <p:spPr>
          <a:xfrm>
            <a:off x="3732136" y="3089583"/>
            <a:ext cx="1484702" cy="230832"/>
          </a:xfrm>
          <a:prstGeom prst="rect">
            <a:avLst/>
          </a:prstGeom>
          <a:gradFill flip="none" rotWithShape="1">
            <a:gsLst>
              <a:gs pos="0">
                <a:schemeClr val="accent2">
                  <a:lumMod val="20000"/>
                  <a:lumOff val="80000"/>
                  <a:shade val="30000"/>
                  <a:satMod val="115000"/>
                </a:schemeClr>
              </a:gs>
              <a:gs pos="50000">
                <a:schemeClr val="accent2">
                  <a:lumMod val="20000"/>
                  <a:lumOff val="80000"/>
                  <a:shade val="67500"/>
                  <a:satMod val="115000"/>
                </a:schemeClr>
              </a:gs>
              <a:gs pos="100000">
                <a:schemeClr val="accent2">
                  <a:lumMod val="20000"/>
                  <a:lumOff val="80000"/>
                  <a:shade val="100000"/>
                  <a:satMod val="115000"/>
                </a:schemeClr>
              </a:gs>
            </a:gsLst>
            <a:lin ang="13500000" scaled="1"/>
            <a:tileRect/>
          </a:gradFill>
          <a:ln w="12700">
            <a:noFill/>
          </a:ln>
        </p:spPr>
        <p:txBody>
          <a:bodyPr wrap="square">
            <a:spAutoFit/>
          </a:bodyPr>
          <a:lstStyle/>
          <a:p>
            <a:r>
              <a:rPr lang="zh-TW" altLang="en-US" sz="900" dirty="0">
                <a:latin typeface="+mn-ea"/>
              </a:rPr>
              <a:t>即時 </a:t>
            </a:r>
            <a:r>
              <a:rPr lang="en-US" altLang="zh-TW" sz="900" dirty="0">
                <a:latin typeface="+mn-ea"/>
              </a:rPr>
              <a:t>API + </a:t>
            </a:r>
            <a:r>
              <a:rPr lang="zh-TW" altLang="en-US" sz="900" dirty="0">
                <a:latin typeface="+mn-ea"/>
              </a:rPr>
              <a:t>背後 </a:t>
            </a:r>
            <a:r>
              <a:rPr lang="en-US" altLang="zh-TW" sz="900" dirty="0">
                <a:latin typeface="+mn-ea"/>
              </a:rPr>
              <a:t>ETL </a:t>
            </a:r>
            <a:r>
              <a:rPr lang="zh-TW" altLang="en-US" sz="900" dirty="0">
                <a:latin typeface="+mn-ea"/>
              </a:rPr>
              <a:t>查詢</a:t>
            </a:r>
          </a:p>
        </p:txBody>
      </p:sp>
      <p:sp>
        <p:nvSpPr>
          <p:cNvPr id="51" name="流程圖: 程序 50"/>
          <p:cNvSpPr/>
          <p:nvPr/>
        </p:nvSpPr>
        <p:spPr>
          <a:xfrm>
            <a:off x="279386" y="3709019"/>
            <a:ext cx="3302013" cy="608129"/>
          </a:xfrm>
          <a:prstGeom prst="flowChartProcess">
            <a:avLst/>
          </a:prstGeom>
          <a:solidFill>
            <a:schemeClr val="accent4">
              <a:lumMod val="20000"/>
              <a:lumOff val="80000"/>
            </a:schemeClr>
          </a:solidFill>
          <a:ln>
            <a:solidFill>
              <a:schemeClr val="accent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mn-ea"/>
            </a:endParaRPr>
          </a:p>
        </p:txBody>
      </p:sp>
      <p:sp>
        <p:nvSpPr>
          <p:cNvPr id="44" name="矩形 43"/>
          <p:cNvSpPr/>
          <p:nvPr/>
        </p:nvSpPr>
        <p:spPr>
          <a:xfrm>
            <a:off x="3673497" y="3638945"/>
            <a:ext cx="357790" cy="300082"/>
          </a:xfrm>
          <a:prstGeom prst="rect">
            <a:avLst/>
          </a:prstGeom>
        </p:spPr>
        <p:txBody>
          <a:bodyPr wrap="none">
            <a:spAutoFit/>
          </a:bodyPr>
          <a:lstStyle/>
          <a:p>
            <a:r>
              <a:rPr lang="zh-TW" altLang="en-US" dirty="0">
                <a:latin typeface="+mn-ea"/>
              </a:rPr>
              <a:t>📌</a:t>
            </a:r>
          </a:p>
        </p:txBody>
      </p:sp>
      <p:sp>
        <p:nvSpPr>
          <p:cNvPr id="52" name="矩形 51"/>
          <p:cNvSpPr/>
          <p:nvPr/>
        </p:nvSpPr>
        <p:spPr>
          <a:xfrm>
            <a:off x="2030954" y="3751744"/>
            <a:ext cx="1486085" cy="230832"/>
          </a:xfrm>
          <a:prstGeom prst="rect">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lin ang="10800000" scaled="1"/>
            <a:tileRect/>
          </a:gradFill>
          <a:ln w="12700">
            <a:noFill/>
          </a:ln>
        </p:spPr>
        <p:txBody>
          <a:bodyPr wrap="square">
            <a:spAutoFit/>
          </a:bodyPr>
          <a:lstStyle/>
          <a:p>
            <a:r>
              <a:rPr lang="zh-TW" altLang="en-US" sz="900" dirty="0" smtClean="0">
                <a:latin typeface="+mn-ea"/>
              </a:rPr>
              <a:t>後端多</a:t>
            </a:r>
            <a:r>
              <a:rPr lang="en-US" altLang="zh-TW" sz="900" dirty="0" smtClean="0">
                <a:latin typeface="+mn-ea"/>
              </a:rPr>
              <a:t>API</a:t>
            </a:r>
            <a:r>
              <a:rPr lang="zh-TW" altLang="en-US" sz="900" dirty="0" smtClean="0">
                <a:latin typeface="+mn-ea"/>
              </a:rPr>
              <a:t>創建便利</a:t>
            </a:r>
            <a:endParaRPr lang="zh-TW" altLang="en-US" sz="900" dirty="0">
              <a:latin typeface="+mn-ea"/>
            </a:endParaRPr>
          </a:p>
        </p:txBody>
      </p:sp>
      <p:sp>
        <p:nvSpPr>
          <p:cNvPr id="53" name="矩形 52"/>
          <p:cNvSpPr/>
          <p:nvPr/>
        </p:nvSpPr>
        <p:spPr>
          <a:xfrm>
            <a:off x="1994182" y="4031074"/>
            <a:ext cx="1540360" cy="230832"/>
          </a:xfrm>
          <a:prstGeom prst="rect">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lin ang="10800000" scaled="1"/>
            <a:tileRect/>
          </a:gradFill>
          <a:ln w="12700">
            <a:noFill/>
          </a:ln>
        </p:spPr>
        <p:txBody>
          <a:bodyPr wrap="square">
            <a:spAutoFit/>
          </a:bodyPr>
          <a:lstStyle/>
          <a:p>
            <a:r>
              <a:rPr lang="zh-TW" altLang="en-US" sz="900" dirty="0" smtClean="0">
                <a:latin typeface="+mn-ea"/>
              </a:rPr>
              <a:t>適合多人維護</a:t>
            </a:r>
            <a:r>
              <a:rPr lang="en-US" altLang="zh-TW" sz="900" dirty="0" smtClean="0">
                <a:latin typeface="+mn-ea"/>
              </a:rPr>
              <a:t>&amp;</a:t>
            </a:r>
            <a:r>
              <a:rPr lang="zh-TW" altLang="en-US" sz="900" dirty="0" smtClean="0">
                <a:latin typeface="+mn-ea"/>
              </a:rPr>
              <a:t>開發</a:t>
            </a:r>
            <a:endParaRPr lang="zh-TW" altLang="en-US" sz="900" dirty="0">
              <a:latin typeface="+mn-ea"/>
            </a:endParaRPr>
          </a:p>
        </p:txBody>
      </p:sp>
      <p:sp>
        <p:nvSpPr>
          <p:cNvPr id="38" name="矩形 37"/>
          <p:cNvSpPr/>
          <p:nvPr/>
        </p:nvSpPr>
        <p:spPr>
          <a:xfrm>
            <a:off x="275771" y="4400960"/>
            <a:ext cx="3179220" cy="784830"/>
          </a:xfrm>
          <a:prstGeom prst="rect">
            <a:avLst/>
          </a:prstGeom>
        </p:spPr>
        <p:txBody>
          <a:bodyPr wrap="square">
            <a:spAutoFit/>
          </a:bodyPr>
          <a:lstStyle/>
          <a:p>
            <a:r>
              <a:rPr lang="zh-TW" altLang="en-US" sz="900" dirty="0" smtClean="0">
                <a:latin typeface="+mn-ea"/>
              </a:rPr>
              <a:t>可</a:t>
            </a:r>
            <a:r>
              <a:rPr lang="zh-TW" altLang="en-US" sz="900" dirty="0">
                <a:latin typeface="+mn-ea"/>
              </a:rPr>
              <a:t>無縫整合</a:t>
            </a:r>
          </a:p>
          <a:p>
            <a:pPr marL="171450" indent="-171450">
              <a:buFont typeface="Arial" panose="020B0604020202020204" pitchFamily="34" charset="0"/>
              <a:buChar char="•"/>
            </a:pPr>
            <a:r>
              <a:rPr lang="en-US" altLang="zh-TW" sz="900" dirty="0">
                <a:latin typeface="+mn-ea"/>
              </a:rPr>
              <a:t>Pandas / </a:t>
            </a:r>
            <a:r>
              <a:rPr lang="en-US" altLang="zh-TW" sz="900" dirty="0" err="1">
                <a:latin typeface="+mn-ea"/>
              </a:rPr>
              <a:t>NumPy</a:t>
            </a:r>
            <a:r>
              <a:rPr lang="zh-TW" altLang="en-US" sz="900" dirty="0">
                <a:latin typeface="+mn-ea"/>
              </a:rPr>
              <a:t>（資料處理）</a:t>
            </a:r>
          </a:p>
          <a:p>
            <a:pPr marL="171450" indent="-171450">
              <a:buFont typeface="Arial" panose="020B0604020202020204" pitchFamily="34" charset="0"/>
              <a:buChar char="•"/>
            </a:pPr>
            <a:r>
              <a:rPr lang="en-US" altLang="zh-TW" sz="900" dirty="0" err="1">
                <a:latin typeface="+mn-ea"/>
              </a:rPr>
              <a:t>SQLAlchemy</a:t>
            </a:r>
            <a:r>
              <a:rPr lang="en-US" altLang="zh-TW" sz="900" dirty="0">
                <a:latin typeface="+mn-ea"/>
              </a:rPr>
              <a:t> / MySQL / Oracle</a:t>
            </a:r>
          </a:p>
          <a:p>
            <a:pPr marL="171450" indent="-171450">
              <a:buFont typeface="Arial" panose="020B0604020202020204" pitchFamily="34" charset="0"/>
              <a:buChar char="•"/>
            </a:pPr>
            <a:r>
              <a:rPr lang="en-US" altLang="zh-TW" sz="900" dirty="0">
                <a:latin typeface="+mn-ea"/>
              </a:rPr>
              <a:t>ETL </a:t>
            </a:r>
            <a:r>
              <a:rPr lang="zh-TW" altLang="en-US" sz="900" dirty="0">
                <a:latin typeface="+mn-ea"/>
              </a:rPr>
              <a:t>批次任務</a:t>
            </a:r>
          </a:p>
          <a:p>
            <a:pPr marL="171450" indent="-171450">
              <a:buFont typeface="Arial" panose="020B0604020202020204" pitchFamily="34" charset="0"/>
              <a:buChar char="•"/>
            </a:pPr>
            <a:r>
              <a:rPr lang="en-US" altLang="zh-TW" sz="900" dirty="0">
                <a:latin typeface="+mn-ea"/>
              </a:rPr>
              <a:t>AOI / ML / Image pipeline</a:t>
            </a:r>
            <a:endParaRPr lang="zh-TW" altLang="en-US" sz="900" dirty="0">
              <a:latin typeface="+mn-ea"/>
            </a:endParaRPr>
          </a:p>
        </p:txBody>
      </p:sp>
      <p:sp>
        <p:nvSpPr>
          <p:cNvPr id="56" name="矩形 55"/>
          <p:cNvSpPr/>
          <p:nvPr/>
        </p:nvSpPr>
        <p:spPr>
          <a:xfrm>
            <a:off x="91499" y="3641685"/>
            <a:ext cx="357790" cy="300082"/>
          </a:xfrm>
          <a:prstGeom prst="rect">
            <a:avLst/>
          </a:prstGeom>
        </p:spPr>
        <p:txBody>
          <a:bodyPr wrap="none">
            <a:spAutoFit/>
          </a:bodyPr>
          <a:lstStyle/>
          <a:p>
            <a:r>
              <a:rPr lang="zh-TW" altLang="en-US" dirty="0">
                <a:latin typeface="+mn-ea"/>
              </a:rPr>
              <a:t>📌</a:t>
            </a:r>
          </a:p>
        </p:txBody>
      </p:sp>
      <p:sp>
        <p:nvSpPr>
          <p:cNvPr id="57" name="矩形 56"/>
          <p:cNvSpPr/>
          <p:nvPr/>
        </p:nvSpPr>
        <p:spPr>
          <a:xfrm>
            <a:off x="275697" y="3707172"/>
            <a:ext cx="1915234" cy="646331"/>
          </a:xfrm>
          <a:prstGeom prst="rect">
            <a:avLst/>
          </a:prstGeom>
        </p:spPr>
        <p:txBody>
          <a:bodyPr wrap="square">
            <a:spAutoFit/>
          </a:bodyPr>
          <a:lstStyle/>
          <a:p>
            <a:r>
              <a:rPr lang="zh-TW" altLang="en-US" sz="900" dirty="0" smtClean="0">
                <a:latin typeface="+mn-ea"/>
              </a:rPr>
              <a:t>自動生成</a:t>
            </a:r>
            <a:endParaRPr lang="en-US" altLang="zh-TW" sz="900" dirty="0" smtClean="0">
              <a:latin typeface="+mn-ea"/>
            </a:endParaRPr>
          </a:p>
          <a:p>
            <a:pPr marL="171450" indent="-171450">
              <a:buFont typeface="Arial" panose="020B0604020202020204" pitchFamily="34" charset="0"/>
              <a:buChar char="•"/>
            </a:pPr>
            <a:r>
              <a:rPr lang="en-US" altLang="zh-TW" sz="900" dirty="0" smtClean="0">
                <a:latin typeface="+mn-ea"/>
              </a:rPr>
              <a:t>API </a:t>
            </a:r>
            <a:r>
              <a:rPr lang="zh-TW" altLang="en-US" sz="900" dirty="0" smtClean="0">
                <a:latin typeface="+mn-ea"/>
              </a:rPr>
              <a:t>路徑、</a:t>
            </a:r>
            <a:r>
              <a:rPr lang="zh-TW" altLang="en-US" sz="900" dirty="0">
                <a:latin typeface="+mn-ea"/>
              </a:rPr>
              <a:t>參數</a:t>
            </a:r>
            <a:r>
              <a:rPr lang="zh-TW" altLang="en-US" sz="900" dirty="0" smtClean="0">
                <a:latin typeface="+mn-ea"/>
              </a:rPr>
              <a:t>格式</a:t>
            </a:r>
            <a:endParaRPr lang="zh-TW" altLang="en-US" sz="900" dirty="0">
              <a:latin typeface="+mn-ea"/>
            </a:endParaRPr>
          </a:p>
          <a:p>
            <a:pPr marL="171450" indent="-171450">
              <a:buFont typeface="Arial" panose="020B0604020202020204" pitchFamily="34" charset="0"/>
              <a:buChar char="•"/>
            </a:pPr>
            <a:r>
              <a:rPr lang="en-US" altLang="zh-TW" sz="900" dirty="0" smtClean="0">
                <a:latin typeface="+mn-ea"/>
              </a:rPr>
              <a:t>Request </a:t>
            </a:r>
            <a:r>
              <a:rPr lang="en-US" altLang="zh-TW" sz="900" dirty="0">
                <a:latin typeface="+mn-ea"/>
              </a:rPr>
              <a:t>/ Response schema</a:t>
            </a:r>
          </a:p>
          <a:p>
            <a:pPr marL="171450" indent="-171450">
              <a:buFont typeface="Arial" panose="020B0604020202020204" pitchFamily="34" charset="0"/>
              <a:buChar char="•"/>
            </a:pPr>
            <a:r>
              <a:rPr lang="zh-TW" altLang="en-US" sz="900" dirty="0" smtClean="0">
                <a:latin typeface="+mn-ea"/>
              </a:rPr>
              <a:t>錯誤</a:t>
            </a:r>
            <a:r>
              <a:rPr lang="zh-TW" altLang="en-US" sz="900" dirty="0">
                <a:latin typeface="+mn-ea"/>
              </a:rPr>
              <a:t>碼</a:t>
            </a:r>
          </a:p>
        </p:txBody>
      </p:sp>
      <p:sp>
        <p:nvSpPr>
          <p:cNvPr id="58" name="矩形 57"/>
          <p:cNvSpPr/>
          <p:nvPr/>
        </p:nvSpPr>
        <p:spPr>
          <a:xfrm>
            <a:off x="279386" y="2763713"/>
            <a:ext cx="2246316" cy="646331"/>
          </a:xfrm>
          <a:prstGeom prst="rect">
            <a:avLst/>
          </a:prstGeom>
        </p:spPr>
        <p:txBody>
          <a:bodyPr wrap="square">
            <a:spAutoFit/>
          </a:bodyPr>
          <a:lstStyle/>
          <a:p>
            <a:r>
              <a:rPr lang="zh-TW" altLang="en-US" sz="900" dirty="0">
                <a:latin typeface="+mn-ea"/>
              </a:rPr>
              <a:t>傳統（</a:t>
            </a:r>
            <a:r>
              <a:rPr lang="en-US" altLang="zh-TW" sz="900" dirty="0">
                <a:latin typeface="+mn-ea"/>
              </a:rPr>
              <a:t>Flask / </a:t>
            </a:r>
            <a:r>
              <a:rPr lang="en-US" altLang="zh-TW" sz="900" dirty="0" err="1">
                <a:latin typeface="+mn-ea"/>
              </a:rPr>
              <a:t>Django</a:t>
            </a:r>
            <a:r>
              <a:rPr lang="zh-TW" altLang="en-US" sz="900" dirty="0" smtClean="0">
                <a:latin typeface="+mn-ea"/>
              </a:rPr>
              <a:t>）</a:t>
            </a:r>
            <a:endParaRPr lang="en-US" altLang="zh-TW" sz="900" dirty="0" smtClean="0">
              <a:latin typeface="+mn-ea"/>
            </a:endParaRPr>
          </a:p>
          <a:p>
            <a:pPr marL="171450" indent="-171450">
              <a:buFont typeface="Arial" panose="020B0604020202020204" pitchFamily="34" charset="0"/>
              <a:buChar char="•"/>
            </a:pPr>
            <a:r>
              <a:rPr lang="en-US" altLang="zh-TW" sz="900" dirty="0" smtClean="0">
                <a:latin typeface="+mn-ea"/>
              </a:rPr>
              <a:t>WSGI</a:t>
            </a:r>
            <a:endParaRPr lang="en-US" altLang="zh-TW" sz="900" dirty="0">
              <a:latin typeface="+mn-ea"/>
            </a:endParaRPr>
          </a:p>
          <a:p>
            <a:pPr marL="171450" indent="-171450">
              <a:buFont typeface="Arial" panose="020B0604020202020204" pitchFamily="34" charset="0"/>
              <a:buChar char="•"/>
            </a:pPr>
            <a:r>
              <a:rPr lang="zh-TW" altLang="en-US" sz="900" dirty="0" smtClean="0">
                <a:latin typeface="+mn-ea"/>
              </a:rPr>
              <a:t>同一</a:t>
            </a:r>
            <a:r>
              <a:rPr lang="zh-TW" altLang="en-US" sz="900" dirty="0">
                <a:latin typeface="+mn-ea"/>
              </a:rPr>
              <a:t>時間一個請求佔一個 </a:t>
            </a:r>
            <a:r>
              <a:rPr lang="en-US" altLang="zh-TW" sz="900" dirty="0">
                <a:latin typeface="+mn-ea"/>
              </a:rPr>
              <a:t>thread</a:t>
            </a:r>
          </a:p>
          <a:p>
            <a:pPr marL="171450" indent="-171450">
              <a:buFont typeface="Arial" panose="020B0604020202020204" pitchFamily="34" charset="0"/>
              <a:buChar char="•"/>
            </a:pPr>
            <a:r>
              <a:rPr lang="en-US" altLang="zh-TW" sz="900" dirty="0" smtClean="0">
                <a:latin typeface="+mn-ea"/>
              </a:rPr>
              <a:t>I/O </a:t>
            </a:r>
            <a:r>
              <a:rPr lang="zh-TW" altLang="en-US" sz="900" dirty="0">
                <a:latin typeface="+mn-ea"/>
              </a:rPr>
              <a:t>阻塞（</a:t>
            </a:r>
            <a:r>
              <a:rPr lang="en-US" altLang="zh-TW" sz="900" dirty="0">
                <a:latin typeface="+mn-ea"/>
              </a:rPr>
              <a:t>DB</a:t>
            </a:r>
            <a:r>
              <a:rPr lang="zh-TW" altLang="en-US" sz="900" dirty="0">
                <a:latin typeface="+mn-ea"/>
              </a:rPr>
              <a:t>、</a:t>
            </a:r>
            <a:r>
              <a:rPr lang="en-US" altLang="zh-TW" sz="900" dirty="0">
                <a:latin typeface="+mn-ea"/>
              </a:rPr>
              <a:t>API</a:t>
            </a:r>
            <a:r>
              <a:rPr lang="zh-TW" altLang="en-US" sz="900" dirty="0">
                <a:latin typeface="+mn-ea"/>
              </a:rPr>
              <a:t>、檔案）</a:t>
            </a:r>
          </a:p>
        </p:txBody>
      </p:sp>
      <p:sp>
        <p:nvSpPr>
          <p:cNvPr id="59" name="矩形 58"/>
          <p:cNvSpPr/>
          <p:nvPr/>
        </p:nvSpPr>
        <p:spPr>
          <a:xfrm>
            <a:off x="152979" y="4273536"/>
            <a:ext cx="357790" cy="300082"/>
          </a:xfrm>
          <a:prstGeom prst="rect">
            <a:avLst/>
          </a:prstGeom>
        </p:spPr>
        <p:txBody>
          <a:bodyPr wrap="none">
            <a:spAutoFit/>
          </a:bodyPr>
          <a:lstStyle/>
          <a:p>
            <a:r>
              <a:rPr lang="zh-TW" altLang="en-US" dirty="0">
                <a:latin typeface="+mn-ea"/>
              </a:rPr>
              <a:t>📌</a:t>
            </a:r>
          </a:p>
        </p:txBody>
      </p:sp>
      <p:cxnSp>
        <p:nvCxnSpPr>
          <p:cNvPr id="60" name="肘形接點 59"/>
          <p:cNvCxnSpPr>
            <a:endCxn id="72" idx="0"/>
          </p:cNvCxnSpPr>
          <p:nvPr/>
        </p:nvCxnSpPr>
        <p:spPr>
          <a:xfrm rot="16200000" flipH="1">
            <a:off x="5848253" y="3727385"/>
            <a:ext cx="1281896" cy="33894"/>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6897398" y="2943510"/>
            <a:ext cx="1149674" cy="600164"/>
          </a:xfrm>
          <a:prstGeom prst="rect">
            <a:avLst/>
          </a:prstGeom>
        </p:spPr>
        <p:txBody>
          <a:bodyPr wrap="none">
            <a:spAutoFit/>
          </a:bodyPr>
          <a:lstStyle/>
          <a:p>
            <a:r>
              <a:rPr lang="zh-TW" altLang="en-US" sz="1100" b="1" dirty="0" smtClean="0">
                <a:latin typeface="+mn-ea"/>
              </a:rPr>
              <a:t>資料表聚合</a:t>
            </a:r>
            <a:endParaRPr lang="en-US" altLang="zh-TW" sz="1100" b="1" dirty="0" smtClean="0">
              <a:latin typeface="+mn-ea"/>
            </a:endParaRPr>
          </a:p>
          <a:p>
            <a:pPr marL="171450" indent="-171450">
              <a:buFont typeface="Arial" panose="020B0604020202020204" pitchFamily="34" charset="0"/>
              <a:buChar char="•"/>
            </a:pPr>
            <a:r>
              <a:rPr lang="en-US" altLang="zh-TW" sz="1100" dirty="0" smtClean="0">
                <a:latin typeface="+mn-ea"/>
              </a:rPr>
              <a:t>RAW Tables</a:t>
            </a:r>
          </a:p>
          <a:p>
            <a:pPr marL="171450" indent="-171450">
              <a:buFont typeface="Arial" panose="020B0604020202020204" pitchFamily="34" charset="0"/>
              <a:buChar char="•"/>
            </a:pPr>
            <a:r>
              <a:rPr lang="en-US" altLang="zh-TW" sz="1100" dirty="0" smtClean="0">
                <a:latin typeface="+mn-ea"/>
              </a:rPr>
              <a:t>Summary</a:t>
            </a:r>
            <a:endParaRPr lang="en-US" altLang="zh-TW" sz="1100" dirty="0">
              <a:latin typeface="+mn-ea"/>
            </a:endParaRPr>
          </a:p>
        </p:txBody>
      </p:sp>
      <p:grpSp>
        <p:nvGrpSpPr>
          <p:cNvPr id="63" name="群組 62"/>
          <p:cNvGrpSpPr/>
          <p:nvPr/>
        </p:nvGrpSpPr>
        <p:grpSpPr>
          <a:xfrm>
            <a:off x="6088222" y="2937142"/>
            <a:ext cx="768064" cy="230832"/>
            <a:chOff x="839940" y="901235"/>
            <a:chExt cx="859497" cy="261757"/>
          </a:xfrm>
        </p:grpSpPr>
        <p:sp>
          <p:nvSpPr>
            <p:cNvPr id="64" name="流程圖: 資料 82"/>
            <p:cNvSpPr/>
            <p:nvPr/>
          </p:nvSpPr>
          <p:spPr>
            <a:xfrm>
              <a:off x="839940" y="916723"/>
              <a:ext cx="859497" cy="2364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latin typeface="+mn-ea"/>
              </a:endParaRPr>
            </a:p>
          </p:txBody>
        </p:sp>
        <p:sp>
          <p:nvSpPr>
            <p:cNvPr id="65" name="矩形 64"/>
            <p:cNvSpPr/>
            <p:nvPr/>
          </p:nvSpPr>
          <p:spPr>
            <a:xfrm>
              <a:off x="882040" y="901235"/>
              <a:ext cx="775293" cy="261757"/>
            </a:xfrm>
            <a:prstGeom prst="rect">
              <a:avLst/>
            </a:prstGeom>
          </p:spPr>
          <p:txBody>
            <a:bodyPr wrap="none">
              <a:spAutoFit/>
            </a:bodyPr>
            <a:lstStyle/>
            <a:p>
              <a:pPr algn="ctr"/>
              <a:r>
                <a:rPr lang="en-US" altLang="zh-TW" sz="900" dirty="0">
                  <a:solidFill>
                    <a:schemeClr val="bg1"/>
                  </a:solidFill>
                  <a:latin typeface="+mn-ea"/>
                </a:rPr>
                <a:t>Database</a:t>
              </a:r>
            </a:p>
          </p:txBody>
        </p:sp>
      </p:grpSp>
      <p:sp>
        <p:nvSpPr>
          <p:cNvPr id="66" name="矩形 65"/>
          <p:cNvSpPr/>
          <p:nvPr/>
        </p:nvSpPr>
        <p:spPr>
          <a:xfrm>
            <a:off x="6897398" y="3634177"/>
            <a:ext cx="1263487" cy="769441"/>
          </a:xfrm>
          <a:prstGeom prst="rect">
            <a:avLst/>
          </a:prstGeom>
        </p:spPr>
        <p:txBody>
          <a:bodyPr wrap="none">
            <a:spAutoFit/>
          </a:bodyPr>
          <a:lstStyle/>
          <a:p>
            <a:r>
              <a:rPr lang="zh-TW" altLang="en-US" sz="1100" b="1" dirty="0" smtClean="0">
                <a:latin typeface="+mn-ea"/>
              </a:rPr>
              <a:t>分析</a:t>
            </a:r>
            <a:r>
              <a:rPr lang="en-US" altLang="zh-TW" sz="1100" b="1" dirty="0" smtClean="0">
                <a:latin typeface="+mn-ea"/>
              </a:rPr>
              <a:t>/</a:t>
            </a:r>
            <a:r>
              <a:rPr lang="zh-TW" altLang="en-US" sz="1100" b="1" dirty="0" smtClean="0">
                <a:latin typeface="+mn-ea"/>
              </a:rPr>
              <a:t>計算 邏輯</a:t>
            </a:r>
            <a:endParaRPr lang="en-US" altLang="zh-TW" sz="1100" b="1" dirty="0" smtClean="0">
              <a:latin typeface="+mn-ea"/>
            </a:endParaRPr>
          </a:p>
          <a:p>
            <a:pPr marL="171450" indent="-171450">
              <a:buFont typeface="Arial" panose="020B0604020202020204" pitchFamily="34" charset="0"/>
              <a:buChar char="•"/>
            </a:pPr>
            <a:r>
              <a:rPr lang="en-US" altLang="zh-TW" sz="1100" dirty="0" smtClean="0">
                <a:latin typeface="+mn-ea"/>
              </a:rPr>
              <a:t>Router</a:t>
            </a:r>
            <a:r>
              <a:rPr lang="zh-TW" altLang="en-US" sz="1100" dirty="0" smtClean="0">
                <a:latin typeface="+mn-ea"/>
              </a:rPr>
              <a:t>創建</a:t>
            </a:r>
            <a:endParaRPr lang="en-US" altLang="zh-TW" sz="1100" dirty="0" smtClean="0">
              <a:latin typeface="+mn-ea"/>
            </a:endParaRPr>
          </a:p>
          <a:p>
            <a:pPr marL="171450" indent="-171450">
              <a:buFont typeface="Arial" panose="020B0604020202020204" pitchFamily="34" charset="0"/>
              <a:buChar char="•"/>
            </a:pPr>
            <a:r>
              <a:rPr lang="zh-TW" altLang="en-US" sz="1100" dirty="0" smtClean="0">
                <a:latin typeface="+mn-ea"/>
              </a:rPr>
              <a:t>及時運算</a:t>
            </a:r>
            <a:endParaRPr lang="en-US" altLang="zh-TW" sz="1100" dirty="0" smtClean="0">
              <a:latin typeface="+mn-ea"/>
            </a:endParaRPr>
          </a:p>
          <a:p>
            <a:pPr marL="171450" indent="-171450">
              <a:buFont typeface="Arial" panose="020B0604020202020204" pitchFamily="34" charset="0"/>
              <a:buChar char="•"/>
            </a:pPr>
            <a:r>
              <a:rPr lang="zh-TW" altLang="en-US" sz="1100" dirty="0" smtClean="0">
                <a:latin typeface="+mn-ea"/>
              </a:rPr>
              <a:t>多人查詢</a:t>
            </a:r>
            <a:r>
              <a:rPr lang="en-US" altLang="zh-TW" sz="1100" dirty="0" smtClean="0">
                <a:latin typeface="+mn-ea"/>
              </a:rPr>
              <a:t>/</a:t>
            </a:r>
            <a:r>
              <a:rPr lang="zh-TW" altLang="en-US" sz="1100" dirty="0" smtClean="0">
                <a:latin typeface="+mn-ea"/>
              </a:rPr>
              <a:t>撈取</a:t>
            </a:r>
            <a:endParaRPr lang="en-US" altLang="zh-TW" sz="1100" dirty="0">
              <a:latin typeface="+mn-ea"/>
            </a:endParaRPr>
          </a:p>
        </p:txBody>
      </p:sp>
      <p:grpSp>
        <p:nvGrpSpPr>
          <p:cNvPr id="67" name="群組 66"/>
          <p:cNvGrpSpPr/>
          <p:nvPr/>
        </p:nvGrpSpPr>
        <p:grpSpPr>
          <a:xfrm>
            <a:off x="6087725" y="3588679"/>
            <a:ext cx="768065" cy="230832"/>
            <a:chOff x="839940" y="893145"/>
            <a:chExt cx="859497" cy="261757"/>
          </a:xfrm>
        </p:grpSpPr>
        <p:sp>
          <p:nvSpPr>
            <p:cNvPr id="68"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latin typeface="+mn-ea"/>
              </a:endParaRPr>
            </a:p>
          </p:txBody>
        </p:sp>
        <p:sp>
          <p:nvSpPr>
            <p:cNvPr id="69" name="矩形 68"/>
            <p:cNvSpPr/>
            <p:nvPr/>
          </p:nvSpPr>
          <p:spPr>
            <a:xfrm>
              <a:off x="966313" y="893145"/>
              <a:ext cx="653312" cy="261757"/>
            </a:xfrm>
            <a:prstGeom prst="rect">
              <a:avLst/>
            </a:prstGeom>
          </p:spPr>
          <p:txBody>
            <a:bodyPr wrap="none">
              <a:spAutoFit/>
            </a:bodyPr>
            <a:lstStyle/>
            <a:p>
              <a:pPr algn="ctr"/>
              <a:r>
                <a:rPr lang="en-US" altLang="zh-TW" sz="900" dirty="0">
                  <a:solidFill>
                    <a:schemeClr val="bg1"/>
                  </a:solidFill>
                  <a:latin typeface="+mn-ea"/>
                </a:rPr>
                <a:t>FastAPI</a:t>
              </a:r>
            </a:p>
          </p:txBody>
        </p:sp>
      </p:grpSp>
      <p:grpSp>
        <p:nvGrpSpPr>
          <p:cNvPr id="70" name="群組 69"/>
          <p:cNvGrpSpPr/>
          <p:nvPr/>
        </p:nvGrpSpPr>
        <p:grpSpPr>
          <a:xfrm>
            <a:off x="6101311" y="4385280"/>
            <a:ext cx="768065" cy="230832"/>
            <a:chOff x="839940" y="893145"/>
            <a:chExt cx="859497" cy="261757"/>
          </a:xfrm>
        </p:grpSpPr>
        <p:sp>
          <p:nvSpPr>
            <p:cNvPr id="71" name="流程圖: 資料 82"/>
            <p:cNvSpPr/>
            <p:nvPr/>
          </p:nvSpPr>
          <p:spPr>
            <a:xfrm>
              <a:off x="839940" y="896779"/>
              <a:ext cx="859497" cy="236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latin typeface="+mn-ea"/>
              </a:endParaRPr>
            </a:p>
          </p:txBody>
        </p:sp>
        <p:sp>
          <p:nvSpPr>
            <p:cNvPr id="72" name="矩形 71"/>
            <p:cNvSpPr/>
            <p:nvPr/>
          </p:nvSpPr>
          <p:spPr>
            <a:xfrm>
              <a:off x="910705" y="893145"/>
              <a:ext cx="764529" cy="261757"/>
            </a:xfrm>
            <a:prstGeom prst="rect">
              <a:avLst/>
            </a:prstGeom>
          </p:spPr>
          <p:txBody>
            <a:bodyPr wrap="none">
              <a:spAutoFit/>
            </a:bodyPr>
            <a:lstStyle/>
            <a:p>
              <a:pPr algn="ctr"/>
              <a:r>
                <a:rPr lang="en-US" altLang="zh-TW" sz="900" dirty="0">
                  <a:solidFill>
                    <a:schemeClr val="bg1"/>
                  </a:solidFill>
                  <a:latin typeface="+mn-ea"/>
                </a:rPr>
                <a:t>Frontend</a:t>
              </a:r>
            </a:p>
          </p:txBody>
        </p:sp>
      </p:grpSp>
      <p:sp>
        <p:nvSpPr>
          <p:cNvPr id="73" name="矩形 72"/>
          <p:cNvSpPr/>
          <p:nvPr/>
        </p:nvSpPr>
        <p:spPr>
          <a:xfrm>
            <a:off x="6910984" y="4385280"/>
            <a:ext cx="2064989" cy="430887"/>
          </a:xfrm>
          <a:prstGeom prst="rect">
            <a:avLst/>
          </a:prstGeom>
        </p:spPr>
        <p:txBody>
          <a:bodyPr wrap="none">
            <a:spAutoFit/>
          </a:bodyPr>
          <a:lstStyle/>
          <a:p>
            <a:r>
              <a:rPr lang="en-US" altLang="zh-TW" sz="1100" b="1" dirty="0" smtClean="0">
                <a:latin typeface="+mn-ea"/>
              </a:rPr>
              <a:t>Generate</a:t>
            </a:r>
          </a:p>
          <a:p>
            <a:pPr marL="171450" indent="-171450">
              <a:buFont typeface="Arial" panose="020B0604020202020204" pitchFamily="34" charset="0"/>
              <a:buChar char="•"/>
            </a:pPr>
            <a:r>
              <a:rPr lang="en-US" altLang="zh-TW" sz="1100" dirty="0" smtClean="0">
                <a:latin typeface="+mn-ea"/>
              </a:rPr>
              <a:t>Chart </a:t>
            </a:r>
            <a:r>
              <a:rPr lang="en-US" altLang="zh-TW" sz="1100" dirty="0">
                <a:latin typeface="+mn-ea"/>
              </a:rPr>
              <a:t>/ Table / Interaction</a:t>
            </a:r>
            <a:endParaRPr lang="zh-TW" altLang="en-US" sz="1100" dirty="0">
              <a:latin typeface="+mn-ea"/>
            </a:endParaRPr>
          </a:p>
        </p:txBody>
      </p:sp>
      <p:sp>
        <p:nvSpPr>
          <p:cNvPr id="78" name="矩形 77"/>
          <p:cNvSpPr/>
          <p:nvPr/>
        </p:nvSpPr>
        <p:spPr>
          <a:xfrm>
            <a:off x="2083504" y="4458202"/>
            <a:ext cx="1451038" cy="230832"/>
          </a:xfrm>
          <a:prstGeom prst="rect">
            <a:avLst/>
          </a:prstGeom>
          <a:gradFill flip="none" rotWithShape="1">
            <a:gsLst>
              <a:gs pos="0">
                <a:schemeClr val="accent3">
                  <a:lumMod val="20000"/>
                  <a:lumOff val="80000"/>
                  <a:shade val="30000"/>
                  <a:satMod val="115000"/>
                </a:schemeClr>
              </a:gs>
              <a:gs pos="50000">
                <a:schemeClr val="accent3">
                  <a:lumMod val="20000"/>
                  <a:lumOff val="80000"/>
                  <a:shade val="67500"/>
                  <a:satMod val="115000"/>
                </a:schemeClr>
              </a:gs>
              <a:gs pos="100000">
                <a:schemeClr val="accent3">
                  <a:lumMod val="20000"/>
                  <a:lumOff val="80000"/>
                  <a:shade val="100000"/>
                  <a:satMod val="115000"/>
                </a:schemeClr>
              </a:gs>
            </a:gsLst>
            <a:path path="circle">
              <a:fillToRect l="100000" b="100000"/>
            </a:path>
            <a:tileRect t="-100000" r="-100000"/>
          </a:gradFill>
          <a:ln w="12700">
            <a:noFill/>
          </a:ln>
        </p:spPr>
        <p:txBody>
          <a:bodyPr wrap="square">
            <a:spAutoFit/>
          </a:bodyPr>
          <a:lstStyle/>
          <a:p>
            <a:r>
              <a:rPr lang="en-US" altLang="zh-TW" sz="900" dirty="0">
                <a:latin typeface="+mn-ea"/>
              </a:rPr>
              <a:t>ETL + </a:t>
            </a:r>
            <a:r>
              <a:rPr lang="zh-TW" altLang="en-US" sz="900" dirty="0">
                <a:latin typeface="+mn-ea"/>
              </a:rPr>
              <a:t>即時計算 </a:t>
            </a:r>
            <a:r>
              <a:rPr lang="en-US" altLang="zh-TW" sz="900" dirty="0">
                <a:latin typeface="+mn-ea"/>
              </a:rPr>
              <a:t>+ </a:t>
            </a:r>
            <a:r>
              <a:rPr lang="zh-TW" altLang="en-US" sz="900" dirty="0">
                <a:latin typeface="+mn-ea"/>
              </a:rPr>
              <a:t>視覺化</a:t>
            </a:r>
          </a:p>
        </p:txBody>
      </p:sp>
      <p:sp>
        <p:nvSpPr>
          <p:cNvPr id="79" name="矩形 78"/>
          <p:cNvSpPr/>
          <p:nvPr/>
        </p:nvSpPr>
        <p:spPr>
          <a:xfrm>
            <a:off x="2108066" y="4806831"/>
            <a:ext cx="1451038" cy="230832"/>
          </a:xfrm>
          <a:prstGeom prst="rect">
            <a:avLst/>
          </a:prstGeom>
          <a:gradFill flip="none" rotWithShape="1">
            <a:gsLst>
              <a:gs pos="0">
                <a:schemeClr val="accent3">
                  <a:lumMod val="20000"/>
                  <a:lumOff val="80000"/>
                  <a:shade val="30000"/>
                  <a:satMod val="115000"/>
                </a:schemeClr>
              </a:gs>
              <a:gs pos="50000">
                <a:schemeClr val="accent3">
                  <a:lumMod val="20000"/>
                  <a:lumOff val="80000"/>
                  <a:shade val="67500"/>
                  <a:satMod val="115000"/>
                </a:schemeClr>
              </a:gs>
              <a:gs pos="100000">
                <a:schemeClr val="accent3">
                  <a:lumMod val="20000"/>
                  <a:lumOff val="80000"/>
                  <a:shade val="100000"/>
                  <a:satMod val="115000"/>
                </a:schemeClr>
              </a:gs>
            </a:gsLst>
            <a:path path="circle">
              <a:fillToRect l="100000" b="100000"/>
            </a:path>
            <a:tileRect t="-100000" r="-100000"/>
          </a:gradFill>
          <a:ln w="12700">
            <a:noFill/>
          </a:ln>
        </p:spPr>
        <p:txBody>
          <a:bodyPr wrap="square">
            <a:spAutoFit/>
          </a:bodyPr>
          <a:lstStyle/>
          <a:p>
            <a:r>
              <a:rPr lang="zh-TW" altLang="en-US" sz="900" dirty="0" smtClean="0">
                <a:latin typeface="+mn-ea"/>
              </a:rPr>
              <a:t>同套語</a:t>
            </a:r>
            <a:r>
              <a:rPr lang="zh-TW" altLang="en-US" sz="900" dirty="0">
                <a:latin typeface="+mn-ea"/>
              </a:rPr>
              <a:t>言，無跨語言成本</a:t>
            </a:r>
          </a:p>
        </p:txBody>
      </p:sp>
      <p:sp>
        <p:nvSpPr>
          <p:cNvPr id="80" name="向左箭號圖說文字 79"/>
          <p:cNvSpPr/>
          <p:nvPr/>
        </p:nvSpPr>
        <p:spPr>
          <a:xfrm>
            <a:off x="4558801" y="959028"/>
            <a:ext cx="3602084" cy="1114670"/>
          </a:xfrm>
          <a:prstGeom prst="leftArrowCallout">
            <a:avLst>
              <a:gd name="adj1" fmla="val 33896"/>
              <a:gd name="adj2" fmla="val 5994"/>
              <a:gd name="adj3" fmla="val 31586"/>
              <a:gd name="adj4" fmla="val 8957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dirty="0" smtClean="0">
                <a:solidFill>
                  <a:schemeClr val="bg1"/>
                </a:solidFill>
                <a:latin typeface="+mn-ea"/>
              </a:rPr>
              <a:t>🔸 </a:t>
            </a:r>
            <a:r>
              <a:rPr lang="en-US" altLang="zh-TW" dirty="0" smtClean="0">
                <a:solidFill>
                  <a:schemeClr val="bg1"/>
                </a:solidFill>
                <a:latin typeface="+mn-ea"/>
              </a:rPr>
              <a:t>API </a:t>
            </a:r>
            <a:r>
              <a:rPr lang="zh-TW" altLang="en-US" dirty="0">
                <a:solidFill>
                  <a:schemeClr val="bg1"/>
                </a:solidFill>
                <a:latin typeface="+mn-ea"/>
              </a:rPr>
              <a:t>可重用（報表 </a:t>
            </a:r>
            <a:r>
              <a:rPr lang="en-US" altLang="zh-TW" dirty="0">
                <a:solidFill>
                  <a:schemeClr val="bg1"/>
                </a:solidFill>
                <a:latin typeface="+mn-ea"/>
              </a:rPr>
              <a:t>/ Dashboard </a:t>
            </a:r>
            <a:r>
              <a:rPr lang="zh-TW" altLang="en-US" dirty="0">
                <a:solidFill>
                  <a:schemeClr val="bg1"/>
                </a:solidFill>
                <a:latin typeface="+mn-ea"/>
              </a:rPr>
              <a:t>共用）</a:t>
            </a:r>
          </a:p>
          <a:p>
            <a:r>
              <a:rPr lang="zh-TW" altLang="en-US" dirty="0" smtClean="0">
                <a:solidFill>
                  <a:schemeClr val="bg1"/>
                </a:solidFill>
                <a:latin typeface="+mn-ea"/>
              </a:rPr>
              <a:t>🔸 易於</a:t>
            </a:r>
            <a:r>
              <a:rPr lang="zh-TW" altLang="en-US" dirty="0">
                <a:solidFill>
                  <a:schemeClr val="bg1"/>
                </a:solidFill>
                <a:latin typeface="+mn-ea"/>
              </a:rPr>
              <a:t>擴充新 </a:t>
            </a:r>
            <a:r>
              <a:rPr lang="en-US" altLang="zh-TW" dirty="0">
                <a:solidFill>
                  <a:schemeClr val="bg1"/>
                </a:solidFill>
                <a:latin typeface="+mn-ea"/>
              </a:rPr>
              <a:t>AOI / </a:t>
            </a:r>
            <a:r>
              <a:rPr lang="zh-TW" altLang="en-US" dirty="0">
                <a:solidFill>
                  <a:schemeClr val="bg1"/>
                </a:solidFill>
                <a:latin typeface="+mn-ea"/>
              </a:rPr>
              <a:t>新指標</a:t>
            </a:r>
          </a:p>
          <a:p>
            <a:r>
              <a:rPr lang="zh-TW" altLang="en-US" dirty="0" smtClean="0">
                <a:solidFill>
                  <a:schemeClr val="bg1"/>
                </a:solidFill>
                <a:latin typeface="+mn-ea"/>
              </a:rPr>
              <a:t>🔸 降低</a:t>
            </a:r>
            <a:r>
              <a:rPr lang="zh-TW" altLang="en-US" dirty="0">
                <a:solidFill>
                  <a:schemeClr val="bg1"/>
                </a:solidFill>
                <a:latin typeface="+mn-ea"/>
              </a:rPr>
              <a:t>前端複雜度</a:t>
            </a:r>
          </a:p>
        </p:txBody>
      </p:sp>
    </p:spTree>
    <p:extLst>
      <p:ext uri="{BB962C8B-B14F-4D97-AF65-F5344CB8AC3E}">
        <p14:creationId xmlns:p14="http://schemas.microsoft.com/office/powerpoint/2010/main" val="1834611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dirty="0"/>
              <a:t>其他補充說明</a:t>
            </a:r>
          </a:p>
        </p:txBody>
      </p:sp>
      <p:sp>
        <p:nvSpPr>
          <p:cNvPr id="15" name="文字方塊 14"/>
          <p:cNvSpPr txBox="1"/>
          <p:nvPr/>
        </p:nvSpPr>
        <p:spPr>
          <a:xfrm>
            <a:off x="330171" y="845808"/>
            <a:ext cx="877163" cy="300082"/>
          </a:xfrm>
          <a:prstGeom prst="rect">
            <a:avLst/>
          </a:prstGeom>
          <a:noFill/>
        </p:spPr>
        <p:txBody>
          <a:bodyPr wrap="none" rtlCol="0">
            <a:spAutoFit/>
          </a:bodyPr>
          <a:lstStyle/>
          <a:p>
            <a:r>
              <a:rPr lang="zh-TW" altLang="en-US" b="1" u="sng" dirty="0">
                <a:solidFill>
                  <a:schemeClr val="accent1"/>
                </a:solidFill>
                <a:latin typeface="+mn-ea"/>
              </a:rPr>
              <a:t>參與競賽</a:t>
            </a:r>
          </a:p>
        </p:txBody>
      </p:sp>
      <p:graphicFrame>
        <p:nvGraphicFramePr>
          <p:cNvPr id="16" name="表格 15"/>
          <p:cNvGraphicFramePr>
            <a:graphicFrameLocks noGrp="1"/>
          </p:cNvGraphicFramePr>
          <p:nvPr>
            <p:extLst>
              <p:ext uri="{D42A27DB-BD31-4B8C-83A1-F6EECF244321}">
                <p14:modId xmlns:p14="http://schemas.microsoft.com/office/powerpoint/2010/main" val="3617559963"/>
              </p:ext>
            </p:extLst>
          </p:nvPr>
        </p:nvGraphicFramePr>
        <p:xfrm>
          <a:off x="330172" y="1182836"/>
          <a:ext cx="3535020" cy="1370841"/>
        </p:xfrm>
        <a:graphic>
          <a:graphicData uri="http://schemas.openxmlformats.org/drawingml/2006/table">
            <a:tbl>
              <a:tblPr firstRow="1" bandRow="1">
                <a:tableStyleId>{5C22544A-7EE6-4342-B048-85BDC9FD1C3A}</a:tableStyleId>
              </a:tblPr>
              <a:tblGrid>
                <a:gridCol w="1420927">
                  <a:extLst>
                    <a:ext uri="{9D8B030D-6E8A-4147-A177-3AD203B41FA5}">
                      <a16:colId xmlns="" xmlns:a16="http://schemas.microsoft.com/office/drawing/2014/main" val="20000"/>
                    </a:ext>
                  </a:extLst>
                </a:gridCol>
                <a:gridCol w="1294791">
                  <a:extLst>
                    <a:ext uri="{9D8B030D-6E8A-4147-A177-3AD203B41FA5}">
                      <a16:colId xmlns="" xmlns:a16="http://schemas.microsoft.com/office/drawing/2014/main" val="20001"/>
                    </a:ext>
                  </a:extLst>
                </a:gridCol>
                <a:gridCol w="819302">
                  <a:extLst>
                    <a:ext uri="{9D8B030D-6E8A-4147-A177-3AD203B41FA5}">
                      <a16:colId xmlns="" xmlns:a16="http://schemas.microsoft.com/office/drawing/2014/main" val="20002"/>
                    </a:ext>
                  </a:extLst>
                </a:gridCol>
              </a:tblGrid>
              <a:tr h="363551">
                <a:tc>
                  <a:txBody>
                    <a:bodyPr/>
                    <a:lstStyle/>
                    <a:p>
                      <a:pPr algn="ctr" fontAlgn="ctr"/>
                      <a:r>
                        <a:rPr lang="zh-TW" altLang="en-US" sz="1000" b="1" i="0" u="none" strike="noStrike" dirty="0">
                          <a:solidFill>
                            <a:schemeClr val="bg1"/>
                          </a:solidFill>
                          <a:effectLst/>
                          <a:latin typeface="+mn-ea"/>
                          <a:ea typeface="+mn-ea"/>
                        </a:rPr>
                        <a:t>競賽項目</a:t>
                      </a:r>
                    </a:p>
                  </a:txBody>
                  <a:tcPr marL="9525" marR="9525" marT="9525" marB="0" anchor="ctr"/>
                </a:tc>
                <a:tc>
                  <a:txBody>
                    <a:bodyPr/>
                    <a:lstStyle/>
                    <a:p>
                      <a:pPr algn="ctr"/>
                      <a:r>
                        <a:rPr lang="zh-TW" altLang="en-US" sz="1000" b="1" i="0" kern="1200" dirty="0">
                          <a:solidFill>
                            <a:schemeClr val="lt1"/>
                          </a:solidFill>
                          <a:effectLst/>
                          <a:latin typeface="+mn-ea"/>
                          <a:ea typeface="+mn-ea"/>
                          <a:cs typeface="+mn-cs"/>
                        </a:rPr>
                        <a:t>題目</a:t>
                      </a:r>
                      <a:endParaRPr lang="en-US" altLang="zh-TW" sz="1000" b="1" i="0" kern="1200" dirty="0">
                        <a:solidFill>
                          <a:schemeClr val="lt1"/>
                        </a:solidFill>
                        <a:effectLst/>
                        <a:latin typeface="+mn-ea"/>
                        <a:ea typeface="+mn-ea"/>
                        <a:cs typeface="+mn-cs"/>
                      </a:endParaRPr>
                    </a:p>
                  </a:txBody>
                  <a:tcPr marL="9525" marR="9525" marT="9525" marB="0" anchor="ctr"/>
                </a:tc>
                <a:tc>
                  <a:txBody>
                    <a:bodyPr/>
                    <a:lstStyle/>
                    <a:p>
                      <a:pPr algn="ctr"/>
                      <a:r>
                        <a:rPr lang="zh-TW" altLang="en-US" sz="1000" b="1" i="0" kern="1200" dirty="0">
                          <a:solidFill>
                            <a:schemeClr val="lt1"/>
                          </a:solidFill>
                          <a:effectLst/>
                          <a:latin typeface="+mn-ea"/>
                          <a:ea typeface="+mn-ea"/>
                          <a:cs typeface="+mn-cs"/>
                        </a:rPr>
                        <a:t>結果</a:t>
                      </a:r>
                      <a:endParaRPr lang="en-US" altLang="zh-TW" sz="1000" b="1" i="0" kern="1200" dirty="0">
                        <a:solidFill>
                          <a:schemeClr val="lt1"/>
                        </a:solidFill>
                        <a:effectLst/>
                        <a:latin typeface="+mn-ea"/>
                        <a:ea typeface="+mn-ea"/>
                        <a:cs typeface="+mn-cs"/>
                      </a:endParaRPr>
                    </a:p>
                  </a:txBody>
                  <a:tcPr marL="9525" marR="9525" marT="9525" marB="0" anchor="ctr"/>
                </a:tc>
                <a:extLst>
                  <a:ext uri="{0D108BD9-81ED-4DB2-BD59-A6C34878D82A}">
                    <a16:rowId xmlns="" xmlns:a16="http://schemas.microsoft.com/office/drawing/2014/main" val="10000"/>
                  </a:ext>
                </a:extLst>
              </a:tr>
              <a:tr h="363551">
                <a:tc>
                  <a:txBody>
                    <a:bodyPr/>
                    <a:lstStyle/>
                    <a:p>
                      <a:pPr algn="ctr"/>
                      <a:r>
                        <a:rPr lang="zh-TW" altLang="en-US" sz="1000" b="0" i="0" kern="1200" dirty="0">
                          <a:solidFill>
                            <a:schemeClr val="tx1"/>
                          </a:solidFill>
                          <a:effectLst/>
                          <a:latin typeface="+mn-ea"/>
                          <a:ea typeface="+mn-ea"/>
                          <a:cs typeface="+mn-cs"/>
                        </a:rPr>
                        <a:t>廠內</a:t>
                      </a:r>
                      <a:r>
                        <a:rPr lang="en-US" altLang="zh-TW" sz="1000" b="0" i="0" kern="1200" dirty="0">
                          <a:solidFill>
                            <a:schemeClr val="tx1"/>
                          </a:solidFill>
                          <a:effectLst/>
                          <a:latin typeface="+mn-ea"/>
                          <a:ea typeface="+mn-ea"/>
                          <a:cs typeface="+mn-cs"/>
                        </a:rPr>
                        <a:t>-</a:t>
                      </a:r>
                      <a:r>
                        <a:rPr lang="en-US" altLang="zh-TW" sz="1000" b="0" i="0" kern="1200" dirty="0" smtClean="0">
                          <a:solidFill>
                            <a:schemeClr val="tx1"/>
                          </a:solidFill>
                          <a:effectLst/>
                          <a:latin typeface="+mn-ea"/>
                          <a:ea typeface="+mn-ea"/>
                          <a:cs typeface="+mn-cs"/>
                        </a:rPr>
                        <a:t>2023</a:t>
                      </a:r>
                      <a:r>
                        <a:rPr lang="zh-TW" altLang="en-US" sz="1000" b="0" i="0" kern="1200" dirty="0" smtClean="0">
                          <a:solidFill>
                            <a:schemeClr val="tx1"/>
                          </a:solidFill>
                          <a:effectLst/>
                          <a:latin typeface="+mn-ea"/>
                          <a:ea typeface="+mn-ea"/>
                          <a:cs typeface="+mn-cs"/>
                        </a:rPr>
                        <a:t> 智慧製造展</a:t>
                      </a:r>
                      <a:endParaRPr lang="en-US" altLang="zh-TW" sz="1000" b="0" i="0" kern="1200" dirty="0">
                        <a:solidFill>
                          <a:schemeClr val="tx1"/>
                        </a:solidFill>
                        <a:effectLst/>
                        <a:latin typeface="+mn-ea"/>
                        <a:ea typeface="+mn-ea"/>
                        <a:cs typeface="+mn-cs"/>
                      </a:endParaRPr>
                    </a:p>
                  </a:txBody>
                  <a:tcPr marL="9525" marR="9525" marT="9525" marB="0" anchor="ctr"/>
                </a:tc>
                <a:tc>
                  <a:txBody>
                    <a:bodyPr/>
                    <a:lstStyle/>
                    <a:p>
                      <a:pPr algn="ctr" fontAlgn="ctr"/>
                      <a:r>
                        <a:rPr lang="en-US" altLang="zh-TW" sz="1000" b="0" i="0" u="none" strike="noStrike" dirty="0" smtClean="0">
                          <a:solidFill>
                            <a:srgbClr val="000000"/>
                          </a:solidFill>
                          <a:effectLst/>
                          <a:latin typeface="+mn-ea"/>
                          <a:ea typeface="+mn-ea"/>
                        </a:rPr>
                        <a:t>Chipid&amp;2DCode</a:t>
                      </a:r>
                    </a:p>
                    <a:p>
                      <a:pPr algn="ctr" fontAlgn="ctr"/>
                      <a:r>
                        <a:rPr lang="zh-TW" altLang="en-US" sz="1000" b="0" i="0" u="none" strike="noStrike" dirty="0" smtClean="0">
                          <a:solidFill>
                            <a:srgbClr val="000000"/>
                          </a:solidFill>
                          <a:effectLst/>
                          <a:latin typeface="+mn-ea"/>
                          <a:ea typeface="+mn-ea"/>
                        </a:rPr>
                        <a:t>影像辨識</a:t>
                      </a:r>
                      <a:endParaRPr lang="zh-TW" altLang="en-US" sz="1000" b="0" i="0" u="none" strike="noStrike" dirty="0">
                        <a:solidFill>
                          <a:srgbClr val="000000"/>
                        </a:solidFill>
                        <a:effectLst/>
                        <a:latin typeface="+mn-ea"/>
                        <a:ea typeface="+mn-ea"/>
                      </a:endParaRPr>
                    </a:p>
                  </a:txBody>
                  <a:tcPr marL="9525" marR="9525" marT="9525" marB="0" anchor="ctr"/>
                </a:tc>
                <a:tc>
                  <a:txBody>
                    <a:bodyPr/>
                    <a:lstStyle/>
                    <a:p>
                      <a:pPr algn="ctr" fontAlgn="ctr"/>
                      <a:r>
                        <a:rPr lang="zh-TW" altLang="en-US" sz="1000" b="0" i="0" u="none" strike="noStrike" dirty="0" smtClean="0">
                          <a:solidFill>
                            <a:srgbClr val="000000"/>
                          </a:solidFill>
                          <a:effectLst/>
                          <a:latin typeface="+mn-ea"/>
                          <a:ea typeface="+mn-ea"/>
                        </a:rPr>
                        <a:t>亞軍</a:t>
                      </a:r>
                      <a:endParaRPr lang="zh-TW" altLang="en-US" sz="1000" b="0" i="0" u="none" strike="noStrike" dirty="0">
                        <a:solidFill>
                          <a:srgbClr val="000000"/>
                        </a:solidFill>
                        <a:effectLst/>
                        <a:latin typeface="+mn-ea"/>
                        <a:ea typeface="+mn-ea"/>
                      </a:endParaRPr>
                    </a:p>
                  </a:txBody>
                  <a:tcPr marL="9525" marR="9525" marT="9525" marB="0" anchor="ctr"/>
                </a:tc>
                <a:extLst>
                  <a:ext uri="{0D108BD9-81ED-4DB2-BD59-A6C34878D82A}">
                    <a16:rowId xmlns="" xmlns:a16="http://schemas.microsoft.com/office/drawing/2014/main" val="10001"/>
                  </a:ext>
                </a:extLst>
              </a:tr>
              <a:tr h="643739">
                <a:tc>
                  <a:txBody>
                    <a:bodyPr/>
                    <a:lstStyle/>
                    <a:p>
                      <a:pPr algn="ctr"/>
                      <a:r>
                        <a:rPr lang="zh-TW" altLang="en-US" sz="1000" b="0" i="0" kern="1200" dirty="0" smtClean="0">
                          <a:solidFill>
                            <a:schemeClr val="tx1"/>
                          </a:solidFill>
                          <a:effectLst/>
                          <a:latin typeface="+mn-ea"/>
                          <a:ea typeface="+mn-ea"/>
                          <a:cs typeface="+mn-cs"/>
                        </a:rPr>
                        <a:t>廠外</a:t>
                      </a:r>
                      <a:r>
                        <a:rPr lang="en-US" altLang="zh-TW" sz="1000" b="0" i="0" kern="1200" dirty="0" smtClean="0">
                          <a:solidFill>
                            <a:schemeClr val="tx1"/>
                          </a:solidFill>
                          <a:effectLst/>
                          <a:latin typeface="+mn-ea"/>
                          <a:ea typeface="+mn-ea"/>
                          <a:cs typeface="+mn-cs"/>
                        </a:rPr>
                        <a:t>-2022</a:t>
                      </a:r>
                    </a:p>
                    <a:p>
                      <a:pPr algn="ctr"/>
                      <a:r>
                        <a:rPr lang="zh-TW" altLang="en-US" sz="1000" b="0" i="0" kern="1200" dirty="0" smtClean="0">
                          <a:solidFill>
                            <a:schemeClr val="tx1"/>
                          </a:solidFill>
                          <a:effectLst/>
                          <a:latin typeface="+mn-ea"/>
                          <a:ea typeface="+mn-ea"/>
                          <a:cs typeface="+mn-cs"/>
                        </a:rPr>
                        <a:t>全國專題創意競賽</a:t>
                      </a:r>
                      <a:endParaRPr lang="en-US" altLang="zh-TW" sz="1000" b="0" i="0" kern="1200" dirty="0">
                        <a:solidFill>
                          <a:schemeClr val="tx1"/>
                        </a:solidFill>
                        <a:effectLst/>
                        <a:latin typeface="+mn-ea"/>
                        <a:ea typeface="+mn-ea"/>
                        <a:cs typeface="+mn-cs"/>
                      </a:endParaRPr>
                    </a:p>
                  </a:txBody>
                  <a:tcPr marL="9525" marR="9525" marT="9525" marB="0" anchor="ctr"/>
                </a:tc>
                <a:tc>
                  <a:txBody>
                    <a:bodyPr/>
                    <a:lstStyle/>
                    <a:p>
                      <a:pPr marL="0" algn="ctr" defTabSz="685800" rtl="0" eaLnBrk="1" fontAlgn="ctr" latinLnBrk="0" hangingPunct="1"/>
                      <a:r>
                        <a:rPr lang="zh-TW" altLang="en-US" sz="1000" b="0" i="0" u="none" strike="noStrike" kern="1200" dirty="0" smtClean="0">
                          <a:solidFill>
                            <a:srgbClr val="000000"/>
                          </a:solidFill>
                          <a:effectLst/>
                          <a:latin typeface="+mn-ea"/>
                          <a:ea typeface="+mn-ea"/>
                          <a:cs typeface="+mn-cs"/>
                        </a:rPr>
                        <a:t>使用超參數優化人工智慧演算法分析金融異常交易之風險因子建立金融異常檢測模型</a:t>
                      </a:r>
                      <a:endParaRPr lang="zh-TW" altLang="en-US" sz="1000" b="0" i="0" u="none" strike="noStrike" kern="1200" dirty="0">
                        <a:solidFill>
                          <a:srgbClr val="000000"/>
                        </a:solidFill>
                        <a:effectLst/>
                        <a:latin typeface="+mn-ea"/>
                        <a:ea typeface="+mn-ea"/>
                        <a:cs typeface="+mn-cs"/>
                      </a:endParaRPr>
                    </a:p>
                  </a:txBody>
                  <a:tcPr marL="9525" marR="9525" marT="9525" marB="0" anchor="ctr"/>
                </a:tc>
                <a:tc>
                  <a:txBody>
                    <a:bodyPr/>
                    <a:lstStyle/>
                    <a:p>
                      <a:pPr algn="ctr" fontAlgn="ctr"/>
                      <a:r>
                        <a:rPr lang="zh-TW" altLang="en-US" sz="1000" b="0" i="0" u="none" strike="noStrike" dirty="0" smtClean="0">
                          <a:solidFill>
                            <a:srgbClr val="000000"/>
                          </a:solidFill>
                          <a:effectLst/>
                          <a:latin typeface="+mn-ea"/>
                          <a:ea typeface="+mn-ea"/>
                        </a:rPr>
                        <a:t>優秀論文</a:t>
                      </a:r>
                      <a:endParaRPr lang="zh-TW" altLang="en-US" sz="1000" b="0" i="0" u="none" strike="noStrike" dirty="0">
                        <a:solidFill>
                          <a:srgbClr val="000000"/>
                        </a:solidFill>
                        <a:effectLst/>
                        <a:latin typeface="+mn-ea"/>
                        <a:ea typeface="+mn-ea"/>
                      </a:endParaRPr>
                    </a:p>
                  </a:txBody>
                  <a:tcPr marL="9525" marR="9525" marT="9525" marB="0" anchor="ctr"/>
                </a:tc>
                <a:extLst>
                  <a:ext uri="{0D108BD9-81ED-4DB2-BD59-A6C34878D82A}">
                    <a16:rowId xmlns="" xmlns:a16="http://schemas.microsoft.com/office/drawing/2014/main" val="10002"/>
                  </a:ext>
                </a:extLst>
              </a:tr>
            </a:tbl>
          </a:graphicData>
        </a:graphic>
      </p:graphicFrame>
      <p:sp>
        <p:nvSpPr>
          <p:cNvPr id="12" name="文字方塊 11"/>
          <p:cNvSpPr txBox="1"/>
          <p:nvPr/>
        </p:nvSpPr>
        <p:spPr>
          <a:xfrm>
            <a:off x="4723700" y="845808"/>
            <a:ext cx="877163" cy="300082"/>
          </a:xfrm>
          <a:prstGeom prst="rect">
            <a:avLst/>
          </a:prstGeom>
          <a:noFill/>
        </p:spPr>
        <p:txBody>
          <a:bodyPr wrap="none" rtlCol="0">
            <a:spAutoFit/>
          </a:bodyPr>
          <a:lstStyle/>
          <a:p>
            <a:r>
              <a:rPr lang="zh-TW" altLang="en-US" b="1" u="sng" dirty="0">
                <a:solidFill>
                  <a:schemeClr val="accent1"/>
                </a:solidFill>
                <a:latin typeface="+mn-ea"/>
              </a:rPr>
              <a:t>掌握技術</a:t>
            </a:r>
          </a:p>
        </p:txBody>
      </p:sp>
      <p:graphicFrame>
        <p:nvGraphicFramePr>
          <p:cNvPr id="13" name="表格 12"/>
          <p:cNvGraphicFramePr>
            <a:graphicFrameLocks noGrp="1"/>
          </p:cNvGraphicFramePr>
          <p:nvPr>
            <p:extLst>
              <p:ext uri="{D42A27DB-BD31-4B8C-83A1-F6EECF244321}">
                <p14:modId xmlns:p14="http://schemas.microsoft.com/office/powerpoint/2010/main" val="3242439726"/>
              </p:ext>
            </p:extLst>
          </p:nvPr>
        </p:nvGraphicFramePr>
        <p:xfrm>
          <a:off x="4723700" y="1153585"/>
          <a:ext cx="3570700" cy="2066027"/>
        </p:xfrm>
        <a:graphic>
          <a:graphicData uri="http://schemas.openxmlformats.org/drawingml/2006/table">
            <a:tbl>
              <a:tblPr firstRow="1" bandRow="1">
                <a:tableStyleId>{5C22544A-7EE6-4342-B048-85BDC9FD1C3A}</a:tableStyleId>
              </a:tblPr>
              <a:tblGrid>
                <a:gridCol w="1576300">
                  <a:extLst>
                    <a:ext uri="{9D8B030D-6E8A-4147-A177-3AD203B41FA5}">
                      <a16:colId xmlns="" xmlns:a16="http://schemas.microsoft.com/office/drawing/2014/main" val="20000"/>
                    </a:ext>
                  </a:extLst>
                </a:gridCol>
                <a:gridCol w="1994400">
                  <a:extLst>
                    <a:ext uri="{9D8B030D-6E8A-4147-A177-3AD203B41FA5}">
                      <a16:colId xmlns="" xmlns:a16="http://schemas.microsoft.com/office/drawing/2014/main" val="20001"/>
                    </a:ext>
                  </a:extLst>
                </a:gridCol>
              </a:tblGrid>
              <a:tr h="257240">
                <a:tc>
                  <a:txBody>
                    <a:bodyPr/>
                    <a:lstStyle/>
                    <a:p>
                      <a:pPr algn="ctr" fontAlgn="ctr"/>
                      <a:r>
                        <a:rPr lang="zh-TW" altLang="en-US" sz="1000" b="1" i="0" u="none" strike="noStrike" dirty="0">
                          <a:solidFill>
                            <a:schemeClr val="bg1"/>
                          </a:solidFill>
                          <a:effectLst/>
                          <a:latin typeface="+mn-ea"/>
                          <a:ea typeface="+mn-ea"/>
                        </a:rPr>
                        <a:t>任務</a:t>
                      </a:r>
                      <a:endParaRPr lang="en-US" altLang="zh-TW" sz="1000" b="1" i="0" u="none" strike="noStrike" dirty="0">
                        <a:solidFill>
                          <a:schemeClr val="bg1"/>
                        </a:solidFill>
                        <a:effectLst/>
                        <a:latin typeface="+mn-ea"/>
                        <a:ea typeface="+mn-ea"/>
                      </a:endParaRPr>
                    </a:p>
                  </a:txBody>
                  <a:tcPr marL="9525" marR="9525" marT="9525" marB="0" anchor="ctr"/>
                </a:tc>
                <a:tc>
                  <a:txBody>
                    <a:bodyPr/>
                    <a:lstStyle/>
                    <a:p>
                      <a:pPr algn="ctr"/>
                      <a:r>
                        <a:rPr lang="zh-TW" altLang="en-US" sz="1000" b="1" i="0" kern="1200" dirty="0">
                          <a:solidFill>
                            <a:schemeClr val="lt1"/>
                          </a:solidFill>
                          <a:effectLst/>
                          <a:latin typeface="+mn-ea"/>
                          <a:ea typeface="+mn-ea"/>
                          <a:cs typeface="+mn-cs"/>
                        </a:rPr>
                        <a:t>名稱</a:t>
                      </a:r>
                      <a:endParaRPr lang="en-US" altLang="zh-TW" sz="1000" b="1" i="0" kern="1200" dirty="0">
                        <a:solidFill>
                          <a:schemeClr val="lt1"/>
                        </a:solidFill>
                        <a:effectLst/>
                        <a:latin typeface="+mn-ea"/>
                        <a:ea typeface="+mn-ea"/>
                        <a:cs typeface="+mn-cs"/>
                      </a:endParaRPr>
                    </a:p>
                  </a:txBody>
                  <a:tcPr marL="9525" marR="9525" marT="9525" marB="0" anchor="ctr"/>
                </a:tc>
                <a:extLst>
                  <a:ext uri="{0D108BD9-81ED-4DB2-BD59-A6C34878D82A}">
                    <a16:rowId xmlns="" xmlns:a16="http://schemas.microsoft.com/office/drawing/2014/main" val="10000"/>
                  </a:ext>
                </a:extLst>
              </a:tr>
              <a:tr h="257240">
                <a:tc>
                  <a:txBody>
                    <a:bodyPr/>
                    <a:lstStyle/>
                    <a:p>
                      <a:pPr algn="ctr"/>
                      <a:r>
                        <a:rPr lang="zh-TW" altLang="en-US" sz="1000" b="0" i="0" kern="1200" dirty="0" smtClean="0">
                          <a:solidFill>
                            <a:schemeClr val="tx1"/>
                          </a:solidFill>
                          <a:effectLst/>
                          <a:latin typeface="+mn-ea"/>
                          <a:ea typeface="+mn-ea"/>
                          <a:cs typeface="+mn-cs"/>
                        </a:rPr>
                        <a:t>影像前處理</a:t>
                      </a:r>
                      <a:endParaRPr lang="en-US" altLang="zh-TW" sz="1000" b="0" i="0" kern="1200" dirty="0">
                        <a:solidFill>
                          <a:schemeClr val="tx1"/>
                        </a:solidFill>
                        <a:effectLst/>
                        <a:latin typeface="+mn-ea"/>
                        <a:ea typeface="+mn-ea"/>
                        <a:cs typeface="+mn-cs"/>
                      </a:endParaRPr>
                    </a:p>
                  </a:txBody>
                  <a:tcPr marL="9525" marR="9525" marT="9525" marB="0" anchor="ctr"/>
                </a:tc>
                <a:tc>
                  <a:txBody>
                    <a:bodyPr/>
                    <a:lstStyle/>
                    <a:p>
                      <a:pPr algn="ctr" fontAlgn="ctr"/>
                      <a:r>
                        <a:rPr lang="en-US" altLang="zh-TW" sz="1000" b="0" i="0" u="none" strike="noStrike" dirty="0" smtClean="0">
                          <a:solidFill>
                            <a:srgbClr val="000000"/>
                          </a:solidFill>
                          <a:effectLst/>
                          <a:latin typeface="+mn-ea"/>
                          <a:ea typeface="+mn-ea"/>
                        </a:rPr>
                        <a:t>OpenCV</a:t>
                      </a:r>
                      <a:endParaRPr lang="zh-TW" altLang="en-US" sz="1000" b="0" i="0" u="none" strike="noStrike" dirty="0">
                        <a:solidFill>
                          <a:srgbClr val="000000"/>
                        </a:solidFill>
                        <a:effectLst/>
                        <a:latin typeface="+mn-ea"/>
                        <a:ea typeface="+mn-ea"/>
                      </a:endParaRPr>
                    </a:p>
                  </a:txBody>
                  <a:tcPr marL="9525" marR="9525" marT="9525" marB="0" anchor="ctr"/>
                </a:tc>
              </a:tr>
              <a:tr h="257240">
                <a:tc>
                  <a:txBody>
                    <a:bodyPr/>
                    <a:lstStyle/>
                    <a:p>
                      <a:pPr algn="ctr"/>
                      <a:r>
                        <a:rPr lang="zh-TW" altLang="en-US" sz="1000" b="0" i="0" kern="1200" dirty="0">
                          <a:solidFill>
                            <a:schemeClr val="tx1"/>
                          </a:solidFill>
                          <a:effectLst/>
                          <a:latin typeface="+mn-ea"/>
                          <a:ea typeface="+mn-ea"/>
                          <a:cs typeface="+mn-cs"/>
                        </a:rPr>
                        <a:t>物件偵測</a:t>
                      </a:r>
                      <a:endParaRPr lang="en-US" altLang="zh-TW" sz="1000" b="0" i="0" kern="1200" dirty="0">
                        <a:solidFill>
                          <a:schemeClr val="tx1"/>
                        </a:solidFill>
                        <a:effectLst/>
                        <a:latin typeface="+mn-ea"/>
                        <a:ea typeface="+mn-ea"/>
                        <a:cs typeface="+mn-cs"/>
                      </a:endParaRPr>
                    </a:p>
                  </a:txBody>
                  <a:tcPr marL="9525" marR="9525" marT="9525" marB="0" anchor="ctr"/>
                </a:tc>
                <a:tc>
                  <a:txBody>
                    <a:bodyPr/>
                    <a:lstStyle/>
                    <a:p>
                      <a:pPr algn="ctr" fontAlgn="ctr"/>
                      <a:r>
                        <a:rPr lang="en-US" altLang="zh-TW" sz="1000" b="0" i="0" u="none" strike="noStrike" dirty="0">
                          <a:solidFill>
                            <a:srgbClr val="000000"/>
                          </a:solidFill>
                          <a:effectLst/>
                          <a:latin typeface="+mn-ea"/>
                          <a:ea typeface="+mn-ea"/>
                        </a:rPr>
                        <a:t>Yolo</a:t>
                      </a:r>
                      <a:r>
                        <a:rPr lang="zh-TW" altLang="en-US" sz="1000" b="0" i="0" u="none" strike="noStrike" dirty="0">
                          <a:solidFill>
                            <a:srgbClr val="000000"/>
                          </a:solidFill>
                          <a:effectLst/>
                          <a:latin typeface="+mn-ea"/>
                          <a:ea typeface="+mn-ea"/>
                        </a:rPr>
                        <a:t>系列</a:t>
                      </a:r>
                    </a:p>
                  </a:txBody>
                  <a:tcPr marL="9525" marR="9525" marT="9525" marB="0" anchor="ctr"/>
                </a:tc>
                <a:extLst>
                  <a:ext uri="{0D108BD9-81ED-4DB2-BD59-A6C34878D82A}">
                    <a16:rowId xmlns="" xmlns:a16="http://schemas.microsoft.com/office/drawing/2014/main" val="10002"/>
                  </a:ext>
                </a:extLst>
              </a:tr>
              <a:tr h="265347">
                <a:tc>
                  <a:txBody>
                    <a:bodyPr/>
                    <a:lstStyle/>
                    <a:p>
                      <a:pPr algn="ctr"/>
                      <a:r>
                        <a:rPr lang="zh-TW" altLang="en-US" sz="1000" b="0" i="0" kern="1200" dirty="0" smtClean="0">
                          <a:solidFill>
                            <a:schemeClr val="tx1"/>
                          </a:solidFill>
                          <a:effectLst/>
                          <a:latin typeface="+mn-ea"/>
                          <a:ea typeface="+mn-ea"/>
                          <a:cs typeface="+mn-cs"/>
                        </a:rPr>
                        <a:t>預測</a:t>
                      </a:r>
                      <a:r>
                        <a:rPr lang="en-US" altLang="zh-TW" sz="1000" b="0" i="0" kern="1200" dirty="0" smtClean="0">
                          <a:solidFill>
                            <a:schemeClr val="tx1"/>
                          </a:solidFill>
                          <a:effectLst/>
                          <a:latin typeface="+mn-ea"/>
                          <a:ea typeface="+mn-ea"/>
                          <a:cs typeface="+mn-cs"/>
                        </a:rPr>
                        <a:t>/</a:t>
                      </a:r>
                      <a:r>
                        <a:rPr lang="zh-TW" altLang="en-US" sz="1000" b="0" i="0" kern="1200" dirty="0" smtClean="0">
                          <a:solidFill>
                            <a:schemeClr val="tx1"/>
                          </a:solidFill>
                          <a:effectLst/>
                          <a:latin typeface="+mn-ea"/>
                          <a:ea typeface="+mn-ea"/>
                          <a:cs typeface="+mn-cs"/>
                        </a:rPr>
                        <a:t>分類</a:t>
                      </a:r>
                      <a:endParaRPr lang="en-US" altLang="zh-TW" sz="1000" b="0" i="0" kern="1200" dirty="0">
                        <a:solidFill>
                          <a:schemeClr val="tx1"/>
                        </a:solidFill>
                        <a:effectLst/>
                        <a:latin typeface="+mn-ea"/>
                        <a:ea typeface="+mn-ea"/>
                        <a:cs typeface="+mn-cs"/>
                      </a:endParaRPr>
                    </a:p>
                  </a:txBody>
                  <a:tcPr marL="9525" marR="9525" marT="9525" marB="0" anchor="ctr"/>
                </a:tc>
                <a:tc>
                  <a:txBody>
                    <a:bodyPr/>
                    <a:lstStyle/>
                    <a:p>
                      <a:pPr algn="ctr" fontAlgn="ctr"/>
                      <a:r>
                        <a:rPr lang="en-US" altLang="zh-TW" sz="1000" b="0" i="0" u="none" strike="noStrike" dirty="0" smtClean="0">
                          <a:solidFill>
                            <a:srgbClr val="000000"/>
                          </a:solidFill>
                          <a:effectLst/>
                          <a:latin typeface="+mn-ea"/>
                          <a:ea typeface="+mn-ea"/>
                        </a:rPr>
                        <a:t>Random forest/XGBoost/…</a:t>
                      </a:r>
                    </a:p>
                  </a:txBody>
                  <a:tcPr marL="9525" marR="9525" marT="9525" marB="0" anchor="ctr"/>
                </a:tc>
                <a:extLst>
                  <a:ext uri="{0D108BD9-81ED-4DB2-BD59-A6C34878D82A}">
                    <a16:rowId xmlns="" xmlns:a16="http://schemas.microsoft.com/office/drawing/2014/main" val="10003"/>
                  </a:ext>
                </a:extLst>
              </a:tr>
              <a:tr h="257240">
                <a:tc>
                  <a:txBody>
                    <a:bodyPr/>
                    <a:lstStyle/>
                    <a:p>
                      <a:pPr algn="ctr"/>
                      <a:r>
                        <a:rPr lang="zh-TW" altLang="en-US" sz="1000" b="0" i="0" kern="1200" dirty="0" smtClean="0">
                          <a:solidFill>
                            <a:schemeClr val="tx1"/>
                          </a:solidFill>
                          <a:effectLst/>
                          <a:latin typeface="+mn-ea"/>
                          <a:ea typeface="+mn-ea"/>
                          <a:cs typeface="+mn-cs"/>
                        </a:rPr>
                        <a:t>後端框架</a:t>
                      </a:r>
                      <a:endParaRPr lang="en-US" altLang="zh-TW" sz="1000" b="0" i="0" kern="1200" dirty="0">
                        <a:solidFill>
                          <a:schemeClr val="tx1"/>
                        </a:solidFill>
                        <a:effectLst/>
                        <a:latin typeface="+mn-ea"/>
                        <a:ea typeface="+mn-ea"/>
                        <a:cs typeface="+mn-cs"/>
                      </a:endParaRPr>
                    </a:p>
                  </a:txBody>
                  <a:tcPr marL="9525" marR="9525" marT="9525" marB="0" anchor="ctr"/>
                </a:tc>
                <a:tc>
                  <a:txBody>
                    <a:bodyPr/>
                    <a:lstStyle/>
                    <a:p>
                      <a:pPr algn="ctr" fontAlgn="ctr"/>
                      <a:r>
                        <a:rPr lang="en-US" altLang="zh-TW" sz="1000" b="0" i="0" u="none" strike="noStrike" dirty="0" smtClean="0">
                          <a:solidFill>
                            <a:srgbClr val="000000"/>
                          </a:solidFill>
                          <a:effectLst/>
                          <a:latin typeface="+mn-ea"/>
                          <a:ea typeface="+mn-ea"/>
                        </a:rPr>
                        <a:t>FastAPI</a:t>
                      </a:r>
                      <a:endParaRPr lang="zh-TW" altLang="en-US" sz="1000" b="0" i="0" u="none" strike="noStrike" dirty="0">
                        <a:solidFill>
                          <a:srgbClr val="000000"/>
                        </a:solidFill>
                        <a:effectLst/>
                        <a:latin typeface="+mn-ea"/>
                        <a:ea typeface="+mn-ea"/>
                      </a:endParaRPr>
                    </a:p>
                  </a:txBody>
                  <a:tcPr marL="9525" marR="9525" marT="9525" marB="0" anchor="ctr"/>
                </a:tc>
                <a:extLst>
                  <a:ext uri="{0D108BD9-81ED-4DB2-BD59-A6C34878D82A}">
                    <a16:rowId xmlns="" xmlns:a16="http://schemas.microsoft.com/office/drawing/2014/main" val="10004"/>
                  </a:ext>
                </a:extLst>
              </a:tr>
              <a:tr h="257240">
                <a:tc>
                  <a:txBody>
                    <a:bodyPr/>
                    <a:lstStyle/>
                    <a:p>
                      <a:pPr marL="0" algn="ctr" defTabSz="685800" rtl="0" eaLnBrk="1" fontAlgn="ctr" latinLnBrk="0" hangingPunct="1"/>
                      <a:r>
                        <a:rPr lang="zh-TW" altLang="en-US" sz="1000" b="0" i="0" u="none" strike="noStrike" kern="1200" dirty="0" smtClean="0">
                          <a:solidFill>
                            <a:srgbClr val="000000"/>
                          </a:solidFill>
                          <a:effectLst/>
                          <a:latin typeface="+mn-ea"/>
                          <a:ea typeface="+mn-ea"/>
                          <a:cs typeface="+mn-cs"/>
                        </a:rPr>
                        <a:t>可視化報表</a:t>
                      </a:r>
                      <a:endParaRPr lang="en-US" altLang="zh-TW" sz="1000" b="0" i="0" u="none" strike="noStrike" kern="1200" dirty="0">
                        <a:solidFill>
                          <a:srgbClr val="000000"/>
                        </a:solidFill>
                        <a:effectLst/>
                        <a:latin typeface="+mn-ea"/>
                        <a:ea typeface="+mn-ea"/>
                        <a:cs typeface="+mn-cs"/>
                      </a:endParaRPr>
                    </a:p>
                  </a:txBody>
                  <a:tcPr marL="9525" marR="9525" marT="9525" marB="0" anchor="ctr"/>
                </a:tc>
                <a:tc>
                  <a:txBody>
                    <a:bodyPr/>
                    <a:lstStyle/>
                    <a:p>
                      <a:pPr marL="0" algn="ctr" defTabSz="685800" rtl="0" eaLnBrk="1" fontAlgn="ctr" latinLnBrk="0" hangingPunct="1"/>
                      <a:r>
                        <a:rPr lang="en-US" altLang="zh-TW" sz="1000" b="0" i="0" u="none" strike="noStrike" kern="1200" dirty="0" smtClean="0">
                          <a:solidFill>
                            <a:srgbClr val="000000"/>
                          </a:solidFill>
                          <a:effectLst/>
                          <a:latin typeface="+mn-ea"/>
                          <a:ea typeface="+mn-ea"/>
                          <a:cs typeface="+mn-cs"/>
                        </a:rPr>
                        <a:t>Tableau</a:t>
                      </a:r>
                      <a:endParaRPr lang="zh-TW" altLang="en-US" sz="1000" b="0" i="0" u="none" strike="noStrike" kern="1200" dirty="0">
                        <a:solidFill>
                          <a:srgbClr val="000000"/>
                        </a:solidFill>
                        <a:effectLst/>
                        <a:latin typeface="+mn-ea"/>
                        <a:ea typeface="+mn-ea"/>
                        <a:cs typeface="+mn-cs"/>
                      </a:endParaRPr>
                    </a:p>
                  </a:txBody>
                  <a:tcPr marL="9525" marR="9525" marT="9525" marB="0" anchor="ctr"/>
                </a:tc>
              </a:tr>
              <a:tr h="257240">
                <a:tc>
                  <a:txBody>
                    <a:bodyPr/>
                    <a:lstStyle/>
                    <a:p>
                      <a:pPr marL="0" algn="ctr" defTabSz="685800" rtl="0" eaLnBrk="1" fontAlgn="ctr" latinLnBrk="0" hangingPunct="1"/>
                      <a:r>
                        <a:rPr lang="zh-TW" altLang="en-US" sz="1000" b="0" i="0" u="none" strike="noStrike" kern="1200" dirty="0" smtClean="0">
                          <a:solidFill>
                            <a:srgbClr val="000000"/>
                          </a:solidFill>
                          <a:effectLst/>
                          <a:latin typeface="+mn-ea"/>
                          <a:ea typeface="+mn-ea"/>
                          <a:cs typeface="+mn-cs"/>
                        </a:rPr>
                        <a:t>資料庫</a:t>
                      </a:r>
                      <a:endParaRPr lang="en-US" altLang="zh-TW" sz="1000" b="0" i="0" u="none" strike="noStrike" kern="1200" dirty="0">
                        <a:solidFill>
                          <a:srgbClr val="000000"/>
                        </a:solidFill>
                        <a:effectLst/>
                        <a:latin typeface="+mn-ea"/>
                        <a:ea typeface="+mn-ea"/>
                        <a:cs typeface="+mn-cs"/>
                      </a:endParaRPr>
                    </a:p>
                  </a:txBody>
                  <a:tcPr marL="9525" marR="9525" marT="9525" marB="0" anchor="ctr"/>
                </a:tc>
                <a:tc>
                  <a:txBody>
                    <a:bodyPr/>
                    <a:lstStyle/>
                    <a:p>
                      <a:pPr marL="0" algn="ctr" defTabSz="685800" rtl="0" eaLnBrk="1" fontAlgn="ctr" latinLnBrk="0" hangingPunct="1"/>
                      <a:r>
                        <a:rPr lang="en-US" altLang="zh-TW" sz="1000" b="0" i="0" u="none" strike="noStrike" kern="1200" dirty="0" smtClean="0">
                          <a:solidFill>
                            <a:srgbClr val="000000"/>
                          </a:solidFill>
                          <a:effectLst/>
                          <a:latin typeface="+mn-ea"/>
                          <a:ea typeface="+mn-ea"/>
                          <a:cs typeface="+mn-cs"/>
                        </a:rPr>
                        <a:t>Oracle/MySQL/…</a:t>
                      </a:r>
                    </a:p>
                  </a:txBody>
                  <a:tcPr marL="9525" marR="9525" marT="9525" marB="0" anchor="ctr"/>
                </a:tc>
              </a:tr>
              <a:tr h="257240">
                <a:tc>
                  <a:txBody>
                    <a:bodyPr/>
                    <a:lstStyle/>
                    <a:p>
                      <a:pPr marL="0" algn="ctr" defTabSz="685800" rtl="0" eaLnBrk="1" fontAlgn="ctr" latinLnBrk="0" hangingPunct="1"/>
                      <a:r>
                        <a:rPr lang="zh-TW" altLang="en-US" sz="1000" b="0" i="0" u="none" strike="noStrike" kern="1200" dirty="0" smtClean="0">
                          <a:solidFill>
                            <a:srgbClr val="000000"/>
                          </a:solidFill>
                          <a:effectLst/>
                          <a:latin typeface="+mn-ea"/>
                          <a:ea typeface="+mn-ea"/>
                          <a:cs typeface="+mn-cs"/>
                        </a:rPr>
                        <a:t>雲端應用</a:t>
                      </a:r>
                      <a:endParaRPr lang="en-US" altLang="zh-TW" sz="1000" b="0" i="0" u="none" strike="noStrike" kern="1200" dirty="0">
                        <a:solidFill>
                          <a:srgbClr val="000000"/>
                        </a:solidFill>
                        <a:effectLst/>
                        <a:latin typeface="+mn-ea"/>
                        <a:ea typeface="+mn-ea"/>
                        <a:cs typeface="+mn-cs"/>
                      </a:endParaRPr>
                    </a:p>
                  </a:txBody>
                  <a:tcPr marL="9525" marR="9525" marT="9525" marB="0" anchor="ctr"/>
                </a:tc>
                <a:tc>
                  <a:txBody>
                    <a:bodyPr/>
                    <a:lstStyle/>
                    <a:p>
                      <a:pPr marL="0" algn="ctr" defTabSz="685800" rtl="0" eaLnBrk="1" fontAlgn="ctr" latinLnBrk="0" hangingPunct="1"/>
                      <a:r>
                        <a:rPr lang="en-US" altLang="zh-TW" sz="1000" b="0" i="0" u="none" strike="noStrike" kern="1200" dirty="0" smtClean="0">
                          <a:solidFill>
                            <a:srgbClr val="000000"/>
                          </a:solidFill>
                          <a:effectLst/>
                          <a:latin typeface="+mn-ea"/>
                          <a:ea typeface="+mn-ea"/>
                          <a:cs typeface="+mn-cs"/>
                        </a:rPr>
                        <a:t>Azure</a:t>
                      </a:r>
                    </a:p>
                  </a:txBody>
                  <a:tcPr marL="9525" marR="9525" marT="9525" marB="0" anchor="ctr"/>
                </a:tc>
              </a:tr>
            </a:tbl>
          </a:graphicData>
        </a:graphic>
      </p:graphicFrame>
      <p:pic>
        <p:nvPicPr>
          <p:cNvPr id="7" name="圖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569" y="2654116"/>
            <a:ext cx="3261788" cy="1846295"/>
          </a:xfrm>
          <a:prstGeom prst="rect">
            <a:avLst/>
          </a:prstGeom>
        </p:spPr>
      </p:pic>
      <p:sp>
        <p:nvSpPr>
          <p:cNvPr id="3" name="矩形 2"/>
          <p:cNvSpPr/>
          <p:nvPr/>
        </p:nvSpPr>
        <p:spPr>
          <a:xfrm>
            <a:off x="521494" y="3273956"/>
            <a:ext cx="1654969" cy="71437"/>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77512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801826283"/>
      </p:ext>
    </p:extLst>
  </p:cSld>
  <p:clrMapOvr>
    <a:masterClrMapping/>
  </p:clrMapOvr>
</p:sld>
</file>

<file path=ppt/theme/theme1.xml><?xml version="1.0" encoding="utf-8"?>
<a:theme xmlns:a="http://schemas.openxmlformats.org/drawingml/2006/main" name="Office 佈景主題">
  <a:themeElements>
    <a:clrScheme name="AUO">
      <a:dk1>
        <a:srgbClr val="000000"/>
      </a:dk1>
      <a:lt1>
        <a:srgbClr val="FFFFFF"/>
      </a:lt1>
      <a:dk2>
        <a:srgbClr val="000000"/>
      </a:dk2>
      <a:lt2>
        <a:srgbClr val="FFFFFF"/>
      </a:lt2>
      <a:accent1>
        <a:srgbClr val="005087"/>
      </a:accent1>
      <a:accent2>
        <a:srgbClr val="64DCF0"/>
      </a:accent2>
      <a:accent3>
        <a:srgbClr val="FFE664"/>
      </a:accent3>
      <a:accent4>
        <a:srgbClr val="B491D7"/>
      </a:accent4>
      <a:accent5>
        <a:srgbClr val="87DC64"/>
      </a:accent5>
      <a:accent6>
        <a:srgbClr val="147891"/>
      </a:accent6>
      <a:hlink>
        <a:srgbClr val="64DCF0"/>
      </a:hlink>
      <a:folHlink>
        <a:srgbClr val="414141"/>
      </a:folHlink>
    </a:clrScheme>
    <a:fontScheme name="自訂 1">
      <a:majorFont>
        <a:latin typeface="Times New Roman"/>
        <a:ea typeface="微軟正黑體"/>
        <a:cs typeface="MabryPro-Bold"/>
      </a:majorFont>
      <a:minorFont>
        <a:latin typeface="Times New Roman"/>
        <a:ea typeface="微軟正黑體"/>
        <a:cs typeface="MabryPro-Bold"/>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佈景主題">
  <a:themeElements>
    <a:clrScheme name="AUO">
      <a:dk1>
        <a:srgbClr val="000000"/>
      </a:dk1>
      <a:lt1>
        <a:srgbClr val="FFFFFF"/>
      </a:lt1>
      <a:dk2>
        <a:srgbClr val="000000"/>
      </a:dk2>
      <a:lt2>
        <a:srgbClr val="FFFFFF"/>
      </a:lt2>
      <a:accent1>
        <a:srgbClr val="005087"/>
      </a:accent1>
      <a:accent2>
        <a:srgbClr val="64DCF0"/>
      </a:accent2>
      <a:accent3>
        <a:srgbClr val="FFE664"/>
      </a:accent3>
      <a:accent4>
        <a:srgbClr val="B491D7"/>
      </a:accent4>
      <a:accent5>
        <a:srgbClr val="87DC64"/>
      </a:accent5>
      <a:accent6>
        <a:srgbClr val="147891"/>
      </a:accent6>
      <a:hlink>
        <a:srgbClr val="64DCF0"/>
      </a:hlink>
      <a:folHlink>
        <a:srgbClr val="414141"/>
      </a:folHlink>
    </a:clrScheme>
    <a:fontScheme name="Custom 16">
      <a:majorFont>
        <a:latin typeface="Mabry Pro Medium"/>
        <a:ea typeface="Noto Sans TC Medium"/>
        <a:cs typeface="MabryPro-Bold"/>
      </a:majorFont>
      <a:minorFont>
        <a:latin typeface="Mabry Pro"/>
        <a:ea typeface="Noto Sans TC"/>
        <a:cs typeface="MabryPro-Bold"/>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佈景主題">
  <a:themeElements>
    <a:clrScheme name="AUO">
      <a:dk1>
        <a:srgbClr val="000000"/>
      </a:dk1>
      <a:lt1>
        <a:srgbClr val="FFFFFF"/>
      </a:lt1>
      <a:dk2>
        <a:srgbClr val="000000"/>
      </a:dk2>
      <a:lt2>
        <a:srgbClr val="FFFFFF"/>
      </a:lt2>
      <a:accent1>
        <a:srgbClr val="005087"/>
      </a:accent1>
      <a:accent2>
        <a:srgbClr val="64DCF0"/>
      </a:accent2>
      <a:accent3>
        <a:srgbClr val="FFE664"/>
      </a:accent3>
      <a:accent4>
        <a:srgbClr val="B491D7"/>
      </a:accent4>
      <a:accent5>
        <a:srgbClr val="87DC64"/>
      </a:accent5>
      <a:accent6>
        <a:srgbClr val="147891"/>
      </a:accent6>
      <a:hlink>
        <a:srgbClr val="64DCF0"/>
      </a:hlink>
      <a:folHlink>
        <a:srgbClr val="414141"/>
      </a:folHlink>
    </a:clrScheme>
    <a:fontScheme name="Custom 16">
      <a:majorFont>
        <a:latin typeface="Mabry Pro Medium"/>
        <a:ea typeface="Noto Sans TC Medium"/>
        <a:cs typeface="MabryPro-Bold"/>
      </a:majorFont>
      <a:minorFont>
        <a:latin typeface="Mabry Pro"/>
        <a:ea typeface="Noto Sans TC"/>
        <a:cs typeface="MabryPro-Bold"/>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41925</TotalTime>
  <Words>6556</Words>
  <Application>Microsoft Office PowerPoint</Application>
  <PresentationFormat>如螢幕大小 (16:9)</PresentationFormat>
  <Paragraphs>1234</Paragraphs>
  <Slides>58</Slides>
  <Notes>48</Notes>
  <HiddenSlides>0</HiddenSlides>
  <MMClips>0</MMClips>
  <ScaleCrop>false</ScaleCrop>
  <HeadingPairs>
    <vt:vector size="6" baseType="variant">
      <vt:variant>
        <vt:lpstr>使用字型</vt:lpstr>
      </vt:variant>
      <vt:variant>
        <vt:i4>16</vt:i4>
      </vt:variant>
      <vt:variant>
        <vt:lpstr>佈景主題</vt:lpstr>
      </vt:variant>
      <vt:variant>
        <vt:i4>3</vt:i4>
      </vt:variant>
      <vt:variant>
        <vt:lpstr>投影片標題</vt:lpstr>
      </vt:variant>
      <vt:variant>
        <vt:i4>58</vt:i4>
      </vt:variant>
    </vt:vector>
  </HeadingPairs>
  <TitlesOfParts>
    <vt:vector size="77" baseType="lpstr">
      <vt:lpstr>Arial Unicode MS</vt:lpstr>
      <vt:lpstr>等线</vt:lpstr>
      <vt:lpstr>Microsoft YaHei</vt:lpstr>
      <vt:lpstr>Noto Sans TC</vt:lpstr>
      <vt:lpstr>Noto Sans TC Medium</vt:lpstr>
      <vt:lpstr>Poppins</vt:lpstr>
      <vt:lpstr>微軟正黑體</vt:lpstr>
      <vt:lpstr>新細明體</vt:lpstr>
      <vt:lpstr>Arial</vt:lpstr>
      <vt:lpstr>Arial</vt:lpstr>
      <vt:lpstr>Calibri</vt:lpstr>
      <vt:lpstr>Mabry Pro</vt:lpstr>
      <vt:lpstr>Mabry Pro Medium</vt:lpstr>
      <vt:lpstr>MabryPro-Bold</vt:lpstr>
      <vt:lpstr>Times New Roman</vt:lpstr>
      <vt:lpstr>Wingdings</vt:lpstr>
      <vt:lpstr>Office 佈景主題</vt:lpstr>
      <vt:lpstr>3_Office 佈景主題</vt:lpstr>
      <vt:lpstr>2_Office 佈景主題</vt:lpstr>
      <vt:lpstr>智慧製造人才庫- 菁英Level 3 人才( 智控中心)</vt:lpstr>
      <vt:lpstr>PowerPoint 簡報</vt:lpstr>
      <vt:lpstr>個人經歷</vt:lpstr>
      <vt:lpstr>公司貢獻補充說明</vt:lpstr>
      <vt:lpstr>Data Fusion分析監控系統</vt:lpstr>
      <vt:lpstr>PowerPoint 簡報</vt:lpstr>
      <vt:lpstr>ETL &amp; Data Fusion</vt:lpstr>
      <vt:lpstr>系統功能</vt:lpstr>
      <vt:lpstr>PowerPoint 簡報</vt:lpstr>
      <vt:lpstr>ETL &amp; Data Fusion</vt:lpstr>
      <vt:lpstr>系統功能</vt:lpstr>
      <vt:lpstr>系統功能</vt:lpstr>
      <vt:lpstr>PowerPoint 簡報</vt:lpstr>
      <vt:lpstr>ETL &amp; Data Fusion</vt:lpstr>
      <vt:lpstr>Dynamic SPEC(ETL &amp; Aggregation)</vt:lpstr>
      <vt:lpstr>系統功能</vt:lpstr>
      <vt:lpstr>系統功能</vt:lpstr>
      <vt:lpstr>PowerPoint 簡報</vt:lpstr>
      <vt:lpstr>ETL &amp; Data Fusion</vt:lpstr>
      <vt:lpstr>系統功能</vt:lpstr>
      <vt:lpstr>系統功能</vt:lpstr>
      <vt:lpstr>PowerPoint 簡報</vt:lpstr>
      <vt:lpstr>ETL &amp; Data Fusion</vt:lpstr>
      <vt:lpstr>系統功能</vt:lpstr>
      <vt:lpstr>系統功能</vt:lpstr>
      <vt:lpstr>系統功能</vt:lpstr>
      <vt:lpstr>PowerPoint 簡報</vt:lpstr>
      <vt:lpstr>ETL &amp; Data Fusion</vt:lpstr>
      <vt:lpstr>系統功能</vt:lpstr>
      <vt:lpstr>系統功能</vt:lpstr>
      <vt:lpstr>系統功能</vt:lpstr>
      <vt:lpstr>Data Fusion管理系統</vt:lpstr>
      <vt:lpstr>PowerPoint 簡報</vt:lpstr>
      <vt:lpstr>系統功能</vt:lpstr>
      <vt:lpstr>PowerPoint 簡報</vt:lpstr>
      <vt:lpstr>系統功能</vt:lpstr>
      <vt:lpstr>PowerPoint 簡報</vt:lpstr>
      <vt:lpstr>ETL &amp; Data Fusion</vt:lpstr>
      <vt:lpstr>系統功能</vt:lpstr>
      <vt:lpstr>系統功能</vt:lpstr>
      <vt:lpstr>影像辨識監控系統</vt:lpstr>
      <vt:lpstr>PowerPoint 簡報</vt:lpstr>
      <vt:lpstr>Data Fusion + 可視化網頁</vt:lpstr>
      <vt:lpstr>PowerPoint 簡報</vt:lpstr>
      <vt:lpstr>系統功能</vt:lpstr>
      <vt:lpstr>PowerPoint 簡報</vt:lpstr>
      <vt:lpstr>PowerPoint 簡報</vt:lpstr>
      <vt:lpstr>PowerPoint 簡報</vt:lpstr>
      <vt:lpstr>系統流程</vt:lpstr>
      <vt:lpstr>機台參數監控資料可視化</vt:lpstr>
      <vt:lpstr>PowerPoint 簡報</vt:lpstr>
      <vt:lpstr>節省效應</vt:lpstr>
      <vt:lpstr>PowerPoint 簡報</vt:lpstr>
      <vt:lpstr>PowerPoint 簡報</vt:lpstr>
      <vt:lpstr>PowerPoint 簡報</vt:lpstr>
      <vt:lpstr>PowerPoint 簡報</vt:lpstr>
      <vt:lpstr>其他補充說明</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Ruby YC Lin 林怡辰</cp:lastModifiedBy>
  <cp:revision>714</cp:revision>
  <dcterms:created xsi:type="dcterms:W3CDTF">2021-12-10T03:08:47Z</dcterms:created>
  <dcterms:modified xsi:type="dcterms:W3CDTF">2025-12-24T01:28:22Z</dcterms:modified>
</cp:coreProperties>
</file>