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42"/>
  </p:notesMasterIdLst>
  <p:handoutMasterIdLst>
    <p:handoutMasterId r:id="rId43"/>
  </p:handoutMasterIdLst>
  <p:sldIdLst>
    <p:sldId id="296" r:id="rId2"/>
    <p:sldId id="604" r:id="rId3"/>
    <p:sldId id="625" r:id="rId4"/>
    <p:sldId id="634" r:id="rId5"/>
    <p:sldId id="640" r:id="rId6"/>
    <p:sldId id="638" r:id="rId7"/>
    <p:sldId id="639" r:id="rId8"/>
    <p:sldId id="434" r:id="rId9"/>
    <p:sldId id="572" r:id="rId10"/>
    <p:sldId id="602" r:id="rId11"/>
    <p:sldId id="596" r:id="rId12"/>
    <p:sldId id="623" r:id="rId13"/>
    <p:sldId id="557" r:id="rId14"/>
    <p:sldId id="587" r:id="rId15"/>
    <p:sldId id="610" r:id="rId16"/>
    <p:sldId id="590" r:id="rId17"/>
    <p:sldId id="605" r:id="rId18"/>
    <p:sldId id="608" r:id="rId19"/>
    <p:sldId id="636" r:id="rId20"/>
    <p:sldId id="609" r:id="rId21"/>
    <p:sldId id="629" r:id="rId22"/>
    <p:sldId id="586" r:id="rId23"/>
    <p:sldId id="630" r:id="rId24"/>
    <p:sldId id="628" r:id="rId25"/>
    <p:sldId id="631" r:id="rId26"/>
    <p:sldId id="632" r:id="rId27"/>
    <p:sldId id="633" r:id="rId28"/>
    <p:sldId id="637" r:id="rId29"/>
    <p:sldId id="611" r:id="rId30"/>
    <p:sldId id="612" r:id="rId31"/>
    <p:sldId id="613" r:id="rId32"/>
    <p:sldId id="614" r:id="rId33"/>
    <p:sldId id="615" r:id="rId34"/>
    <p:sldId id="616" r:id="rId35"/>
    <p:sldId id="617" r:id="rId36"/>
    <p:sldId id="618" r:id="rId37"/>
    <p:sldId id="619" r:id="rId38"/>
    <p:sldId id="620" r:id="rId39"/>
    <p:sldId id="621" r:id="rId40"/>
    <p:sldId id="436" r:id="rId41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9CF63B-948E-49E9-9C26-66342FD4D8D6}">
          <p14:sldIdLst>
            <p14:sldId id="296"/>
            <p14:sldId id="604"/>
            <p14:sldId id="625"/>
          </p14:sldIdLst>
        </p14:section>
        <p14:section name="怡辰" id="{FE2F7572-F52E-48CA-8139-0A3F395CC49D}">
          <p14:sldIdLst>
            <p14:sldId id="634"/>
            <p14:sldId id="640"/>
            <p14:sldId id="638"/>
            <p14:sldId id="639"/>
            <p14:sldId id="434"/>
            <p14:sldId id="572"/>
            <p14:sldId id="602"/>
            <p14:sldId id="596"/>
            <p14:sldId id="623"/>
            <p14:sldId id="557"/>
            <p14:sldId id="587"/>
            <p14:sldId id="610"/>
            <p14:sldId id="590"/>
            <p14:sldId id="605"/>
            <p14:sldId id="608"/>
          </p14:sldIdLst>
        </p14:section>
        <p14:section name="評估中" id="{B7313A98-AABA-4B33-9F7F-3F023027920B}">
          <p14:sldIdLst>
            <p14:sldId id="636"/>
            <p14:sldId id="609"/>
            <p14:sldId id="629"/>
            <p14:sldId id="586"/>
            <p14:sldId id="630"/>
            <p14:sldId id="628"/>
            <p14:sldId id="631"/>
            <p14:sldId id="632"/>
            <p14:sldId id="633"/>
            <p14:sldId id="637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</p14:sldIdLst>
        </p14:section>
        <p14:section name="附錄" id="{ECF00FA5-7FC2-41AF-BB85-9A131B7AFBA1}">
          <p14:sldIdLst>
            <p14:sldId id="436"/>
          </p14:sldIdLst>
        </p14:section>
        <p14:section name="備用" id="{535D0321-A9A3-4D61-95E2-405E9267F08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26" userDrawn="1">
          <p15:clr>
            <a:srgbClr val="A4A3A4"/>
          </p15:clr>
        </p15:guide>
        <p15:guide id="2" pos="4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D0D9"/>
    <a:srgbClr val="A2EAF6"/>
    <a:srgbClr val="A05314"/>
    <a:srgbClr val="E7E9ED"/>
    <a:srgbClr val="FFF5C1"/>
    <a:srgbClr val="000000"/>
    <a:srgbClr val="A6E3E9"/>
    <a:srgbClr val="71C9CE"/>
    <a:srgbClr val="CBF1F5"/>
    <a:srgbClr val="F7F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95392" autoAdjust="0"/>
  </p:normalViewPr>
  <p:slideViewPr>
    <p:cSldViewPr snapToGrid="0" showGuides="1">
      <p:cViewPr>
        <p:scale>
          <a:sx n="125" d="100"/>
          <a:sy n="125" d="100"/>
        </p:scale>
        <p:origin x="1686" y="558"/>
      </p:cViewPr>
      <p:guideLst>
        <p:guide orient="horz" pos="826"/>
        <p:guide pos="49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7B270-C74B-471D-B383-1C29E946AC0C}" type="datetimeFigureOut">
              <a:rPr lang="zh-TW" altLang="en-US" smtClean="0"/>
              <a:t>2025/6/6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024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20998-D27E-49AD-A846-29433AB49256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9B736-9D47-4B7E-9D53-4FA46E3FC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4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95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55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69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14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11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37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1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每月報廢金額減少</a:t>
            </a:r>
            <a:r>
              <a:rPr lang="en-US" altLang="zh-TW" dirty="0" smtClean="0"/>
              <a:t>:</a:t>
            </a:r>
            <a:r>
              <a:rPr lang="zh-TW" altLang="en-US" dirty="0" smtClean="0"/>
              <a:t>顯性</a:t>
            </a:r>
            <a:r>
              <a:rPr lang="en-US" altLang="zh-TW" dirty="0" smtClean="0"/>
              <a:t>, </a:t>
            </a:r>
            <a:r>
              <a:rPr lang="zh-TW" altLang="en-US" dirty="0" smtClean="0"/>
              <a:t>效益</a:t>
            </a:r>
            <a:r>
              <a:rPr lang="en-US" altLang="zh-TW" dirty="0" smtClean="0"/>
              <a:t>:$80,500(PI</a:t>
            </a:r>
            <a:r>
              <a:rPr lang="zh-TW" altLang="en-US" dirty="0" smtClean="0"/>
              <a:t>每瓶</a:t>
            </a:r>
            <a:r>
              <a:rPr lang="en-US" altLang="zh-TW" dirty="0" smtClean="0"/>
              <a:t>), </a:t>
            </a:r>
            <a:r>
              <a:rPr lang="zh-TW" altLang="en-US" dirty="0" smtClean="0"/>
              <a:t>說明</a:t>
            </a:r>
            <a:r>
              <a:rPr lang="en-US" altLang="zh-TW" dirty="0" smtClean="0"/>
              <a:t>: </a:t>
            </a:r>
            <a:r>
              <a:rPr lang="zh-TW" altLang="en-US" dirty="0" smtClean="0"/>
              <a:t>建立</a:t>
            </a:r>
            <a:r>
              <a:rPr lang="en-US" altLang="zh-TW" dirty="0" smtClean="0"/>
              <a:t>EDA </a:t>
            </a:r>
            <a:r>
              <a:rPr lang="zh-TW" altLang="en-US" dirty="0" smtClean="0"/>
              <a:t>，降低異常風險，換算報廢改善金額為</a:t>
            </a:r>
            <a:r>
              <a:rPr lang="en-US" altLang="zh-TW" dirty="0" smtClean="0"/>
              <a:t>NTD $80,500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94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每月報廢金額減少</a:t>
            </a:r>
            <a:r>
              <a:rPr lang="en-US" altLang="zh-TW" dirty="0" smtClean="0"/>
              <a:t>:</a:t>
            </a:r>
            <a:r>
              <a:rPr lang="zh-TW" altLang="en-US" dirty="0" smtClean="0"/>
              <a:t>顯性</a:t>
            </a:r>
            <a:r>
              <a:rPr lang="en-US" altLang="zh-TW" dirty="0" smtClean="0"/>
              <a:t>, </a:t>
            </a:r>
            <a:r>
              <a:rPr lang="zh-TW" altLang="en-US" dirty="0" smtClean="0"/>
              <a:t>效益</a:t>
            </a:r>
            <a:r>
              <a:rPr lang="en-US" altLang="zh-TW" dirty="0" smtClean="0"/>
              <a:t>:$80,500(PI</a:t>
            </a:r>
            <a:r>
              <a:rPr lang="zh-TW" altLang="en-US" dirty="0" smtClean="0"/>
              <a:t>每瓶</a:t>
            </a:r>
            <a:r>
              <a:rPr lang="en-US" altLang="zh-TW" dirty="0" smtClean="0"/>
              <a:t>), </a:t>
            </a:r>
            <a:r>
              <a:rPr lang="zh-TW" altLang="en-US" dirty="0" smtClean="0"/>
              <a:t>說明</a:t>
            </a:r>
            <a:r>
              <a:rPr lang="en-US" altLang="zh-TW" dirty="0" smtClean="0"/>
              <a:t>: </a:t>
            </a:r>
            <a:r>
              <a:rPr lang="zh-TW" altLang="en-US" dirty="0" smtClean="0"/>
              <a:t>建立</a:t>
            </a:r>
            <a:r>
              <a:rPr lang="en-US" altLang="zh-TW" dirty="0" smtClean="0"/>
              <a:t>EDA </a:t>
            </a:r>
            <a:r>
              <a:rPr lang="zh-TW" altLang="en-US" dirty="0" smtClean="0"/>
              <a:t>，降低異常風險，換算報廢改善金額為</a:t>
            </a:r>
            <a:r>
              <a:rPr lang="en-US" altLang="zh-TW" dirty="0" smtClean="0"/>
              <a:t>NTD $80,500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28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79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29</a:t>
            </a:fld>
            <a:endParaRPr lang="en-US"/>
          </a:p>
        </p:txBody>
      </p:sp>
      <p:sp>
        <p:nvSpPr>
          <p:cNvPr id="6" name="頁首版面配置區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972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30</a:t>
            </a:fld>
            <a:endParaRPr lang="en-US"/>
          </a:p>
        </p:txBody>
      </p:sp>
      <p:sp>
        <p:nvSpPr>
          <p:cNvPr id="6" name="頁首版面配置區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0694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00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86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9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先點出為甚麼要使用這</a:t>
            </a:r>
            <a:r>
              <a:rPr lang="en-US" altLang="zh-TW" sz="9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en-US" sz="9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個技術，以現況痛點說明</a:t>
            </a:r>
            <a:endParaRPr lang="en-US" altLang="zh-TW" sz="9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0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先介紹為什麼要做口徑量測，然後介紹為什麼要用</a:t>
            </a:r>
            <a:r>
              <a:rPr lang="en-US" altLang="zh-TW" dirty="0" smtClean="0"/>
              <a:t>AI</a:t>
            </a:r>
            <a:r>
              <a:rPr lang="zh-TW" altLang="en-US" dirty="0" smtClean="0"/>
              <a:t>和最小平方圓方法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169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89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sz="900" dirty="0" smtClean="0"/>
              <a:t>人員每月約</a:t>
            </a:r>
            <a:r>
              <a:rPr lang="en-US" altLang="zh-TW" sz="900" dirty="0" smtClean="0"/>
              <a:t>4,500</a:t>
            </a:r>
            <a:r>
              <a:rPr lang="zh-TW" altLang="zh-TW" sz="900" dirty="0" smtClean="0"/>
              <a:t>支</a:t>
            </a:r>
            <a:r>
              <a:rPr lang="en-US" altLang="zh-TW" sz="900" dirty="0" smtClean="0"/>
              <a:t>nozzle</a:t>
            </a:r>
            <a:r>
              <a:rPr lang="zh-TW" altLang="en-US" sz="900" dirty="0" smtClean="0"/>
              <a:t> </a:t>
            </a:r>
            <a:r>
              <a:rPr lang="zh-TW" altLang="zh-TW" sz="900" dirty="0" smtClean="0"/>
              <a:t>檢查，每支</a:t>
            </a:r>
            <a:r>
              <a:rPr lang="en-US" altLang="zh-TW" sz="900" dirty="0" smtClean="0"/>
              <a:t>nozzle</a:t>
            </a:r>
            <a:r>
              <a:rPr lang="zh-TW" altLang="zh-TW" sz="900" dirty="0" smtClean="0"/>
              <a:t>檢查耗時</a:t>
            </a:r>
            <a:r>
              <a:rPr lang="en-US" altLang="zh-TW" sz="900" dirty="0" smtClean="0"/>
              <a:t>10</a:t>
            </a:r>
            <a:r>
              <a:rPr lang="zh-TW" altLang="zh-TW" sz="900" dirty="0" smtClean="0"/>
              <a:t>秒，清洗完</a:t>
            </a:r>
            <a:r>
              <a:rPr lang="en-US" altLang="zh-TW" sz="900" dirty="0" smtClean="0"/>
              <a:t>&amp;</a:t>
            </a:r>
            <a:r>
              <a:rPr lang="zh-TW" altLang="zh-TW" sz="900" dirty="0" smtClean="0"/>
              <a:t>組裝前檢查各檢查</a:t>
            </a:r>
            <a:r>
              <a:rPr lang="en-US" altLang="zh-TW" sz="900" dirty="0" smtClean="0"/>
              <a:t>1</a:t>
            </a:r>
            <a:r>
              <a:rPr lang="zh-TW" altLang="zh-TW" sz="900" dirty="0" smtClean="0"/>
              <a:t>次</a:t>
            </a:r>
            <a:r>
              <a:rPr lang="zh-TW" altLang="en-US" sz="900" dirty="0" smtClean="0"/>
              <a:t>，</a:t>
            </a:r>
            <a:r>
              <a:rPr lang="en-US" altLang="zh-TW" sz="900" dirty="0" smtClean="0"/>
              <a:t>4,500(</a:t>
            </a:r>
            <a:r>
              <a:rPr lang="zh-TW" altLang="zh-TW" sz="900" dirty="0" smtClean="0"/>
              <a:t>支</a:t>
            </a:r>
            <a:r>
              <a:rPr lang="en-US" altLang="zh-TW" sz="900" dirty="0" smtClean="0"/>
              <a:t>)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*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10(</a:t>
            </a:r>
            <a:r>
              <a:rPr lang="zh-TW" altLang="zh-TW" sz="900" dirty="0" smtClean="0"/>
              <a:t>秒</a:t>
            </a:r>
            <a:r>
              <a:rPr lang="en-US" altLang="zh-TW" sz="900" dirty="0" smtClean="0"/>
              <a:t>)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*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2(</a:t>
            </a:r>
            <a:r>
              <a:rPr lang="zh-TW" altLang="zh-TW" sz="900" dirty="0" smtClean="0"/>
              <a:t>次</a:t>
            </a:r>
            <a:r>
              <a:rPr lang="en-US" altLang="zh-TW" sz="900" dirty="0" smtClean="0"/>
              <a:t>)</a:t>
            </a:r>
            <a:r>
              <a:rPr lang="zh-TW" altLang="en-US" sz="900" dirty="0" smtClean="0"/>
              <a:t> * </a:t>
            </a:r>
            <a:r>
              <a:rPr lang="en-US" altLang="zh-TW" sz="900" dirty="0" smtClean="0"/>
              <a:t>12(</a:t>
            </a:r>
            <a:r>
              <a:rPr lang="zh-TW" altLang="en-US" sz="900" dirty="0" smtClean="0"/>
              <a:t>月</a:t>
            </a:r>
            <a:r>
              <a:rPr lang="en-US" altLang="zh-TW" sz="900" dirty="0" smtClean="0"/>
              <a:t>)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=</a:t>
            </a:r>
            <a:r>
              <a:rPr lang="zh-TW" altLang="en-US" sz="900" dirty="0" smtClean="0"/>
              <a:t> </a:t>
            </a:r>
            <a:r>
              <a:rPr lang="en-US" altLang="zh-TW" sz="900" b="1" dirty="0" smtClean="0">
                <a:solidFill>
                  <a:srgbClr val="FF0000"/>
                </a:solidFill>
              </a:rPr>
              <a:t>300</a:t>
            </a:r>
            <a:r>
              <a:rPr lang="zh-TW" altLang="zh-TW" sz="900" b="1" dirty="0" smtClean="0">
                <a:solidFill>
                  <a:srgbClr val="FF0000"/>
                </a:solidFill>
              </a:rPr>
              <a:t>小時</a:t>
            </a:r>
            <a:r>
              <a:rPr lang="en-US" altLang="zh-TW" sz="900" b="1" dirty="0" smtClean="0">
                <a:solidFill>
                  <a:srgbClr val="FF0000"/>
                </a:solidFill>
              </a:rPr>
              <a:t>/</a:t>
            </a:r>
            <a:r>
              <a:rPr lang="zh-TW" altLang="en-US" sz="900" b="1" dirty="0" smtClean="0">
                <a:solidFill>
                  <a:srgbClr val="FF0000"/>
                </a:solidFill>
              </a:rPr>
              <a:t>年</a:t>
            </a:r>
            <a:endParaRPr lang="en-US" altLang="zh-TW" sz="900" b="1" dirty="0" smtClean="0">
              <a:solidFill>
                <a:srgbClr val="FF0000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900" dirty="0" smtClean="0"/>
              <a:t>Seal </a:t>
            </a:r>
            <a:r>
              <a:rPr lang="zh-TW" altLang="zh-TW" sz="900" dirty="0" smtClean="0"/>
              <a:t>異常報廢</a:t>
            </a:r>
            <a:r>
              <a:rPr lang="zh-TW" altLang="en-US" sz="900" dirty="0" smtClean="0"/>
              <a:t>：約</a:t>
            </a:r>
            <a:r>
              <a:rPr lang="en-US" altLang="zh-TW" sz="900" dirty="0" smtClean="0"/>
              <a:t>5,230chip/</a:t>
            </a:r>
            <a:r>
              <a:rPr lang="zh-TW" altLang="zh-TW" sz="900" dirty="0" smtClean="0"/>
              <a:t>月</a:t>
            </a:r>
            <a:r>
              <a:rPr lang="zh-TW" altLang="en-US" sz="900" dirty="0" smtClean="0"/>
              <a:t>，</a:t>
            </a:r>
            <a:r>
              <a:rPr lang="zh-TW" altLang="zh-TW" sz="900" dirty="0" smtClean="0"/>
              <a:t>因</a:t>
            </a:r>
            <a:r>
              <a:rPr lang="en-US" altLang="zh-TW" sz="900" dirty="0" smtClean="0"/>
              <a:t>nozzle</a:t>
            </a:r>
            <a:r>
              <a:rPr lang="zh-TW" altLang="zh-TW" sz="900" dirty="0" smtClean="0"/>
              <a:t>造成的報廢</a:t>
            </a:r>
            <a:r>
              <a:rPr lang="en-US" altLang="zh-TW" sz="900" dirty="0" smtClean="0"/>
              <a:t>(Seal</a:t>
            </a:r>
            <a:r>
              <a:rPr lang="zh-TW" altLang="zh-TW" sz="900" dirty="0" smtClean="0"/>
              <a:t>過細</a:t>
            </a:r>
            <a:r>
              <a:rPr lang="en-US" altLang="zh-TW" sz="900" dirty="0" smtClean="0"/>
              <a:t>or</a:t>
            </a:r>
            <a:r>
              <a:rPr lang="zh-TW" altLang="zh-TW" sz="900" dirty="0" smtClean="0"/>
              <a:t>過粗</a:t>
            </a:r>
            <a:r>
              <a:rPr lang="en-US" altLang="zh-TW" sz="900" dirty="0" smtClean="0"/>
              <a:t>)</a:t>
            </a:r>
            <a:r>
              <a:rPr lang="zh-TW" altLang="zh-TW" sz="900" dirty="0" smtClean="0"/>
              <a:t>約佔</a:t>
            </a:r>
            <a:r>
              <a:rPr lang="en-US" altLang="zh-TW" sz="900" dirty="0" smtClean="0"/>
              <a:t>Seal</a:t>
            </a:r>
            <a:r>
              <a:rPr lang="zh-TW" altLang="zh-TW" sz="900" dirty="0" smtClean="0"/>
              <a:t>異常的</a:t>
            </a:r>
            <a:r>
              <a:rPr lang="en-US" altLang="zh-TW" sz="900" dirty="0" smtClean="0"/>
              <a:t>10%</a:t>
            </a:r>
            <a:r>
              <a:rPr lang="zh-TW" altLang="en-US" sz="900" dirty="0" smtClean="0"/>
              <a:t>，</a:t>
            </a:r>
            <a:r>
              <a:rPr lang="zh-TW" altLang="zh-TW" sz="900" dirty="0" smtClean="0"/>
              <a:t>其中因更換</a:t>
            </a:r>
            <a:r>
              <a:rPr lang="en-US" altLang="zh-TW" sz="900" dirty="0" smtClean="0"/>
              <a:t>nozzle</a:t>
            </a:r>
            <a:r>
              <a:rPr lang="zh-TW" altLang="zh-TW" sz="900" dirty="0" smtClean="0"/>
              <a:t>可改善的異常約佔</a:t>
            </a:r>
            <a:r>
              <a:rPr lang="en-US" altLang="zh-TW" sz="900" dirty="0" smtClean="0"/>
              <a:t>30%</a:t>
            </a:r>
            <a:r>
              <a:rPr lang="zh-TW" altLang="en-US" sz="900" dirty="0" smtClean="0"/>
              <a:t>，</a:t>
            </a:r>
            <a:r>
              <a:rPr lang="zh-TW" altLang="zh-TW" sz="900" dirty="0" smtClean="0"/>
              <a:t>估</a:t>
            </a:r>
            <a:r>
              <a:rPr lang="zh-TW" altLang="en-US" sz="900" dirty="0" smtClean="0"/>
              <a:t>每片</a:t>
            </a:r>
            <a:r>
              <a:rPr lang="en-US" altLang="zh-TW" sz="900" dirty="0" smtClean="0"/>
              <a:t>chip</a:t>
            </a:r>
            <a:r>
              <a:rPr lang="zh-TW" altLang="zh-TW" sz="900" dirty="0" smtClean="0"/>
              <a:t>成本約</a:t>
            </a:r>
            <a:r>
              <a:rPr lang="en-US" altLang="zh-TW" sz="900" dirty="0" smtClean="0"/>
              <a:t>1,000</a:t>
            </a:r>
            <a:r>
              <a:rPr lang="zh-TW" altLang="en-US" sz="900" dirty="0" smtClean="0"/>
              <a:t>元，</a:t>
            </a:r>
            <a:r>
              <a:rPr lang="en-US" altLang="zh-TW" sz="900" dirty="0" smtClean="0"/>
              <a:t>5,230(chip/</a:t>
            </a:r>
            <a:r>
              <a:rPr lang="zh-TW" altLang="zh-TW" sz="900" dirty="0" smtClean="0"/>
              <a:t>月</a:t>
            </a:r>
            <a:r>
              <a:rPr lang="en-US" altLang="zh-TW" sz="900" dirty="0" smtClean="0"/>
              <a:t>)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*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10%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*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30%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*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1000(</a:t>
            </a:r>
            <a:r>
              <a:rPr lang="zh-TW" altLang="zh-TW" sz="900" dirty="0" smtClean="0"/>
              <a:t>元</a:t>
            </a:r>
            <a:r>
              <a:rPr lang="en-US" altLang="zh-TW" sz="900" dirty="0" smtClean="0"/>
              <a:t>)</a:t>
            </a:r>
            <a:r>
              <a:rPr lang="zh-TW" altLang="en-US" sz="900" dirty="0" smtClean="0"/>
              <a:t> * </a:t>
            </a:r>
            <a:r>
              <a:rPr lang="en-US" altLang="zh-TW" sz="900" dirty="0" smtClean="0"/>
              <a:t>12(</a:t>
            </a:r>
            <a:r>
              <a:rPr lang="zh-TW" altLang="en-US" sz="900" dirty="0" smtClean="0"/>
              <a:t>月</a:t>
            </a:r>
            <a:r>
              <a:rPr lang="en-US" altLang="zh-TW" sz="900" dirty="0" smtClean="0"/>
              <a:t>)</a:t>
            </a:r>
            <a:r>
              <a:rPr lang="zh-TW" altLang="en-US" sz="900" dirty="0" smtClean="0"/>
              <a:t> </a:t>
            </a:r>
            <a:r>
              <a:rPr lang="en-US" altLang="zh-TW" sz="900" dirty="0" smtClean="0"/>
              <a:t>=</a:t>
            </a:r>
            <a:r>
              <a:rPr lang="zh-TW" altLang="en-US" sz="900" dirty="0" smtClean="0"/>
              <a:t> </a:t>
            </a:r>
            <a:r>
              <a:rPr lang="en-US" altLang="zh-TW" sz="900" b="1" dirty="0" smtClean="0">
                <a:solidFill>
                  <a:srgbClr val="FF0000"/>
                </a:solidFill>
              </a:rPr>
              <a:t>188.28</a:t>
            </a:r>
            <a:r>
              <a:rPr lang="zh-TW" altLang="en-US" sz="900" b="1" dirty="0" smtClean="0">
                <a:solidFill>
                  <a:srgbClr val="FF0000"/>
                </a:solidFill>
              </a:rPr>
              <a:t>萬</a:t>
            </a:r>
            <a:r>
              <a:rPr lang="en-US" altLang="zh-TW" sz="900" b="1" dirty="0" smtClean="0">
                <a:solidFill>
                  <a:srgbClr val="FF0000"/>
                </a:solidFill>
              </a:rPr>
              <a:t>/</a:t>
            </a:r>
            <a:r>
              <a:rPr lang="zh-TW" altLang="en-US" sz="900" b="1" dirty="0" smtClean="0">
                <a:solidFill>
                  <a:srgbClr val="FF0000"/>
                </a:solidFill>
              </a:rPr>
              <a:t>年</a:t>
            </a:r>
            <a:endParaRPr lang="en-US" altLang="zh-TW" sz="900" b="1" dirty="0" smtClean="0">
              <a:solidFill>
                <a:srgbClr val="FF0000"/>
              </a:solidFill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900" b="1" dirty="0" smtClean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​‌Classify:AUO-Confidential‌​</a:t>
            </a:r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9B736-9D47-4B7E-9D53-4FA46E3FC28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75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Cover Pag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472" y="644578"/>
            <a:ext cx="7117908" cy="1857461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PowerPoint Presentation</a:t>
            </a:r>
            <a:br>
              <a:rPr lang="en-US" altLang="zh-TW" dirty="0" smtClean="0"/>
            </a:br>
            <a:r>
              <a:rPr lang="en-US" altLang="zh-TW" dirty="0" smtClean="0"/>
              <a:t>Title Mabry Pro-Medium + </a:t>
            </a:r>
            <a:br>
              <a:rPr lang="en-US" altLang="zh-TW" dirty="0" smtClean="0"/>
            </a:b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</a:t>
            </a:r>
            <a:endParaRPr lang="en-US" dirty="0"/>
          </a:p>
        </p:txBody>
      </p:sp>
      <p:sp>
        <p:nvSpPr>
          <p:cNvPr id="9" name="日期版面配置區 3">
            <a:extLst>
              <a:ext uri="{FF2B5EF4-FFF2-40B4-BE49-F238E27FC236}">
                <a16:creationId xmlns="" xmlns:a16="http://schemas.microsoft.com/office/drawing/2014/main" id="{A6B2842F-AB04-453E-B849-7FA26470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3711" y="4643572"/>
            <a:ext cx="2713548" cy="313440"/>
          </a:xfrm>
        </p:spPr>
        <p:txBody>
          <a:bodyPr anchor="b"/>
          <a:lstStyle>
            <a:lvl1pPr>
              <a:defRPr sz="1200">
                <a:solidFill>
                  <a:srgbClr val="005087"/>
                </a:solidFill>
              </a:defRPr>
            </a:lvl1pPr>
          </a:lstStyle>
          <a:p>
            <a:r>
              <a:rPr lang="en-US" smtClean="0"/>
              <a:t>YYYY/MM/DD</a:t>
            </a:r>
            <a:endParaRPr lang="en-US" dirty="0"/>
          </a:p>
        </p:txBody>
      </p:sp>
      <p:sp>
        <p:nvSpPr>
          <p:cNvPr id="10" name="文字版面配置區 10">
            <a:extLst>
              <a:ext uri="{FF2B5EF4-FFF2-40B4-BE49-F238E27FC236}">
                <a16:creationId xmlns="" xmlns:a16="http://schemas.microsoft.com/office/drawing/2014/main" id="{F651AF1A-06EC-4C3B-8B93-08038043E3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348" y="4006766"/>
            <a:ext cx="2713911" cy="636807"/>
          </a:xfrm>
        </p:spPr>
        <p:txBody>
          <a:bodyPr>
            <a:norm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005087"/>
                </a:solidFill>
              </a:defRPr>
            </a:lvl1pPr>
            <a:lvl2pPr marL="342892" indent="0">
              <a:buFontTx/>
              <a:buNone/>
              <a:defRPr/>
            </a:lvl2pPr>
            <a:lvl3pPr marL="685783" indent="0">
              <a:buFontTx/>
              <a:buNone/>
              <a:defRPr/>
            </a:lvl3pPr>
            <a:lvl4pPr marL="1028675" indent="0">
              <a:buFontTx/>
              <a:buNone/>
              <a:defRPr/>
            </a:lvl4pPr>
            <a:lvl5pPr marL="1371566" indent="0">
              <a:buFontTx/>
              <a:buNone/>
              <a:defRPr/>
            </a:lvl5pPr>
          </a:lstStyle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Presenter’s Name</a:t>
            </a:r>
          </a:p>
          <a:p>
            <a:pPr marL="0" marR="0" lvl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Presenter’s Title / Department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TW" altLang="en-US"/>
          </a:p>
        </p:txBody>
      </p:sp>
      <p:sp>
        <p:nvSpPr>
          <p:cNvPr id="7" name="Freeform 5"/>
          <p:cNvSpPr>
            <a:spLocks noChangeAspect="1" noEditPoints="1"/>
          </p:cNvSpPr>
          <p:nvPr/>
        </p:nvSpPr>
        <p:spPr bwMode="auto">
          <a:xfrm>
            <a:off x="8026333" y="4560331"/>
            <a:ext cx="842400" cy="297755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pic>
        <p:nvPicPr>
          <p:cNvPr id="11" name="Picture 5"/>
          <p:cNvPicPr>
            <a:picLocks noChangeAspect="1"/>
          </p:cNvPicPr>
          <p:nvPr userDrawn="1"/>
        </p:nvPicPr>
        <p:blipFill rotWithShape="1">
          <a:blip r:embed="rId3"/>
          <a:srcRect l="86062" t="84666"/>
          <a:stretch/>
        </p:blipFill>
        <p:spPr>
          <a:xfrm>
            <a:off x="7869555" y="4354830"/>
            <a:ext cx="1274446" cy="78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769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3912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文字版面配置區 11">
            <a:extLst>
              <a:ext uri="{FF2B5EF4-FFF2-40B4-BE49-F238E27FC236}">
                <a16:creationId xmlns:a16="http://schemas.microsoft.com/office/drawing/2014/main" xmlns="" id="{F405D2A6-487D-47BF-A577-784535711A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it-IT" altLang="zh-TW" dirty="0" smtClean="0"/>
              <a:t>Mabry Pro + Noto Sans TC</a:t>
            </a:r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it-IT" altLang="zh-TW" dirty="0" smtClean="0"/>
              <a:t>Mabry Pro + Noto Sans TC</a:t>
            </a:r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endParaRPr lang="it-IT" altLang="zh-TW" dirty="0" smtClean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0252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1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3912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7" name="文字版面配置區 11">
            <a:extLst>
              <a:ext uri="{FF2B5EF4-FFF2-40B4-BE49-F238E27FC236}">
                <a16:creationId xmlns:a16="http://schemas.microsoft.com/office/drawing/2014/main" xmlns="" id="{F405D2A6-487D-47BF-A577-784535711A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it-IT" altLang="zh-TW" dirty="0" smtClean="0"/>
              <a:t>Mabry Pro + Noto Sans TC</a:t>
            </a:r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it-IT" altLang="zh-TW" dirty="0" smtClean="0"/>
              <a:t>Mabry Pro + Noto Sans TC</a:t>
            </a:r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endParaRPr lang="it-IT" altLang="zh-TW" dirty="0" smtClean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30252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04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8" name="Freeform 16"/>
          <p:cNvSpPr>
            <a:spLocks/>
          </p:cNvSpPr>
          <p:nvPr/>
        </p:nvSpPr>
        <p:spPr bwMode="auto">
          <a:xfrm>
            <a:off x="3847672" y="-484742"/>
            <a:ext cx="5979614" cy="4693353"/>
          </a:xfrm>
          <a:custGeom>
            <a:avLst/>
            <a:gdLst>
              <a:gd name="T0" fmla="*/ 1161 w 1390"/>
              <a:gd name="T1" fmla="*/ 293 h 1091"/>
              <a:gd name="T2" fmla="*/ 929 w 1390"/>
              <a:gd name="T3" fmla="*/ 293 h 1091"/>
              <a:gd name="T4" fmla="*/ 929 w 1390"/>
              <a:gd name="T5" fmla="*/ 0 h 1091"/>
              <a:gd name="T6" fmla="*/ 0 w 1390"/>
              <a:gd name="T7" fmla="*/ 0 h 1091"/>
              <a:gd name="T8" fmla="*/ 0 w 1390"/>
              <a:gd name="T9" fmla="*/ 696 h 1091"/>
              <a:gd name="T10" fmla="*/ 473 w 1390"/>
              <a:gd name="T11" fmla="*/ 696 h 1091"/>
              <a:gd name="T12" fmla="*/ 700 w 1390"/>
              <a:gd name="T13" fmla="*/ 1091 h 1091"/>
              <a:gd name="T14" fmla="*/ 1161 w 1390"/>
              <a:gd name="T15" fmla="*/ 1091 h 1091"/>
              <a:gd name="T16" fmla="*/ 1390 w 1390"/>
              <a:gd name="T17" fmla="*/ 693 h 1091"/>
              <a:gd name="T18" fmla="*/ 1161 w 1390"/>
              <a:gd name="T19" fmla="*/ 293 h 10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90" h="1091">
                <a:moveTo>
                  <a:pt x="1161" y="293"/>
                </a:moveTo>
                <a:lnTo>
                  <a:pt x="929" y="293"/>
                </a:lnTo>
                <a:lnTo>
                  <a:pt x="929" y="0"/>
                </a:lnTo>
                <a:lnTo>
                  <a:pt x="0" y="0"/>
                </a:lnTo>
                <a:lnTo>
                  <a:pt x="0" y="696"/>
                </a:lnTo>
                <a:lnTo>
                  <a:pt x="473" y="696"/>
                </a:lnTo>
                <a:lnTo>
                  <a:pt x="700" y="1091"/>
                </a:lnTo>
                <a:lnTo>
                  <a:pt x="1161" y="1091"/>
                </a:lnTo>
                <a:lnTo>
                  <a:pt x="1390" y="693"/>
                </a:lnTo>
                <a:lnTo>
                  <a:pt x="1161" y="29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xmlns="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5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 smtClean="0"/>
              <a:t>Break Page Title</a:t>
            </a:r>
            <a:br>
              <a:rPr lang="en-US" dirty="0" smtClean="0"/>
            </a:br>
            <a:r>
              <a:rPr lang="en-US" dirty="0" smtClean="0"/>
              <a:t>Mabry Pro-Medium + </a:t>
            </a:r>
            <a:br>
              <a:rPr lang="en-US" dirty="0" smtClean="0"/>
            </a:br>
            <a:r>
              <a:rPr lang="en-US" dirty="0" err="1" smtClean="0"/>
              <a:t>Noto</a:t>
            </a:r>
            <a:r>
              <a:rPr lang="en-US" dirty="0" smtClean="0"/>
              <a:t> Sans </a:t>
            </a:r>
            <a:r>
              <a:rPr lang="en-US" altLang="zh-TW" dirty="0" smtClean="0"/>
              <a:t>T</a:t>
            </a:r>
            <a:r>
              <a:rPr lang="en-US" dirty="0" smtClean="0"/>
              <a:t>C Medium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7" name="Freeform 5"/>
          <p:cNvSpPr>
            <a:spLocks noChangeAspect="1" noEditPoints="1"/>
          </p:cNvSpPr>
          <p:nvPr/>
        </p:nvSpPr>
        <p:spPr bwMode="auto">
          <a:xfrm>
            <a:off x="8026333" y="4560331"/>
            <a:ext cx="842400" cy="297755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251113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4569989" y="-46028"/>
            <a:ext cx="4909647" cy="4909647"/>
          </a:xfrm>
          <a:custGeom>
            <a:avLst/>
            <a:gdLst>
              <a:gd name="T0" fmla="*/ 192 w 474"/>
              <a:gd name="T1" fmla="*/ 0 h 474"/>
              <a:gd name="T2" fmla="*/ 192 w 474"/>
              <a:gd name="T3" fmla="*/ 91 h 474"/>
              <a:gd name="T4" fmla="*/ 0 w 474"/>
              <a:gd name="T5" fmla="*/ 282 h 474"/>
              <a:gd name="T6" fmla="*/ 192 w 474"/>
              <a:gd name="T7" fmla="*/ 474 h 474"/>
              <a:gd name="T8" fmla="*/ 383 w 474"/>
              <a:gd name="T9" fmla="*/ 282 h 474"/>
              <a:gd name="T10" fmla="*/ 474 w 474"/>
              <a:gd name="T11" fmla="*/ 282 h 474"/>
              <a:gd name="T12" fmla="*/ 474 w 474"/>
              <a:gd name="T13" fmla="*/ 0 h 474"/>
              <a:gd name="T14" fmla="*/ 192 w 474"/>
              <a:gd name="T15" fmla="*/ 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74" h="474">
                <a:moveTo>
                  <a:pt x="192" y="0"/>
                </a:moveTo>
                <a:cubicBezTo>
                  <a:pt x="192" y="91"/>
                  <a:pt x="192" y="91"/>
                  <a:pt x="192" y="91"/>
                </a:cubicBezTo>
                <a:cubicBezTo>
                  <a:pt x="86" y="91"/>
                  <a:pt x="0" y="176"/>
                  <a:pt x="0" y="282"/>
                </a:cubicBezTo>
                <a:cubicBezTo>
                  <a:pt x="0" y="388"/>
                  <a:pt x="86" y="474"/>
                  <a:pt x="192" y="474"/>
                </a:cubicBezTo>
                <a:cubicBezTo>
                  <a:pt x="297" y="474"/>
                  <a:pt x="383" y="388"/>
                  <a:pt x="383" y="282"/>
                </a:cubicBezTo>
                <a:cubicBezTo>
                  <a:pt x="474" y="282"/>
                  <a:pt x="474" y="282"/>
                  <a:pt x="474" y="282"/>
                </a:cubicBezTo>
                <a:cubicBezTo>
                  <a:pt x="474" y="0"/>
                  <a:pt x="474" y="0"/>
                  <a:pt x="474" y="0"/>
                </a:cubicBezTo>
                <a:lnTo>
                  <a:pt x="19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16" name="標題 1">
            <a:extLst>
              <a:ext uri="{FF2B5EF4-FFF2-40B4-BE49-F238E27FC236}">
                <a16:creationId xmlns:a16="http://schemas.microsoft.com/office/drawing/2014/main" xmlns="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5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 smtClean="0"/>
              <a:t>Break Page Title</a:t>
            </a:r>
            <a:br>
              <a:rPr lang="en-US" dirty="0" smtClean="0"/>
            </a:br>
            <a:r>
              <a:rPr lang="en-US" dirty="0" smtClean="0"/>
              <a:t>Mabry Pro-Medium + </a:t>
            </a:r>
            <a:br>
              <a:rPr lang="en-US" dirty="0" smtClean="0"/>
            </a:br>
            <a:r>
              <a:rPr lang="en-US" dirty="0" err="1" smtClean="0"/>
              <a:t>Noto</a:t>
            </a:r>
            <a:r>
              <a:rPr lang="en-US" dirty="0" smtClean="0"/>
              <a:t> Sans TC Medium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026333" y="4560331"/>
            <a:ext cx="842400" cy="297755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123737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12"/>
          <p:cNvSpPr>
            <a:spLocks/>
          </p:cNvSpPr>
          <p:nvPr/>
        </p:nvSpPr>
        <p:spPr bwMode="auto">
          <a:xfrm>
            <a:off x="4013200" y="-1577551"/>
            <a:ext cx="5372379" cy="5898053"/>
          </a:xfrm>
          <a:custGeom>
            <a:avLst/>
            <a:gdLst>
              <a:gd name="T0" fmla="*/ 359 w 432"/>
              <a:gd name="T1" fmla="*/ 220 h 474"/>
              <a:gd name="T2" fmla="*/ 389 w 432"/>
              <a:gd name="T3" fmla="*/ 168 h 474"/>
              <a:gd name="T4" fmla="*/ 292 w 432"/>
              <a:gd name="T5" fmla="*/ 0 h 474"/>
              <a:gd name="T6" fmla="*/ 97 w 432"/>
              <a:gd name="T7" fmla="*/ 0 h 474"/>
              <a:gd name="T8" fmla="*/ 0 w 432"/>
              <a:gd name="T9" fmla="*/ 168 h 474"/>
              <a:gd name="T10" fmla="*/ 97 w 432"/>
              <a:gd name="T11" fmla="*/ 337 h 474"/>
              <a:gd name="T12" fmla="*/ 163 w 432"/>
              <a:gd name="T13" fmla="*/ 337 h 474"/>
              <a:gd name="T14" fmla="*/ 163 w 432"/>
              <a:gd name="T15" fmla="*/ 340 h 474"/>
              <a:gd name="T16" fmla="*/ 297 w 432"/>
              <a:gd name="T17" fmla="*/ 474 h 474"/>
              <a:gd name="T18" fmla="*/ 432 w 432"/>
              <a:gd name="T19" fmla="*/ 340 h 474"/>
              <a:gd name="T20" fmla="*/ 359 w 432"/>
              <a:gd name="T21" fmla="*/ 22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32" h="474">
                <a:moveTo>
                  <a:pt x="359" y="220"/>
                </a:moveTo>
                <a:cubicBezTo>
                  <a:pt x="389" y="168"/>
                  <a:pt x="389" y="168"/>
                  <a:pt x="389" y="168"/>
                </a:cubicBezTo>
                <a:cubicBezTo>
                  <a:pt x="292" y="0"/>
                  <a:pt x="292" y="0"/>
                  <a:pt x="292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0" y="168"/>
                  <a:pt x="0" y="168"/>
                  <a:pt x="0" y="168"/>
                </a:cubicBezTo>
                <a:cubicBezTo>
                  <a:pt x="97" y="337"/>
                  <a:pt x="97" y="337"/>
                  <a:pt x="97" y="337"/>
                </a:cubicBezTo>
                <a:cubicBezTo>
                  <a:pt x="163" y="337"/>
                  <a:pt x="163" y="337"/>
                  <a:pt x="163" y="337"/>
                </a:cubicBezTo>
                <a:cubicBezTo>
                  <a:pt x="163" y="338"/>
                  <a:pt x="163" y="339"/>
                  <a:pt x="163" y="340"/>
                </a:cubicBezTo>
                <a:cubicBezTo>
                  <a:pt x="163" y="414"/>
                  <a:pt x="223" y="474"/>
                  <a:pt x="297" y="474"/>
                </a:cubicBezTo>
                <a:cubicBezTo>
                  <a:pt x="372" y="474"/>
                  <a:pt x="432" y="414"/>
                  <a:pt x="432" y="340"/>
                </a:cubicBezTo>
                <a:cubicBezTo>
                  <a:pt x="432" y="288"/>
                  <a:pt x="402" y="243"/>
                  <a:pt x="359" y="2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0593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xmlns="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5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Break Page Title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br>
              <a:rPr lang="en-US" altLang="zh-TW" dirty="0" smtClean="0"/>
            </a:b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</a:t>
            </a:r>
            <a:endParaRPr lang="en-US" dirty="0"/>
          </a:p>
        </p:txBody>
      </p:sp>
      <p:sp>
        <p:nvSpPr>
          <p:cNvPr id="7" name="Freeform 5"/>
          <p:cNvSpPr>
            <a:spLocks noChangeAspect="1" noEditPoints="1"/>
          </p:cNvSpPr>
          <p:nvPr/>
        </p:nvSpPr>
        <p:spPr bwMode="auto">
          <a:xfrm>
            <a:off x="8026333" y="4560331"/>
            <a:ext cx="842400" cy="297755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135816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Page_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0593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14" name="Freeform 13"/>
          <p:cNvSpPr>
            <a:spLocks/>
          </p:cNvSpPr>
          <p:nvPr/>
        </p:nvSpPr>
        <p:spPr bwMode="auto">
          <a:xfrm rot="10800000" flipV="1">
            <a:off x="3834892" y="-1248032"/>
            <a:ext cx="5901384" cy="6141804"/>
          </a:xfrm>
          <a:custGeom>
            <a:avLst/>
            <a:gdLst>
              <a:gd name="T0" fmla="*/ 492 w 525"/>
              <a:gd name="T1" fmla="*/ 236 h 546"/>
              <a:gd name="T2" fmla="*/ 492 w 525"/>
              <a:gd name="T3" fmla="*/ 236 h 546"/>
              <a:gd name="T4" fmla="*/ 393 w 525"/>
              <a:gd name="T5" fmla="*/ 176 h 546"/>
              <a:gd name="T6" fmla="*/ 393 w 525"/>
              <a:gd name="T7" fmla="*/ 0 h 546"/>
              <a:gd name="T8" fmla="*/ 0 w 525"/>
              <a:gd name="T9" fmla="*/ 0 h 546"/>
              <a:gd name="T10" fmla="*/ 0 w 525"/>
              <a:gd name="T11" fmla="*/ 294 h 546"/>
              <a:gd name="T12" fmla="*/ 148 w 525"/>
              <a:gd name="T13" fmla="*/ 294 h 546"/>
              <a:gd name="T14" fmla="*/ 77 w 525"/>
              <a:gd name="T15" fmla="*/ 335 h 546"/>
              <a:gd name="T16" fmla="*/ 198 w 525"/>
              <a:gd name="T17" fmla="*/ 546 h 546"/>
              <a:gd name="T18" fmla="*/ 447 w 525"/>
              <a:gd name="T19" fmla="*/ 402 h 546"/>
              <a:gd name="T20" fmla="*/ 492 w 525"/>
              <a:gd name="T21" fmla="*/ 236 h 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25" h="546">
                <a:moveTo>
                  <a:pt x="492" y="236"/>
                </a:moveTo>
                <a:cubicBezTo>
                  <a:pt x="492" y="236"/>
                  <a:pt x="492" y="236"/>
                  <a:pt x="492" y="236"/>
                </a:cubicBezTo>
                <a:cubicBezTo>
                  <a:pt x="470" y="199"/>
                  <a:pt x="433" y="178"/>
                  <a:pt x="393" y="176"/>
                </a:cubicBezTo>
                <a:cubicBezTo>
                  <a:pt x="393" y="0"/>
                  <a:pt x="393" y="0"/>
                  <a:pt x="39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94"/>
                  <a:pt x="0" y="294"/>
                  <a:pt x="0" y="294"/>
                </a:cubicBezTo>
                <a:cubicBezTo>
                  <a:pt x="148" y="294"/>
                  <a:pt x="148" y="294"/>
                  <a:pt x="148" y="294"/>
                </a:cubicBezTo>
                <a:cubicBezTo>
                  <a:pt x="77" y="335"/>
                  <a:pt x="77" y="335"/>
                  <a:pt x="77" y="335"/>
                </a:cubicBezTo>
                <a:cubicBezTo>
                  <a:pt x="198" y="546"/>
                  <a:pt x="198" y="546"/>
                  <a:pt x="198" y="546"/>
                </a:cubicBezTo>
                <a:cubicBezTo>
                  <a:pt x="447" y="402"/>
                  <a:pt x="447" y="402"/>
                  <a:pt x="447" y="402"/>
                </a:cubicBezTo>
                <a:cubicBezTo>
                  <a:pt x="505" y="369"/>
                  <a:pt x="525" y="294"/>
                  <a:pt x="492" y="23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xmlns="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5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 smtClean="0"/>
              <a:t>Break Page Title</a:t>
            </a:r>
            <a:br>
              <a:rPr lang="en-US" dirty="0" smtClean="0"/>
            </a:br>
            <a:r>
              <a:rPr lang="en-US" dirty="0" smtClean="0"/>
              <a:t>Mabry Pro-Medium + </a:t>
            </a:r>
            <a:br>
              <a:rPr lang="en-US" dirty="0" smtClean="0"/>
            </a:br>
            <a:r>
              <a:rPr lang="en-US" dirty="0" err="1" smtClean="0"/>
              <a:t>Noto</a:t>
            </a:r>
            <a:r>
              <a:rPr lang="en-US" dirty="0" smtClean="0"/>
              <a:t> Sans TC Medium</a:t>
            </a:r>
            <a:endParaRPr lang="en-US" dirty="0"/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026333" y="4560331"/>
            <a:ext cx="842400" cy="297755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31144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 Page with T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496B6DBE-9812-4B02-815E-036A649150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1422" y="-55084"/>
            <a:ext cx="1759697" cy="1768293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9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9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433096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1422" y="-55084"/>
            <a:ext cx="1759697" cy="1768293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3750103637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pic>
        <p:nvPicPr>
          <p:cNvPr id="15" name="圖片 14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14237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52745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70340" y="1132758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70340" y="3470131"/>
            <a:ext cx="2952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2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70340" y="3921872"/>
            <a:ext cx="2952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  <p:sp>
        <p:nvSpPr>
          <p:cNvPr id="39" name="圖片版面配置區 2"/>
          <p:cNvSpPr>
            <a:spLocks noGrp="1"/>
          </p:cNvSpPr>
          <p:nvPr>
            <p:ph type="pic" sz="quarter" idx="17"/>
          </p:nvPr>
        </p:nvSpPr>
        <p:spPr>
          <a:xfrm>
            <a:off x="3096830" y="1132758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0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3096830" y="3470131"/>
            <a:ext cx="2952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2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41" name="文字版面配置區 4"/>
          <p:cNvSpPr>
            <a:spLocks noGrp="1"/>
          </p:cNvSpPr>
          <p:nvPr>
            <p:ph type="body" sz="quarter" idx="19" hasCustomPrompt="1"/>
          </p:nvPr>
        </p:nvSpPr>
        <p:spPr>
          <a:xfrm>
            <a:off x="3096830" y="3921872"/>
            <a:ext cx="2952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45" name="圖片版面配置區 2"/>
          <p:cNvSpPr>
            <a:spLocks noGrp="1"/>
          </p:cNvSpPr>
          <p:nvPr>
            <p:ph type="pic" sz="quarter" idx="20"/>
          </p:nvPr>
        </p:nvSpPr>
        <p:spPr>
          <a:xfrm>
            <a:off x="6123320" y="1132758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6" name="文字版面配置區 4"/>
          <p:cNvSpPr>
            <a:spLocks noGrp="1"/>
          </p:cNvSpPr>
          <p:nvPr>
            <p:ph type="body" sz="quarter" idx="21" hasCustomPrompt="1"/>
          </p:nvPr>
        </p:nvSpPr>
        <p:spPr>
          <a:xfrm>
            <a:off x="6123320" y="3470131"/>
            <a:ext cx="2952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2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47" name="文字版面配置區 4"/>
          <p:cNvSpPr>
            <a:spLocks noGrp="1"/>
          </p:cNvSpPr>
          <p:nvPr>
            <p:ph type="body" sz="quarter" idx="22" hasCustomPrompt="1"/>
          </p:nvPr>
        </p:nvSpPr>
        <p:spPr>
          <a:xfrm>
            <a:off x="6123320" y="3921872"/>
            <a:ext cx="2952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903708456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52745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70340" y="1132758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70340" y="3470131"/>
            <a:ext cx="2952000" cy="424447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70340" y="3921872"/>
            <a:ext cx="2952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  <p:sp>
        <p:nvSpPr>
          <p:cNvPr id="39" name="圖片版面配置區 2"/>
          <p:cNvSpPr>
            <a:spLocks noGrp="1"/>
          </p:cNvSpPr>
          <p:nvPr>
            <p:ph type="pic" sz="quarter" idx="17"/>
          </p:nvPr>
        </p:nvSpPr>
        <p:spPr>
          <a:xfrm>
            <a:off x="3096830" y="1132758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0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3096830" y="3470131"/>
            <a:ext cx="2952000" cy="424447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41" name="文字版面配置區 4"/>
          <p:cNvSpPr>
            <a:spLocks noGrp="1"/>
          </p:cNvSpPr>
          <p:nvPr>
            <p:ph type="body" sz="quarter" idx="19" hasCustomPrompt="1"/>
          </p:nvPr>
        </p:nvSpPr>
        <p:spPr>
          <a:xfrm>
            <a:off x="3096830" y="3921872"/>
            <a:ext cx="2952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45" name="圖片版面配置區 2"/>
          <p:cNvSpPr>
            <a:spLocks noGrp="1"/>
          </p:cNvSpPr>
          <p:nvPr>
            <p:ph type="pic" sz="quarter" idx="20"/>
          </p:nvPr>
        </p:nvSpPr>
        <p:spPr>
          <a:xfrm>
            <a:off x="6123320" y="1132758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6" name="文字版面配置區 4"/>
          <p:cNvSpPr>
            <a:spLocks noGrp="1"/>
          </p:cNvSpPr>
          <p:nvPr>
            <p:ph type="body" sz="quarter" idx="21" hasCustomPrompt="1"/>
          </p:nvPr>
        </p:nvSpPr>
        <p:spPr>
          <a:xfrm>
            <a:off x="6123320" y="3470131"/>
            <a:ext cx="2952000" cy="424447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47" name="文字版面配置區 4"/>
          <p:cNvSpPr>
            <a:spLocks noGrp="1"/>
          </p:cNvSpPr>
          <p:nvPr>
            <p:ph type="body" sz="quarter" idx="22" hasCustomPrompt="1"/>
          </p:nvPr>
        </p:nvSpPr>
        <p:spPr>
          <a:xfrm>
            <a:off x="6123320" y="3921872"/>
            <a:ext cx="2952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74850287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686927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380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" y="2633750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  <p:sp>
        <p:nvSpPr>
          <p:cNvPr id="39" name="圖片版面配置區 2"/>
          <p:cNvSpPr>
            <a:spLocks noGrp="1"/>
          </p:cNvSpPr>
          <p:nvPr>
            <p:ph type="pic" sz="quarter" idx="17"/>
          </p:nvPr>
        </p:nvSpPr>
        <p:spPr>
          <a:xfrm>
            <a:off x="23166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0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2316699" y="2633750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45" name="圖片版面配置區 2"/>
          <p:cNvSpPr>
            <a:spLocks noGrp="1"/>
          </p:cNvSpPr>
          <p:nvPr>
            <p:ph type="pic" sz="quarter" idx="20"/>
          </p:nvPr>
        </p:nvSpPr>
        <p:spPr>
          <a:xfrm>
            <a:off x="4595299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6" name="文字版面配置區 4"/>
          <p:cNvSpPr>
            <a:spLocks noGrp="1"/>
          </p:cNvSpPr>
          <p:nvPr>
            <p:ph type="body" sz="quarter" idx="21" hasCustomPrompt="1"/>
          </p:nvPr>
        </p:nvSpPr>
        <p:spPr>
          <a:xfrm>
            <a:off x="4595299" y="2633750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18" name="圖片版面配置區 2"/>
          <p:cNvSpPr>
            <a:spLocks noGrp="1"/>
          </p:cNvSpPr>
          <p:nvPr>
            <p:ph type="pic" sz="quarter" idx="22"/>
          </p:nvPr>
        </p:nvSpPr>
        <p:spPr>
          <a:xfrm>
            <a:off x="6873900" y="1018458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23" hasCustomPrompt="1"/>
          </p:nvPr>
        </p:nvSpPr>
        <p:spPr>
          <a:xfrm>
            <a:off x="6873900" y="2633750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0" name="圖片版面配置區 2"/>
          <p:cNvSpPr>
            <a:spLocks noGrp="1"/>
          </p:cNvSpPr>
          <p:nvPr>
            <p:ph type="pic" sz="quarter" idx="24"/>
          </p:nvPr>
        </p:nvSpPr>
        <p:spPr>
          <a:xfrm>
            <a:off x="380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文字版面配置區 4"/>
          <p:cNvSpPr>
            <a:spLocks noGrp="1"/>
          </p:cNvSpPr>
          <p:nvPr>
            <p:ph type="body" sz="quarter" idx="25" hasCustomPrompt="1"/>
          </p:nvPr>
        </p:nvSpPr>
        <p:spPr>
          <a:xfrm>
            <a:off x="38099" y="4612616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4" name="圖片版面配置區 2"/>
          <p:cNvSpPr>
            <a:spLocks noGrp="1"/>
          </p:cNvSpPr>
          <p:nvPr>
            <p:ph type="pic" sz="quarter" idx="26"/>
          </p:nvPr>
        </p:nvSpPr>
        <p:spPr>
          <a:xfrm>
            <a:off x="23166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5" name="文字版面配置區 4"/>
          <p:cNvSpPr>
            <a:spLocks noGrp="1"/>
          </p:cNvSpPr>
          <p:nvPr>
            <p:ph type="body" sz="quarter" idx="27" hasCustomPrompt="1"/>
          </p:nvPr>
        </p:nvSpPr>
        <p:spPr>
          <a:xfrm>
            <a:off x="2316699" y="4612616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6" name="圖片版面配置區 2"/>
          <p:cNvSpPr>
            <a:spLocks noGrp="1"/>
          </p:cNvSpPr>
          <p:nvPr>
            <p:ph type="pic" sz="quarter" idx="28"/>
          </p:nvPr>
        </p:nvSpPr>
        <p:spPr>
          <a:xfrm>
            <a:off x="4595299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7" name="文字版面配置區 4"/>
          <p:cNvSpPr>
            <a:spLocks noGrp="1"/>
          </p:cNvSpPr>
          <p:nvPr>
            <p:ph type="body" sz="quarter" idx="29" hasCustomPrompt="1"/>
          </p:nvPr>
        </p:nvSpPr>
        <p:spPr>
          <a:xfrm>
            <a:off x="4595299" y="4612616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8" name="圖片版面配置區 2"/>
          <p:cNvSpPr>
            <a:spLocks noGrp="1"/>
          </p:cNvSpPr>
          <p:nvPr>
            <p:ph type="pic" sz="quarter" idx="30"/>
          </p:nvPr>
        </p:nvSpPr>
        <p:spPr>
          <a:xfrm>
            <a:off x="6873900" y="2997324"/>
            <a:ext cx="2232000" cy="1618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9" name="文字版面配置區 4"/>
          <p:cNvSpPr>
            <a:spLocks noGrp="1"/>
          </p:cNvSpPr>
          <p:nvPr>
            <p:ph type="body" sz="quarter" idx="31" hasCustomPrompt="1"/>
          </p:nvPr>
        </p:nvSpPr>
        <p:spPr>
          <a:xfrm>
            <a:off x="6873900" y="4612616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24127970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779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686927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38099" y="1018458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38099" y="2633750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  <p:sp>
        <p:nvSpPr>
          <p:cNvPr id="39" name="圖片版面配置區 2"/>
          <p:cNvSpPr>
            <a:spLocks noGrp="1"/>
          </p:cNvSpPr>
          <p:nvPr>
            <p:ph type="pic" sz="quarter" idx="17"/>
          </p:nvPr>
        </p:nvSpPr>
        <p:spPr>
          <a:xfrm>
            <a:off x="2316699" y="1018458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0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2316699" y="2633750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45" name="圖片版面配置區 2"/>
          <p:cNvSpPr>
            <a:spLocks noGrp="1"/>
          </p:cNvSpPr>
          <p:nvPr>
            <p:ph type="pic" sz="quarter" idx="20"/>
          </p:nvPr>
        </p:nvSpPr>
        <p:spPr>
          <a:xfrm>
            <a:off x="4595299" y="1018458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6" name="文字版面配置區 4"/>
          <p:cNvSpPr>
            <a:spLocks noGrp="1"/>
          </p:cNvSpPr>
          <p:nvPr>
            <p:ph type="body" sz="quarter" idx="21" hasCustomPrompt="1"/>
          </p:nvPr>
        </p:nvSpPr>
        <p:spPr>
          <a:xfrm>
            <a:off x="4595299" y="2633750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18" name="圖片版面配置區 2"/>
          <p:cNvSpPr>
            <a:spLocks noGrp="1"/>
          </p:cNvSpPr>
          <p:nvPr>
            <p:ph type="pic" sz="quarter" idx="22"/>
          </p:nvPr>
        </p:nvSpPr>
        <p:spPr>
          <a:xfrm>
            <a:off x="6873900" y="1018458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23" hasCustomPrompt="1"/>
          </p:nvPr>
        </p:nvSpPr>
        <p:spPr>
          <a:xfrm>
            <a:off x="6873900" y="2633750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0" name="圖片版面配置區 2"/>
          <p:cNvSpPr>
            <a:spLocks noGrp="1"/>
          </p:cNvSpPr>
          <p:nvPr>
            <p:ph type="pic" sz="quarter" idx="24"/>
          </p:nvPr>
        </p:nvSpPr>
        <p:spPr>
          <a:xfrm>
            <a:off x="38099" y="2997324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文字版面配置區 4"/>
          <p:cNvSpPr>
            <a:spLocks noGrp="1"/>
          </p:cNvSpPr>
          <p:nvPr>
            <p:ph type="body" sz="quarter" idx="25" hasCustomPrompt="1"/>
          </p:nvPr>
        </p:nvSpPr>
        <p:spPr>
          <a:xfrm>
            <a:off x="38099" y="4612616"/>
            <a:ext cx="2232000" cy="31809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4" name="圖片版面配置區 2"/>
          <p:cNvSpPr>
            <a:spLocks noGrp="1"/>
          </p:cNvSpPr>
          <p:nvPr>
            <p:ph type="pic" sz="quarter" idx="26"/>
          </p:nvPr>
        </p:nvSpPr>
        <p:spPr>
          <a:xfrm>
            <a:off x="2316699" y="2997324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5" name="文字版面配置區 4"/>
          <p:cNvSpPr>
            <a:spLocks noGrp="1"/>
          </p:cNvSpPr>
          <p:nvPr>
            <p:ph type="body" sz="quarter" idx="27" hasCustomPrompt="1"/>
          </p:nvPr>
        </p:nvSpPr>
        <p:spPr>
          <a:xfrm>
            <a:off x="2316699" y="4612616"/>
            <a:ext cx="2232000" cy="31809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6" name="圖片版面配置區 2"/>
          <p:cNvSpPr>
            <a:spLocks noGrp="1"/>
          </p:cNvSpPr>
          <p:nvPr>
            <p:ph type="pic" sz="quarter" idx="28"/>
          </p:nvPr>
        </p:nvSpPr>
        <p:spPr>
          <a:xfrm>
            <a:off x="4595299" y="2997324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7" name="文字版面配置區 4"/>
          <p:cNvSpPr>
            <a:spLocks noGrp="1"/>
          </p:cNvSpPr>
          <p:nvPr>
            <p:ph type="body" sz="quarter" idx="29" hasCustomPrompt="1"/>
          </p:nvPr>
        </p:nvSpPr>
        <p:spPr>
          <a:xfrm>
            <a:off x="4595299" y="4612616"/>
            <a:ext cx="2232000" cy="31809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  <p:sp>
        <p:nvSpPr>
          <p:cNvPr id="28" name="圖片版面配置區 2"/>
          <p:cNvSpPr>
            <a:spLocks noGrp="1"/>
          </p:cNvSpPr>
          <p:nvPr>
            <p:ph type="pic" sz="quarter" idx="30"/>
          </p:nvPr>
        </p:nvSpPr>
        <p:spPr>
          <a:xfrm>
            <a:off x="6873900" y="2997324"/>
            <a:ext cx="2232000" cy="1618798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9" name="文字版面配置區 4"/>
          <p:cNvSpPr>
            <a:spLocks noGrp="1"/>
          </p:cNvSpPr>
          <p:nvPr>
            <p:ph type="body" sz="quarter" idx="31" hasCustomPrompt="1"/>
          </p:nvPr>
        </p:nvSpPr>
        <p:spPr>
          <a:xfrm>
            <a:off x="6873900" y="4612616"/>
            <a:ext cx="2232000" cy="318099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39376746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3026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65009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70340" y="1115173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70340" y="3308168"/>
            <a:ext cx="2952000" cy="424447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70340" y="3743866"/>
            <a:ext cx="2952000" cy="87626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  <p:sp>
        <p:nvSpPr>
          <p:cNvPr id="39" name="圖片版面配置區 2"/>
          <p:cNvSpPr>
            <a:spLocks noGrp="1"/>
          </p:cNvSpPr>
          <p:nvPr>
            <p:ph type="pic" sz="quarter" idx="17"/>
          </p:nvPr>
        </p:nvSpPr>
        <p:spPr>
          <a:xfrm>
            <a:off x="3096830" y="1115173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0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3096830" y="3308168"/>
            <a:ext cx="2952000" cy="424447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41" name="文字版面配置區 4"/>
          <p:cNvSpPr>
            <a:spLocks noGrp="1"/>
          </p:cNvSpPr>
          <p:nvPr>
            <p:ph type="body" sz="quarter" idx="19" hasCustomPrompt="1"/>
          </p:nvPr>
        </p:nvSpPr>
        <p:spPr>
          <a:xfrm>
            <a:off x="3096830" y="3743866"/>
            <a:ext cx="2952000" cy="87626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45" name="圖片版面配置區 2"/>
          <p:cNvSpPr>
            <a:spLocks noGrp="1"/>
          </p:cNvSpPr>
          <p:nvPr>
            <p:ph type="pic" sz="quarter" idx="20"/>
          </p:nvPr>
        </p:nvSpPr>
        <p:spPr>
          <a:xfrm>
            <a:off x="6123320" y="1115173"/>
            <a:ext cx="2952000" cy="2160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6" name="文字版面配置區 4"/>
          <p:cNvSpPr>
            <a:spLocks noGrp="1"/>
          </p:cNvSpPr>
          <p:nvPr>
            <p:ph type="body" sz="quarter" idx="21" hasCustomPrompt="1"/>
          </p:nvPr>
        </p:nvSpPr>
        <p:spPr>
          <a:xfrm>
            <a:off x="6123320" y="3308168"/>
            <a:ext cx="2952000" cy="424447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47" name="文字版面配置區 4"/>
          <p:cNvSpPr>
            <a:spLocks noGrp="1"/>
          </p:cNvSpPr>
          <p:nvPr>
            <p:ph type="body" sz="quarter" idx="22" hasCustomPrompt="1"/>
          </p:nvPr>
        </p:nvSpPr>
        <p:spPr>
          <a:xfrm>
            <a:off x="6123320" y="3743866"/>
            <a:ext cx="2952000" cy="87626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035247570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0515" y="2308025"/>
            <a:ext cx="8482972" cy="527451"/>
          </a:xfrm>
          <a:ln>
            <a:noFill/>
          </a:ln>
        </p:spPr>
        <p:txBody>
          <a:bodyPr anchor="t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1889117" y="554543"/>
            <a:ext cx="1415303" cy="1415303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 dirty="0"/>
          </a:p>
        </p:txBody>
      </p:sp>
      <p:sp>
        <p:nvSpPr>
          <p:cNvPr id="13" name="圖片版面配置區 2"/>
          <p:cNvSpPr>
            <a:spLocks noGrp="1"/>
          </p:cNvSpPr>
          <p:nvPr>
            <p:ph type="pic" sz="quarter" idx="11"/>
          </p:nvPr>
        </p:nvSpPr>
        <p:spPr>
          <a:xfrm>
            <a:off x="2358538" y="3394478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4" name="圖片版面配置區 2"/>
          <p:cNvSpPr>
            <a:spLocks noGrp="1"/>
          </p:cNvSpPr>
          <p:nvPr>
            <p:ph type="pic" sz="quarter" idx="12"/>
          </p:nvPr>
        </p:nvSpPr>
        <p:spPr>
          <a:xfrm>
            <a:off x="4127220" y="-747701"/>
            <a:ext cx="2717546" cy="2717546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  <a:ln>
            <a:noFill/>
          </a:ln>
        </p:spPr>
      </p:pic>
      <p:sp>
        <p:nvSpPr>
          <p:cNvPr id="20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5567316" y="3232255"/>
            <a:ext cx="1700839" cy="1700839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圖片版面配置區 2"/>
          <p:cNvSpPr>
            <a:spLocks noGrp="1"/>
          </p:cNvSpPr>
          <p:nvPr>
            <p:ph type="pic" sz="quarter" idx="14"/>
          </p:nvPr>
        </p:nvSpPr>
        <p:spPr>
          <a:xfrm>
            <a:off x="7286656" y="1258502"/>
            <a:ext cx="2381733" cy="2381733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6" name="圖片版面配置區 2"/>
          <p:cNvSpPr>
            <a:spLocks noGrp="1"/>
          </p:cNvSpPr>
          <p:nvPr>
            <p:ph type="pic" sz="quarter" idx="15"/>
          </p:nvPr>
        </p:nvSpPr>
        <p:spPr>
          <a:xfrm>
            <a:off x="-230298" y="1855793"/>
            <a:ext cx="2293907" cy="2293907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908164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0515" y="2308025"/>
            <a:ext cx="8482972" cy="527451"/>
          </a:xfrm>
          <a:ln>
            <a:noFill/>
          </a:ln>
        </p:spPr>
        <p:txBody>
          <a:bodyPr anchor="t">
            <a:normAutofit/>
          </a:bodyPr>
          <a:lstStyle>
            <a:lvl1pPr algn="ctr">
              <a:defRPr sz="28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  <a:ln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1889117" y="554543"/>
            <a:ext cx="1415303" cy="1415303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3" name="圖片版面配置區 2"/>
          <p:cNvSpPr>
            <a:spLocks noGrp="1"/>
          </p:cNvSpPr>
          <p:nvPr>
            <p:ph type="pic" sz="quarter" idx="11"/>
          </p:nvPr>
        </p:nvSpPr>
        <p:spPr>
          <a:xfrm>
            <a:off x="2358538" y="3394478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4" name="圖片版面配置區 2"/>
          <p:cNvSpPr>
            <a:spLocks noGrp="1"/>
          </p:cNvSpPr>
          <p:nvPr>
            <p:ph type="pic" sz="quarter" idx="12"/>
          </p:nvPr>
        </p:nvSpPr>
        <p:spPr>
          <a:xfrm>
            <a:off x="4127220" y="-747701"/>
            <a:ext cx="2717546" cy="2717546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  <a:ln>
            <a:noFill/>
          </a:ln>
        </p:spPr>
      </p:pic>
      <p:sp>
        <p:nvSpPr>
          <p:cNvPr id="20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5567316" y="3232255"/>
            <a:ext cx="1700839" cy="1700839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2" name="圖片版面配置區 2"/>
          <p:cNvSpPr>
            <a:spLocks noGrp="1"/>
          </p:cNvSpPr>
          <p:nvPr>
            <p:ph type="pic" sz="quarter" idx="14"/>
          </p:nvPr>
        </p:nvSpPr>
        <p:spPr>
          <a:xfrm>
            <a:off x="7286656" y="1258502"/>
            <a:ext cx="2381733" cy="2381733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26" name="圖片版面配置區 2"/>
          <p:cNvSpPr>
            <a:spLocks noGrp="1"/>
          </p:cNvSpPr>
          <p:nvPr>
            <p:ph type="pic" sz="quarter" idx="15"/>
          </p:nvPr>
        </p:nvSpPr>
        <p:spPr>
          <a:xfrm>
            <a:off x="-230298" y="1855793"/>
            <a:ext cx="2293907" cy="2293907"/>
          </a:xfrm>
          <a:prstGeom prst="ellipse">
            <a:avLst/>
          </a:prstGeom>
          <a:solidFill>
            <a:schemeClr val="bg1"/>
          </a:solidFill>
          <a:ln w="57150">
            <a:noFill/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2129921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52745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/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/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>
              <a:solidFill>
                <a:schemeClr val="bg1"/>
              </a:solidFill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984471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3" name="圖片版面配置區 2"/>
          <p:cNvSpPr>
            <a:spLocks noGrp="1"/>
          </p:cNvSpPr>
          <p:nvPr>
            <p:ph type="pic" sz="quarter" idx="11"/>
          </p:nvPr>
        </p:nvSpPr>
        <p:spPr>
          <a:xfrm>
            <a:off x="3492205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4" name="圖片版面配置區 2"/>
          <p:cNvSpPr>
            <a:spLocks noGrp="1"/>
          </p:cNvSpPr>
          <p:nvPr>
            <p:ph type="pic" sz="quarter" idx="12"/>
          </p:nvPr>
        </p:nvSpPr>
        <p:spPr>
          <a:xfrm>
            <a:off x="5999939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984471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14" hasCustomPrompt="1"/>
          </p:nvPr>
        </p:nvSpPr>
        <p:spPr>
          <a:xfrm>
            <a:off x="3492205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16" name="文字版面配置區 4"/>
          <p:cNvSpPr>
            <a:spLocks noGrp="1"/>
          </p:cNvSpPr>
          <p:nvPr>
            <p:ph type="body" sz="quarter" idx="15" hasCustomPrompt="1"/>
          </p:nvPr>
        </p:nvSpPr>
        <p:spPr>
          <a:xfrm>
            <a:off x="6078168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984471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8" name="文字版面配置區 4"/>
          <p:cNvSpPr>
            <a:spLocks noGrp="1"/>
          </p:cNvSpPr>
          <p:nvPr>
            <p:ph type="body" sz="quarter" idx="17" hasCustomPrompt="1"/>
          </p:nvPr>
        </p:nvSpPr>
        <p:spPr>
          <a:xfrm>
            <a:off x="3492205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6078168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bg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39767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1"/>
            <a:ext cx="9144000" cy="51627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569014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984471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 dirty="0"/>
          </a:p>
        </p:txBody>
      </p:sp>
      <p:sp>
        <p:nvSpPr>
          <p:cNvPr id="13" name="圖片版面配置區 2"/>
          <p:cNvSpPr>
            <a:spLocks noGrp="1"/>
          </p:cNvSpPr>
          <p:nvPr>
            <p:ph type="pic" sz="quarter" idx="11"/>
          </p:nvPr>
        </p:nvSpPr>
        <p:spPr>
          <a:xfrm>
            <a:off x="3492205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4" name="圖片版面配置區 2"/>
          <p:cNvSpPr>
            <a:spLocks noGrp="1"/>
          </p:cNvSpPr>
          <p:nvPr>
            <p:ph type="pic" sz="quarter" idx="12"/>
          </p:nvPr>
        </p:nvSpPr>
        <p:spPr>
          <a:xfrm>
            <a:off x="5999939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984471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14" hasCustomPrompt="1"/>
          </p:nvPr>
        </p:nvSpPr>
        <p:spPr>
          <a:xfrm>
            <a:off x="3492205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16" name="文字版面配置區 4"/>
          <p:cNvSpPr>
            <a:spLocks noGrp="1"/>
          </p:cNvSpPr>
          <p:nvPr>
            <p:ph type="body" sz="quarter" idx="15" hasCustomPrompt="1"/>
          </p:nvPr>
        </p:nvSpPr>
        <p:spPr>
          <a:xfrm>
            <a:off x="6078168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984471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8" name="文字版面配置區 4"/>
          <p:cNvSpPr>
            <a:spLocks noGrp="1"/>
          </p:cNvSpPr>
          <p:nvPr>
            <p:ph type="body" sz="quarter" idx="17" hasCustomPrompt="1"/>
          </p:nvPr>
        </p:nvSpPr>
        <p:spPr>
          <a:xfrm>
            <a:off x="3492205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6078168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95727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1"/>
            <a:ext cx="9144000" cy="51627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683936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984471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3" name="圖片版面配置區 2"/>
          <p:cNvSpPr>
            <a:spLocks noGrp="1"/>
          </p:cNvSpPr>
          <p:nvPr>
            <p:ph type="pic" sz="quarter" idx="11"/>
          </p:nvPr>
        </p:nvSpPr>
        <p:spPr>
          <a:xfrm>
            <a:off x="3492205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4" name="圖片版面配置區 2"/>
          <p:cNvSpPr>
            <a:spLocks noGrp="1"/>
          </p:cNvSpPr>
          <p:nvPr>
            <p:ph type="pic" sz="quarter" idx="12"/>
          </p:nvPr>
        </p:nvSpPr>
        <p:spPr>
          <a:xfrm>
            <a:off x="5999939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984471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14" hasCustomPrompt="1"/>
          </p:nvPr>
        </p:nvSpPr>
        <p:spPr>
          <a:xfrm>
            <a:off x="3492205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16" name="文字版面配置區 4"/>
          <p:cNvSpPr>
            <a:spLocks noGrp="1"/>
          </p:cNvSpPr>
          <p:nvPr>
            <p:ph type="body" sz="quarter" idx="15" hasCustomPrompt="1"/>
          </p:nvPr>
        </p:nvSpPr>
        <p:spPr>
          <a:xfrm>
            <a:off x="6078168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984471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8" name="文字版面配置區 4"/>
          <p:cNvSpPr>
            <a:spLocks noGrp="1"/>
          </p:cNvSpPr>
          <p:nvPr>
            <p:ph type="body" sz="quarter" idx="17" hasCustomPrompt="1"/>
          </p:nvPr>
        </p:nvSpPr>
        <p:spPr>
          <a:xfrm>
            <a:off x="3492205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6078168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71394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1"/>
            <a:ext cx="9144000" cy="51627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683936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984471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3" name="圖片版面配置區 2"/>
          <p:cNvSpPr>
            <a:spLocks noGrp="1"/>
          </p:cNvSpPr>
          <p:nvPr>
            <p:ph type="pic" sz="quarter" idx="11"/>
          </p:nvPr>
        </p:nvSpPr>
        <p:spPr>
          <a:xfrm>
            <a:off x="3492205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4" name="圖片版面配置區 2"/>
          <p:cNvSpPr>
            <a:spLocks noGrp="1"/>
          </p:cNvSpPr>
          <p:nvPr>
            <p:ph type="pic" sz="quarter" idx="12"/>
          </p:nvPr>
        </p:nvSpPr>
        <p:spPr>
          <a:xfrm>
            <a:off x="5999939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984471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14" hasCustomPrompt="1"/>
          </p:nvPr>
        </p:nvSpPr>
        <p:spPr>
          <a:xfrm>
            <a:off x="3492205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16" name="文字版面配置區 4"/>
          <p:cNvSpPr>
            <a:spLocks noGrp="1"/>
          </p:cNvSpPr>
          <p:nvPr>
            <p:ph type="body" sz="quarter" idx="15" hasCustomPrompt="1"/>
          </p:nvPr>
        </p:nvSpPr>
        <p:spPr>
          <a:xfrm>
            <a:off x="6078168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984471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8" name="文字版面配置區 4"/>
          <p:cNvSpPr>
            <a:spLocks noGrp="1"/>
          </p:cNvSpPr>
          <p:nvPr>
            <p:ph type="body" sz="quarter" idx="17" hasCustomPrompt="1"/>
          </p:nvPr>
        </p:nvSpPr>
        <p:spPr>
          <a:xfrm>
            <a:off x="3492205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6078168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8583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1"/>
            <a:ext cx="9144000" cy="516276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683936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0"/>
          </p:nvPr>
        </p:nvSpPr>
        <p:spPr>
          <a:xfrm>
            <a:off x="984471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3" name="圖片版面配置區 2"/>
          <p:cNvSpPr>
            <a:spLocks noGrp="1"/>
          </p:cNvSpPr>
          <p:nvPr>
            <p:ph type="pic" sz="quarter" idx="11"/>
          </p:nvPr>
        </p:nvSpPr>
        <p:spPr>
          <a:xfrm>
            <a:off x="3492205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14" name="圖片版面配置區 2"/>
          <p:cNvSpPr>
            <a:spLocks noGrp="1"/>
          </p:cNvSpPr>
          <p:nvPr>
            <p:ph type="pic" sz="quarter" idx="12"/>
          </p:nvPr>
        </p:nvSpPr>
        <p:spPr>
          <a:xfrm>
            <a:off x="5999939" y="1297563"/>
            <a:ext cx="2160000" cy="2160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3" hasCustomPrompt="1"/>
          </p:nvPr>
        </p:nvSpPr>
        <p:spPr>
          <a:xfrm>
            <a:off x="984471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01</a:t>
            </a:r>
          </a:p>
        </p:txBody>
      </p:sp>
      <p:sp>
        <p:nvSpPr>
          <p:cNvPr id="15" name="文字版面配置區 4"/>
          <p:cNvSpPr>
            <a:spLocks noGrp="1"/>
          </p:cNvSpPr>
          <p:nvPr>
            <p:ph type="body" sz="quarter" idx="14" hasCustomPrompt="1"/>
          </p:nvPr>
        </p:nvSpPr>
        <p:spPr>
          <a:xfrm>
            <a:off x="3492205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02</a:t>
            </a:r>
          </a:p>
        </p:txBody>
      </p:sp>
      <p:sp>
        <p:nvSpPr>
          <p:cNvPr id="16" name="文字版面配置區 4"/>
          <p:cNvSpPr>
            <a:spLocks noGrp="1"/>
          </p:cNvSpPr>
          <p:nvPr>
            <p:ph type="body" sz="quarter" idx="15" hasCustomPrompt="1"/>
          </p:nvPr>
        </p:nvSpPr>
        <p:spPr>
          <a:xfrm>
            <a:off x="6078168" y="3634936"/>
            <a:ext cx="2160000" cy="42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 baseline="0">
                <a:solidFill>
                  <a:schemeClr val="accent1"/>
                </a:solidFill>
                <a:latin typeface="+mj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Title 03</a:t>
            </a:r>
          </a:p>
        </p:txBody>
      </p:sp>
      <p:sp>
        <p:nvSpPr>
          <p:cNvPr id="17" name="文字版面配置區 4"/>
          <p:cNvSpPr>
            <a:spLocks noGrp="1"/>
          </p:cNvSpPr>
          <p:nvPr>
            <p:ph type="body" sz="quarter" idx="16" hasCustomPrompt="1"/>
          </p:nvPr>
        </p:nvSpPr>
        <p:spPr>
          <a:xfrm>
            <a:off x="984471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8" name="文字版面配置區 4"/>
          <p:cNvSpPr>
            <a:spLocks noGrp="1"/>
          </p:cNvSpPr>
          <p:nvPr>
            <p:ph type="body" sz="quarter" idx="17" hasCustomPrompt="1"/>
          </p:nvPr>
        </p:nvSpPr>
        <p:spPr>
          <a:xfrm>
            <a:off x="3492205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sp>
        <p:nvSpPr>
          <p:cNvPr id="19" name="文字版面配置區 4"/>
          <p:cNvSpPr>
            <a:spLocks noGrp="1"/>
          </p:cNvSpPr>
          <p:nvPr>
            <p:ph type="body" sz="quarter" idx="18" hasCustomPrompt="1"/>
          </p:nvPr>
        </p:nvSpPr>
        <p:spPr>
          <a:xfrm>
            <a:off x="6078168" y="4086677"/>
            <a:ext cx="2160000" cy="737445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aseline="0">
                <a:solidFill>
                  <a:schemeClr val="accent1"/>
                </a:solidFill>
                <a:latin typeface="+mn-lt"/>
              </a:defRPr>
            </a:lvl1pPr>
            <a:lvl2pPr marL="342892" indent="0">
              <a:buNone/>
              <a:defRPr sz="1000"/>
            </a:lvl2pPr>
            <a:lvl3pPr marL="685783" indent="0">
              <a:buNone/>
              <a:defRPr sz="1000"/>
            </a:lvl3pPr>
            <a:lvl4pPr marL="1028675" indent="0">
              <a:buNone/>
              <a:defRPr sz="1000"/>
            </a:lvl4pPr>
            <a:lvl5pPr marL="1371566" indent="0">
              <a:buNone/>
              <a:defRPr sz="1000"/>
            </a:lvl5pPr>
          </a:lstStyle>
          <a:p>
            <a:pPr lvl="0"/>
            <a:r>
              <a:rPr lang="en-US" altLang="zh-TW" dirty="0" smtClean="0"/>
              <a:t>Content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0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16426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 Page with Ttil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75" y="-565623"/>
            <a:ext cx="2299235" cy="2011830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264927070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8716136D-A099-46A3-A097-F57CDBAEF9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61640" y="331532"/>
            <a:ext cx="2950560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761529" y="1626645"/>
            <a:ext cx="2950671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2383428371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8716136D-A099-46A3-A097-F57CDBAEF9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3406210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8" y="1626645"/>
            <a:ext cx="3406339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/>
        </p:nvSpPr>
        <p:spPr>
          <a:xfrm>
            <a:off x="478148" y="4933094"/>
            <a:ext cx="1226199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29" y="4961070"/>
            <a:ext cx="6646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75283044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8716136D-A099-46A3-A097-F57CDBAEF9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3608504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8" y="1626645"/>
            <a:ext cx="3608640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/>
        </p:nvSpPr>
        <p:spPr>
          <a:xfrm>
            <a:off x="478149" y="4933094"/>
            <a:ext cx="129902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29" y="4961070"/>
            <a:ext cx="7041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2895138280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8716136D-A099-46A3-A097-F57CDBAEF9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3313" y="331532"/>
            <a:ext cx="3508888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5203179" y="1626645"/>
            <a:ext cx="3509020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89446146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="" xmlns:a16="http://schemas.microsoft.com/office/drawing/2014/main" id="{054A8AFF-F688-43D7-8F8E-CD8E79082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725106"/>
            <a:ext cx="7886700" cy="1696751"/>
          </a:xfrm>
        </p:spPr>
        <p:txBody>
          <a:bodyPr anchor="ctr">
            <a:normAutofit/>
          </a:bodyPr>
          <a:lstStyle>
            <a:lvl1pPr algn="ctr"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/>
              <a:t>Tap Into The Possibilities</a:t>
            </a:r>
            <a:endParaRPr lang="en-US" dirty="0"/>
          </a:p>
        </p:txBody>
      </p:sp>
      <p:sp>
        <p:nvSpPr>
          <p:cNvPr id="12" name="Freeform 5"/>
          <p:cNvSpPr>
            <a:spLocks noChangeAspect="1" noEditPoints="1"/>
          </p:cNvSpPr>
          <p:nvPr/>
        </p:nvSpPr>
        <p:spPr bwMode="auto">
          <a:xfrm>
            <a:off x="8026333" y="4560331"/>
            <a:ext cx="842400" cy="297755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2166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230883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YYYY/MM/DD</a:t>
            </a:r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4F6FD-3A3C-4BEB-A0CF-E776CFFA09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1393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resentation 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472" y="644577"/>
            <a:ext cx="7117908" cy="1857461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PowerPoint Presentation</a:t>
            </a:r>
            <a:br>
              <a:rPr lang="en-US" altLang="zh-TW" dirty="0" smtClean="0"/>
            </a:br>
            <a:r>
              <a:rPr lang="en-US" altLang="zh-TW" dirty="0" smtClean="0"/>
              <a:t>Title</a:t>
            </a:r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A6B2842F-AB04-453E-B849-7FA26470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3711" y="4643572"/>
            <a:ext cx="2713548" cy="313440"/>
          </a:xfrm>
        </p:spPr>
        <p:txBody>
          <a:bodyPr anchor="b"/>
          <a:lstStyle>
            <a:lvl1pPr>
              <a:defRPr sz="1200">
                <a:solidFill>
                  <a:srgbClr val="005087"/>
                </a:solidFill>
              </a:defRPr>
            </a:lvl1pPr>
          </a:lstStyle>
          <a:p>
            <a:r>
              <a:rPr lang="en-US" dirty="0" smtClean="0"/>
              <a:t>YYYY/MM/DD</a:t>
            </a:r>
            <a:endParaRPr 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="" xmlns:a16="http://schemas.microsoft.com/office/drawing/2014/main" id="{F651AF1A-06EC-4C3B-8B93-08038043E3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348" y="4006765"/>
            <a:ext cx="2713911" cy="63680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005087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Presenter’s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Presenter’s Title / Department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/>
          <a:srcRect l="86062" t="84666"/>
          <a:stretch/>
        </p:blipFill>
        <p:spPr>
          <a:xfrm>
            <a:off x="7869555" y="4354830"/>
            <a:ext cx="1274446" cy="78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41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 Page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4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3389699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20230" y="4961069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31813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8716136D-A099-46A3-A097-F57CDBAEF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8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7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 smtClean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  <a:endParaRPr lang="en-US" sz="525" b="0" i="0" kern="1200" dirty="0">
              <a:solidFill>
                <a:schemeClr val="tx1">
                  <a:lumMod val="75000"/>
                  <a:lumOff val="25000"/>
                  <a:alpha val="65000"/>
                </a:schemeClr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69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30968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8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1021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 userDrawn="1"/>
        </p:nvSpPr>
        <p:spPr>
          <a:xfrm>
            <a:off x="478148" y="4919547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rgbClr val="000000">
                    <a:alpha val="65000"/>
                  </a:srgbClr>
                </a:solidFill>
                <a:effectLst/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8130516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xmlns="" id="{100C045E-458C-43C8-A14C-FB9C878D4F9B}"/>
              </a:ext>
            </a:extLst>
          </p:cNvPr>
          <p:cNvSpPr txBox="1"/>
          <p:nvPr userDrawn="1"/>
        </p:nvSpPr>
        <p:spPr>
          <a:xfrm>
            <a:off x="478148" y="4919547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rgbClr val="000000">
                    <a:alpha val="65000"/>
                  </a:srgbClr>
                </a:solidFill>
                <a:effectLst/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890172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8" y="4919547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rgbClr val="000000">
                    <a:alpha val="65000"/>
                  </a:srgbClr>
                </a:solidFill>
                <a:effectLst/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286812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Page with T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1422" y="-55084"/>
            <a:ext cx="1759697" cy="1768293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xmlns="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</a:t>
            </a:r>
            <a:br>
              <a:rPr lang="en-US" altLang="zh-TW" dirty="0" smtClean="0"/>
            </a:br>
            <a:r>
              <a:rPr lang="en-US" altLang="zh-TW" dirty="0" smtClean="0"/>
              <a:t>Mabry Pro-Medium + </a:t>
            </a:r>
            <a:r>
              <a:rPr lang="en-US" altLang="zh-TW" dirty="0" err="1" smtClean="0"/>
              <a:t>Noto</a:t>
            </a:r>
            <a:r>
              <a:rPr lang="en-US" altLang="zh-TW" dirty="0" smtClean="0"/>
              <a:t> Sans TC Medium 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9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 smtClean="0"/>
              <a:t>Mabry Pro + Noto Sans TC</a:t>
            </a:r>
          </a:p>
          <a:p>
            <a:pPr lvl="0"/>
            <a:endParaRPr lang="en-US" altLang="zh-TW" dirty="0" smtClean="0"/>
          </a:p>
        </p:txBody>
      </p:sp>
      <p:sp>
        <p:nvSpPr>
          <p:cNvPr id="9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83"/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783"/>
            <a:r>
              <a:rPr lang="en-US" altLang="zh-TW" sz="900" dirty="0">
                <a:solidFill>
                  <a:srgbClr val="FFFFFF">
                    <a:lumMod val="50000"/>
                  </a:srgbClr>
                </a:solidFill>
              </a:rPr>
              <a:t>©</a:t>
            </a:r>
            <a:endParaRPr lang="zh-TW" altLang="en-US" sz="1400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4" name="Freeform 5"/>
          <p:cNvSpPr>
            <a:spLocks noChangeAspect="1" noEditPoints="1"/>
          </p:cNvSpPr>
          <p:nvPr userDrawn="1"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685783"/>
            <a:endParaRPr lang="zh-TW" alt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0085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3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19549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rgbClr val="000000">
                    <a:alpha val="65000"/>
                  </a:srgbClr>
                </a:solidFill>
                <a:effectLst/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9903366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 Page with Tt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1422" y="-55084"/>
            <a:ext cx="1759697" cy="1768293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</a:t>
            </a:r>
            <a:br>
              <a:rPr lang="en-US" altLang="zh-TW" dirty="0"/>
            </a:br>
            <a:r>
              <a:rPr lang="en-US" altLang="zh-TW" dirty="0"/>
              <a:t>Mabry Pro-Medium + </a:t>
            </a:r>
            <a:r>
              <a:rPr lang="en-US" altLang="zh-TW" dirty="0" err="1"/>
              <a:t>Noto</a:t>
            </a:r>
            <a:r>
              <a:rPr lang="en-US" altLang="zh-TW" dirty="0"/>
              <a:t> Sans TC Medium </a:t>
            </a:r>
            <a:endParaRPr lang="en-US" dirty="0"/>
          </a:p>
        </p:txBody>
      </p:sp>
      <p:sp>
        <p:nvSpPr>
          <p:cNvPr id="9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</a:p>
        </p:txBody>
      </p:sp>
      <p:sp>
        <p:nvSpPr>
          <p:cNvPr id="10" name="矩形 9"/>
          <p:cNvSpPr/>
          <p:nvPr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TW" altLang="en-US"/>
          </a:p>
        </p:txBody>
      </p:sp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sz="1800"/>
          </a:p>
        </p:txBody>
      </p:sp>
    </p:spTree>
    <p:extLst>
      <p:ext uri="{BB962C8B-B14F-4D97-AF65-F5344CB8AC3E}">
        <p14:creationId xmlns:p14="http://schemas.microsoft.com/office/powerpoint/2010/main" val="25096279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472" y="956502"/>
            <a:ext cx="7117908" cy="154553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="" xmlns:a16="http://schemas.microsoft.com/office/drawing/2014/main" id="{A6B2842F-AB04-453E-B849-7FA26470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3348" y="4508844"/>
            <a:ext cx="2713548" cy="31344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rgbClr val="005087"/>
                </a:solidFill>
              </a:defRPr>
            </a:lvl1pPr>
          </a:lstStyle>
          <a:p>
            <a:r>
              <a:rPr lang="en-US" dirty="0" smtClean="0"/>
              <a:t>YYYY/MM/DD</a:t>
            </a:r>
            <a:endParaRPr lang="en-US" dirty="0"/>
          </a:p>
        </p:txBody>
      </p:sp>
      <p:sp>
        <p:nvSpPr>
          <p:cNvPr id="11" name="文字版面配置區 10">
            <a:extLst>
              <a:ext uri="{FF2B5EF4-FFF2-40B4-BE49-F238E27FC236}">
                <a16:creationId xmlns="" xmlns:a16="http://schemas.microsoft.com/office/drawing/2014/main" id="{F651AF1A-06EC-4C3B-8B93-08038043E3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348" y="3875110"/>
            <a:ext cx="2713911" cy="63680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rgbClr val="005087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Presenter’s Name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Presenter’s Title / Department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/>
          <a:srcRect l="86062" t="84666"/>
          <a:stretch/>
        </p:blipFill>
        <p:spPr>
          <a:xfrm>
            <a:off x="7869555" y="4354830"/>
            <a:ext cx="1274446" cy="78867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443" y="4924337"/>
            <a:ext cx="1021231" cy="174210"/>
          </a:xfrm>
          <a:prstGeom prst="rect">
            <a:avLst/>
          </a:prstGeom>
        </p:spPr>
      </p:pic>
      <p:sp>
        <p:nvSpPr>
          <p:cNvPr id="8" name="頁尾版面配置區 7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algn="r">
              <a:defRPr sz="1000" b="1" i="0" u="none">
                <a:solidFill>
                  <a:srgbClr val="808080"/>
                </a:solidFill>
                <a:latin typeface="Gill Sans MT" panose="020B0502020104020203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026565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前技術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  <a:prstGeom prst="rect">
            <a:avLst/>
          </a:prstGeom>
        </p:spPr>
        <p:txBody>
          <a:bodyPr/>
          <a:lstStyle/>
          <a:p>
            <a:pPr lvl="0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9399" y="381375"/>
            <a:ext cx="5943905" cy="69853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66938" y="4933093"/>
            <a:ext cx="2679838" cy="20321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7291" y="4918434"/>
            <a:ext cx="1022403" cy="19686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7054" y="4790081"/>
            <a:ext cx="1065167" cy="183650"/>
          </a:xfrm>
          <a:prstGeom prst="rect">
            <a:avLst/>
          </a:prstGeom>
        </p:spPr>
      </p:pic>
      <p:sp>
        <p:nvSpPr>
          <p:cNvPr id="11" name="頁尾版面配置區 10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algn="r">
              <a:defRPr sz="1000" b="1" i="0" u="none">
                <a:solidFill>
                  <a:srgbClr val="808080"/>
                </a:solidFill>
                <a:latin typeface="Gill Sans MT" panose="020B0502020104020203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649854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解決方案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400" baseline="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sz="quarter" idx="10"/>
          </p:nvPr>
        </p:nvSpPr>
        <p:spPr>
          <a:xfrm>
            <a:off x="831850" y="1581150"/>
            <a:ext cx="7224713" cy="2894013"/>
          </a:xfrm>
          <a:prstGeom prst="rect">
            <a:avLst/>
          </a:prstGeom>
        </p:spPr>
        <p:txBody>
          <a:bodyPr/>
          <a:lstStyle/>
          <a:p>
            <a:pPr lvl="0"/>
            <a:endParaRPr lang="zh-TW" altLang="en-US" dirty="0"/>
          </a:p>
        </p:txBody>
      </p:sp>
      <p:pic>
        <p:nvPicPr>
          <p:cNvPr id="15" name="圖片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1489" y="406373"/>
            <a:ext cx="5505733" cy="457223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55217" y="4940290"/>
            <a:ext cx="2679838" cy="20321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7291" y="4923047"/>
            <a:ext cx="1022403" cy="196860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834" y="4790081"/>
            <a:ext cx="1065167" cy="183650"/>
          </a:xfrm>
          <a:prstGeom prst="rect">
            <a:avLst/>
          </a:prstGeom>
        </p:spPr>
      </p:pic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algn="r">
              <a:defRPr sz="1000" b="1" i="0" u="none">
                <a:solidFill>
                  <a:srgbClr val="808080"/>
                </a:solidFill>
                <a:latin typeface="Gill Sans MT" panose="020B0502020104020203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737063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實施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838" y="365047"/>
            <a:ext cx="8482972" cy="106413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4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91498" y="1665244"/>
            <a:ext cx="8469312" cy="2971800"/>
          </a:xfrm>
          <a:prstGeom prst="rect">
            <a:avLst/>
          </a:prstGeom>
        </p:spPr>
        <p:txBody>
          <a:bodyPr/>
          <a:lstStyle/>
          <a:p>
            <a:pPr lvl="0"/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230" y="484341"/>
            <a:ext cx="2781443" cy="41277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80972" y="4933093"/>
            <a:ext cx="2679838" cy="20321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7291" y="4923047"/>
            <a:ext cx="1022403" cy="196860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834" y="4790081"/>
            <a:ext cx="1065167" cy="183650"/>
          </a:xfrm>
          <a:prstGeom prst="rect">
            <a:avLst/>
          </a:prstGeom>
        </p:spPr>
      </p:pic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algn="r">
              <a:defRPr sz="1000" b="1" i="0" u="none">
                <a:solidFill>
                  <a:srgbClr val="808080"/>
                </a:solidFill>
                <a:latin typeface="Gill Sans MT" panose="020B0502020104020203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2820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8" y="4919547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rgbClr val="000000">
                    <a:alpha val="65000"/>
                  </a:srgbClr>
                </a:solidFill>
                <a:effectLst/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909356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8" y="4919547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rgbClr val="000000">
                    <a:alpha val="65000"/>
                  </a:srgbClr>
                </a:solidFill>
                <a:effectLst/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5651102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=""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1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=""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 smtClean="0"/>
              <a:t>Page Title Goes Here</a:t>
            </a:r>
            <a:br>
              <a:rPr lang="en-US" altLang="zh-TW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=""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8" y="4919547"/>
            <a:ext cx="3378473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rgbClr val="000000">
                    <a:alpha val="65000"/>
                  </a:srgbClr>
                </a:solidFill>
                <a:effectLst/>
                <a:latin typeface="arial" panose="020B0604020202020204" pitchFamily="34" charset="0"/>
              </a:rPr>
              <a:t>©</a:t>
            </a:r>
            <a:r>
              <a:rPr lang="en-US" sz="525" dirty="0">
                <a:solidFill>
                  <a:srgbClr val="000000">
                    <a:alpha val="65000"/>
                  </a:srgbClr>
                </a:solidFill>
              </a:rPr>
              <a:t>2022 AUO Corporation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7916805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0" y="0"/>
            <a:ext cx="9144001" cy="5143500"/>
            <a:chOff x="0" y="0"/>
            <a:chExt cx="12192000" cy="6858000"/>
          </a:xfrm>
        </p:grpSpPr>
        <p:sp>
          <p:nvSpPr>
            <p:cNvPr id="13" name="矩形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sp>
          <p:nvSpPr>
            <p:cNvPr id="14" name="文字方塊 13"/>
            <p:cNvSpPr txBox="1"/>
            <p:nvPr userDrawn="1"/>
          </p:nvSpPr>
          <p:spPr>
            <a:xfrm>
              <a:off x="11353799" y="6565612"/>
              <a:ext cx="799792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25" dirty="0" smtClean="0">
                  <a:solidFill>
                    <a:schemeClr val="bg1">
                      <a:lumMod val="75000"/>
                    </a:schemeClr>
                  </a:solidFill>
                </a:rPr>
                <a:t>ML6A01</a:t>
              </a:r>
              <a:endParaRPr lang="zh-TW" altLang="en-US" sz="825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YYYY/MM/DD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4F6FD-3A3C-4BEB-A0CF-E776CFFA09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  <p:sp>
        <p:nvSpPr>
          <p:cNvPr id="11" name="矩形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13"/>
          </a:p>
        </p:txBody>
      </p:sp>
    </p:spTree>
    <p:extLst>
      <p:ext uri="{BB962C8B-B14F-4D97-AF65-F5344CB8AC3E}">
        <p14:creationId xmlns:p14="http://schemas.microsoft.com/office/powerpoint/2010/main" val="286260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9" r:id="rId24"/>
    <p:sldLayoutId id="2147483740" r:id="rId25"/>
    <p:sldLayoutId id="2147483741" r:id="rId26"/>
    <p:sldLayoutId id="2147483742" r:id="rId27"/>
    <p:sldLayoutId id="2147483743" r:id="rId28"/>
    <p:sldLayoutId id="2147483744" r:id="rId29"/>
    <p:sldLayoutId id="2147483745" r:id="rId30"/>
    <p:sldLayoutId id="2147483676" r:id="rId31"/>
    <p:sldLayoutId id="2147483707" r:id="rId32"/>
    <p:sldLayoutId id="2147483687" r:id="rId33"/>
    <p:sldLayoutId id="2147483750" r:id="rId34"/>
    <p:sldLayoutId id="2147483752" r:id="rId35"/>
    <p:sldLayoutId id="2147483766" r:id="rId36"/>
    <p:sldLayoutId id="2147483772" r:id="rId37"/>
    <p:sldLayoutId id="2147483776" r:id="rId38"/>
    <p:sldLayoutId id="2147483780" r:id="rId39"/>
    <p:sldLayoutId id="2147483781" r:id="rId40"/>
    <p:sldLayoutId id="2147483782" r:id="rId41"/>
    <p:sldLayoutId id="2147483783" r:id="rId42"/>
    <p:sldLayoutId id="2147483784" r:id="rId43"/>
    <p:sldLayoutId id="2147483785" r:id="rId44"/>
    <p:sldLayoutId id="2147483786" r:id="rId45"/>
    <p:sldLayoutId id="2147483787" r:id="rId46"/>
    <p:sldLayoutId id="2147483788" r:id="rId47"/>
    <p:sldLayoutId id="2147483789" r:id="rId48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10" Type="http://schemas.openxmlformats.org/officeDocument/2006/relationships/image" Target="../media/image46.png"/><Relationship Id="rId4" Type="http://schemas.openxmlformats.org/officeDocument/2006/relationships/image" Target="../media/image40.jpe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hyperlink" Target="http://10.97.150.113:2025/cf_eyes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1.png"/><Relationship Id="rId7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hyperlink" Target="file:///\\10.97.143.183\ftp\PI_PROJECT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jpeg"/><Relationship Id="rId7" Type="http://schemas.openxmlformats.org/officeDocument/2006/relationships/image" Target="../media/image72.jpeg"/><Relationship Id="rId12" Type="http://schemas.openxmlformats.org/officeDocument/2006/relationships/image" Target="../media/image77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71.JPG"/><Relationship Id="rId11" Type="http://schemas.openxmlformats.org/officeDocument/2006/relationships/image" Target="../media/image76.png"/><Relationship Id="rId5" Type="http://schemas.openxmlformats.org/officeDocument/2006/relationships/image" Target="../media/image70.jpeg"/><Relationship Id="rId15" Type="http://schemas.openxmlformats.org/officeDocument/2006/relationships/image" Target="../media/image80.png"/><Relationship Id="rId10" Type="http://schemas.openxmlformats.org/officeDocument/2006/relationships/image" Target="../media/image75.jpeg"/><Relationship Id="rId4" Type="http://schemas.openxmlformats.org/officeDocument/2006/relationships/image" Target="../media/image69.jpeg"/><Relationship Id="rId9" Type="http://schemas.openxmlformats.org/officeDocument/2006/relationships/image" Target="../media/image74.png"/><Relationship Id="rId14" Type="http://schemas.openxmlformats.org/officeDocument/2006/relationships/image" Target="../media/image7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83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jpeg"/><Relationship Id="rId13" Type="http://schemas.openxmlformats.org/officeDocument/2006/relationships/image" Target="../media/image95.jpeg"/><Relationship Id="rId3" Type="http://schemas.openxmlformats.org/officeDocument/2006/relationships/image" Target="../media/image85.jpeg"/><Relationship Id="rId7" Type="http://schemas.openxmlformats.org/officeDocument/2006/relationships/image" Target="../media/image89.jpeg"/><Relationship Id="rId12" Type="http://schemas.openxmlformats.org/officeDocument/2006/relationships/image" Target="../media/image94.jpeg"/><Relationship Id="rId2" Type="http://schemas.openxmlformats.org/officeDocument/2006/relationships/image" Target="../media/image84.jpeg"/><Relationship Id="rId16" Type="http://schemas.openxmlformats.org/officeDocument/2006/relationships/image" Target="../media/image98.jpeg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88.jpeg"/><Relationship Id="rId11" Type="http://schemas.openxmlformats.org/officeDocument/2006/relationships/image" Target="../media/image93.jpeg"/><Relationship Id="rId5" Type="http://schemas.openxmlformats.org/officeDocument/2006/relationships/image" Target="../media/image87.jpeg"/><Relationship Id="rId15" Type="http://schemas.openxmlformats.org/officeDocument/2006/relationships/image" Target="../media/image97.jpeg"/><Relationship Id="rId10" Type="http://schemas.openxmlformats.org/officeDocument/2006/relationships/image" Target="../media/image92.jpeg"/><Relationship Id="rId4" Type="http://schemas.openxmlformats.org/officeDocument/2006/relationships/image" Target="../media/image86.jpeg"/><Relationship Id="rId9" Type="http://schemas.openxmlformats.org/officeDocument/2006/relationships/image" Target="../media/image91.jpeg"/><Relationship Id="rId14" Type="http://schemas.openxmlformats.org/officeDocument/2006/relationships/image" Target="../media/image9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jpeg"/><Relationship Id="rId13" Type="http://schemas.openxmlformats.org/officeDocument/2006/relationships/image" Target="../media/image111.jpeg"/><Relationship Id="rId3" Type="http://schemas.openxmlformats.org/officeDocument/2006/relationships/image" Target="../media/image101.jpeg"/><Relationship Id="rId7" Type="http://schemas.openxmlformats.org/officeDocument/2006/relationships/image" Target="../media/image105.jpeg"/><Relationship Id="rId12" Type="http://schemas.openxmlformats.org/officeDocument/2006/relationships/image" Target="../media/image110.jpe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04.jpeg"/><Relationship Id="rId11" Type="http://schemas.openxmlformats.org/officeDocument/2006/relationships/image" Target="../media/image109.jpeg"/><Relationship Id="rId5" Type="http://schemas.openxmlformats.org/officeDocument/2006/relationships/image" Target="../media/image103.jpeg"/><Relationship Id="rId10" Type="http://schemas.openxmlformats.org/officeDocument/2006/relationships/image" Target="../media/image108.jpeg"/><Relationship Id="rId4" Type="http://schemas.openxmlformats.org/officeDocument/2006/relationships/image" Target="../media/image102.jpeg"/><Relationship Id="rId9" Type="http://schemas.openxmlformats.org/officeDocument/2006/relationships/image" Target="../media/image107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jpe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115.jpeg"/><Relationship Id="rId5" Type="http://schemas.openxmlformats.org/officeDocument/2006/relationships/image" Target="../media/image114.jpe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4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39" Type="http://schemas.microsoft.com/office/2007/relationships/hdphoto" Target="../media/hdphoto3.wdp"/><Relationship Id="rId3" Type="http://schemas.openxmlformats.org/officeDocument/2006/relationships/image" Target="../media/image119.png"/><Relationship Id="rId21" Type="http://schemas.openxmlformats.org/officeDocument/2006/relationships/image" Target="NULL"/><Relationship Id="rId42" Type="http://schemas.openxmlformats.org/officeDocument/2006/relationships/image" Target="../media/image129.png"/><Relationship Id="rId25" Type="http://schemas.openxmlformats.org/officeDocument/2006/relationships/image" Target="NULL"/><Relationship Id="rId33" Type="http://schemas.openxmlformats.org/officeDocument/2006/relationships/image" Target="../media/image125.png"/><Relationship Id="rId38" Type="http://schemas.openxmlformats.org/officeDocument/2006/relationships/image" Target="../media/image126.png"/><Relationship Id="rId7" Type="http://schemas.openxmlformats.org/officeDocument/2006/relationships/image" Target="NULL"/><Relationship Id="rId17" Type="http://schemas.openxmlformats.org/officeDocument/2006/relationships/image" Target="NULL"/><Relationship Id="rId46" Type="http://schemas.microsoft.com/office/2007/relationships/hdphoto" Target="../media/hdphoto4.wdp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28.sv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44.xml"/><Relationship Id="rId11" Type="http://schemas.openxmlformats.org/officeDocument/2006/relationships/image" Target="NULL"/><Relationship Id="rId32" Type="http://schemas.openxmlformats.org/officeDocument/2006/relationships/image" Target="../media/image124.png"/><Relationship Id="rId37" Type="http://schemas.openxmlformats.org/officeDocument/2006/relationships/image" Target="../media/image4.svg"/><Relationship Id="rId40" Type="http://schemas.openxmlformats.org/officeDocument/2006/relationships/image" Target="../media/image127.png"/><Relationship Id="rId45" Type="http://schemas.openxmlformats.org/officeDocument/2006/relationships/image" Target="../media/image132.png"/><Relationship Id="rId23" Type="http://schemas.microsoft.com/office/2007/relationships/hdphoto" Target="../media/hdphoto2.wdp"/><Relationship Id="rId5" Type="http://schemas.openxmlformats.org/officeDocument/2006/relationships/image" Target="NULL"/><Relationship Id="rId31" Type="http://schemas.openxmlformats.org/officeDocument/2006/relationships/image" Target="../media/image123.png"/><Relationship Id="rId19" Type="http://schemas.openxmlformats.org/officeDocument/2006/relationships/image" Target="NULL"/><Relationship Id="rId44" Type="http://schemas.openxmlformats.org/officeDocument/2006/relationships/image" Target="../media/image131.png"/><Relationship Id="rId4" Type="http://schemas.microsoft.com/office/2007/relationships/hdphoto" Target="../media/hdphoto1.wdp"/><Relationship Id="rId14" Type="http://schemas.openxmlformats.org/officeDocument/2006/relationships/image" Target="../media/image120.png"/><Relationship Id="rId22" Type="http://schemas.openxmlformats.org/officeDocument/2006/relationships/image" Target="../media/image121.png"/><Relationship Id="rId30" Type="http://schemas.openxmlformats.org/officeDocument/2006/relationships/image" Target="../media/image122.png"/><Relationship Id="rId27" Type="http://schemas.openxmlformats.org/officeDocument/2006/relationships/image" Target="NULL"/><Relationship Id="rId43" Type="http://schemas.openxmlformats.org/officeDocument/2006/relationships/image" Target="../media/image130.png"/><Relationship Id="rId35" Type="http://schemas.openxmlformats.org/officeDocument/2006/relationships/image" Target="NULL"/><Relationship Id="rId9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jpeg"/><Relationship Id="rId13" Type="http://schemas.openxmlformats.org/officeDocument/2006/relationships/image" Target="../media/image135.png"/><Relationship Id="rId18" Type="http://schemas.openxmlformats.org/officeDocument/2006/relationships/image" Target="../media/image1400.png"/><Relationship Id="rId3" Type="http://schemas.openxmlformats.org/officeDocument/2006/relationships/image" Target="../media/image133.jpg"/><Relationship Id="rId21" Type="http://schemas.openxmlformats.org/officeDocument/2006/relationships/image" Target="../media/image143.png"/><Relationship Id="rId7" Type="http://schemas.openxmlformats.org/officeDocument/2006/relationships/image" Target="../media/image137.jpg"/><Relationship Id="rId12" Type="http://schemas.openxmlformats.org/officeDocument/2006/relationships/image" Target="../media/image1340.png"/><Relationship Id="rId17" Type="http://schemas.openxmlformats.org/officeDocument/2006/relationships/image" Target="../media/image13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36.jpg"/><Relationship Id="rId11" Type="http://schemas.microsoft.com/office/2007/relationships/hdphoto" Target="../media/hdphoto5.wdp"/><Relationship Id="rId5" Type="http://schemas.openxmlformats.org/officeDocument/2006/relationships/image" Target="../media/image135.jpg"/><Relationship Id="rId15" Type="http://schemas.openxmlformats.org/officeDocument/2006/relationships/image" Target="../media/image137.png"/><Relationship Id="rId23" Type="http://schemas.openxmlformats.org/officeDocument/2006/relationships/image" Target="NULL"/><Relationship Id="rId10" Type="http://schemas.openxmlformats.org/officeDocument/2006/relationships/image" Target="../media/image140.png"/><Relationship Id="rId19" Type="http://schemas.openxmlformats.org/officeDocument/2006/relationships/image" Target="../media/image141.png"/><Relationship Id="rId4" Type="http://schemas.openxmlformats.org/officeDocument/2006/relationships/image" Target="../media/image134.jpg"/><Relationship Id="rId9" Type="http://schemas.openxmlformats.org/officeDocument/2006/relationships/image" Target="../media/image139.jpeg"/><Relationship Id="rId14" Type="http://schemas.openxmlformats.org/officeDocument/2006/relationships/image" Target="../media/image136.png"/><Relationship Id="rId22" Type="http://schemas.microsoft.com/office/2007/relationships/hdphoto" Target="../media/hdphoto6.wdp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jpeg"/><Relationship Id="rId18" Type="http://schemas.openxmlformats.org/officeDocument/2006/relationships/image" Target="../media/image159.png"/><Relationship Id="rId3" Type="http://schemas.openxmlformats.org/officeDocument/2006/relationships/image" Target="../media/image144.jpeg"/><Relationship Id="rId21" Type="http://schemas.openxmlformats.org/officeDocument/2006/relationships/image" Target="../media/image162.png"/><Relationship Id="rId7" Type="http://schemas.openxmlformats.org/officeDocument/2006/relationships/image" Target="../media/image148.png"/><Relationship Id="rId12" Type="http://schemas.openxmlformats.org/officeDocument/2006/relationships/image" Target="../media/image153.jpeg"/><Relationship Id="rId17" Type="http://schemas.openxmlformats.org/officeDocument/2006/relationships/image" Target="../media/image15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147.png"/><Relationship Id="rId11" Type="http://schemas.openxmlformats.org/officeDocument/2006/relationships/image" Target="../media/image152.jpeg"/><Relationship Id="rId5" Type="http://schemas.openxmlformats.org/officeDocument/2006/relationships/image" Target="../media/image146.jpeg"/><Relationship Id="rId15" Type="http://schemas.openxmlformats.org/officeDocument/2006/relationships/image" Target="../media/image156.png"/><Relationship Id="rId23" Type="http://schemas.openxmlformats.org/officeDocument/2006/relationships/image" Target="../media/image156.JPG"/><Relationship Id="rId10" Type="http://schemas.openxmlformats.org/officeDocument/2006/relationships/image" Target="../media/image151.jpeg"/><Relationship Id="rId19" Type="http://schemas.openxmlformats.org/officeDocument/2006/relationships/image" Target="../media/image160.png"/><Relationship Id="rId4" Type="http://schemas.openxmlformats.org/officeDocument/2006/relationships/image" Target="../media/image145.jpeg"/><Relationship Id="rId9" Type="http://schemas.openxmlformats.org/officeDocument/2006/relationships/image" Target="../media/image150.jpeg"/><Relationship Id="rId14" Type="http://schemas.openxmlformats.org/officeDocument/2006/relationships/image" Target="../media/image155.jpeg"/><Relationship Id="rId22" Type="http://schemas.openxmlformats.org/officeDocument/2006/relationships/image" Target="../media/image1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jpeg"/><Relationship Id="rId17" Type="http://schemas.openxmlformats.org/officeDocument/2006/relationships/image" Target="NULL"/><Relationship Id="rId2" Type="http://schemas.openxmlformats.org/officeDocument/2006/relationships/image" Target="../media/image157.JPG"/><Relationship Id="rId1" Type="http://schemas.openxmlformats.org/officeDocument/2006/relationships/slideLayout" Target="../slideLayouts/slideLayout45.xml"/><Relationship Id="rId6" Type="http://schemas.microsoft.com/office/2007/relationships/hdphoto" Target="../media/hdphoto6.wdp"/><Relationship Id="rId5" Type="http://schemas.openxmlformats.org/officeDocument/2006/relationships/image" Target="../media/image143.png"/><Relationship Id="rId4" Type="http://schemas.openxmlformats.org/officeDocument/2006/relationships/image" Target="../media/image15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image" Target="../media/image160.jpeg"/><Relationship Id="rId1" Type="http://schemas.openxmlformats.org/officeDocument/2006/relationships/slideLayout" Target="../slideLayouts/slideLayout4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jpeg"/><Relationship Id="rId3" Type="http://schemas.openxmlformats.org/officeDocument/2006/relationships/image" Target="../media/image162.jpeg"/><Relationship Id="rId7" Type="http://schemas.openxmlformats.org/officeDocument/2006/relationships/image" Target="../media/image16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65.jpeg"/><Relationship Id="rId5" Type="http://schemas.openxmlformats.org/officeDocument/2006/relationships/image" Target="../media/image164.jpeg"/><Relationship Id="rId4" Type="http://schemas.openxmlformats.org/officeDocument/2006/relationships/image" Target="../media/image163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jpeg"/><Relationship Id="rId3" Type="http://schemas.openxmlformats.org/officeDocument/2006/relationships/image" Target="../media/image26.jpe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5.xml"/><Relationship Id="rId6" Type="http://schemas.openxmlformats.org/officeDocument/2006/relationships/image" Target="../media/image168.jpe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IMAGE</a:t>
            </a:r>
            <a:r>
              <a:rPr lang="zh-TW" altLang="en-US" dirty="0" smtClean="0"/>
              <a:t>組 個人報告</a:t>
            </a:r>
            <a:endParaRPr lang="zh-TW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91479" y="3817787"/>
            <a:ext cx="1983206" cy="1228442"/>
          </a:xfrm>
        </p:spPr>
        <p:txBody>
          <a:bodyPr>
            <a:noAutofit/>
          </a:bodyPr>
          <a:lstStyle/>
          <a:p>
            <a:pPr lvl="0"/>
            <a:r>
              <a:rPr lang="en-US" altLang="zh-TW" dirty="0" smtClean="0"/>
              <a:t>ML6A01</a:t>
            </a:r>
          </a:p>
          <a:p>
            <a:pPr lvl="0"/>
            <a:r>
              <a:rPr lang="zh-TW" altLang="en-US" dirty="0" smtClean="0"/>
              <a:t>林怡辰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18249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685159"/>
              </p:ext>
            </p:extLst>
          </p:nvPr>
        </p:nvGraphicFramePr>
        <p:xfrm>
          <a:off x="131354" y="930887"/>
          <a:ext cx="8811492" cy="3610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975"/>
                <a:gridCol w="533591"/>
                <a:gridCol w="533591"/>
                <a:gridCol w="533591"/>
                <a:gridCol w="533591"/>
                <a:gridCol w="533591"/>
                <a:gridCol w="533591"/>
                <a:gridCol w="533591"/>
                <a:gridCol w="831273"/>
                <a:gridCol w="1477107"/>
              </a:tblGrid>
              <a:tr h="300884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/>
                        <a:t>題目</a:t>
                      </a:r>
                      <a:endParaRPr lang="zh-TW" alt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2024</a:t>
                      </a:r>
                      <a:endParaRPr lang="zh-TW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2025</a:t>
                      </a:r>
                      <a:endParaRPr lang="zh-TW" altLang="en-US" sz="11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2026</a:t>
                      </a:r>
                      <a:endParaRPr lang="zh-TW" alt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100" dirty="0" smtClean="0"/>
                        <a:t>合作單位</a:t>
                      </a:r>
                      <a:endParaRPr lang="zh-TW" altLang="en-US" sz="11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/>
                        <a:t>Owner</a:t>
                      </a:r>
                      <a:endParaRPr lang="zh-TW" altLang="en-US" sz="1100" dirty="0"/>
                    </a:p>
                  </a:txBody>
                  <a:tcPr anchor="ctr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884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zh-TW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zh-TW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zh-TW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bg1"/>
                          </a:solidFill>
                        </a:rPr>
                        <a:t>Q3</a:t>
                      </a:r>
                      <a:endParaRPr lang="zh-TW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bg1"/>
                          </a:solidFill>
                        </a:rPr>
                        <a:t>Q4</a:t>
                      </a:r>
                      <a:endParaRPr lang="zh-TW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bg1"/>
                          </a:solidFill>
                        </a:rPr>
                        <a:t>Q1</a:t>
                      </a:r>
                      <a:endParaRPr lang="zh-TW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 smtClean="0">
                          <a:solidFill>
                            <a:schemeClr val="bg1"/>
                          </a:solidFill>
                        </a:rPr>
                        <a:t>Q2</a:t>
                      </a:r>
                      <a:endParaRPr lang="zh-TW" alt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087"/>
                    </a:solidFill>
                  </a:tcPr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WMA ER </a:t>
                      </a: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監控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完成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E2</a:t>
                      </a:r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宏瑋</a:t>
                      </a:r>
                      <a:r>
                        <a:rPr lang="en-US" altLang="zh-TW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嘉恩</a:t>
                      </a:r>
                      <a:r>
                        <a:rPr lang="en-US" altLang="zh-TW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家瑋</a:t>
                      </a:r>
                      <a:r>
                        <a:rPr lang="en-US" altLang="zh-TW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怡辰</a:t>
                      </a:r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</a:tr>
              <a:tr h="300884">
                <a:tc>
                  <a:txBody>
                    <a:bodyPr/>
                    <a:lstStyle/>
                    <a:p>
                      <a:pPr marL="0" indent="0"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zh-TW" sz="10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CF</a:t>
                      </a:r>
                      <a:r>
                        <a:rPr lang="zh-TW" altLang="en-US" sz="10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鷹眼計畫</a:t>
                      </a:r>
                      <a:r>
                        <a:rPr lang="en-US" altLang="zh-TW" sz="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完成</a:t>
                      </a:r>
                      <a:r>
                        <a:rPr lang="en-US" altLang="zh-TW" sz="8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B2</a:t>
                      </a:r>
                      <a:endParaRPr lang="zh-TW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/>
                        <a:t>筠晏</a:t>
                      </a:r>
                      <a:r>
                        <a:rPr lang="en-US" altLang="zh-TW" sz="1000" dirty="0" smtClean="0"/>
                        <a:t>/</a:t>
                      </a:r>
                      <a:r>
                        <a:rPr lang="zh-TW" altLang="en-US" sz="1000" dirty="0" smtClean="0"/>
                        <a:t>銘仁</a:t>
                      </a:r>
                      <a:r>
                        <a:rPr lang="en-US" altLang="zh-TW" sz="1000" dirty="0" smtClean="0"/>
                        <a:t>/</a:t>
                      </a:r>
                      <a:r>
                        <a:rPr lang="zh-TW" altLang="en-US" sz="1000" dirty="0" smtClean="0"/>
                        <a:t>宗賢</a:t>
                      </a:r>
                      <a:r>
                        <a:rPr lang="en-US" altLang="zh-TW" sz="1000" dirty="0" smtClean="0"/>
                        <a:t>/</a:t>
                      </a:r>
                      <a:r>
                        <a:rPr lang="zh-TW" altLang="en-US" sz="1000" dirty="0" smtClean="0"/>
                        <a:t>怡辰</a:t>
                      </a:r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IMS</a:t>
                      </a:r>
                      <a:r>
                        <a:rPr lang="zh-TW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指標維護及改善</a:t>
                      </a:r>
                      <a:r>
                        <a:rPr lang="en-US" altLang="zh-TW" sz="10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zh-TW" altLang="en-US" sz="10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完成</a:t>
                      </a:r>
                      <a:r>
                        <a:rPr lang="en-US" altLang="zh-TW" sz="10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lnR w="12700" cmpd="sng">
                      <a:noFill/>
                    </a:lnR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主管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怡辰</a:t>
                      </a:r>
                      <a:endParaRPr lang="zh-TW" altLang="en-US" sz="1000" dirty="0" smtClean="0"/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入口網頁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完成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000" dirty="0" smtClean="0"/>
                        <a:t>主管</a:t>
                      </a:r>
                      <a:endParaRPr lang="zh-TW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怡辰</a:t>
                      </a:r>
                      <a:endParaRPr lang="zh-TW" altLang="en-US" sz="1000" dirty="0" smtClean="0"/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rgbClr val="A05314"/>
                          </a:solidFill>
                          <a:latin typeface="+mn-lt"/>
                          <a:ea typeface="+mn-ea"/>
                          <a:cs typeface="+mn-cs"/>
                        </a:rPr>
                        <a:t>MQC</a:t>
                      </a:r>
                      <a:r>
                        <a:rPr lang="zh-TW" altLang="en-US" sz="1000" kern="1200" dirty="0" smtClean="0">
                          <a:solidFill>
                            <a:srgbClr val="A05314"/>
                          </a:solidFill>
                          <a:latin typeface="+mn-lt"/>
                          <a:ea typeface="+mn-ea"/>
                          <a:cs typeface="+mn-cs"/>
                        </a:rPr>
                        <a:t>自動套圖</a:t>
                      </a:r>
                      <a:r>
                        <a:rPr lang="en-US" altLang="zh-TW" sz="1000" kern="1200" dirty="0" smtClean="0">
                          <a:solidFill>
                            <a:srgbClr val="A05314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000" kern="1200" dirty="0" smtClean="0">
                          <a:solidFill>
                            <a:srgbClr val="A05314"/>
                          </a:solidFill>
                          <a:latin typeface="+mn-lt"/>
                          <a:ea typeface="+mn-ea"/>
                          <a:cs typeface="+mn-cs"/>
                        </a:rPr>
                        <a:t>完成</a:t>
                      </a:r>
                      <a:r>
                        <a:rPr lang="en-US" altLang="zh-TW" sz="1000" kern="1200" dirty="0" smtClean="0">
                          <a:solidFill>
                            <a:srgbClr val="A05314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>
                        <a:solidFill>
                          <a:srgbClr val="64DCF0"/>
                        </a:solidFill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P1</a:t>
                      </a:r>
                      <a:endParaRPr lang="zh-TW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dirty="0" smtClean="0"/>
                        <a:t>浩維</a:t>
                      </a:r>
                      <a:r>
                        <a:rPr lang="en-US" altLang="zh-TW" sz="1000" dirty="0" smtClean="0"/>
                        <a:t>/</a:t>
                      </a:r>
                      <a:r>
                        <a:rPr lang="zh-TW" altLang="en-US" sz="1000" dirty="0" smtClean="0"/>
                        <a:t>怡辰</a:t>
                      </a:r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CVD</a:t>
                      </a:r>
                      <a:r>
                        <a:rPr lang="zh-TW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值班查詢系統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T2</a:t>
                      </a:r>
                      <a:endParaRPr lang="zh-TW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昱廷</a:t>
                      </a:r>
                      <a:r>
                        <a:rPr lang="en-US" altLang="zh-TW" sz="1000" dirty="0" smtClean="0"/>
                        <a:t>/</a:t>
                      </a:r>
                      <a:r>
                        <a:rPr lang="zh-TW" altLang="en-US" sz="1000" dirty="0" smtClean="0"/>
                        <a:t>怡辰</a:t>
                      </a:r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CVD-THK MQC</a:t>
                      </a:r>
                      <a:r>
                        <a:rPr lang="zh-TW" altLang="en-US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輔助決策系統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T2</a:t>
                      </a:r>
                      <a:endParaRPr lang="zh-TW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dirty="0" smtClean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昱廷</a:t>
                      </a:r>
                      <a:r>
                        <a:rPr lang="en-US" altLang="zh-TW" sz="1000" dirty="0" smtClean="0"/>
                        <a:t>/</a:t>
                      </a:r>
                      <a:r>
                        <a:rPr lang="zh-TW" altLang="en-US" sz="1000" dirty="0" smtClean="0"/>
                        <a:t>怡辰</a:t>
                      </a:r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AM </a:t>
                      </a: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專案彙整簡表網頁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完成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AM</a:t>
                      </a:r>
                      <a:endParaRPr lang="zh-TW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怡辰</a:t>
                      </a:r>
                      <a:endParaRPr lang="zh-TW" altLang="en-US" sz="1000" dirty="0" smtClean="0"/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AM </a:t>
                      </a: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入口網頁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TW" altLang="en-US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完成</a:t>
                      </a:r>
                      <a:r>
                        <a:rPr lang="en-US" altLang="zh-TW" sz="1000" kern="1200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dirty="0" smtClean="0"/>
                        <a:t>AM</a:t>
                      </a:r>
                      <a:endParaRPr lang="zh-TW" altLang="en-US" sz="1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怡辰</a:t>
                      </a:r>
                      <a:endParaRPr lang="zh-TW" altLang="en-US" sz="1000" dirty="0" smtClean="0"/>
                    </a:p>
                  </a:txBody>
                  <a:tcPr anchor="ctr"/>
                </a:tc>
              </a:tr>
              <a:tr h="300884"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kern="1200" dirty="0" smtClean="0">
                          <a:solidFill>
                            <a:srgbClr val="A05314"/>
                          </a:solidFill>
                          <a:latin typeface="+mn-lt"/>
                          <a:ea typeface="+mn-ea"/>
                          <a:cs typeface="+mn-cs"/>
                        </a:rPr>
                        <a:t>Auto R2R(VER + Chip 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685783" rtl="0" eaLnBrk="1" latinLnBrk="0" hangingPunct="1"/>
                      <a:endParaRPr lang="zh-TW" altLang="en-US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A2EAF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solidFill>
                      <a:srgbClr val="CBD0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/>
                        <a:t>P1</a:t>
                      </a:r>
                      <a:endParaRPr lang="zh-TW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智惟</a:t>
                      </a:r>
                      <a:r>
                        <a:rPr lang="en-US" altLang="zh-TW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文智</a:t>
                      </a:r>
                      <a:r>
                        <a:rPr lang="en-US" altLang="zh-TW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TW" altLang="en-US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怡辰</a:t>
                      </a:r>
                      <a:endParaRPr lang="zh-TW" altLang="en-US" sz="1000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488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301857" y="112427"/>
            <a:ext cx="5390549" cy="1073757"/>
          </a:xfrm>
        </p:spPr>
        <p:txBody>
          <a:bodyPr/>
          <a:lstStyle/>
          <a:p>
            <a:r>
              <a:rPr lang="zh-TW" altLang="en-US" dirty="0"/>
              <a:t>進行中的專案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1848" y="684450"/>
            <a:ext cx="6210444" cy="725541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rgbClr val="000000"/>
                </a:solidFill>
              </a:rPr>
              <a:t>THK</a:t>
            </a:r>
            <a:r>
              <a:rPr lang="zh-TW" altLang="en-US" sz="1600" dirty="0" smtClean="0">
                <a:solidFill>
                  <a:srgbClr val="000000"/>
                </a:solidFill>
              </a:rPr>
              <a:t> </a:t>
            </a:r>
            <a:r>
              <a:rPr lang="en-US" altLang="zh-TW" sz="1600" dirty="0" smtClean="0">
                <a:solidFill>
                  <a:srgbClr val="000000"/>
                </a:solidFill>
              </a:rPr>
              <a:t>MQC</a:t>
            </a:r>
            <a:r>
              <a:rPr lang="zh-TW" altLang="en-US" sz="1600" dirty="0" smtClean="0">
                <a:solidFill>
                  <a:srgbClr val="000000"/>
                </a:solidFill>
              </a:rPr>
              <a:t>輔助決策</a:t>
            </a:r>
            <a:endParaRPr lang="en-US" altLang="zh-TW" sz="1600" dirty="0" smtClean="0">
              <a:solidFill>
                <a:srgbClr val="000000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1600" dirty="0" smtClean="0">
                <a:solidFill>
                  <a:srgbClr val="000000"/>
                </a:solidFill>
              </a:rPr>
              <a:t>值班查詢系統</a:t>
            </a:r>
            <a:endParaRPr lang="en-US" altLang="zh-TW" sz="1600" dirty="0" smtClean="0">
              <a:solidFill>
                <a:srgbClr val="000000"/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TW" sz="1600" dirty="0" smtClean="0">
              <a:solidFill>
                <a:srgbClr val="000000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301847" y="1735595"/>
            <a:ext cx="5390549" cy="6168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 smtClean="0"/>
              <a:t>平展中的專案</a:t>
            </a:r>
            <a:endParaRPr lang="zh-TW" alt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 txBox="1">
            <a:spLocks/>
          </p:cNvSpPr>
          <p:nvPr/>
        </p:nvSpPr>
        <p:spPr>
          <a:xfrm>
            <a:off x="3301846" y="2350316"/>
            <a:ext cx="5390548" cy="99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None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rgbClr val="000000"/>
                </a:solidFill>
              </a:rPr>
              <a:t>Auto R2R(VER + Chip ID)</a:t>
            </a:r>
          </a:p>
        </p:txBody>
      </p:sp>
    </p:spTree>
    <p:extLst>
      <p:ext uri="{BB962C8B-B14F-4D97-AF65-F5344CB8AC3E}">
        <p14:creationId xmlns:p14="http://schemas.microsoft.com/office/powerpoint/2010/main" val="359232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 57"/>
          <p:cNvSpPr/>
          <p:nvPr/>
        </p:nvSpPr>
        <p:spPr>
          <a:xfrm>
            <a:off x="102179" y="4567698"/>
            <a:ext cx="8929989" cy="575801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407119" y="1610465"/>
            <a:ext cx="6553048" cy="2786913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02179" y="1615810"/>
            <a:ext cx="2145719" cy="2781568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0" y="24857"/>
            <a:ext cx="4202012" cy="812876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TW" sz="2800" dirty="0">
                <a:solidFill>
                  <a:schemeClr val="tx1"/>
                </a:solidFill>
              </a:rPr>
              <a:t>CVD</a:t>
            </a:r>
            <a:r>
              <a:rPr lang="zh-TW" altLang="en-US" sz="2800" dirty="0">
                <a:solidFill>
                  <a:schemeClr val="tx1"/>
                </a:solidFill>
              </a:rPr>
              <a:t>值班查詢系統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102179" y="884428"/>
            <a:ext cx="8857989" cy="459774"/>
          </a:xfrm>
          <a:prstGeom prst="roundRect">
            <a:avLst>
              <a:gd name="adj" fmla="val 1637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261402" y="62932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261399" y="1396300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分工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2569236" y="138886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進</a:t>
            </a:r>
            <a:r>
              <a:rPr lang="zh-TW" altLang="en-US" sz="1350" dirty="0">
                <a:solidFill>
                  <a:srgbClr val="FFFFFF"/>
                </a:solidFill>
              </a:rPr>
              <a:t>度</a:t>
            </a:r>
          </a:p>
        </p:txBody>
      </p:sp>
      <p:sp>
        <p:nvSpPr>
          <p:cNvPr id="75" name="文字方塊 74"/>
          <p:cNvSpPr txBox="1"/>
          <p:nvPr/>
        </p:nvSpPr>
        <p:spPr>
          <a:xfrm>
            <a:off x="215172" y="1693684"/>
            <a:ext cx="1970411" cy="1915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sym typeface="Wingdings" panose="05000000000000000000" pitchFamily="2" charset="2"/>
              </a:rPr>
              <a:t>系統開發：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怡辰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/>
              <a:t>網頁框架</a:t>
            </a:r>
            <a:r>
              <a:rPr lang="zh-TW" altLang="en-US" sz="1100" dirty="0" smtClean="0"/>
              <a:t>建置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值班入口連結彙整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巨集</a:t>
            </a:r>
            <a:r>
              <a:rPr lang="en-US" altLang="zh-TW" sz="1100" dirty="0" smtClean="0"/>
              <a:t>VB</a:t>
            </a:r>
            <a:r>
              <a:rPr lang="zh-TW" altLang="en-US" sz="1100" dirty="0" smtClean="0"/>
              <a:t>程式轉換</a:t>
            </a:r>
            <a:r>
              <a:rPr lang="en-US" altLang="zh-TW" sz="1100" dirty="0" smtClean="0"/>
              <a:t>Function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系統資料整合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前端功能建置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1200" dirty="0" smtClean="0"/>
          </a:p>
        </p:txBody>
      </p:sp>
      <p:sp>
        <p:nvSpPr>
          <p:cNvPr id="3" name="矩形 2"/>
          <p:cNvSpPr/>
          <p:nvPr/>
        </p:nvSpPr>
        <p:spPr>
          <a:xfrm>
            <a:off x="257355" y="4700805"/>
            <a:ext cx="8115755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sz="1200" dirty="0"/>
              <a:t>節省工時約</a:t>
            </a:r>
            <a:r>
              <a:rPr lang="en-US" altLang="zh-TW" sz="1200" dirty="0"/>
              <a:t>2hr </a:t>
            </a:r>
            <a:r>
              <a:rPr lang="zh-TW" altLang="zh-TW" sz="1200" dirty="0"/>
              <a:t>每人</a:t>
            </a:r>
            <a:r>
              <a:rPr lang="en-US" altLang="zh-TW" sz="1200" dirty="0"/>
              <a:t>/</a:t>
            </a:r>
            <a:r>
              <a:rPr lang="zh-TW" altLang="zh-TW" sz="1200" dirty="0"/>
              <a:t>每天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74915" y="999778"/>
            <a:ext cx="78024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整合</a:t>
            </a:r>
            <a:r>
              <a:rPr lang="en-US" altLang="zh-TW" sz="1200" dirty="0" smtClean="0"/>
              <a:t>RUM</a:t>
            </a:r>
            <a:r>
              <a:rPr lang="zh-TW" altLang="en-US" sz="1200" dirty="0" smtClean="0"/>
              <a:t>貨資料及生產履歷表 </a:t>
            </a:r>
            <a:r>
              <a:rPr lang="en-US" altLang="zh-TW" sz="1200" dirty="0" smtClean="0"/>
              <a:t>&amp;</a:t>
            </a:r>
            <a:r>
              <a:rPr lang="zh-TW" altLang="en-US" sz="1200" dirty="0" smtClean="0"/>
              <a:t> 完善巨集未具備之查詢功能，簡化值班人員工作流程及節省查詢時</a:t>
            </a:r>
            <a:r>
              <a:rPr lang="zh-TW" altLang="en-US" sz="1200" dirty="0"/>
              <a:t>間</a:t>
            </a:r>
            <a:endParaRPr lang="en-US" altLang="zh-TW" sz="12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215172" y="3249257"/>
            <a:ext cx="1486304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工程：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昱廷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提供連結清單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提供需求</a:t>
            </a:r>
            <a:r>
              <a:rPr lang="zh-TW" altLang="en-US" sz="1100" dirty="0"/>
              <a:t>彙</a:t>
            </a:r>
            <a:r>
              <a:rPr lang="zh-TW" altLang="en-US" sz="1100" dirty="0" smtClean="0"/>
              <a:t>整清單</a:t>
            </a:r>
            <a:endParaRPr lang="en-US" altLang="zh-TW" sz="1100" dirty="0" smtClean="0"/>
          </a:p>
        </p:txBody>
      </p:sp>
      <p:sp>
        <p:nvSpPr>
          <p:cNvPr id="62" name="圓角矩形 61"/>
          <p:cNvSpPr/>
          <p:nvPr/>
        </p:nvSpPr>
        <p:spPr>
          <a:xfrm>
            <a:off x="257355" y="4411312"/>
            <a:ext cx="1632773" cy="27160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效益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7402623" y="52224"/>
            <a:ext cx="970487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：林怡辰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圓角矩形 23"/>
          <p:cNvSpPr/>
          <p:nvPr/>
        </p:nvSpPr>
        <p:spPr>
          <a:xfrm>
            <a:off x="7403780" y="262743"/>
            <a:ext cx="969330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</a:t>
            </a:r>
            <a:r>
              <a:rPr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陳昱廷</a:t>
            </a: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237" y="1775725"/>
            <a:ext cx="2193264" cy="155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 57"/>
          <p:cNvSpPr/>
          <p:nvPr/>
        </p:nvSpPr>
        <p:spPr>
          <a:xfrm>
            <a:off x="102179" y="4567698"/>
            <a:ext cx="8929989" cy="575801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407119" y="1610465"/>
            <a:ext cx="6553048" cy="2786913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02179" y="1615810"/>
            <a:ext cx="2145719" cy="2781568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0" y="24857"/>
            <a:ext cx="4774424" cy="812876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TW" sz="2800" dirty="0">
                <a:solidFill>
                  <a:schemeClr val="tx1"/>
                </a:solidFill>
              </a:rPr>
              <a:t>CVD-THK MQC</a:t>
            </a:r>
            <a:r>
              <a:rPr lang="zh-TW" altLang="en-US" sz="2800" dirty="0">
                <a:solidFill>
                  <a:schemeClr val="tx1"/>
                </a:solidFill>
              </a:rPr>
              <a:t>輔助決策系統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102179" y="884428"/>
            <a:ext cx="8857989" cy="459774"/>
          </a:xfrm>
          <a:prstGeom prst="roundRect">
            <a:avLst>
              <a:gd name="adj" fmla="val 1637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261402" y="62932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261399" y="1396300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分工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2569236" y="138886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進</a:t>
            </a:r>
            <a:r>
              <a:rPr lang="zh-TW" altLang="en-US" sz="1350" dirty="0">
                <a:solidFill>
                  <a:srgbClr val="FFFFFF"/>
                </a:solidFill>
              </a:rPr>
              <a:t>度</a:t>
            </a:r>
          </a:p>
        </p:txBody>
      </p:sp>
      <p:sp>
        <p:nvSpPr>
          <p:cNvPr id="75" name="文字方塊 74"/>
          <p:cNvSpPr txBox="1"/>
          <p:nvPr/>
        </p:nvSpPr>
        <p:spPr>
          <a:xfrm>
            <a:off x="215172" y="1693684"/>
            <a:ext cx="1970411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系統開發</a:t>
            </a:r>
            <a:r>
              <a:rPr lang="zh-TW" altLang="en-US" sz="1200" dirty="0" smtClean="0">
                <a:sym typeface="Wingdings" panose="05000000000000000000" pitchFamily="2" charset="2"/>
              </a:rPr>
              <a:t>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怡辰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100" dirty="0" smtClean="0">
                <a:sym typeface="Wingdings" panose="05000000000000000000" pitchFamily="2" charset="2"/>
              </a:rPr>
              <a:t>爬取程式</a:t>
            </a:r>
            <a:r>
              <a:rPr lang="en-US" altLang="zh-TW" sz="1100" dirty="0" smtClean="0">
                <a:sym typeface="Wingdings" panose="05000000000000000000" pitchFamily="2" charset="2"/>
              </a:rPr>
              <a:t>Function()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TW" altLang="en-US" sz="1100" dirty="0" smtClean="0">
                <a:sym typeface="Wingdings" panose="05000000000000000000" pitchFamily="2" charset="2"/>
              </a:rPr>
              <a:t>資料庫建</a:t>
            </a:r>
            <a:r>
              <a:rPr lang="zh-TW" altLang="en-US" sz="1100" dirty="0">
                <a:sym typeface="Wingdings" panose="05000000000000000000" pitchFamily="2" charset="2"/>
              </a:rPr>
              <a:t>置</a:t>
            </a:r>
            <a:endParaRPr lang="en-US" altLang="zh-TW" sz="1100" dirty="0" smtClean="0"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/>
              <a:t>巨集</a:t>
            </a:r>
            <a:r>
              <a:rPr lang="en-US" altLang="zh-TW" sz="1100" dirty="0"/>
              <a:t>VB</a:t>
            </a:r>
            <a:r>
              <a:rPr lang="zh-TW" altLang="en-US" sz="1100" dirty="0"/>
              <a:t>程式轉換</a:t>
            </a:r>
            <a:r>
              <a:rPr lang="en-US" altLang="zh-TW" sz="1100" dirty="0"/>
              <a:t>Function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網頁建置 </a:t>
            </a:r>
            <a:r>
              <a:rPr lang="en-US" altLang="zh-TW" sz="1100" dirty="0" smtClean="0"/>
              <a:t>&amp;</a:t>
            </a:r>
            <a:r>
              <a:rPr lang="zh-TW" altLang="en-US" sz="1100" dirty="0" smtClean="0"/>
              <a:t>系統資料串接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100" dirty="0" smtClean="0"/>
              <a:t>3D</a:t>
            </a:r>
            <a:r>
              <a:rPr lang="zh-TW" altLang="en-US" sz="1100" dirty="0" smtClean="0"/>
              <a:t>互動圖表</a:t>
            </a:r>
            <a:r>
              <a:rPr lang="en-US" altLang="zh-TW" sz="1100" dirty="0" smtClean="0"/>
              <a:t>Function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/>
              <a:t>線</a:t>
            </a:r>
            <a:r>
              <a:rPr lang="zh-TW" altLang="en-US" sz="1100" dirty="0" smtClean="0"/>
              <a:t>上</a:t>
            </a:r>
            <a:r>
              <a:rPr lang="en-US" altLang="zh-TW" sz="1100" dirty="0" smtClean="0"/>
              <a:t>SPE</a:t>
            </a:r>
            <a:r>
              <a:rPr lang="en-US" altLang="zh-TW" sz="1100" dirty="0"/>
              <a:t>C</a:t>
            </a:r>
            <a:r>
              <a:rPr lang="zh-TW" altLang="en-US" sz="1100" dirty="0" smtClean="0"/>
              <a:t>卡控</a:t>
            </a:r>
            <a:r>
              <a:rPr lang="zh-TW" altLang="en-US" sz="1100" dirty="0"/>
              <a:t>程式</a:t>
            </a:r>
            <a:endParaRPr lang="en-US" altLang="zh-TW" sz="1100" dirty="0" smtClean="0"/>
          </a:p>
        </p:txBody>
      </p:sp>
      <p:sp>
        <p:nvSpPr>
          <p:cNvPr id="3" name="矩形 2"/>
          <p:cNvSpPr/>
          <p:nvPr/>
        </p:nvSpPr>
        <p:spPr>
          <a:xfrm>
            <a:off x="257355" y="4700805"/>
            <a:ext cx="8115755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節省工時約 </a:t>
            </a:r>
            <a:r>
              <a:rPr lang="en-US" altLang="zh-TW" sz="1200" dirty="0"/>
              <a:t>1.5hr </a:t>
            </a:r>
            <a:r>
              <a:rPr lang="zh-TW" altLang="en-US" sz="1200" dirty="0"/>
              <a:t>每人</a:t>
            </a:r>
            <a:r>
              <a:rPr lang="en-US" altLang="zh-TW" sz="1200" dirty="0"/>
              <a:t>/</a:t>
            </a:r>
            <a:r>
              <a:rPr lang="zh-TW" altLang="en-US" sz="1200" dirty="0"/>
              <a:t>每天</a:t>
            </a:r>
            <a:endParaRPr lang="zh-TW" altLang="zh-TW" sz="12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374915" y="999778"/>
            <a:ext cx="5802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整合值班人員</a:t>
            </a:r>
            <a:r>
              <a:rPr lang="en-US" altLang="zh-TW" sz="1200" dirty="0" smtClean="0"/>
              <a:t>RUM</a:t>
            </a:r>
            <a:r>
              <a:rPr lang="zh-TW" altLang="en-US" sz="1200" dirty="0" smtClean="0"/>
              <a:t>貨資料庫資訊 </a:t>
            </a:r>
            <a:r>
              <a:rPr lang="en-US" altLang="zh-TW" sz="1200" dirty="0" smtClean="0"/>
              <a:t>&amp;</a:t>
            </a:r>
            <a:r>
              <a:rPr lang="zh-TW" altLang="en-US" sz="1200" dirty="0" smtClean="0"/>
              <a:t> 完善所需之查詢功能</a:t>
            </a:r>
            <a:endParaRPr lang="en-US" altLang="zh-TW" sz="1200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215172" y="3599286"/>
            <a:ext cx="1521570" cy="6232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工程：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昱廷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100" dirty="0" smtClean="0"/>
              <a:t> </a:t>
            </a:r>
            <a:r>
              <a:rPr lang="zh-TW" altLang="en-US" sz="1100" dirty="0" smtClean="0"/>
              <a:t>提供需求</a:t>
            </a:r>
            <a:r>
              <a:rPr lang="zh-TW" altLang="en-US" sz="1100" dirty="0"/>
              <a:t>彙</a:t>
            </a:r>
            <a:r>
              <a:rPr lang="zh-TW" altLang="en-US" sz="1100" dirty="0" smtClean="0"/>
              <a:t>整清單</a:t>
            </a:r>
            <a:endParaRPr lang="en-US" altLang="zh-TW" sz="1100" dirty="0" smtClean="0"/>
          </a:p>
        </p:txBody>
      </p:sp>
      <p:sp>
        <p:nvSpPr>
          <p:cNvPr id="22" name="圓角矩形 21"/>
          <p:cNvSpPr/>
          <p:nvPr/>
        </p:nvSpPr>
        <p:spPr>
          <a:xfrm>
            <a:off x="7402623" y="52224"/>
            <a:ext cx="970487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：林怡辰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7403780" y="262743"/>
            <a:ext cx="969330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</a:t>
            </a:r>
            <a:r>
              <a:rPr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陳昱廷</a:t>
            </a:r>
          </a:p>
        </p:txBody>
      </p:sp>
      <p:sp>
        <p:nvSpPr>
          <p:cNvPr id="62" name="圓角矩形 61"/>
          <p:cNvSpPr/>
          <p:nvPr/>
        </p:nvSpPr>
        <p:spPr>
          <a:xfrm>
            <a:off x="257355" y="4411312"/>
            <a:ext cx="1632773" cy="27160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效益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236" y="1831385"/>
            <a:ext cx="4037940" cy="160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9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 57"/>
          <p:cNvSpPr/>
          <p:nvPr/>
        </p:nvSpPr>
        <p:spPr>
          <a:xfrm>
            <a:off x="102179" y="4567698"/>
            <a:ext cx="2145719" cy="575801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407119" y="1610465"/>
            <a:ext cx="6553048" cy="3418735"/>
          </a:xfrm>
          <a:prstGeom prst="roundRect">
            <a:avLst>
              <a:gd name="adj" fmla="val 257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02179" y="1615810"/>
            <a:ext cx="2145719" cy="2781568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0" y="24857"/>
            <a:ext cx="4774424" cy="812876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TW" sz="2800" dirty="0" smtClean="0">
                <a:solidFill>
                  <a:schemeClr val="tx1"/>
                </a:solidFill>
              </a:rPr>
              <a:t>AM</a:t>
            </a:r>
            <a:r>
              <a:rPr lang="zh-TW" altLang="en-US" sz="2800" dirty="0" smtClean="0">
                <a:solidFill>
                  <a:schemeClr val="tx1"/>
                </a:solidFill>
              </a:rPr>
              <a:t>功能網頁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02179" y="884428"/>
            <a:ext cx="8857989" cy="646116"/>
          </a:xfrm>
          <a:prstGeom prst="roundRect">
            <a:avLst>
              <a:gd name="adj" fmla="val 1637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261402" y="62932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257355" y="1666348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分工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2565192" y="1658911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進</a:t>
            </a:r>
            <a:r>
              <a:rPr lang="zh-TW" altLang="en-US" sz="1350" dirty="0">
                <a:solidFill>
                  <a:srgbClr val="FFFFFF"/>
                </a:solidFill>
              </a:rPr>
              <a:t>度</a:t>
            </a:r>
          </a:p>
        </p:txBody>
      </p:sp>
      <p:sp>
        <p:nvSpPr>
          <p:cNvPr id="75" name="文字方塊 74"/>
          <p:cNvSpPr txBox="1"/>
          <p:nvPr/>
        </p:nvSpPr>
        <p:spPr>
          <a:xfrm>
            <a:off x="215172" y="1989697"/>
            <a:ext cx="1970411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系統開發</a:t>
            </a:r>
            <a:r>
              <a:rPr lang="zh-TW" altLang="en-US" sz="1200" dirty="0" smtClean="0">
                <a:sym typeface="Wingdings" panose="05000000000000000000" pitchFamily="2" charset="2"/>
              </a:rPr>
              <a:t>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怡辰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>
                <a:sym typeface="Wingdings" panose="05000000000000000000" pitchFamily="2" charset="2"/>
              </a:rPr>
              <a:t>爬取程式</a:t>
            </a:r>
            <a:r>
              <a:rPr lang="en-US" altLang="zh-TW" sz="1100" dirty="0" smtClean="0">
                <a:sym typeface="Wingdings" panose="05000000000000000000" pitchFamily="2" charset="2"/>
              </a:rPr>
              <a:t>Function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>
                <a:sym typeface="Wingdings" panose="05000000000000000000" pitchFamily="2" charset="2"/>
              </a:rPr>
              <a:t>資料庫建</a:t>
            </a:r>
            <a:r>
              <a:rPr lang="zh-TW" altLang="en-US" sz="1100" dirty="0">
                <a:sym typeface="Wingdings" panose="05000000000000000000" pitchFamily="2" charset="2"/>
              </a:rPr>
              <a:t>置</a:t>
            </a:r>
            <a:endParaRPr lang="en-US" altLang="zh-TW" sz="1100" dirty="0" smtClean="0">
              <a:sym typeface="Wingdings" panose="05000000000000000000" pitchFamily="2" charset="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/>
              <a:t>巨集</a:t>
            </a:r>
            <a:r>
              <a:rPr lang="en-US" altLang="zh-TW" sz="1100" dirty="0"/>
              <a:t>VB</a:t>
            </a:r>
            <a:r>
              <a:rPr lang="zh-TW" altLang="en-US" sz="1100" dirty="0"/>
              <a:t>程式轉換</a:t>
            </a:r>
            <a:r>
              <a:rPr lang="en-US" altLang="zh-TW" sz="1100" dirty="0"/>
              <a:t>Function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網頁建置 </a:t>
            </a:r>
            <a:r>
              <a:rPr lang="en-US" altLang="zh-TW" sz="1100" dirty="0" smtClean="0"/>
              <a:t>&amp;</a:t>
            </a:r>
            <a:r>
              <a:rPr lang="zh-TW" altLang="en-US" sz="1100" dirty="0" smtClean="0"/>
              <a:t>系統資料串接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100" dirty="0" smtClean="0"/>
              <a:t>3D</a:t>
            </a:r>
            <a:r>
              <a:rPr lang="zh-TW" altLang="en-US" sz="1100" dirty="0" smtClean="0"/>
              <a:t>互動圖表</a:t>
            </a:r>
            <a:r>
              <a:rPr lang="en-US" altLang="zh-TW" sz="1100" dirty="0" smtClean="0"/>
              <a:t>Function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/>
              <a:t>線</a:t>
            </a:r>
            <a:r>
              <a:rPr lang="zh-TW" altLang="en-US" sz="1100" dirty="0" smtClean="0"/>
              <a:t>上</a:t>
            </a:r>
            <a:r>
              <a:rPr lang="en-US" altLang="zh-TW" sz="1100" dirty="0" smtClean="0"/>
              <a:t>SPE</a:t>
            </a:r>
            <a:r>
              <a:rPr lang="en-US" altLang="zh-TW" sz="1100" dirty="0"/>
              <a:t>C</a:t>
            </a:r>
            <a:r>
              <a:rPr lang="zh-TW" altLang="en-US" sz="1100" dirty="0" smtClean="0"/>
              <a:t>卡控</a:t>
            </a:r>
            <a:r>
              <a:rPr lang="zh-TW" altLang="en-US" sz="1100" dirty="0"/>
              <a:t>程式</a:t>
            </a:r>
            <a:endParaRPr lang="en-US" altLang="zh-TW" sz="1100" dirty="0" smtClean="0"/>
          </a:p>
        </p:txBody>
      </p:sp>
      <p:sp>
        <p:nvSpPr>
          <p:cNvPr id="3" name="矩形 2"/>
          <p:cNvSpPr/>
          <p:nvPr/>
        </p:nvSpPr>
        <p:spPr>
          <a:xfrm>
            <a:off x="257355" y="4700805"/>
            <a:ext cx="1901645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一站式入口、易於</a:t>
            </a:r>
            <a:r>
              <a:rPr lang="zh-TW" altLang="en-US" sz="1200" dirty="0"/>
              <a:t>管理</a:t>
            </a:r>
            <a:endParaRPr lang="zh-TW" altLang="zh-TW" sz="12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374915" y="999778"/>
            <a:ext cx="5802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入口網頁</a:t>
            </a:r>
            <a:r>
              <a:rPr lang="en-US" altLang="zh-TW" sz="1200" dirty="0" smtClean="0"/>
              <a:t>-</a:t>
            </a:r>
            <a:r>
              <a:rPr lang="zh-TW" altLang="en-US" sz="1200" dirty="0" smtClean="0"/>
              <a:t> </a:t>
            </a:r>
            <a:r>
              <a:rPr lang="en-US" altLang="zh-TW" sz="1200" dirty="0" smtClean="0"/>
              <a:t>BY</a:t>
            </a:r>
            <a:r>
              <a:rPr lang="zh-TW" altLang="en-US" sz="1200" dirty="0" smtClean="0"/>
              <a:t>功能</a:t>
            </a:r>
            <a:r>
              <a:rPr lang="en-US" altLang="zh-TW" sz="1200" dirty="0" smtClean="0"/>
              <a:t>&amp;</a:t>
            </a:r>
            <a:r>
              <a:rPr lang="zh-TW" altLang="en-US" sz="1200" dirty="0" smtClean="0"/>
              <a:t>開發者區分彙整網頁</a:t>
            </a:r>
            <a:endParaRPr lang="en-US" altLang="zh-TW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專案彙整與效益簡表網頁</a:t>
            </a:r>
            <a:r>
              <a:rPr lang="en-US" altLang="zh-TW" sz="1200" dirty="0" smtClean="0"/>
              <a:t>-</a:t>
            </a:r>
            <a:r>
              <a:rPr lang="zh-TW" altLang="en-US" sz="1200" dirty="0" smtClean="0"/>
              <a:t> 部門內不統組別</a:t>
            </a:r>
            <a:r>
              <a:rPr lang="en-US" altLang="zh-TW" sz="1200" dirty="0" smtClean="0"/>
              <a:t>&amp;</a:t>
            </a:r>
            <a:r>
              <a:rPr lang="zh-TW" altLang="en-US" sz="1200" dirty="0" smtClean="0"/>
              <a:t>使用者之專案</a:t>
            </a:r>
            <a:r>
              <a:rPr lang="en-US" altLang="zh-TW" sz="1200" dirty="0" smtClean="0"/>
              <a:t>&amp;</a:t>
            </a:r>
            <a:r>
              <a:rPr lang="zh-TW" altLang="en-US" sz="1200" dirty="0"/>
              <a:t>效益清單彙整</a:t>
            </a:r>
            <a:endParaRPr lang="en-US" altLang="zh-TW" sz="1200" dirty="0"/>
          </a:p>
        </p:txBody>
      </p:sp>
      <p:sp>
        <p:nvSpPr>
          <p:cNvPr id="22" name="圓角矩形 21"/>
          <p:cNvSpPr/>
          <p:nvPr/>
        </p:nvSpPr>
        <p:spPr>
          <a:xfrm>
            <a:off x="7402623" y="52224"/>
            <a:ext cx="970487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：林怡辰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7403780" y="262743"/>
            <a:ext cx="969330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</a:t>
            </a:r>
            <a:r>
              <a:rPr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陳昱廷</a:t>
            </a:r>
          </a:p>
        </p:txBody>
      </p:sp>
      <p:sp>
        <p:nvSpPr>
          <p:cNvPr id="62" name="圓角矩形 61"/>
          <p:cNvSpPr/>
          <p:nvPr/>
        </p:nvSpPr>
        <p:spPr>
          <a:xfrm>
            <a:off x="257355" y="4411312"/>
            <a:ext cx="1632773" cy="27160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效益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532" y="2048248"/>
            <a:ext cx="2277017" cy="1117652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2346549" y="2257948"/>
            <a:ext cx="338554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TW" altLang="en-US" sz="1000" dirty="0" smtClean="0"/>
              <a:t>入口網頁</a:t>
            </a:r>
            <a:endParaRPr lang="zh-TW" altLang="en-US" sz="10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532" y="3287988"/>
            <a:ext cx="3965040" cy="960068"/>
          </a:xfrm>
          <a:prstGeom prst="rect">
            <a:avLst/>
          </a:prstGeom>
        </p:spPr>
      </p:pic>
      <p:sp>
        <p:nvSpPr>
          <p:cNvPr id="24" name="文字方塊 23"/>
          <p:cNvSpPr txBox="1"/>
          <p:nvPr/>
        </p:nvSpPr>
        <p:spPr>
          <a:xfrm>
            <a:off x="2346549" y="3590646"/>
            <a:ext cx="338554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TW" altLang="en-US" sz="1000" dirty="0" smtClean="0"/>
              <a:t>專案效益簡表</a:t>
            </a:r>
            <a:endParaRPr lang="zh-TW" altLang="en-US" sz="1000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5"/>
          <a:srcRect l="33356" r="11964"/>
          <a:stretch/>
        </p:blipFill>
        <p:spPr>
          <a:xfrm>
            <a:off x="2604977" y="4332289"/>
            <a:ext cx="2123778" cy="585871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8365" y="4337036"/>
            <a:ext cx="2548666" cy="613353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2623" y="2863242"/>
            <a:ext cx="1468830" cy="212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03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 57"/>
          <p:cNvSpPr/>
          <p:nvPr/>
        </p:nvSpPr>
        <p:spPr>
          <a:xfrm>
            <a:off x="102179" y="4567698"/>
            <a:ext cx="8929989" cy="575801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407119" y="1610465"/>
            <a:ext cx="6553048" cy="2786913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02179" y="1615810"/>
            <a:ext cx="2145719" cy="2781568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0" y="24857"/>
            <a:ext cx="4774424" cy="812876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TW" sz="2800" dirty="0">
                <a:solidFill>
                  <a:srgbClr val="A05314"/>
                </a:solidFill>
              </a:rPr>
              <a:t>Auto </a:t>
            </a:r>
            <a:r>
              <a:rPr lang="en-US" altLang="zh-TW" sz="2800" dirty="0" smtClean="0">
                <a:solidFill>
                  <a:srgbClr val="A05314"/>
                </a:solidFill>
              </a:rPr>
              <a:t>R2R(Chip </a:t>
            </a:r>
            <a:r>
              <a:rPr lang="en-US" altLang="zh-TW" sz="2800" dirty="0">
                <a:solidFill>
                  <a:srgbClr val="A05314"/>
                </a:solidFill>
              </a:rPr>
              <a:t>ID)</a:t>
            </a:r>
          </a:p>
        </p:txBody>
      </p:sp>
      <p:sp>
        <p:nvSpPr>
          <p:cNvPr id="7" name="圓角矩形 6"/>
          <p:cNvSpPr/>
          <p:nvPr/>
        </p:nvSpPr>
        <p:spPr>
          <a:xfrm>
            <a:off x="102179" y="884428"/>
            <a:ext cx="8857989" cy="459774"/>
          </a:xfrm>
          <a:prstGeom prst="roundRect">
            <a:avLst>
              <a:gd name="adj" fmla="val 1637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261402" y="62932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261399" y="1396300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分工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2569236" y="138886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進</a:t>
            </a:r>
            <a:r>
              <a:rPr lang="zh-TW" altLang="en-US" sz="1350" dirty="0">
                <a:solidFill>
                  <a:srgbClr val="FFFFFF"/>
                </a:solidFill>
              </a:rPr>
              <a:t>度</a:t>
            </a:r>
          </a:p>
        </p:txBody>
      </p:sp>
      <p:sp>
        <p:nvSpPr>
          <p:cNvPr id="75" name="文字方塊 74"/>
          <p:cNvSpPr txBox="1"/>
          <p:nvPr/>
        </p:nvSpPr>
        <p:spPr>
          <a:xfrm>
            <a:off x="215172" y="1693684"/>
            <a:ext cx="1563248" cy="19159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系統開發</a:t>
            </a:r>
            <a:r>
              <a:rPr lang="zh-TW" altLang="en-US" sz="1200" dirty="0" smtClean="0">
                <a:sym typeface="Wingdings" panose="05000000000000000000" pitchFamily="2" charset="2"/>
              </a:rPr>
              <a:t>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怡辰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100" dirty="0" smtClean="0"/>
              <a:t>MQC</a:t>
            </a:r>
            <a:r>
              <a:rPr lang="zh-TW" altLang="en-US" sz="1100" dirty="0" smtClean="0"/>
              <a:t>影像取</a:t>
            </a:r>
            <a:r>
              <a:rPr lang="zh-TW" altLang="en-US" sz="1100" dirty="0"/>
              <a:t>像</a:t>
            </a:r>
            <a:endParaRPr lang="en-US" altLang="zh-TW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100" dirty="0"/>
              <a:t>AI</a:t>
            </a:r>
            <a:r>
              <a:rPr lang="zh-TW" altLang="en-US" sz="1100" dirty="0"/>
              <a:t>模型訓練</a:t>
            </a:r>
            <a:endParaRPr lang="en-US" altLang="zh-TW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/>
              <a:t>自動化程式</a:t>
            </a:r>
            <a:endParaRPr lang="en-US" altLang="zh-TW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/>
              <a:t>量測演算法</a:t>
            </a:r>
            <a:endParaRPr lang="en-US" altLang="zh-TW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100" dirty="0"/>
              <a:t>UI</a:t>
            </a:r>
            <a:r>
              <a:rPr lang="zh-TW" altLang="en-US" sz="1100" dirty="0"/>
              <a:t>介面</a:t>
            </a:r>
            <a:endParaRPr lang="en-US" altLang="zh-TW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1200" dirty="0" smtClean="0"/>
          </a:p>
        </p:txBody>
      </p:sp>
      <p:sp>
        <p:nvSpPr>
          <p:cNvPr id="3" name="矩形 2"/>
          <p:cNvSpPr/>
          <p:nvPr/>
        </p:nvSpPr>
        <p:spPr>
          <a:xfrm>
            <a:off x="257355" y="4700805"/>
            <a:ext cx="8115755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節省工時約 </a:t>
            </a:r>
            <a:r>
              <a:rPr lang="en-US" altLang="zh-TW" sz="1200" dirty="0"/>
              <a:t>1.5hr </a:t>
            </a:r>
            <a:r>
              <a:rPr lang="zh-TW" altLang="en-US" sz="1200" dirty="0"/>
              <a:t>每人</a:t>
            </a:r>
            <a:r>
              <a:rPr lang="en-US" altLang="zh-TW" sz="1200" dirty="0"/>
              <a:t>/</a:t>
            </a:r>
            <a:r>
              <a:rPr lang="zh-TW" altLang="en-US" sz="1200" dirty="0"/>
              <a:t>每天</a:t>
            </a:r>
            <a:endParaRPr lang="zh-TW" altLang="zh-TW" sz="1200" dirty="0"/>
          </a:p>
        </p:txBody>
      </p:sp>
      <p:sp>
        <p:nvSpPr>
          <p:cNvPr id="40" name="文字方塊 39"/>
          <p:cNvSpPr txBox="1"/>
          <p:nvPr/>
        </p:nvSpPr>
        <p:spPr>
          <a:xfrm>
            <a:off x="374914" y="999778"/>
            <a:ext cx="6620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TW" altLang="en-US" sz="1200" dirty="0">
                <a:latin typeface="+mn-ea"/>
              </a:rPr>
              <a:t>藉</a:t>
            </a:r>
            <a:r>
              <a:rPr lang="zh-TW" altLang="en-US" sz="1200" dirty="0" smtClean="0">
                <a:latin typeface="+mn-ea"/>
              </a:rPr>
              <a:t>由</a:t>
            </a:r>
            <a:r>
              <a:rPr lang="en-US" altLang="zh-TW" sz="1200" dirty="0" smtClean="0">
                <a:latin typeface="+mn-ea"/>
              </a:rPr>
              <a:t>AI</a:t>
            </a:r>
            <a:r>
              <a:rPr lang="zh-TW" altLang="en-US" sz="1200" dirty="0" smtClean="0">
                <a:latin typeface="+mn-ea"/>
              </a:rPr>
              <a:t>辨識系統節省技師檢測影像之作業時間 </a:t>
            </a:r>
            <a:r>
              <a:rPr lang="en-US" altLang="zh-TW" sz="1200" dirty="0" smtClean="0">
                <a:latin typeface="+mn-ea"/>
              </a:rPr>
              <a:t>&amp;</a:t>
            </a:r>
            <a:r>
              <a:rPr lang="zh-TW" altLang="en-US" sz="1200" dirty="0" smtClean="0">
                <a:latin typeface="+mn-ea"/>
              </a:rPr>
              <a:t> 量測影像物件位移偏差及計算補值數據回填機台</a:t>
            </a:r>
            <a:endParaRPr lang="en-US" altLang="zh-TW" sz="1200" dirty="0" smtClean="0">
              <a:latin typeface="+mn-ea"/>
            </a:endParaRPr>
          </a:p>
          <a:p>
            <a:pPr lvl="0"/>
            <a:endParaRPr lang="en-US" altLang="zh-TW" sz="1200" dirty="0">
              <a:latin typeface="+mn-ea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15172" y="3348568"/>
            <a:ext cx="177484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工程：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昱廷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提供</a:t>
            </a:r>
            <a:r>
              <a:rPr lang="en-US" altLang="zh-TW" sz="1100" dirty="0" smtClean="0"/>
              <a:t>Model</a:t>
            </a:r>
            <a:r>
              <a:rPr lang="zh-TW" altLang="en-US" sz="1100" dirty="0" smtClean="0"/>
              <a:t>製程規格</a:t>
            </a:r>
            <a:endParaRPr lang="en-US" altLang="zh-TW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100" dirty="0" smtClean="0"/>
              <a:t>調整</a:t>
            </a:r>
            <a:r>
              <a:rPr lang="en-US" altLang="zh-TW" sz="1100" dirty="0" smtClean="0"/>
              <a:t>Recipe</a:t>
            </a:r>
            <a:r>
              <a:rPr lang="zh-TW" altLang="en-US" sz="1100" dirty="0" smtClean="0"/>
              <a:t>拍照定位</a:t>
            </a:r>
            <a:r>
              <a:rPr lang="zh-TW" altLang="en-US" sz="1100" dirty="0"/>
              <a:t>點</a:t>
            </a:r>
            <a:endParaRPr lang="en-US" altLang="zh-TW" sz="1100" dirty="0" smtClean="0"/>
          </a:p>
        </p:txBody>
      </p:sp>
      <p:sp>
        <p:nvSpPr>
          <p:cNvPr id="22" name="圓角矩形 21"/>
          <p:cNvSpPr/>
          <p:nvPr/>
        </p:nvSpPr>
        <p:spPr>
          <a:xfrm>
            <a:off x="7402623" y="52224"/>
            <a:ext cx="970487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：林怡辰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7403780" y="262743"/>
            <a:ext cx="969330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P1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 梁智</a:t>
            </a:r>
            <a:r>
              <a:rPr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惟</a:t>
            </a:r>
          </a:p>
        </p:txBody>
      </p:sp>
      <p:sp>
        <p:nvSpPr>
          <p:cNvPr id="62" name="圓角矩形 61"/>
          <p:cNvSpPr/>
          <p:nvPr/>
        </p:nvSpPr>
        <p:spPr>
          <a:xfrm>
            <a:off x="257355" y="4411312"/>
            <a:ext cx="1632773" cy="271607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效益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38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 57"/>
          <p:cNvSpPr/>
          <p:nvPr/>
        </p:nvSpPr>
        <p:spPr>
          <a:xfrm>
            <a:off x="102179" y="4365419"/>
            <a:ext cx="8929989" cy="714566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407121" y="1792142"/>
            <a:ext cx="6553048" cy="2393620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102181" y="1797485"/>
            <a:ext cx="2145719" cy="2388277"/>
          </a:xfrm>
          <a:prstGeom prst="roundRect">
            <a:avLst>
              <a:gd name="adj" fmla="val 722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 smtClean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標題 1"/>
          <p:cNvSpPr>
            <a:spLocks noGrp="1"/>
          </p:cNvSpPr>
          <p:nvPr>
            <p:ph type="ctrTitle"/>
          </p:nvPr>
        </p:nvSpPr>
        <p:spPr>
          <a:xfrm>
            <a:off x="-1" y="24857"/>
            <a:ext cx="7032507" cy="812876"/>
          </a:xfrm>
        </p:spPr>
        <p:txBody>
          <a:bodyPr>
            <a:normAutofit/>
          </a:bodyPr>
          <a:lstStyle/>
          <a:p>
            <a:r>
              <a:rPr lang="en-US" altLang="zh-TW" sz="3100" dirty="0" smtClean="0"/>
              <a:t>ODF</a:t>
            </a:r>
            <a:r>
              <a:rPr lang="zh-TW" altLang="en-US" sz="3100" dirty="0" smtClean="0"/>
              <a:t> </a:t>
            </a:r>
            <a:r>
              <a:rPr lang="en-US" altLang="zh-TW" sz="3100" dirty="0" smtClean="0"/>
              <a:t>Nozzle</a:t>
            </a:r>
            <a:r>
              <a:rPr lang="zh-TW" altLang="en-US" sz="3100" dirty="0" smtClean="0"/>
              <a:t>檢查機</a:t>
            </a:r>
            <a:endParaRPr lang="zh-TW" altLang="en-US" sz="3100" dirty="0"/>
          </a:p>
        </p:txBody>
      </p:sp>
      <p:sp>
        <p:nvSpPr>
          <p:cNvPr id="7" name="圓角矩形 6"/>
          <p:cNvSpPr/>
          <p:nvPr/>
        </p:nvSpPr>
        <p:spPr>
          <a:xfrm>
            <a:off x="102179" y="884427"/>
            <a:ext cx="8824645" cy="657105"/>
          </a:xfrm>
          <a:prstGeom prst="roundRect">
            <a:avLst>
              <a:gd name="adj" fmla="val 1637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261402" y="62932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5" name="圓角矩形 14"/>
          <p:cNvSpPr/>
          <p:nvPr/>
        </p:nvSpPr>
        <p:spPr>
          <a:xfrm>
            <a:off x="261401" y="1631315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專案分工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2569238" y="1623878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進</a:t>
            </a:r>
            <a:r>
              <a:rPr lang="zh-TW" altLang="en-US" sz="1350" dirty="0">
                <a:solidFill>
                  <a:srgbClr val="FFFFFF"/>
                </a:solidFill>
              </a:rPr>
              <a:t>度</a:t>
            </a:r>
          </a:p>
        </p:txBody>
      </p:sp>
      <p:sp>
        <p:nvSpPr>
          <p:cNvPr id="75" name="文字方塊 74"/>
          <p:cNvSpPr txBox="1"/>
          <p:nvPr/>
        </p:nvSpPr>
        <p:spPr>
          <a:xfrm>
            <a:off x="179414" y="2019456"/>
            <a:ext cx="187583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sym typeface="Wingdings" panose="05000000000000000000" pitchFamily="2" charset="2"/>
              </a:rPr>
              <a:t>檢查機開發：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宗賢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硬體評估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XY</a:t>
            </a:r>
            <a:r>
              <a:rPr lang="zh-TW" altLang="en-US" sz="1200" dirty="0" smtClean="0"/>
              <a:t>平台</a:t>
            </a:r>
            <a:r>
              <a:rPr lang="en-US" altLang="zh-TW" sz="1200" dirty="0" smtClean="0"/>
              <a:t>/</a:t>
            </a:r>
            <a:r>
              <a:rPr lang="zh-TW" altLang="en-US" sz="1200" dirty="0" smtClean="0"/>
              <a:t>治具廠商對接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顯微鏡取像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AI</a:t>
            </a:r>
            <a:r>
              <a:rPr lang="zh-TW" altLang="en-US" sz="1200" dirty="0"/>
              <a:t>模型</a:t>
            </a:r>
            <a:r>
              <a:rPr lang="zh-TW" altLang="en-US" sz="1200" dirty="0" smtClean="0"/>
              <a:t>訓練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自動化程式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量測演算</a:t>
            </a:r>
            <a:r>
              <a:rPr lang="zh-TW" altLang="en-US" sz="1200" dirty="0"/>
              <a:t>法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UI</a:t>
            </a:r>
            <a:r>
              <a:rPr lang="zh-TW" altLang="en-US" sz="1200" dirty="0" smtClean="0"/>
              <a:t>介面</a:t>
            </a:r>
            <a:endParaRPr lang="en-US" altLang="zh-TW" sz="1200" dirty="0" smtClean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</p:txBody>
      </p:sp>
      <p:sp>
        <p:nvSpPr>
          <p:cNvPr id="62" name="圓角矩形 61"/>
          <p:cNvSpPr/>
          <p:nvPr/>
        </p:nvSpPr>
        <p:spPr>
          <a:xfrm>
            <a:off x="261401" y="4197224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1350" dirty="0" smtClean="0">
                <a:solidFill>
                  <a:srgbClr val="FFFFFF"/>
                </a:solidFill>
              </a:rPr>
              <a:t>效益</a:t>
            </a:r>
            <a:endParaRPr lang="zh-TW" altLang="en-US" sz="1350" dirty="0">
              <a:solidFill>
                <a:srgbClr val="FFFF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9839" y="4499371"/>
            <a:ext cx="811575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zh-TW" sz="1000" dirty="0"/>
              <a:t>每月約</a:t>
            </a:r>
            <a:r>
              <a:rPr lang="en-US" altLang="zh-TW" sz="1000" dirty="0"/>
              <a:t>4,500</a:t>
            </a:r>
            <a:r>
              <a:rPr lang="zh-TW" altLang="zh-TW" sz="1000" dirty="0"/>
              <a:t>支</a:t>
            </a:r>
            <a:r>
              <a:rPr lang="en-US" altLang="zh-TW" sz="1000" dirty="0"/>
              <a:t>nozzle</a:t>
            </a:r>
            <a:r>
              <a:rPr lang="zh-TW" altLang="zh-TW" sz="1000" dirty="0"/>
              <a:t>檢查，每支</a:t>
            </a:r>
            <a:r>
              <a:rPr lang="en-US" altLang="zh-TW" sz="1000" dirty="0"/>
              <a:t>nozzle</a:t>
            </a:r>
            <a:r>
              <a:rPr lang="zh-TW" altLang="zh-TW" sz="1000" dirty="0"/>
              <a:t>檢查耗時</a:t>
            </a:r>
            <a:r>
              <a:rPr lang="en-US" altLang="zh-TW" sz="1000" dirty="0"/>
              <a:t>10</a:t>
            </a:r>
            <a:r>
              <a:rPr lang="zh-TW" altLang="zh-TW" sz="1000" dirty="0"/>
              <a:t>秒，清洗完</a:t>
            </a:r>
            <a:r>
              <a:rPr lang="en-US" altLang="zh-TW" sz="1000" dirty="0"/>
              <a:t>&amp;</a:t>
            </a:r>
            <a:r>
              <a:rPr lang="zh-TW" altLang="zh-TW" sz="1000" dirty="0"/>
              <a:t>組裝前檢查各檢查</a:t>
            </a:r>
            <a:r>
              <a:rPr lang="en-US" altLang="zh-TW" sz="1000" dirty="0"/>
              <a:t>1</a:t>
            </a:r>
            <a:r>
              <a:rPr lang="zh-TW" altLang="zh-TW" sz="1000" dirty="0" smtClean="0"/>
              <a:t>次</a:t>
            </a:r>
            <a:r>
              <a:rPr lang="en-US" altLang="zh-TW" sz="1000" dirty="0" smtClean="0"/>
              <a:t>=&gt;4500</a:t>
            </a:r>
            <a:r>
              <a:rPr lang="zh-TW" altLang="en-US" sz="1000" dirty="0" smtClean="0"/>
              <a:t>支</a:t>
            </a:r>
            <a:r>
              <a:rPr lang="en-US" altLang="zh-TW" sz="1000" dirty="0" smtClean="0"/>
              <a:t>/</a:t>
            </a:r>
            <a:r>
              <a:rPr lang="zh-TW" altLang="en-US" sz="1000" dirty="0" smtClean="0"/>
              <a:t>月</a:t>
            </a:r>
            <a:r>
              <a:rPr lang="en-US" altLang="zh-TW" sz="1000" dirty="0" smtClean="0"/>
              <a:t>*10(</a:t>
            </a:r>
            <a:r>
              <a:rPr lang="zh-TW" altLang="en-US" sz="1000" dirty="0" smtClean="0"/>
              <a:t>秒</a:t>
            </a:r>
            <a:r>
              <a:rPr lang="en-US" altLang="zh-TW" sz="1000" dirty="0" smtClean="0"/>
              <a:t>)*2(</a:t>
            </a:r>
            <a:r>
              <a:rPr lang="zh-TW" altLang="en-US" sz="1000" dirty="0" smtClean="0"/>
              <a:t>次</a:t>
            </a:r>
            <a:r>
              <a:rPr lang="en-US" altLang="zh-TW" sz="1000" dirty="0" smtClean="0"/>
              <a:t>)=</a:t>
            </a:r>
            <a:r>
              <a:rPr lang="en-US" altLang="zh-TW" sz="1000" dirty="0" smtClean="0">
                <a:solidFill>
                  <a:srgbClr val="0070C0"/>
                </a:solidFill>
              </a:rPr>
              <a:t>25hrs/</a:t>
            </a:r>
            <a:r>
              <a:rPr lang="zh-TW" altLang="en-US" sz="1000" dirty="0" smtClean="0">
                <a:solidFill>
                  <a:srgbClr val="0070C0"/>
                </a:solidFill>
              </a:rPr>
              <a:t>月</a:t>
            </a:r>
            <a:endParaRPr lang="en-US" altLang="zh-TW" sz="1000" dirty="0" smtClean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000" dirty="0" smtClean="0"/>
              <a:t>每月</a:t>
            </a:r>
            <a:r>
              <a:rPr lang="en-US" altLang="zh-TW" sz="1000" dirty="0" smtClean="0"/>
              <a:t>Seal</a:t>
            </a:r>
            <a:r>
              <a:rPr lang="zh-TW" altLang="en-US" sz="1000" dirty="0" smtClean="0"/>
              <a:t>異常報廢約</a:t>
            </a:r>
            <a:r>
              <a:rPr lang="en-US" altLang="zh-TW" sz="1000" dirty="0" smtClean="0"/>
              <a:t>5,230</a:t>
            </a:r>
            <a:r>
              <a:rPr lang="zh-TW" altLang="en-US" sz="1000" dirty="0"/>
              <a:t>片</a:t>
            </a:r>
            <a:r>
              <a:rPr lang="en-US" altLang="zh-TW" sz="1000" dirty="0" smtClean="0"/>
              <a:t>chip</a:t>
            </a:r>
            <a:r>
              <a:rPr lang="zh-TW" altLang="en-US" sz="1000" dirty="0" smtClean="0"/>
              <a:t>，每</a:t>
            </a:r>
            <a:r>
              <a:rPr lang="en-US" altLang="zh-TW" sz="1000" dirty="0" smtClean="0"/>
              <a:t>chip</a:t>
            </a:r>
            <a:r>
              <a:rPr lang="zh-TW" altLang="en-US" sz="1000" dirty="0" smtClean="0"/>
              <a:t>成本約</a:t>
            </a:r>
            <a:r>
              <a:rPr lang="en-US" altLang="zh-TW" sz="1000" dirty="0" smtClean="0"/>
              <a:t>1,000</a:t>
            </a:r>
            <a:r>
              <a:rPr lang="zh-TW" altLang="en-US" sz="1000" dirty="0" smtClean="0"/>
              <a:t>元，因</a:t>
            </a:r>
            <a:r>
              <a:rPr lang="en-US" altLang="zh-TW" sz="1000" dirty="0" smtClean="0"/>
              <a:t>Nozzle</a:t>
            </a:r>
            <a:r>
              <a:rPr lang="zh-TW" altLang="en-US" sz="1000" dirty="0" smtClean="0"/>
              <a:t>造成的報廢約佔</a:t>
            </a:r>
            <a:r>
              <a:rPr lang="en-US" altLang="zh-TW" sz="1000" dirty="0" smtClean="0"/>
              <a:t>10%</a:t>
            </a:r>
            <a:r>
              <a:rPr lang="zh-TW" altLang="en-US" sz="1000" dirty="0" smtClean="0"/>
              <a:t>，其中</a:t>
            </a:r>
            <a:r>
              <a:rPr lang="en-US" altLang="zh-TW" sz="1000" dirty="0" smtClean="0"/>
              <a:t>30%</a:t>
            </a:r>
            <a:r>
              <a:rPr lang="zh-TW" altLang="en-US" sz="1000" dirty="0" smtClean="0"/>
              <a:t>可通過更換</a:t>
            </a:r>
            <a:r>
              <a:rPr lang="en-US" altLang="zh-TW" sz="1000" dirty="0" smtClean="0"/>
              <a:t>Nozzle</a:t>
            </a:r>
            <a:r>
              <a:rPr lang="zh-TW" altLang="en-US" sz="1000" dirty="0" smtClean="0"/>
              <a:t>改善</a:t>
            </a:r>
            <a:endParaRPr lang="en-US" altLang="zh-TW" sz="1000" dirty="0" smtClean="0"/>
          </a:p>
          <a:p>
            <a:r>
              <a:rPr lang="en-US" altLang="zh-TW" sz="1000" dirty="0" smtClean="0"/>
              <a:t>=&gt;5230chip/</a:t>
            </a:r>
            <a:r>
              <a:rPr lang="zh-TW" altLang="en-US" sz="1000" dirty="0" smtClean="0"/>
              <a:t>月*</a:t>
            </a:r>
            <a:r>
              <a:rPr lang="en-US" altLang="zh-TW" sz="1000" dirty="0" smtClean="0"/>
              <a:t>10%*30%*1000(</a:t>
            </a:r>
            <a:r>
              <a:rPr lang="zh-TW" altLang="en-US" sz="1000" dirty="0"/>
              <a:t>元</a:t>
            </a:r>
            <a:r>
              <a:rPr lang="en-US" altLang="zh-TW" sz="1000" dirty="0" smtClean="0"/>
              <a:t>)=</a:t>
            </a:r>
            <a:r>
              <a:rPr lang="zh-TW" altLang="en-US" sz="1000" dirty="0" smtClean="0"/>
              <a:t> </a:t>
            </a:r>
            <a:r>
              <a:rPr lang="en-US" altLang="zh-TW" sz="1000" dirty="0" smtClean="0">
                <a:solidFill>
                  <a:srgbClr val="0070C0"/>
                </a:solidFill>
              </a:rPr>
              <a:t>156,900</a:t>
            </a:r>
            <a:r>
              <a:rPr lang="zh-TW" altLang="en-US" sz="1000" dirty="0" smtClean="0">
                <a:solidFill>
                  <a:srgbClr val="0070C0"/>
                </a:solidFill>
              </a:rPr>
              <a:t>元</a:t>
            </a:r>
            <a:r>
              <a:rPr lang="en-US" altLang="zh-TW" sz="1000" dirty="0" smtClean="0">
                <a:solidFill>
                  <a:srgbClr val="0070C0"/>
                </a:solidFill>
              </a:rPr>
              <a:t>/</a:t>
            </a:r>
            <a:r>
              <a:rPr lang="zh-TW" altLang="en-US" sz="1000" dirty="0" smtClean="0">
                <a:solidFill>
                  <a:srgbClr val="0070C0"/>
                </a:solidFill>
              </a:rPr>
              <a:t>月</a:t>
            </a:r>
            <a:endParaRPr lang="en-US" altLang="zh-TW" sz="1000" dirty="0">
              <a:solidFill>
                <a:srgbClr val="0070C0"/>
              </a:solidFill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05283" y="999865"/>
            <a:ext cx="7746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清洗完</a:t>
            </a:r>
            <a:r>
              <a:rPr lang="en-US" altLang="zh-TW" sz="1200" dirty="0" smtClean="0"/>
              <a:t>Seal Nozzle</a:t>
            </a:r>
            <a:r>
              <a:rPr lang="zh-TW" altLang="en-US" sz="1200" dirty="0" smtClean="0"/>
              <a:t>後人員需檢查是否有異常，耗時費工且人檢品質不穩定，造成漏檢</a:t>
            </a:r>
            <a:endParaRPr lang="en-US" altLang="zh-TW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透過</a:t>
            </a:r>
            <a:r>
              <a:rPr lang="zh-TW" altLang="en-US" sz="1200" dirty="0" smtClean="0"/>
              <a:t>自主開發</a:t>
            </a:r>
            <a:r>
              <a:rPr lang="en-US" altLang="zh-TW" sz="1200" dirty="0" smtClean="0"/>
              <a:t>Seal Nozzle</a:t>
            </a:r>
            <a:r>
              <a:rPr lang="zh-TW" altLang="en-US" sz="1200" dirty="0"/>
              <a:t>檢查機，幫助</a:t>
            </a:r>
            <a:r>
              <a:rPr lang="zh-TW" altLang="en-US" sz="1200" dirty="0" smtClean="0"/>
              <a:t>人員</a:t>
            </a:r>
            <a:r>
              <a:rPr lang="zh-TW" altLang="en-US" sz="1200" dirty="0"/>
              <a:t>節省</a:t>
            </a:r>
            <a:r>
              <a:rPr lang="zh-TW" altLang="en-US" sz="1200" dirty="0" smtClean="0"/>
              <a:t>檢查</a:t>
            </a:r>
            <a:r>
              <a:rPr lang="en-US" altLang="zh-TW" sz="1200" dirty="0"/>
              <a:t>Nozzle</a:t>
            </a:r>
            <a:r>
              <a:rPr lang="zh-TW" altLang="en-US" sz="1200" dirty="0"/>
              <a:t>時間，穩定</a:t>
            </a:r>
            <a:r>
              <a:rPr lang="en-US" altLang="zh-TW" sz="1200" dirty="0"/>
              <a:t>Nozzle</a:t>
            </a:r>
            <a:r>
              <a:rPr lang="zh-TW" altLang="en-US" sz="1200" dirty="0" smtClean="0"/>
              <a:t>品質</a:t>
            </a:r>
            <a:endParaRPr lang="en-US" altLang="zh-TW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</p:txBody>
      </p:sp>
      <p:sp>
        <p:nvSpPr>
          <p:cNvPr id="36" name="文字方塊 35"/>
          <p:cNvSpPr txBox="1"/>
          <p:nvPr/>
        </p:nvSpPr>
        <p:spPr>
          <a:xfrm>
            <a:off x="160904" y="3605946"/>
            <a:ext cx="1641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/>
              <a:t>硬體</a:t>
            </a:r>
            <a:r>
              <a:rPr lang="zh-TW" altLang="en-US" sz="1200" dirty="0" smtClean="0"/>
              <a:t>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彩莉</a:t>
            </a:r>
            <a:r>
              <a:rPr lang="en-US" altLang="zh-TW" sz="1200" dirty="0" smtClean="0">
                <a:sym typeface="Wingdings" panose="05000000000000000000" pitchFamily="2" charset="2"/>
              </a:rPr>
              <a:t>/</a:t>
            </a:r>
            <a:r>
              <a:rPr lang="zh-TW" altLang="en-US" sz="1200" dirty="0" smtClean="0">
                <a:sym typeface="Wingdings" panose="05000000000000000000" pitchFamily="2" charset="2"/>
              </a:rPr>
              <a:t>淵明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硬體</a:t>
            </a:r>
            <a:r>
              <a:rPr lang="en-US" altLang="zh-TW" sz="1200" dirty="0" smtClean="0"/>
              <a:t>PR</a:t>
            </a:r>
            <a:r>
              <a:rPr lang="zh-TW" altLang="en-US" sz="1200" dirty="0" smtClean="0"/>
              <a:t>採購</a:t>
            </a:r>
            <a:endParaRPr lang="en-US" altLang="zh-TW" sz="1200" dirty="0" smtClean="0"/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808642"/>
              </p:ext>
            </p:extLst>
          </p:nvPr>
        </p:nvGraphicFramePr>
        <p:xfrm>
          <a:off x="2543539" y="1952559"/>
          <a:ext cx="1909292" cy="2172713"/>
        </p:xfrm>
        <a:graphic>
          <a:graphicData uri="http://schemas.openxmlformats.org/drawingml/2006/table">
            <a:tbl>
              <a:tblPr/>
              <a:tblGrid>
                <a:gridCol w="394709"/>
                <a:gridCol w="1058784"/>
                <a:gridCol w="455799"/>
              </a:tblGrid>
              <a:tr h="148692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檢查機開發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硬體評估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869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XY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電動平台採購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7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治具採購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8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顯微鏡採購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8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顯微鏡固定架採購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</a:rPr>
                        <a:t>20%</a:t>
                      </a:r>
                      <a:endParaRPr lang="zh-TW" altLang="en-US" sz="800" b="0" i="0" u="none" strike="noStrike" dirty="0" smtClean="0">
                        <a:solidFill>
                          <a:schemeClr val="accent6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8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廠商改善治具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</a:rPr>
                        <a:t>50%</a:t>
                      </a:r>
                      <a:endParaRPr lang="zh-TW" altLang="en-US" sz="800" b="0" i="0" u="none" strike="noStrike" dirty="0" smtClean="0">
                        <a:solidFill>
                          <a:schemeClr val="accent6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283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顯微鏡取像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外徑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內徑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7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XY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電動平台控制設定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71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AI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模型訓練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外徑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內徑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715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23" marR="11523" marT="11523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自動化程式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715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口徑量測演算法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715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UI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介面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100%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7715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系統測試</a:t>
                      </a:r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800" dirty="0" smtClean="0">
                          <a:solidFill>
                            <a:schemeClr val="tx1"/>
                          </a:solidFill>
                          <a:latin typeface="+mn-lt"/>
                        </a:rPr>
                        <a:t>70%</a:t>
                      </a:r>
                      <a:endParaRPr lang="zh-TW" altLang="en-US" sz="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圓角矩形 28"/>
          <p:cNvSpPr/>
          <p:nvPr/>
        </p:nvSpPr>
        <p:spPr>
          <a:xfrm>
            <a:off x="3582724" y="59072"/>
            <a:ext cx="970487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：林宗賢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圓角矩形 29"/>
          <p:cNvSpPr/>
          <p:nvPr/>
        </p:nvSpPr>
        <p:spPr>
          <a:xfrm>
            <a:off x="4567173" y="269590"/>
            <a:ext cx="1325945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L1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：陳星榮</a:t>
            </a:r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何彩莉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3583881" y="269591"/>
            <a:ext cx="969330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N2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：蘇淵</a:t>
            </a:r>
            <a:r>
              <a:rPr lang="zh-TW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明</a:t>
            </a: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4" t="24405" r="23619" b="32564"/>
          <a:stretch/>
        </p:blipFill>
        <p:spPr>
          <a:xfrm>
            <a:off x="7613510" y="2703804"/>
            <a:ext cx="1290181" cy="1152394"/>
          </a:xfrm>
          <a:prstGeom prst="rect">
            <a:avLst/>
          </a:prstGeom>
        </p:spPr>
      </p:pic>
      <p:sp>
        <p:nvSpPr>
          <p:cNvPr id="23" name="文字方塊 22"/>
          <p:cNvSpPr txBox="1"/>
          <p:nvPr/>
        </p:nvSpPr>
        <p:spPr>
          <a:xfrm>
            <a:off x="4468235" y="2107134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000" dirty="0" smtClean="0"/>
              <a:t>系統</a:t>
            </a:r>
            <a:r>
              <a:rPr lang="zh-TW" altLang="en-US" sz="1000" dirty="0"/>
              <a:t>架構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235" y="2385822"/>
            <a:ext cx="3088797" cy="14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7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15101" y="69203"/>
            <a:ext cx="8482972" cy="1064131"/>
          </a:xfrm>
        </p:spPr>
        <p:txBody>
          <a:bodyPr/>
          <a:lstStyle/>
          <a:p>
            <a:r>
              <a:rPr lang="en-US" altLang="zh-TW" dirty="0"/>
              <a:t>ODF</a:t>
            </a:r>
            <a:r>
              <a:rPr lang="zh-TW" altLang="en-US" dirty="0"/>
              <a:t> </a:t>
            </a:r>
            <a:r>
              <a:rPr lang="en-US" altLang="zh-TW" dirty="0"/>
              <a:t>Nozzle</a:t>
            </a:r>
            <a:r>
              <a:rPr lang="zh-TW" altLang="en-US" dirty="0"/>
              <a:t>檢查機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271787" y="785146"/>
            <a:ext cx="836959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治具精度偏差問題</a:t>
            </a:r>
            <a:r>
              <a:rPr lang="en-US" altLang="zh-TW" dirty="0"/>
              <a:t>(</a:t>
            </a:r>
            <a:r>
              <a:rPr lang="zh-TW" altLang="en-US" dirty="0"/>
              <a:t>治具本身精度問題</a:t>
            </a:r>
            <a:r>
              <a:rPr lang="en-US" altLang="zh-TW" dirty="0">
                <a:latin typeface="+mn-ea"/>
              </a:rPr>
              <a:t>?</a:t>
            </a:r>
            <a:r>
              <a:rPr lang="zh-TW" altLang="en-US" dirty="0"/>
              <a:t> </a:t>
            </a:r>
            <a:r>
              <a:rPr lang="en-US" altLang="zh-TW" dirty="0"/>
              <a:t>or XY</a:t>
            </a:r>
            <a:r>
              <a:rPr lang="zh-TW" altLang="en-US" dirty="0"/>
              <a:t>平台固定治具方式問題</a:t>
            </a:r>
            <a:r>
              <a:rPr lang="en-US" altLang="zh-TW" dirty="0" smtClean="0">
                <a:latin typeface="+mn-ea"/>
              </a:rPr>
              <a:t>?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，廠商預計先</a:t>
            </a:r>
            <a:r>
              <a:rPr lang="zh-TW" altLang="en-US" dirty="0" smtClean="0">
                <a:solidFill>
                  <a:srgbClr val="0070C0"/>
                </a:solidFill>
              </a:rPr>
              <a:t>改善固定治具方式</a:t>
            </a:r>
            <a:endParaRPr lang="en-US" altLang="zh-TW" dirty="0" smtClean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廠商提到工</a:t>
            </a:r>
            <a:r>
              <a:rPr lang="zh-TW" altLang="en-US" dirty="0"/>
              <a:t>差</a:t>
            </a:r>
            <a:r>
              <a:rPr lang="zh-TW" altLang="en-US" dirty="0" smtClean="0"/>
              <a:t>可</a:t>
            </a:r>
            <a:r>
              <a:rPr lang="en-US" altLang="zh-TW" dirty="0" smtClean="0"/>
              <a:t>+-0.01mm</a:t>
            </a:r>
            <a:r>
              <a:rPr lang="zh-TW" altLang="en-US" dirty="0" smtClean="0"/>
              <a:t>，實際測試發現是</a:t>
            </a:r>
            <a:r>
              <a:rPr lang="en-US" altLang="zh-TW" dirty="0" smtClean="0"/>
              <a:t>+-0.1mm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41" y="1747638"/>
            <a:ext cx="2580361" cy="144704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445" y="1747627"/>
            <a:ext cx="2590912" cy="144705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602" y="1747627"/>
            <a:ext cx="2580362" cy="143983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41" y="3434920"/>
            <a:ext cx="2569895" cy="144202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946" y="3434920"/>
            <a:ext cx="2590912" cy="1454927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602" y="3438026"/>
            <a:ext cx="2580362" cy="1451821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1218218" y="1477477"/>
            <a:ext cx="8996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0.067mm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218218" y="3164759"/>
            <a:ext cx="9044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0.034mm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03356" y="1477477"/>
            <a:ext cx="80823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0.09mm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4003356" y="3164759"/>
            <a:ext cx="90762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0.028mm</a:t>
            </a: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6794252" y="1477477"/>
            <a:ext cx="8996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0.067mm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6791700" y="3157533"/>
            <a:ext cx="8996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0.075mm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15368" y="1477477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誤差值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15367" y="3164759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誤差值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580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15101" y="69203"/>
            <a:ext cx="8482972" cy="1064131"/>
          </a:xfrm>
        </p:spPr>
        <p:txBody>
          <a:bodyPr/>
          <a:lstStyle/>
          <a:p>
            <a:r>
              <a:rPr lang="en-US" altLang="zh-TW" dirty="0"/>
              <a:t>ODF</a:t>
            </a:r>
            <a:r>
              <a:rPr lang="zh-TW" altLang="en-US" dirty="0"/>
              <a:t> </a:t>
            </a:r>
            <a:r>
              <a:rPr lang="en-US" altLang="zh-TW" dirty="0"/>
              <a:t>Nozzle</a:t>
            </a:r>
            <a:r>
              <a:rPr lang="zh-TW" altLang="en-US" dirty="0"/>
              <a:t>檢查機</a:t>
            </a:r>
          </a:p>
        </p:txBody>
      </p:sp>
      <p:sp>
        <p:nvSpPr>
          <p:cNvPr id="4" name="文字方塊 3"/>
          <p:cNvSpPr txBox="1"/>
          <p:nvPr/>
        </p:nvSpPr>
        <p:spPr>
          <a:xfrm>
            <a:off x="450937" y="874531"/>
            <a:ext cx="16850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治具定位塊優化</a:t>
            </a:r>
            <a:endParaRPr lang="zh-TW" altLang="en-US" dirty="0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37" y="1936959"/>
            <a:ext cx="2385976" cy="1954097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/>
          <a:stretch/>
        </p:blipFill>
        <p:spPr>
          <a:xfrm>
            <a:off x="3132055" y="1713596"/>
            <a:ext cx="5746697" cy="2616563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450937" y="1174613"/>
            <a:ext cx="260840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V1</a:t>
            </a:r>
            <a:r>
              <a:rPr lang="zh-TW" altLang="en-US" dirty="0" smtClean="0"/>
              <a:t>：卡榫位置固定無彈性，</a:t>
            </a:r>
            <a:endParaRPr lang="en-US" altLang="zh-TW" dirty="0" smtClean="0"/>
          </a:p>
          <a:p>
            <a:r>
              <a:rPr lang="zh-TW" altLang="en-US" dirty="0" smtClean="0"/>
              <a:t>治具取放不易，難以精準對位</a:t>
            </a:r>
            <a:endParaRPr lang="en-US" altLang="zh-TW" dirty="0" smtClean="0"/>
          </a:p>
        </p:txBody>
      </p:sp>
      <p:sp>
        <p:nvSpPr>
          <p:cNvPr id="21" name="文字方塊 20"/>
          <p:cNvSpPr txBox="1"/>
          <p:nvPr/>
        </p:nvSpPr>
        <p:spPr>
          <a:xfrm>
            <a:off x="3173341" y="1177649"/>
            <a:ext cx="502894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V2</a:t>
            </a:r>
            <a:r>
              <a:rPr lang="zh-TW" altLang="en-US" dirty="0" smtClean="0"/>
              <a:t>：加入彈性限位塊，降低治具取放難度，朝統一方向固定</a:t>
            </a:r>
            <a:endParaRPr lang="en-US" altLang="zh-TW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廠商預計</a:t>
            </a:r>
            <a:r>
              <a:rPr lang="en-US" altLang="zh-TW" dirty="0" smtClean="0"/>
              <a:t>4/E</a:t>
            </a:r>
            <a:r>
              <a:rPr lang="zh-TW" altLang="en-US" dirty="0" smtClean="0"/>
              <a:t>做出來線上</a:t>
            </a:r>
            <a:r>
              <a:rPr lang="en-US" altLang="zh-TW" dirty="0" smtClean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8494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圓角矩形 5"/>
          <p:cNvSpPr/>
          <p:nvPr/>
        </p:nvSpPr>
        <p:spPr>
          <a:xfrm>
            <a:off x="160231" y="1654536"/>
            <a:ext cx="2621069" cy="2497841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38435" y="4385324"/>
            <a:ext cx="8857987" cy="537195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847484" y="1640542"/>
            <a:ext cx="6148940" cy="2511835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標題 1"/>
          <p:cNvSpPr>
            <a:spLocks noGrp="1"/>
          </p:cNvSpPr>
          <p:nvPr/>
        </p:nvSpPr>
        <p:spPr>
          <a:xfrm>
            <a:off x="42668" y="69578"/>
            <a:ext cx="7032507" cy="8128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SOP</a:t>
            </a:r>
            <a:r>
              <a:rPr lang="zh-TW" altLang="en-US" dirty="0" smtClean="0"/>
              <a:t> </a:t>
            </a:r>
            <a:r>
              <a:rPr lang="en-US" altLang="zh-TW" dirty="0" smtClean="0"/>
              <a:t>Copilot-ODF</a:t>
            </a:r>
            <a:r>
              <a:rPr lang="zh-TW" altLang="en-US" dirty="0" smtClean="0"/>
              <a:t>光箱人員動作辨識</a:t>
            </a:r>
            <a:endParaRPr lang="zh-TW" altLang="en-US" dirty="0"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138435" y="775405"/>
            <a:ext cx="8857989" cy="654177"/>
          </a:xfrm>
          <a:prstGeom prst="roundRect">
            <a:avLst>
              <a:gd name="adj" fmla="val 163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7658" y="60622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324976" y="1482145"/>
            <a:ext cx="1610978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專案分工</a:t>
            </a:r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077636" y="1482145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進度</a:t>
            </a:r>
          </a:p>
        </p:txBody>
      </p:sp>
      <p:sp>
        <p:nvSpPr>
          <p:cNvPr id="21" name="圓角矩形 20"/>
          <p:cNvSpPr/>
          <p:nvPr/>
        </p:nvSpPr>
        <p:spPr>
          <a:xfrm>
            <a:off x="254135" y="422679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效益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324976" y="983578"/>
            <a:ext cx="72667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使用</a:t>
            </a:r>
            <a:r>
              <a:rPr lang="en-US" altLang="zh-TW" dirty="0"/>
              <a:t>SOP</a:t>
            </a:r>
            <a:r>
              <a:rPr lang="zh-TW" altLang="en-US" dirty="0"/>
              <a:t> </a:t>
            </a:r>
            <a:r>
              <a:rPr lang="en-US" altLang="zh-TW" dirty="0"/>
              <a:t>Copilot APP</a:t>
            </a:r>
            <a:r>
              <a:rPr lang="zh-TW" altLang="en-US" dirty="0"/>
              <a:t>，監督人員動作，減少人員漏檢</a:t>
            </a:r>
            <a:r>
              <a:rPr lang="en-US" altLang="zh-TW" dirty="0"/>
              <a:t>Issue</a:t>
            </a:r>
            <a:r>
              <a:rPr lang="zh-TW" altLang="en-US" dirty="0"/>
              <a:t>發生，防堵異常品持續產出。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301575" y="1832442"/>
            <a:ext cx="20265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>
                <a:sym typeface="Wingdings" panose="05000000000000000000" pitchFamily="2" charset="2"/>
              </a:rPr>
              <a:t>APP/</a:t>
            </a:r>
            <a:r>
              <a:rPr lang="zh-TW" altLang="en-US" sz="1200" dirty="0" smtClean="0">
                <a:sym typeface="Wingdings" panose="05000000000000000000" pitchFamily="2" charset="2"/>
              </a:rPr>
              <a:t>硬體：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宗賢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PC</a:t>
            </a:r>
            <a:r>
              <a:rPr lang="zh-TW" altLang="en-US" sz="1200" dirty="0" smtClean="0"/>
              <a:t>作業系統安裝</a:t>
            </a:r>
            <a:r>
              <a:rPr lang="en-US" altLang="zh-TW" sz="1200" dirty="0" smtClean="0"/>
              <a:t>/IP</a:t>
            </a:r>
            <a:r>
              <a:rPr lang="zh-TW" altLang="en-US" sz="1200" dirty="0" smtClean="0"/>
              <a:t>設定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err="1"/>
              <a:t>IPCam</a:t>
            </a:r>
            <a:r>
              <a:rPr lang="zh-TW" altLang="en-US" sz="1200" dirty="0" smtClean="0"/>
              <a:t>設定</a:t>
            </a:r>
            <a:r>
              <a:rPr lang="en-US" altLang="zh-TW" sz="1200" dirty="0" smtClean="0"/>
              <a:t>/</a:t>
            </a:r>
            <a:r>
              <a:rPr lang="zh-TW" altLang="en-US" sz="1200" dirty="0" smtClean="0"/>
              <a:t>角度調整</a:t>
            </a:r>
            <a:endParaRPr lang="en-US" altLang="zh-TW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/>
              <a:t>APP</a:t>
            </a:r>
            <a:r>
              <a:rPr lang="zh-TW" altLang="en-US" sz="1200" dirty="0" smtClean="0"/>
              <a:t>部署</a:t>
            </a:r>
            <a:endParaRPr lang="en-US" altLang="zh-TW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SOP</a:t>
            </a:r>
            <a:r>
              <a:rPr lang="zh-TW" altLang="en-US" sz="1200" dirty="0" smtClean="0"/>
              <a:t>影片錄製</a:t>
            </a:r>
            <a:r>
              <a:rPr lang="en-US" altLang="zh-TW" sz="1200" dirty="0" smtClean="0"/>
              <a:t>/</a:t>
            </a:r>
            <a:r>
              <a:rPr lang="zh-TW" altLang="en-US" sz="1200" dirty="0" smtClean="0"/>
              <a:t>步驟設定</a:t>
            </a:r>
            <a:endParaRPr lang="en-US" altLang="zh-TW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err="1" smtClean="0"/>
              <a:t>eStone</a:t>
            </a:r>
            <a:r>
              <a:rPr lang="zh-TW" altLang="en-US" sz="1200" dirty="0" smtClean="0"/>
              <a:t>串接</a:t>
            </a:r>
            <a:endParaRPr lang="en-US" altLang="zh-TW" sz="1200" dirty="0" smtClean="0"/>
          </a:p>
        </p:txBody>
      </p:sp>
      <p:sp>
        <p:nvSpPr>
          <p:cNvPr id="29" name="文字方塊 28"/>
          <p:cNvSpPr txBox="1"/>
          <p:nvPr/>
        </p:nvSpPr>
        <p:spPr>
          <a:xfrm>
            <a:off x="309567" y="2984002"/>
            <a:ext cx="16417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硬體：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彩莉</a:t>
            </a:r>
            <a:r>
              <a:rPr lang="en-US" altLang="zh-TW" sz="1200" dirty="0" smtClean="0">
                <a:sym typeface="Wingdings" panose="05000000000000000000" pitchFamily="2" charset="2"/>
              </a:rPr>
              <a:t>/</a:t>
            </a:r>
            <a:r>
              <a:rPr lang="zh-TW" altLang="en-US" sz="1200" dirty="0" smtClean="0">
                <a:sym typeface="Wingdings" panose="05000000000000000000" pitchFamily="2" charset="2"/>
              </a:rPr>
              <a:t>百凱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/>
              <a:t>硬體採購</a:t>
            </a:r>
            <a:endParaRPr lang="en-US" altLang="zh-TW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err="1" smtClean="0"/>
              <a:t>IPCam</a:t>
            </a:r>
            <a:r>
              <a:rPr lang="zh-TW" altLang="en-US" sz="1200" dirty="0" smtClean="0"/>
              <a:t>角度</a:t>
            </a:r>
            <a:r>
              <a:rPr lang="zh-TW" altLang="en-US" sz="1200" dirty="0"/>
              <a:t>調整</a:t>
            </a:r>
            <a:endParaRPr lang="en-US" altLang="zh-TW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SOP</a:t>
            </a:r>
            <a:r>
              <a:rPr lang="zh-TW" altLang="en-US" sz="1200" dirty="0" smtClean="0"/>
              <a:t>影片錄製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固定</a:t>
            </a:r>
            <a:r>
              <a:rPr lang="en-US" altLang="zh-TW" sz="1200" dirty="0" smtClean="0"/>
              <a:t>IP</a:t>
            </a:r>
            <a:r>
              <a:rPr lang="zh-TW" altLang="en-US" sz="1200" dirty="0" smtClean="0"/>
              <a:t>申請</a:t>
            </a:r>
            <a:endParaRPr lang="en-US" altLang="zh-TW" sz="1200" dirty="0" smtClean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資料串接中控系統</a:t>
            </a:r>
            <a:endParaRPr lang="en-US" altLang="zh-TW" sz="1200" dirty="0"/>
          </a:p>
        </p:txBody>
      </p:sp>
      <p:sp>
        <p:nvSpPr>
          <p:cNvPr id="30" name="圓角矩形 29"/>
          <p:cNvSpPr/>
          <p:nvPr/>
        </p:nvSpPr>
        <p:spPr>
          <a:xfrm>
            <a:off x="6682165" y="78650"/>
            <a:ext cx="970487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：林宗賢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圓角矩形 30"/>
          <p:cNvSpPr/>
          <p:nvPr/>
        </p:nvSpPr>
        <p:spPr>
          <a:xfrm>
            <a:off x="6682165" y="317288"/>
            <a:ext cx="970487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L1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：何彩莉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60231" y="4534087"/>
            <a:ext cx="64346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/>
              <a:t>減少報廢：每年約發生兩次，總共損失</a:t>
            </a:r>
            <a:r>
              <a:rPr lang="en-US" altLang="zh-TW" sz="1200" dirty="0"/>
              <a:t>505,200</a:t>
            </a:r>
            <a:r>
              <a:rPr lang="zh-TW" altLang="en-US" sz="1200" dirty="0"/>
              <a:t>元</a:t>
            </a:r>
            <a:r>
              <a:rPr lang="en-US" altLang="zh-TW" sz="1200" dirty="0"/>
              <a:t>/</a:t>
            </a:r>
            <a:r>
              <a:rPr lang="zh-TW" altLang="en-US" sz="1200" dirty="0"/>
              <a:t>年，平均節省 </a:t>
            </a:r>
            <a:r>
              <a:rPr lang="en-US" altLang="zh-TW" sz="1200" dirty="0"/>
              <a:t>42,100</a:t>
            </a:r>
            <a:r>
              <a:rPr lang="zh-TW" altLang="en-US" sz="1200" dirty="0"/>
              <a:t>元</a:t>
            </a:r>
            <a:r>
              <a:rPr lang="en-US" altLang="zh-TW" sz="1200" dirty="0"/>
              <a:t>/</a:t>
            </a:r>
            <a:r>
              <a:rPr lang="zh-TW" altLang="en-US" sz="1200" dirty="0"/>
              <a:t>月</a:t>
            </a: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272944"/>
              </p:ext>
            </p:extLst>
          </p:nvPr>
        </p:nvGraphicFramePr>
        <p:xfrm>
          <a:off x="2965868" y="2063563"/>
          <a:ext cx="2297294" cy="2032205"/>
        </p:xfrm>
        <a:graphic>
          <a:graphicData uri="http://schemas.openxmlformats.org/drawingml/2006/table">
            <a:tbl>
              <a:tblPr/>
              <a:tblGrid>
                <a:gridCol w="468494"/>
                <a:gridCol w="1348240"/>
                <a:gridCol w="480560"/>
              </a:tblGrid>
              <a:tr h="216440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硬體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硬體採購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44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Linux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作業系統安裝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44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固定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IP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申請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設定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44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dirty="0" err="1" smtClean="0"/>
                        <a:t>IPCam</a:t>
                      </a:r>
                      <a:r>
                        <a:rPr lang="zh-TW" altLang="en-US" sz="800" dirty="0" smtClean="0"/>
                        <a:t>角度調整</a:t>
                      </a:r>
                      <a:endParaRPr lang="en-US" altLang="zh-TW" sz="800" dirty="0" smtClean="0"/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dirty="0" smtClean="0"/>
                        <a:t>SOP</a:t>
                      </a:r>
                      <a:r>
                        <a:rPr lang="zh-TW" altLang="en-US" sz="800" dirty="0" smtClean="0"/>
                        <a:t>影片錄製</a:t>
                      </a:r>
                      <a:endParaRPr lang="en-US" altLang="zh-TW" sz="800" dirty="0" smtClean="0"/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45%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289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軟體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SOP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Copilot APP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部署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(7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台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28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APP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SOP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步驟設定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(7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台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45%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28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Mail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通報測試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28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資料串接中控系統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20%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字方塊 1"/>
          <p:cNvSpPr txBox="1"/>
          <p:nvPr/>
        </p:nvSpPr>
        <p:spPr>
          <a:xfrm>
            <a:off x="6473757" y="1797185"/>
            <a:ext cx="1468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改用</a:t>
            </a:r>
            <a:r>
              <a:rPr lang="en-US" altLang="zh-TW" sz="1000" dirty="0" smtClean="0"/>
              <a:t>SOP</a:t>
            </a:r>
            <a:r>
              <a:rPr lang="zh-TW" altLang="en-US" sz="1000" dirty="0"/>
              <a:t> </a:t>
            </a:r>
            <a:r>
              <a:rPr lang="en-US" altLang="zh-TW" sz="1000" dirty="0" smtClean="0"/>
              <a:t>Copilot</a:t>
            </a:r>
            <a:r>
              <a:rPr lang="zh-TW" altLang="en-US" sz="1000" dirty="0"/>
              <a:t> </a:t>
            </a:r>
            <a:r>
              <a:rPr lang="en-US" altLang="zh-TW" sz="1000" dirty="0" smtClean="0"/>
              <a:t>AP</a:t>
            </a:r>
            <a:r>
              <a:rPr lang="en-US" altLang="zh-TW" sz="1000" dirty="0"/>
              <a:t>P</a:t>
            </a:r>
            <a:endParaRPr lang="zh-TW" altLang="en-US" sz="10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251" y="2043407"/>
            <a:ext cx="3514341" cy="1956258"/>
          </a:xfrm>
          <a:prstGeom prst="rect">
            <a:avLst/>
          </a:prstGeom>
        </p:spPr>
      </p:pic>
      <p:grpSp>
        <p:nvGrpSpPr>
          <p:cNvPr id="32" name="群組 31"/>
          <p:cNvGrpSpPr/>
          <p:nvPr/>
        </p:nvGrpSpPr>
        <p:grpSpPr>
          <a:xfrm>
            <a:off x="5480039" y="1854163"/>
            <a:ext cx="3447859" cy="2145502"/>
            <a:chOff x="1160197" y="687784"/>
            <a:chExt cx="6881904" cy="3729733"/>
          </a:xfrm>
        </p:grpSpPr>
        <p:sp>
          <p:nvSpPr>
            <p:cNvPr id="34" name="矩形 33"/>
            <p:cNvSpPr/>
            <p:nvPr/>
          </p:nvSpPr>
          <p:spPr>
            <a:xfrm>
              <a:off x="1160197" y="1126693"/>
              <a:ext cx="991785" cy="102165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 sz="800"/>
            </a:p>
          </p:txBody>
        </p:sp>
        <p:sp>
          <p:nvSpPr>
            <p:cNvPr id="35" name="矩形 34"/>
            <p:cNvSpPr/>
            <p:nvPr/>
          </p:nvSpPr>
          <p:spPr>
            <a:xfrm>
              <a:off x="2169539" y="1105536"/>
              <a:ext cx="4528851" cy="629997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 sz="800"/>
            </a:p>
          </p:txBody>
        </p:sp>
        <p:sp>
          <p:nvSpPr>
            <p:cNvPr id="36" name="矩形 35"/>
            <p:cNvSpPr/>
            <p:nvPr/>
          </p:nvSpPr>
          <p:spPr>
            <a:xfrm>
              <a:off x="2158497" y="1816447"/>
              <a:ext cx="4539895" cy="128500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 sz="800"/>
            </a:p>
          </p:txBody>
        </p:sp>
        <p:sp>
          <p:nvSpPr>
            <p:cNvPr id="38" name="矩形 37"/>
            <p:cNvSpPr/>
            <p:nvPr/>
          </p:nvSpPr>
          <p:spPr>
            <a:xfrm>
              <a:off x="2151982" y="3202837"/>
              <a:ext cx="4546408" cy="1214680"/>
            </a:xfrm>
            <a:prstGeom prst="rect">
              <a:avLst/>
            </a:prstGeom>
            <a:solidFill>
              <a:schemeClr val="accent2">
                <a:alpha val="2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 sz="800"/>
            </a:p>
          </p:txBody>
        </p:sp>
        <p:sp>
          <p:nvSpPr>
            <p:cNvPr id="39" name="圓角矩形圖說文字 38"/>
            <p:cNvSpPr/>
            <p:nvPr/>
          </p:nvSpPr>
          <p:spPr>
            <a:xfrm>
              <a:off x="6163859" y="3727071"/>
              <a:ext cx="1805083" cy="404756"/>
            </a:xfrm>
            <a:prstGeom prst="wedgeRoundRectCallout">
              <a:avLst>
                <a:gd name="adj1" fmla="val -58937"/>
                <a:gd name="adj2" fmla="val -6299"/>
                <a:gd name="adj3" fmla="val 16667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800" b="1" dirty="0" smtClean="0">
                  <a:solidFill>
                    <a:schemeClr val="tx1"/>
                  </a:solidFill>
                </a:rPr>
                <a:t>SOP</a:t>
              </a:r>
              <a:r>
                <a:rPr lang="zh-TW" altLang="en-US" sz="800" b="1" dirty="0" smtClean="0">
                  <a:solidFill>
                    <a:schemeClr val="tx1"/>
                  </a:solidFill>
                </a:rPr>
                <a:t>步驟清單</a:t>
              </a:r>
              <a:endParaRPr lang="en-US" altLang="zh-TW" sz="8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40" name="圓角矩形圖說文字 39"/>
            <p:cNvSpPr/>
            <p:nvPr/>
          </p:nvSpPr>
          <p:spPr>
            <a:xfrm>
              <a:off x="6323315" y="1999292"/>
              <a:ext cx="1718786" cy="396000"/>
            </a:xfrm>
            <a:prstGeom prst="wedgeRoundRectCallout">
              <a:avLst>
                <a:gd name="adj1" fmla="val -58937"/>
                <a:gd name="adj2" fmla="val -6299"/>
                <a:gd name="adj3" fmla="val 16667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TW" sz="800" b="1" dirty="0" smtClean="0">
                  <a:solidFill>
                    <a:schemeClr val="tx1"/>
                  </a:solidFill>
                </a:rPr>
                <a:t>SOP</a:t>
              </a:r>
              <a:r>
                <a:rPr lang="zh-TW" altLang="en-US" sz="800" b="1" dirty="0" smtClean="0">
                  <a:solidFill>
                    <a:schemeClr val="tx1"/>
                  </a:solidFill>
                </a:rPr>
                <a:t>步驟設定</a:t>
              </a:r>
            </a:p>
          </p:txBody>
        </p:sp>
        <p:sp>
          <p:nvSpPr>
            <p:cNvPr id="41" name="圓角矩形圖說文字 40"/>
            <p:cNvSpPr/>
            <p:nvPr/>
          </p:nvSpPr>
          <p:spPr>
            <a:xfrm>
              <a:off x="6543529" y="1200679"/>
              <a:ext cx="1302963" cy="396000"/>
            </a:xfrm>
            <a:prstGeom prst="wedgeRoundRectCallout">
              <a:avLst>
                <a:gd name="adj1" fmla="val -63979"/>
                <a:gd name="adj2" fmla="val -6299"/>
                <a:gd name="adj3" fmla="val 16667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800" b="1" dirty="0" smtClean="0">
                  <a:solidFill>
                    <a:schemeClr val="tx1"/>
                  </a:solidFill>
                </a:rPr>
                <a:t>選擇</a:t>
              </a:r>
              <a:r>
                <a:rPr lang="en-US" altLang="zh-TW" sz="800" b="1" dirty="0" smtClean="0">
                  <a:solidFill>
                    <a:schemeClr val="tx1"/>
                  </a:solidFill>
                </a:rPr>
                <a:t>SOP</a:t>
              </a:r>
            </a:p>
          </p:txBody>
        </p:sp>
        <p:sp>
          <p:nvSpPr>
            <p:cNvPr id="42" name="圓角矩形圖說文字 41"/>
            <p:cNvSpPr/>
            <p:nvPr/>
          </p:nvSpPr>
          <p:spPr>
            <a:xfrm>
              <a:off x="1691942" y="687784"/>
              <a:ext cx="1323646" cy="422699"/>
            </a:xfrm>
            <a:prstGeom prst="wedgeRoundRectCallout">
              <a:avLst>
                <a:gd name="adj1" fmla="val -39065"/>
                <a:gd name="adj2" fmla="val 68008"/>
                <a:gd name="adj3" fmla="val 16667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74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511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267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02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3785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6532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399280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2029" algn="l" defTabSz="685511" rtl="0" eaLnBrk="1" latinLnBrk="0" hangingPunct="1">
                <a:defRPr sz="1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TW" altLang="en-US" sz="800" b="1" dirty="0" smtClean="0">
                  <a:solidFill>
                    <a:schemeClr val="tx1"/>
                  </a:solidFill>
                </a:rPr>
                <a:t>鏡頭設定</a:t>
              </a:r>
              <a:endParaRPr lang="en-US" altLang="zh-TW" sz="800" b="1" dirty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2945496" y="1795983"/>
            <a:ext cx="27093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已上線</a:t>
            </a:r>
            <a:r>
              <a:rPr lang="en-US" altLang="zh-TW" sz="1200" dirty="0" smtClean="0"/>
              <a:t>(3/7)</a:t>
            </a:r>
            <a:r>
              <a:rPr lang="zh-TW" altLang="en-US" sz="1200" dirty="0" smtClean="0"/>
              <a:t>台觀察</a:t>
            </a:r>
            <a:r>
              <a:rPr lang="en-US" altLang="zh-TW" sz="1200" dirty="0" smtClean="0"/>
              <a:t>SOP</a:t>
            </a:r>
            <a:r>
              <a:rPr lang="zh-TW" altLang="en-US" sz="1200" dirty="0" smtClean="0"/>
              <a:t>偵測情形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1757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695450"/>
            <a:ext cx="4409438" cy="291941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28600" y="1245474"/>
            <a:ext cx="116891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ODF200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457700" y="1301750"/>
            <a:ext cx="116730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ODF300</a:t>
            </a:r>
            <a:endParaRPr lang="zh-TW" altLang="en-US" dirty="0"/>
          </a:p>
        </p:txBody>
      </p:sp>
      <p:sp>
        <p:nvSpPr>
          <p:cNvPr id="8" name="標題 1"/>
          <p:cNvSpPr>
            <a:spLocks noGrp="1"/>
          </p:cNvSpPr>
          <p:nvPr/>
        </p:nvSpPr>
        <p:spPr>
          <a:xfrm>
            <a:off x="42668" y="69578"/>
            <a:ext cx="9101332" cy="8128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SOP</a:t>
            </a:r>
            <a:r>
              <a:rPr lang="zh-TW" altLang="en-US" dirty="0" smtClean="0"/>
              <a:t> </a:t>
            </a:r>
            <a:r>
              <a:rPr lang="en-US" altLang="zh-TW" dirty="0" smtClean="0"/>
              <a:t>Copilot-ODF</a:t>
            </a:r>
            <a:r>
              <a:rPr lang="zh-TW" altLang="en-US" dirty="0" smtClean="0"/>
              <a:t>光箱人員動作辨識</a:t>
            </a:r>
            <a:r>
              <a:rPr lang="zh-TW" altLang="en-US" b="1" i="1" u="sng" dirty="0" smtClean="0"/>
              <a:t>平展</a:t>
            </a:r>
            <a:endParaRPr lang="zh-TW" altLang="en-US" b="1" i="1" u="sng" dirty="0">
              <a:latin typeface="Bahnschrift" panose="020B0502040204020203" pitchFamily="34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2" y="1691096"/>
            <a:ext cx="4442548" cy="2923765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228600" y="971718"/>
            <a:ext cx="176202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已平展</a:t>
            </a:r>
            <a:r>
              <a:rPr lang="en-US" altLang="zh-TW" dirty="0" smtClean="0"/>
              <a:t>(3/7)</a:t>
            </a:r>
            <a:r>
              <a:rPr lang="zh-TW" altLang="en-US" dirty="0" smtClean="0"/>
              <a:t>機台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133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圓角矩形 5"/>
          <p:cNvSpPr/>
          <p:nvPr/>
        </p:nvSpPr>
        <p:spPr>
          <a:xfrm>
            <a:off x="160231" y="1654536"/>
            <a:ext cx="2569620" cy="2283139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38435" y="4204354"/>
            <a:ext cx="8857987" cy="718166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985028" y="1640543"/>
            <a:ext cx="6011395" cy="2297132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標題 1"/>
          <p:cNvSpPr>
            <a:spLocks noGrp="1"/>
          </p:cNvSpPr>
          <p:nvPr/>
        </p:nvSpPr>
        <p:spPr>
          <a:xfrm>
            <a:off x="42668" y="69578"/>
            <a:ext cx="7032507" cy="8128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CF</a:t>
            </a:r>
            <a:r>
              <a:rPr lang="zh-TW" altLang="en-US" dirty="0"/>
              <a:t> </a:t>
            </a:r>
            <a:r>
              <a:rPr lang="zh-TW" altLang="en-US" dirty="0" smtClean="0"/>
              <a:t>鷹眼計畫</a:t>
            </a:r>
            <a:endParaRPr lang="zh-TW" altLang="en-US" dirty="0"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138435" y="775405"/>
            <a:ext cx="8857989" cy="654177"/>
          </a:xfrm>
          <a:prstGeom prst="roundRect">
            <a:avLst>
              <a:gd name="adj" fmla="val 163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7658" y="60622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324976" y="1482145"/>
            <a:ext cx="1610978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分工</a:t>
            </a:r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088462" y="1482145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進度</a:t>
            </a:r>
          </a:p>
        </p:txBody>
      </p:sp>
      <p:sp>
        <p:nvSpPr>
          <p:cNvPr id="21" name="圓角矩形 20"/>
          <p:cNvSpPr/>
          <p:nvPr/>
        </p:nvSpPr>
        <p:spPr>
          <a:xfrm>
            <a:off x="297657" y="399389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效益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372050" y="935792"/>
            <a:ext cx="4767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zh-TW" altLang="en-US" sz="1200" dirty="0">
                <a:latin typeface="+mn-ea"/>
              </a:rPr>
              <a:t>目前 </a:t>
            </a:r>
            <a:r>
              <a:rPr lang="en-US" altLang="zh-TW" sz="1200" dirty="0">
                <a:latin typeface="+mn-ea"/>
              </a:rPr>
              <a:t>Mura</a:t>
            </a:r>
            <a:r>
              <a:rPr lang="zh-TW" altLang="en-US" sz="1200" dirty="0">
                <a:latin typeface="+mn-ea"/>
              </a:rPr>
              <a:t> 檢查機</a:t>
            </a:r>
            <a:r>
              <a:rPr lang="zh-TW" altLang="zh-TW" sz="1200" dirty="0">
                <a:latin typeface="+mn-ea"/>
              </a:rPr>
              <a:t>在判定</a:t>
            </a:r>
            <a:r>
              <a:rPr lang="zh-TW" altLang="en-US" sz="1200" dirty="0">
                <a:latin typeface="+mn-ea"/>
              </a:rPr>
              <a:t> </a:t>
            </a:r>
            <a:r>
              <a:rPr lang="en-US" altLang="zh-TW" sz="1200" dirty="0">
                <a:latin typeface="+mn-ea"/>
              </a:rPr>
              <a:t>Mura</a:t>
            </a:r>
            <a:r>
              <a:rPr lang="zh-TW" altLang="en-US" sz="1200" dirty="0">
                <a:latin typeface="+mn-ea"/>
              </a:rPr>
              <a:t> </a:t>
            </a:r>
            <a:r>
              <a:rPr lang="zh-TW" altLang="zh-TW" sz="1200" dirty="0">
                <a:latin typeface="+mn-ea"/>
              </a:rPr>
              <a:t>上存在誤判與漏檢的</a:t>
            </a:r>
            <a:r>
              <a:rPr lang="zh-TW" altLang="zh-TW" sz="1200" dirty="0" smtClean="0">
                <a:latin typeface="+mn-ea"/>
              </a:rPr>
              <a:t>風險</a:t>
            </a:r>
            <a:r>
              <a:rPr lang="en-US" altLang="zh-TW" sz="1200" dirty="0" smtClean="0">
                <a:latin typeface="+mn-ea"/>
              </a:rPr>
              <a:t>(</a:t>
            </a:r>
            <a:r>
              <a:rPr lang="zh-TW" altLang="en-US" sz="1200" dirty="0" smtClean="0">
                <a:latin typeface="+mn-ea"/>
              </a:rPr>
              <a:t>約</a:t>
            </a:r>
            <a:r>
              <a:rPr lang="en-US" altLang="zh-TW" sz="1200" dirty="0" smtClean="0">
                <a:latin typeface="+mn-ea"/>
              </a:rPr>
              <a:t>30%)</a:t>
            </a:r>
            <a:endParaRPr lang="en-US" altLang="zh-TW" sz="1200" dirty="0">
              <a:latin typeface="+mn-ea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zh-TW" altLang="en-US" sz="1200" dirty="0">
                <a:latin typeface="+mn-ea"/>
              </a:rPr>
              <a:t>藉由影像辨識來提升攔檢率，提升產出品質，降低報廢率</a:t>
            </a:r>
            <a:endParaRPr lang="en-US" altLang="zh-TW" sz="1200" dirty="0">
              <a:latin typeface="+mn-ea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15408" y="4411256"/>
            <a:ext cx="83552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若發生異常未檢出，根據以往經驗約</a:t>
            </a:r>
            <a:r>
              <a:rPr lang="en-US" altLang="zh-TW" sz="1200" dirty="0"/>
              <a:t>1000</a:t>
            </a:r>
            <a:r>
              <a:rPr lang="zh-TW" altLang="en-US" sz="1200" dirty="0" smtClean="0"/>
              <a:t>片可能都是異常貨，提早攔檢可節省報廢</a:t>
            </a:r>
            <a:r>
              <a:rPr lang="en-US" altLang="zh-TW" sz="1200" dirty="0" smtClean="0"/>
              <a:t>1000*850=850,000</a:t>
            </a:r>
            <a:r>
              <a:rPr lang="zh-TW" altLang="en-US" sz="1200" dirty="0" smtClean="0"/>
              <a:t>元</a:t>
            </a:r>
            <a:r>
              <a:rPr lang="en-US" altLang="zh-TW" sz="1200" dirty="0" smtClean="0"/>
              <a:t>/</a:t>
            </a:r>
            <a:r>
              <a:rPr lang="zh-TW" altLang="en-US" sz="1200" dirty="0" smtClean="0"/>
              <a:t>次</a:t>
            </a:r>
            <a:endParaRPr lang="en-US" altLang="zh-TW" sz="1200" dirty="0" smtClean="0"/>
          </a:p>
        </p:txBody>
      </p:sp>
      <p:sp>
        <p:nvSpPr>
          <p:cNvPr id="17" name="文字方塊 16"/>
          <p:cNvSpPr txBox="1"/>
          <p:nvPr/>
        </p:nvSpPr>
        <p:spPr>
          <a:xfrm>
            <a:off x="160231" y="1837219"/>
            <a:ext cx="19864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>
                <a:sym typeface="Wingdings" panose="05000000000000000000" pitchFamily="2" charset="2"/>
              </a:rPr>
              <a:t>辨識</a:t>
            </a:r>
            <a:r>
              <a:rPr lang="zh-TW" altLang="en-US" sz="1200" dirty="0" smtClean="0">
                <a:sym typeface="Wingdings" panose="05000000000000000000" pitchFamily="2" charset="2"/>
              </a:rPr>
              <a:t>系統開發：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宗賢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資料分類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AI</a:t>
            </a:r>
            <a:r>
              <a:rPr lang="zh-TW" altLang="en-US" sz="1200" dirty="0" smtClean="0"/>
              <a:t>模型訓練</a:t>
            </a:r>
            <a:r>
              <a:rPr lang="en-US" altLang="zh-TW" sz="1200" dirty="0" smtClean="0"/>
              <a:t>&amp;</a:t>
            </a:r>
            <a:r>
              <a:rPr lang="zh-TW" altLang="en-US" sz="1200" dirty="0" smtClean="0"/>
              <a:t>部署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DB</a:t>
            </a:r>
            <a:r>
              <a:rPr lang="zh-TW" altLang="en-US" sz="1200" dirty="0" smtClean="0"/>
              <a:t>資料撈取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辨識流程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通報</a:t>
            </a:r>
            <a:r>
              <a:rPr lang="zh-TW" altLang="en-US" sz="1200" dirty="0"/>
              <a:t>功能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 smtClean="0"/>
          </a:p>
        </p:txBody>
      </p:sp>
      <p:sp>
        <p:nvSpPr>
          <p:cNvPr id="18" name="文字方塊 17"/>
          <p:cNvSpPr txBox="1"/>
          <p:nvPr/>
        </p:nvSpPr>
        <p:spPr>
          <a:xfrm>
            <a:off x="172685" y="3390300"/>
            <a:ext cx="2287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資料收</a:t>
            </a:r>
            <a:r>
              <a:rPr lang="zh-TW" altLang="en-US" sz="1200" dirty="0"/>
              <a:t>集</a:t>
            </a:r>
            <a:r>
              <a:rPr lang="zh-TW" altLang="en-US" sz="1200" dirty="0" smtClean="0"/>
              <a:t>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>
                <a:sym typeface="Wingdings" panose="05000000000000000000" pitchFamily="2" charset="2"/>
              </a:rPr>
              <a:t>筠</a:t>
            </a:r>
            <a:r>
              <a:rPr lang="zh-TW" altLang="en-US" sz="1200" dirty="0" smtClean="0">
                <a:sym typeface="Wingdings" panose="05000000000000000000" pitchFamily="2" charset="2"/>
              </a:rPr>
              <a:t>晏</a:t>
            </a:r>
            <a:r>
              <a:rPr lang="en-US" altLang="zh-TW" sz="1200" dirty="0" smtClean="0">
                <a:sym typeface="Wingdings" panose="05000000000000000000" pitchFamily="2" charset="2"/>
              </a:rPr>
              <a:t>/</a:t>
            </a:r>
            <a:r>
              <a:rPr lang="zh-TW" altLang="en-US" sz="1200" dirty="0" smtClean="0">
                <a:sym typeface="Wingdings" panose="05000000000000000000" pitchFamily="2" charset="2"/>
              </a:rPr>
              <a:t>銘仁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AOI</a:t>
            </a:r>
            <a:r>
              <a:rPr lang="zh-TW" altLang="en-US" sz="1200" dirty="0" smtClean="0"/>
              <a:t>機台資料傳到辨識主機</a:t>
            </a:r>
            <a:endParaRPr lang="en-US" altLang="zh-TW" sz="1200" dirty="0" smtClean="0"/>
          </a:p>
        </p:txBody>
      </p:sp>
      <p:sp>
        <p:nvSpPr>
          <p:cNvPr id="20" name="圓角矩形 19"/>
          <p:cNvSpPr/>
          <p:nvPr/>
        </p:nvSpPr>
        <p:spPr>
          <a:xfrm>
            <a:off x="2564873" y="103854"/>
            <a:ext cx="1523264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：林宗賢</a:t>
            </a:r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林怡辰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2564874" y="329323"/>
            <a:ext cx="1523263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</a:t>
            </a:r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：張簡筠晏</a:t>
            </a:r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洪銘仁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729709"/>
              </p:ext>
            </p:extLst>
          </p:nvPr>
        </p:nvGraphicFramePr>
        <p:xfrm>
          <a:off x="3088462" y="1888717"/>
          <a:ext cx="1790665" cy="1963247"/>
        </p:xfrm>
        <a:graphic>
          <a:graphicData uri="http://schemas.openxmlformats.org/drawingml/2006/table">
            <a:tbl>
              <a:tblPr/>
              <a:tblGrid>
                <a:gridCol w="365175"/>
                <a:gridCol w="1050909"/>
                <a:gridCol w="374581"/>
              </a:tblGrid>
              <a:tr h="15101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資料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機台資訊傳到辨識主機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瑕疵資料分類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DB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資料撈取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AI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模型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模型訓練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新增辨識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Type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模型部署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辨識流程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照片讀取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照片拼接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照片分割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Mura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辨識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辨識結果輸出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eStone&amp;mail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發報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101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網頁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監控網頁開發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70C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160231" y="2967451"/>
            <a:ext cx="1678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網頁開發：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>
                <a:sym typeface="Wingdings" panose="05000000000000000000" pitchFamily="2" charset="2"/>
              </a:rPr>
              <a:t>怡</a:t>
            </a:r>
            <a:r>
              <a:rPr lang="zh-TW" altLang="en-US" sz="1200" dirty="0" smtClean="0">
                <a:sym typeface="Wingdings" panose="05000000000000000000" pitchFamily="2" charset="2"/>
              </a:rPr>
              <a:t>辰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監控網頁開</a:t>
            </a:r>
            <a:r>
              <a:rPr lang="zh-TW" altLang="en-US" sz="1200" dirty="0"/>
              <a:t>發</a:t>
            </a:r>
            <a:endParaRPr lang="en-US" altLang="zh-TW" sz="1200" dirty="0" smtClean="0"/>
          </a:p>
        </p:txBody>
      </p:sp>
      <p:sp>
        <p:nvSpPr>
          <p:cNvPr id="30" name="圓角矩形 29"/>
          <p:cNvSpPr/>
          <p:nvPr/>
        </p:nvSpPr>
        <p:spPr>
          <a:xfrm>
            <a:off x="4227494" y="318563"/>
            <a:ext cx="651633" cy="19016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000" dirty="0" smtClean="0">
                <a:solidFill>
                  <a:schemeClr val="tx1"/>
                </a:solidFill>
              </a:rPr>
              <a:t>已完成</a:t>
            </a:r>
            <a:endParaRPr lang="zh-TW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930531" y="1798113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系統流程</a:t>
            </a:r>
            <a:endParaRPr lang="zh-TW" altLang="en-US" sz="1200" dirty="0"/>
          </a:p>
        </p:txBody>
      </p:sp>
      <p:grpSp>
        <p:nvGrpSpPr>
          <p:cNvPr id="70" name="群組 69"/>
          <p:cNvGrpSpPr/>
          <p:nvPr/>
        </p:nvGrpSpPr>
        <p:grpSpPr>
          <a:xfrm>
            <a:off x="5139381" y="2075197"/>
            <a:ext cx="3442198" cy="1237888"/>
            <a:chOff x="5139381" y="2151977"/>
            <a:chExt cx="3442198" cy="1237888"/>
          </a:xfrm>
        </p:grpSpPr>
        <p:sp>
          <p:nvSpPr>
            <p:cNvPr id="31" name="矩形 30"/>
            <p:cNvSpPr/>
            <p:nvPr/>
          </p:nvSpPr>
          <p:spPr>
            <a:xfrm>
              <a:off x="5139381" y="2286587"/>
              <a:ext cx="542697" cy="3948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Mura</a:t>
              </a:r>
              <a:r>
                <a:rPr lang="zh-TW" altLang="en-US" sz="800" dirty="0" smtClean="0"/>
                <a:t>機台拍照</a:t>
              </a:r>
              <a:endParaRPr lang="en-US" altLang="zh-TW" sz="800" dirty="0" smtClean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6034247" y="2286587"/>
              <a:ext cx="474059" cy="3948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 smtClean="0"/>
                <a:t>辨識主機</a:t>
              </a:r>
              <a:endParaRPr lang="en-US" altLang="zh-TW" sz="800" dirty="0" smtClean="0"/>
            </a:p>
          </p:txBody>
        </p:sp>
        <p:cxnSp>
          <p:nvCxnSpPr>
            <p:cNvPr id="15" name="直線單箭頭接點 14"/>
            <p:cNvCxnSpPr>
              <a:stCxn id="31" idx="3"/>
              <a:endCxn id="32" idx="1"/>
            </p:cNvCxnSpPr>
            <p:nvPr/>
          </p:nvCxnSpPr>
          <p:spPr>
            <a:xfrm>
              <a:off x="5682078" y="2484015"/>
              <a:ext cx="3521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/>
            <p:cNvSpPr txBox="1"/>
            <p:nvPr/>
          </p:nvSpPr>
          <p:spPr>
            <a:xfrm>
              <a:off x="5644397" y="215197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資</a:t>
              </a:r>
              <a:r>
                <a:rPr lang="zh-TW" altLang="en-US" sz="800" dirty="0"/>
                <a:t>料</a:t>
              </a:r>
              <a:endParaRPr lang="en-US" altLang="zh-TW" sz="800" dirty="0" smtClean="0"/>
            </a:p>
            <a:p>
              <a:r>
                <a:rPr lang="zh-TW" altLang="en-US" sz="800" dirty="0" smtClean="0"/>
                <a:t>傳輸</a:t>
              </a:r>
              <a:endParaRPr lang="zh-TW" altLang="en-US" sz="800" dirty="0"/>
            </a:p>
          </p:txBody>
        </p:sp>
        <p:sp>
          <p:nvSpPr>
            <p:cNvPr id="35" name="矩形 34"/>
            <p:cNvSpPr/>
            <p:nvPr/>
          </p:nvSpPr>
          <p:spPr>
            <a:xfrm>
              <a:off x="7348755" y="2286586"/>
              <a:ext cx="474059" cy="3948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Mura</a:t>
              </a:r>
              <a:r>
                <a:rPr lang="zh-TW" altLang="en-US" sz="800" dirty="0" smtClean="0"/>
                <a:t>辨識</a:t>
              </a:r>
              <a:endParaRPr lang="en-US" altLang="zh-TW" sz="800" dirty="0" smtClean="0"/>
            </a:p>
          </p:txBody>
        </p:sp>
        <p:sp>
          <p:nvSpPr>
            <p:cNvPr id="38" name="矩形 37"/>
            <p:cNvSpPr/>
            <p:nvPr/>
          </p:nvSpPr>
          <p:spPr>
            <a:xfrm>
              <a:off x="6691501" y="2286587"/>
              <a:ext cx="474059" cy="3948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 smtClean="0"/>
                <a:t>機台</a:t>
              </a:r>
              <a:endParaRPr lang="en-US" altLang="zh-TW" sz="800" dirty="0" smtClean="0"/>
            </a:p>
            <a:p>
              <a:pPr algn="ctr"/>
              <a:r>
                <a:rPr lang="zh-TW" altLang="en-US" sz="800" dirty="0" smtClean="0"/>
                <a:t>資料撈取</a:t>
              </a:r>
              <a:endParaRPr lang="en-US" altLang="zh-TW" sz="800" dirty="0" smtClean="0"/>
            </a:p>
          </p:txBody>
        </p:sp>
        <p:cxnSp>
          <p:nvCxnSpPr>
            <p:cNvPr id="39" name="直線單箭頭接點 38"/>
            <p:cNvCxnSpPr>
              <a:stCxn id="32" idx="3"/>
              <a:endCxn id="38" idx="1"/>
            </p:cNvCxnSpPr>
            <p:nvPr/>
          </p:nvCxnSpPr>
          <p:spPr>
            <a:xfrm>
              <a:off x="6508306" y="2484015"/>
              <a:ext cx="183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/>
            <p:cNvCxnSpPr>
              <a:stCxn id="38" idx="3"/>
              <a:endCxn id="35" idx="1"/>
            </p:cNvCxnSpPr>
            <p:nvPr/>
          </p:nvCxnSpPr>
          <p:spPr>
            <a:xfrm flipV="1">
              <a:off x="7165560" y="2484014"/>
              <a:ext cx="18319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8107520" y="2285766"/>
              <a:ext cx="474059" cy="3948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 smtClean="0"/>
                <a:t>網頁監控</a:t>
              </a:r>
              <a:endParaRPr lang="en-US" altLang="zh-TW" sz="800" dirty="0" smtClean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7348755" y="2995010"/>
              <a:ext cx="474059" cy="3948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 smtClean="0"/>
                <a:t>通報人員</a:t>
              </a:r>
              <a:endParaRPr lang="en-US" altLang="zh-TW" sz="800" dirty="0" smtClean="0"/>
            </a:p>
          </p:txBody>
        </p:sp>
        <p:cxnSp>
          <p:nvCxnSpPr>
            <p:cNvPr id="46" name="直線單箭頭接點 45"/>
            <p:cNvCxnSpPr>
              <a:stCxn id="35" idx="2"/>
              <a:endCxn id="45" idx="0"/>
            </p:cNvCxnSpPr>
            <p:nvPr/>
          </p:nvCxnSpPr>
          <p:spPr>
            <a:xfrm>
              <a:off x="7585785" y="2681441"/>
              <a:ext cx="0" cy="3135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單箭頭接點 47"/>
            <p:cNvCxnSpPr>
              <a:stCxn id="35" idx="3"/>
              <a:endCxn id="44" idx="1"/>
            </p:cNvCxnSpPr>
            <p:nvPr/>
          </p:nvCxnSpPr>
          <p:spPr>
            <a:xfrm flipV="1">
              <a:off x="7822814" y="2483194"/>
              <a:ext cx="284706" cy="8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接點 51"/>
            <p:cNvCxnSpPr>
              <a:stCxn id="45" idx="3"/>
              <a:endCxn id="44" idx="2"/>
            </p:cNvCxnSpPr>
            <p:nvPr/>
          </p:nvCxnSpPr>
          <p:spPr>
            <a:xfrm flipV="1">
              <a:off x="7822814" y="2680621"/>
              <a:ext cx="521736" cy="51181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7796691" y="2254004"/>
              <a:ext cx="33695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smtClean="0"/>
                <a:t>OK</a:t>
              </a:r>
              <a:endParaRPr lang="zh-TW" altLang="en-US" sz="800" dirty="0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7532618" y="2728331"/>
              <a:ext cx="3433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smtClean="0"/>
                <a:t>NG</a:t>
              </a:r>
              <a:endParaRPr lang="zh-TW" altLang="en-US" sz="800" dirty="0"/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5012107" y="2680430"/>
            <a:ext cx="1698063" cy="1092903"/>
            <a:chOff x="186131" y="831008"/>
            <a:chExt cx="6054212" cy="3896595"/>
          </a:xfrm>
        </p:grpSpPr>
        <p:pic>
          <p:nvPicPr>
            <p:cNvPr id="57" name="圖片 5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184"/>
            <a:stretch/>
          </p:blipFill>
          <p:spPr>
            <a:xfrm>
              <a:off x="349318" y="1409496"/>
              <a:ext cx="1818342" cy="1603332"/>
            </a:xfrm>
            <a:prstGeom prst="rect">
              <a:avLst/>
            </a:prstGeom>
          </p:spPr>
        </p:pic>
        <p:pic>
          <p:nvPicPr>
            <p:cNvPr id="58" name="圖片 5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184"/>
            <a:stretch/>
          </p:blipFill>
          <p:spPr>
            <a:xfrm>
              <a:off x="349318" y="3125562"/>
              <a:ext cx="1816878" cy="1602041"/>
            </a:xfrm>
            <a:prstGeom prst="rect">
              <a:avLst/>
            </a:prstGeom>
          </p:spPr>
        </p:pic>
        <p:pic>
          <p:nvPicPr>
            <p:cNvPr id="59" name="圖片 5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1724" y="1409496"/>
              <a:ext cx="1924781" cy="1589496"/>
            </a:xfrm>
            <a:prstGeom prst="rect">
              <a:avLst/>
            </a:prstGeom>
          </p:spPr>
        </p:pic>
        <p:pic>
          <p:nvPicPr>
            <p:cNvPr id="60" name="圖片 5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51724" y="3125562"/>
              <a:ext cx="1939974" cy="1602041"/>
            </a:xfrm>
            <a:prstGeom prst="rect">
              <a:avLst/>
            </a:prstGeom>
          </p:spPr>
        </p:pic>
        <p:pic>
          <p:nvPicPr>
            <p:cNvPr id="63" name="圖片 6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1931" y="1409496"/>
              <a:ext cx="1838412" cy="1589499"/>
            </a:xfrm>
            <a:prstGeom prst="rect">
              <a:avLst/>
            </a:prstGeom>
          </p:spPr>
        </p:pic>
        <p:pic>
          <p:nvPicPr>
            <p:cNvPr id="64" name="圖片 63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1931" y="3075459"/>
              <a:ext cx="1838412" cy="1652144"/>
            </a:xfrm>
            <a:prstGeom prst="rect">
              <a:avLst/>
            </a:prstGeom>
          </p:spPr>
        </p:pic>
        <p:sp>
          <p:nvSpPr>
            <p:cNvPr id="65" name="文字方塊 64"/>
            <p:cNvSpPr txBox="1"/>
            <p:nvPr/>
          </p:nvSpPr>
          <p:spPr>
            <a:xfrm>
              <a:off x="186131" y="842089"/>
              <a:ext cx="1892905" cy="6584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600" b="1" dirty="0"/>
                <a:t>Butterfly</a:t>
              </a:r>
              <a:endParaRPr lang="zh-TW" altLang="en-US" sz="600" b="1" dirty="0"/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2581053" y="840984"/>
              <a:ext cx="1418537" cy="6584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600" b="1" dirty="0"/>
                <a:t>H-Slit</a:t>
              </a:r>
              <a:endParaRPr lang="zh-TW" altLang="en-US" sz="600" b="1" dirty="0"/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4575386" y="831008"/>
              <a:ext cx="1418537" cy="6584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600" b="1" dirty="0"/>
                <a:t>V-Slit</a:t>
              </a:r>
              <a:endParaRPr lang="zh-TW" altLang="en-US" sz="600" b="1" dirty="0"/>
            </a:p>
          </p:txBody>
        </p:sp>
      </p:grpSp>
      <p:pic>
        <p:nvPicPr>
          <p:cNvPr id="71" name="圖片 70"/>
          <p:cNvPicPr>
            <a:picLocks noChangeAspect="1"/>
          </p:cNvPicPr>
          <p:nvPr/>
        </p:nvPicPr>
        <p:blipFill rotWithShape="1">
          <a:blip r:embed="rId9"/>
          <a:srcRect t="25201"/>
          <a:stretch/>
        </p:blipFill>
        <p:spPr>
          <a:xfrm>
            <a:off x="6736871" y="2842682"/>
            <a:ext cx="439054" cy="445816"/>
          </a:xfrm>
          <a:prstGeom prst="rect">
            <a:avLst/>
          </a:prstGeom>
        </p:spPr>
      </p:pic>
      <p:pic>
        <p:nvPicPr>
          <p:cNvPr id="73" name="圖片 72"/>
          <p:cNvPicPr>
            <a:picLocks noChangeAspect="1"/>
          </p:cNvPicPr>
          <p:nvPr/>
        </p:nvPicPr>
        <p:blipFill rotWithShape="1">
          <a:blip r:embed="rId10"/>
          <a:srcRect l="1" t="26692" r="1863"/>
          <a:stretch/>
        </p:blipFill>
        <p:spPr>
          <a:xfrm>
            <a:off x="6736872" y="3309946"/>
            <a:ext cx="439053" cy="463387"/>
          </a:xfrm>
          <a:prstGeom prst="rect">
            <a:avLst/>
          </a:prstGeom>
        </p:spPr>
      </p:pic>
      <p:sp>
        <p:nvSpPr>
          <p:cNvPr id="74" name="文字方塊 73"/>
          <p:cNvSpPr txBox="1"/>
          <p:nvPr/>
        </p:nvSpPr>
        <p:spPr>
          <a:xfrm>
            <a:off x="6750558" y="2680430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00" b="1" dirty="0" smtClean="0"/>
              <a:t>Other</a:t>
            </a:r>
            <a:endParaRPr lang="zh-TW" altLang="en-US" sz="600" b="1" dirty="0"/>
          </a:p>
        </p:txBody>
      </p:sp>
    </p:spTree>
    <p:extLst>
      <p:ext uri="{BB962C8B-B14F-4D97-AF65-F5344CB8AC3E}">
        <p14:creationId xmlns:p14="http://schemas.microsoft.com/office/powerpoint/2010/main" val="296886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eStone</a:t>
            </a:r>
            <a:r>
              <a:rPr lang="en-US" altLang="zh-TW" dirty="0" smtClean="0"/>
              <a:t> &amp; Mail </a:t>
            </a:r>
            <a:r>
              <a:rPr lang="zh-TW" altLang="en-US" dirty="0" smtClean="0"/>
              <a:t>通報功能上線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307975" y="1529389"/>
            <a:ext cx="74090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/>
              <a:t>eStone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724391" y="1529389"/>
            <a:ext cx="5148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Mail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74650" y="1079500"/>
            <a:ext cx="413606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NG</a:t>
            </a:r>
            <a:r>
              <a:rPr lang="zh-TW" altLang="en-US" dirty="0" smtClean="0"/>
              <a:t>率超過標準即觸發</a:t>
            </a:r>
            <a:r>
              <a:rPr lang="en-US" altLang="zh-TW" dirty="0" err="1" smtClean="0"/>
              <a:t>eStone&amp;Mail</a:t>
            </a:r>
            <a:r>
              <a:rPr lang="zh-TW" altLang="en-US" dirty="0" smtClean="0"/>
              <a:t>通知</a:t>
            </a:r>
            <a:r>
              <a:rPr lang="en-US" altLang="zh-TW" dirty="0" smtClean="0"/>
              <a:t>B2</a:t>
            </a:r>
            <a:r>
              <a:rPr lang="zh-TW" altLang="en-US" dirty="0" smtClean="0"/>
              <a:t>全員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391" y="1963198"/>
            <a:ext cx="5859801" cy="2105625"/>
          </a:xfrm>
          <a:prstGeom prst="rect">
            <a:avLst/>
          </a:prstGeom>
        </p:spPr>
      </p:pic>
      <p:pic>
        <p:nvPicPr>
          <p:cNvPr id="9" name="圖片 8" descr="cid:image014.png@01DB94C5.993AFE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14" y="1963198"/>
            <a:ext cx="2281662" cy="929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55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1763997" y="851940"/>
            <a:ext cx="7325984" cy="4215365"/>
            <a:chOff x="250629" y="880981"/>
            <a:chExt cx="12042436" cy="5215018"/>
          </a:xfrm>
        </p:grpSpPr>
        <p:pic>
          <p:nvPicPr>
            <p:cNvPr id="14" name="圖片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0629" y="2381534"/>
              <a:ext cx="7729663" cy="3714465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 rotWithShape="1">
            <a:blip r:embed="rId3"/>
            <a:srcRect b="39969"/>
            <a:stretch/>
          </p:blipFill>
          <p:spPr>
            <a:xfrm>
              <a:off x="250630" y="927781"/>
              <a:ext cx="4384363" cy="1269754"/>
            </a:xfrm>
            <a:prstGeom prst="rect">
              <a:avLst/>
            </a:prstGeom>
            <a:ln w="38100" cap="sq">
              <a:solidFill>
                <a:srgbClr val="FFC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20" name="文字方塊 19"/>
            <p:cNvSpPr txBox="1"/>
            <p:nvPr/>
          </p:nvSpPr>
          <p:spPr>
            <a:xfrm>
              <a:off x="1528489" y="4836656"/>
              <a:ext cx="1828646" cy="2855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900" b="1" u="sng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框出</a:t>
              </a:r>
              <a:r>
                <a:rPr lang="en-US" altLang="zh-TW" sz="900" b="1" u="sng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Mura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位置</a:t>
              </a: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5183339" y="5328115"/>
              <a:ext cx="2100090" cy="2855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Mura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大圖 </a:t>
              </a:r>
              <a:r>
                <a:rPr lang="en-US" altLang="zh-TW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熱區圖</a:t>
              </a: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5705656" y="3419829"/>
              <a:ext cx="2129604" cy="2855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可選擇對應</a:t>
              </a:r>
              <a:r>
                <a:rPr lang="en-US" altLang="zh-TW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Mura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資料</a:t>
              </a: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6313463" y="2472365"/>
              <a:ext cx="1663910" cy="2855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選擇</a:t>
              </a:r>
              <a:r>
                <a:rPr lang="en-US" altLang="zh-TW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Glass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</a:t>
              </a: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1061763" y="1205405"/>
              <a:ext cx="1298669" cy="2855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選擇</a:t>
              </a:r>
              <a:r>
                <a:rPr lang="en-US" altLang="zh-TW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Line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別</a:t>
              </a:r>
            </a:p>
          </p:txBody>
        </p:sp>
        <p:sp>
          <p:nvSpPr>
            <p:cNvPr id="6" name="向下箭號 5"/>
            <p:cNvSpPr/>
            <p:nvPr/>
          </p:nvSpPr>
          <p:spPr>
            <a:xfrm>
              <a:off x="1894702" y="2132589"/>
              <a:ext cx="465730" cy="3275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80110" y="880981"/>
              <a:ext cx="2638793" cy="514422"/>
            </a:xfrm>
            <a:prstGeom prst="rect">
              <a:avLst/>
            </a:prstGeom>
          </p:spPr>
        </p:pic>
        <p:pic>
          <p:nvPicPr>
            <p:cNvPr id="10" name="圖片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80110" y="2236349"/>
              <a:ext cx="4312955" cy="3761779"/>
            </a:xfrm>
            <a:prstGeom prst="rect">
              <a:avLst/>
            </a:prstGeom>
          </p:spPr>
        </p:pic>
        <p:sp>
          <p:nvSpPr>
            <p:cNvPr id="35" name="文字方塊 34"/>
            <p:cNvSpPr txBox="1"/>
            <p:nvPr/>
          </p:nvSpPr>
          <p:spPr>
            <a:xfrm>
              <a:off x="4311617" y="2183092"/>
              <a:ext cx="1967448" cy="2855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日期 </a:t>
              </a:r>
              <a:r>
                <a:rPr lang="en-US" altLang="zh-TW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&amp;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Judge</a:t>
              </a:r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篩選</a:t>
              </a:r>
            </a:p>
          </p:txBody>
        </p:sp>
        <p:pic>
          <p:nvPicPr>
            <p:cNvPr id="17" name="圖片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31477" y="1036458"/>
              <a:ext cx="684691" cy="1757715"/>
            </a:xfrm>
            <a:prstGeom prst="rect">
              <a:avLst/>
            </a:prstGeom>
          </p:spPr>
        </p:pic>
        <p:sp>
          <p:nvSpPr>
            <p:cNvPr id="28" name="文字方塊 27"/>
            <p:cNvSpPr txBox="1"/>
            <p:nvPr/>
          </p:nvSpPr>
          <p:spPr>
            <a:xfrm>
              <a:off x="6582400" y="1518187"/>
              <a:ext cx="2983889" cy="62826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移除</a:t>
              </a: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Glass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影像上所有框選</a:t>
              </a:r>
              <a:endParaRPr lang="en-US" altLang="zh-TW" sz="9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影像縮放啟動</a:t>
              </a: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滾輪縮放</a:t>
              </a:r>
              <a:endParaRPr lang="en-US" altLang="zh-TW" sz="9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28588" indent="-128588">
                <a:buFont typeface="Arial" panose="020B0604020202020204" pitchFamily="34" charset="0"/>
                <a:buChar char="•"/>
              </a:pP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可選擇縮放倍率在影像上框選</a:t>
              </a:r>
              <a:endParaRPr lang="en-US" altLang="zh-TW" sz="9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50152" y="3277043"/>
              <a:ext cx="1062437" cy="28557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TW" altLang="en-US" sz="900" b="1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大板照片</a:t>
              </a:r>
            </a:p>
          </p:txBody>
        </p:sp>
        <p:sp>
          <p:nvSpPr>
            <p:cNvPr id="34" name="向下箭號 33"/>
            <p:cNvSpPr/>
            <p:nvPr/>
          </p:nvSpPr>
          <p:spPr>
            <a:xfrm>
              <a:off x="9396719" y="1646907"/>
              <a:ext cx="465730" cy="3275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13"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100903" y="857156"/>
            <a:ext cx="1574975" cy="2631157"/>
            <a:chOff x="51128" y="851939"/>
            <a:chExt cx="1574975" cy="2631157"/>
          </a:xfrm>
        </p:grpSpPr>
        <p:grpSp>
          <p:nvGrpSpPr>
            <p:cNvPr id="27" name="群組 26"/>
            <p:cNvGrpSpPr/>
            <p:nvPr/>
          </p:nvGrpSpPr>
          <p:grpSpPr>
            <a:xfrm>
              <a:off x="51128" y="851939"/>
              <a:ext cx="1574975" cy="2631157"/>
              <a:chOff x="4740577" y="1236972"/>
              <a:chExt cx="2160620" cy="2576645"/>
            </a:xfrm>
          </p:grpSpPr>
          <p:sp>
            <p:nvSpPr>
              <p:cNvPr id="29" name="圓角矩形 28"/>
              <p:cNvSpPr/>
              <p:nvPr/>
            </p:nvSpPr>
            <p:spPr>
              <a:xfrm>
                <a:off x="4740577" y="1389509"/>
                <a:ext cx="2160620" cy="2424108"/>
              </a:xfrm>
              <a:prstGeom prst="roundRect">
                <a:avLst>
                  <a:gd name="adj" fmla="val 3923"/>
                </a:avLst>
              </a:prstGeom>
              <a:noFill/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8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0" name="文字方塊 29"/>
              <p:cNvSpPr txBox="1"/>
              <p:nvPr/>
            </p:nvSpPr>
            <p:spPr>
              <a:xfrm>
                <a:off x="4819823" y="1236972"/>
                <a:ext cx="935658" cy="305073"/>
              </a:xfrm>
              <a:prstGeom prst="flowChartTermina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TW"/>
                </a:defPPr>
                <a:lvl1pPr algn="ctr" defTabSz="685800">
                  <a:defRPr sz="2000">
                    <a:solidFill>
                      <a:srgbClr val="FFFFFF"/>
                    </a:solidFill>
                  </a:defRPr>
                </a:lvl1pPr>
                <a:lvl2pPr marL="342900" defTabSz="685800">
                  <a:defRPr sz="1350">
                    <a:solidFill>
                      <a:schemeClr val="lt1"/>
                    </a:solidFill>
                  </a:defRPr>
                </a:lvl2pPr>
                <a:lvl3pPr marL="685800" defTabSz="685800">
                  <a:defRPr sz="1350">
                    <a:solidFill>
                      <a:schemeClr val="lt1"/>
                    </a:solidFill>
                  </a:defRPr>
                </a:lvl3pPr>
                <a:lvl4pPr marL="1028700" defTabSz="685800">
                  <a:defRPr sz="1350">
                    <a:solidFill>
                      <a:schemeClr val="lt1"/>
                    </a:solidFill>
                  </a:defRPr>
                </a:lvl4pPr>
                <a:lvl5pPr marL="1371600" defTabSz="685800">
                  <a:defRPr sz="1350">
                    <a:solidFill>
                      <a:schemeClr val="lt1"/>
                    </a:solidFill>
                  </a:defRPr>
                </a:lvl5pPr>
                <a:lvl6pPr marL="1714500" defTabSz="685800">
                  <a:defRPr sz="1350">
                    <a:solidFill>
                      <a:schemeClr val="lt1"/>
                    </a:solidFill>
                  </a:defRPr>
                </a:lvl6pPr>
                <a:lvl7pPr marL="2057400" defTabSz="685800">
                  <a:defRPr sz="1350">
                    <a:solidFill>
                      <a:schemeClr val="lt1"/>
                    </a:solidFill>
                  </a:defRPr>
                </a:lvl7pPr>
                <a:lvl8pPr marL="2400300" defTabSz="685800">
                  <a:defRPr sz="1350">
                    <a:solidFill>
                      <a:schemeClr val="lt1"/>
                    </a:solidFill>
                  </a:defRPr>
                </a:lvl8pPr>
                <a:lvl9pPr marL="2743200" defTabSz="685800">
                  <a:defRPr sz="1350"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TW" altLang="en-US" sz="15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功能</a:t>
                </a:r>
              </a:p>
            </p:txBody>
          </p:sp>
        </p:grpSp>
        <p:sp>
          <p:nvSpPr>
            <p:cNvPr id="31" name="文字方塊 30"/>
            <p:cNvSpPr txBox="1"/>
            <p:nvPr/>
          </p:nvSpPr>
          <p:spPr>
            <a:xfrm>
              <a:off x="80490" y="1117269"/>
              <a:ext cx="151978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8588" indent="-12858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LINE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別區分資料</a:t>
              </a: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Table</a:t>
              </a:r>
            </a:p>
            <a:p>
              <a:pPr marL="128588" indent="-12858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Table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對應</a:t>
              </a: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NG Glass-ID data</a:t>
              </a:r>
            </a:p>
            <a:p>
              <a:pPr marL="128588" indent="-12858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OK/NG &amp; 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日期篩選</a:t>
              </a:r>
            </a:p>
            <a:p>
              <a:pPr marL="128588" indent="-12858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倍率選擇框選特定區域</a:t>
              </a:r>
            </a:p>
            <a:p>
              <a:pPr marL="128588" indent="-12858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NG Area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框選 </a:t>
              </a:r>
            </a:p>
            <a:p>
              <a:pPr marL="128588" indent="-12858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Remove mark</a:t>
              </a:r>
            </a:p>
            <a:p>
              <a:pPr marL="128588" indent="-128588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Mura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對應子圖</a:t>
              </a:r>
              <a:r>
                <a:rPr lang="en-US" altLang="zh-TW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  <a:r>
                <a:rPr lang="zh-TW" altLang="en-US" sz="9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熱區圖</a:t>
              </a:r>
              <a:endParaRPr lang="en-US" altLang="zh-TW" sz="9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100903" y="525063"/>
            <a:ext cx="2215671" cy="248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013" dirty="0">
                <a:hlinkClick r:id="rId7"/>
              </a:rPr>
              <a:t>http://10.97.150.113:2025/cf_eyes</a:t>
            </a:r>
            <a:endParaRPr lang="zh-TW" altLang="en-US" sz="1013" dirty="0"/>
          </a:p>
        </p:txBody>
      </p:sp>
      <p:sp>
        <p:nvSpPr>
          <p:cNvPr id="26" name="標題 1"/>
          <p:cNvSpPr>
            <a:spLocks noGrp="1"/>
          </p:cNvSpPr>
          <p:nvPr>
            <p:ph type="ctrTitle"/>
          </p:nvPr>
        </p:nvSpPr>
        <p:spPr>
          <a:xfrm>
            <a:off x="219882" y="60564"/>
            <a:ext cx="8482972" cy="1064131"/>
          </a:xfrm>
        </p:spPr>
        <p:txBody>
          <a:bodyPr/>
          <a:lstStyle/>
          <a:p>
            <a:r>
              <a:rPr lang="en-US" altLang="zh-TW" dirty="0" smtClean="0"/>
              <a:t>CD</a:t>
            </a:r>
            <a:r>
              <a:rPr lang="zh-TW" altLang="en-US" dirty="0" smtClean="0"/>
              <a:t>鷹眼網頁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385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圓角矩形 5"/>
          <p:cNvSpPr/>
          <p:nvPr/>
        </p:nvSpPr>
        <p:spPr>
          <a:xfrm>
            <a:off x="160231" y="1654536"/>
            <a:ext cx="2569620" cy="2283139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38435" y="4204354"/>
            <a:ext cx="8857987" cy="718166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985028" y="1640543"/>
            <a:ext cx="6011395" cy="2297132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標題 1"/>
          <p:cNvSpPr>
            <a:spLocks noGrp="1"/>
          </p:cNvSpPr>
          <p:nvPr/>
        </p:nvSpPr>
        <p:spPr>
          <a:xfrm>
            <a:off x="42668" y="69578"/>
            <a:ext cx="7032507" cy="8128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PI</a:t>
            </a:r>
            <a:r>
              <a:rPr lang="zh-TW" altLang="en-US" dirty="0" smtClean="0"/>
              <a:t>併瓶作業監控</a:t>
            </a:r>
            <a:endParaRPr lang="zh-TW" altLang="en-US" dirty="0"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138435" y="775405"/>
            <a:ext cx="8857989" cy="654177"/>
          </a:xfrm>
          <a:prstGeom prst="roundRect">
            <a:avLst>
              <a:gd name="adj" fmla="val 163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7658" y="60622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324976" y="1482145"/>
            <a:ext cx="1610978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分工</a:t>
            </a:r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088462" y="1482145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進度</a:t>
            </a:r>
          </a:p>
        </p:txBody>
      </p:sp>
      <p:sp>
        <p:nvSpPr>
          <p:cNvPr id="21" name="圓角矩形 20"/>
          <p:cNvSpPr/>
          <p:nvPr/>
        </p:nvSpPr>
        <p:spPr>
          <a:xfrm>
            <a:off x="297657" y="399389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效益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177398" y="992216"/>
            <a:ext cx="88190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併瓶</a:t>
            </a:r>
            <a:r>
              <a:rPr lang="zh-TW" altLang="en-US" dirty="0" smtClean="0"/>
              <a:t>區架設</a:t>
            </a:r>
            <a:r>
              <a:rPr lang="zh-TW" altLang="en-US" dirty="0"/>
              <a:t>樹莓派，利用影像辯識自動判讀手是否於觸碰 </a:t>
            </a:r>
            <a:r>
              <a:rPr lang="en-US" altLang="zh-TW" dirty="0"/>
              <a:t>PI </a:t>
            </a:r>
            <a:r>
              <a:rPr lang="zh-TW" altLang="en-US" dirty="0"/>
              <a:t>液瓶口與刷</a:t>
            </a:r>
            <a:r>
              <a:rPr lang="en-US" altLang="zh-TW" dirty="0"/>
              <a:t>PI</a:t>
            </a:r>
            <a:r>
              <a:rPr lang="zh-TW" altLang="en-US" dirty="0"/>
              <a:t>液品品種，減少同仁併錯品種頻率</a:t>
            </a:r>
          </a:p>
        </p:txBody>
      </p:sp>
      <p:sp>
        <p:nvSpPr>
          <p:cNvPr id="72" name="矩形 71"/>
          <p:cNvSpPr/>
          <p:nvPr/>
        </p:nvSpPr>
        <p:spPr>
          <a:xfrm>
            <a:off x="415408" y="4411256"/>
            <a:ext cx="64346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200" dirty="0"/>
              <a:t>每月報廢金額</a:t>
            </a:r>
            <a:r>
              <a:rPr lang="zh-TW" altLang="en-US" sz="1200" dirty="0" smtClean="0"/>
              <a:t>減少</a:t>
            </a:r>
            <a:r>
              <a:rPr lang="zh-TW" altLang="en-US" sz="1200" dirty="0"/>
              <a:t>：</a:t>
            </a:r>
            <a:r>
              <a:rPr lang="zh-TW" altLang="en-US" sz="1200" dirty="0" smtClean="0"/>
              <a:t>效益</a:t>
            </a:r>
            <a:r>
              <a:rPr lang="en-US" altLang="zh-TW" sz="1200" dirty="0"/>
              <a:t>:$80,500(PI</a:t>
            </a:r>
            <a:r>
              <a:rPr lang="zh-TW" altLang="en-US" sz="1200" dirty="0"/>
              <a:t>每瓶</a:t>
            </a:r>
            <a:r>
              <a:rPr lang="en-US" altLang="zh-TW" sz="1200" dirty="0" smtClean="0"/>
              <a:t>)</a:t>
            </a:r>
          </a:p>
          <a:p>
            <a:r>
              <a:rPr lang="zh-TW" altLang="en-US" sz="1200" dirty="0" smtClean="0"/>
              <a:t>說明</a:t>
            </a:r>
            <a:r>
              <a:rPr lang="zh-TW" altLang="en-US" sz="1200" dirty="0"/>
              <a:t>：</a:t>
            </a:r>
            <a:r>
              <a:rPr lang="zh-TW" altLang="en-US" sz="1200" dirty="0" smtClean="0"/>
              <a:t>建立</a:t>
            </a:r>
            <a:r>
              <a:rPr lang="en-US" altLang="zh-TW" sz="1200" dirty="0"/>
              <a:t>EDA </a:t>
            </a:r>
            <a:r>
              <a:rPr lang="zh-TW" altLang="en-US" sz="1200" dirty="0"/>
              <a:t>，降低異常風險，換算報廢改善金額為</a:t>
            </a:r>
            <a:r>
              <a:rPr lang="en-US" altLang="zh-TW" sz="1200" dirty="0"/>
              <a:t>NTD $80,500</a:t>
            </a:r>
            <a:endParaRPr lang="zh-TW" altLang="en-US" sz="12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91858" y="1876596"/>
            <a:ext cx="21098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sym typeface="Wingdings" panose="05000000000000000000" pitchFamily="2" charset="2"/>
              </a:rPr>
              <a:t>系統平展</a:t>
            </a:r>
            <a:r>
              <a:rPr lang="en-US" altLang="zh-TW" sz="1200" dirty="0" smtClean="0">
                <a:sym typeface="Wingdings" panose="05000000000000000000" pitchFamily="2" charset="2"/>
              </a:rPr>
              <a:t>&amp;</a:t>
            </a:r>
            <a:r>
              <a:rPr lang="zh-TW" altLang="en-US" sz="1200" dirty="0" smtClean="0">
                <a:sym typeface="Wingdings" panose="05000000000000000000" pitchFamily="2" charset="2"/>
              </a:rPr>
              <a:t>優</a:t>
            </a:r>
            <a:r>
              <a:rPr lang="zh-TW" altLang="en-US" sz="1200" dirty="0">
                <a:sym typeface="Wingdings" panose="05000000000000000000" pitchFamily="2" charset="2"/>
              </a:rPr>
              <a:t>化</a:t>
            </a:r>
            <a:r>
              <a:rPr lang="zh-TW" altLang="en-US" sz="1200" dirty="0" smtClean="0">
                <a:sym typeface="Wingdings" panose="05000000000000000000" pitchFamily="2" charset="2"/>
              </a:rPr>
              <a:t>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宗賢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硬體安裝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程式優化</a:t>
            </a:r>
            <a:r>
              <a:rPr lang="en-US" altLang="zh-TW" sz="1200" dirty="0" smtClean="0"/>
              <a:t>&amp;</a:t>
            </a:r>
            <a:r>
              <a:rPr lang="zh-TW" altLang="en-US" sz="1200" dirty="0" smtClean="0"/>
              <a:t>測試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FTP</a:t>
            </a:r>
            <a:r>
              <a:rPr lang="zh-TW" altLang="en-US" sz="1200" dirty="0" smtClean="0"/>
              <a:t>上傳功能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IP</a:t>
            </a:r>
            <a:r>
              <a:rPr lang="zh-TW" altLang="en-US" sz="1200" dirty="0" smtClean="0"/>
              <a:t>設定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 smtClean="0"/>
          </a:p>
        </p:txBody>
      </p:sp>
      <p:sp>
        <p:nvSpPr>
          <p:cNvPr id="18" name="文字方塊 17"/>
          <p:cNvSpPr txBox="1"/>
          <p:nvPr/>
        </p:nvSpPr>
        <p:spPr>
          <a:xfrm>
            <a:off x="281412" y="2903887"/>
            <a:ext cx="21435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硬體</a:t>
            </a:r>
            <a:r>
              <a:rPr lang="en-US" altLang="zh-TW" sz="1200" dirty="0" smtClean="0"/>
              <a:t>/</a:t>
            </a:r>
            <a:r>
              <a:rPr lang="zh-TW" altLang="en-US" sz="1200" dirty="0" smtClean="0"/>
              <a:t>網頁：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>
                <a:sym typeface="Wingdings" panose="05000000000000000000" pitchFamily="2" charset="2"/>
              </a:rPr>
              <a:t>英</a:t>
            </a:r>
            <a:r>
              <a:rPr lang="zh-TW" altLang="en-US" sz="1200" dirty="0" smtClean="0">
                <a:sym typeface="Wingdings" panose="05000000000000000000" pitchFamily="2" charset="2"/>
              </a:rPr>
              <a:t>翠</a:t>
            </a:r>
            <a:r>
              <a:rPr lang="en-US" altLang="zh-TW" sz="1200" dirty="0" smtClean="0">
                <a:sym typeface="Wingdings" panose="05000000000000000000" pitchFamily="2" charset="2"/>
              </a:rPr>
              <a:t>/</a:t>
            </a:r>
            <a:r>
              <a:rPr lang="zh-TW" altLang="en-US" sz="1200" dirty="0" smtClean="0">
                <a:sym typeface="Wingdings" panose="05000000000000000000" pitchFamily="2" charset="2"/>
              </a:rPr>
              <a:t>百凱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硬體採購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固定</a:t>
            </a:r>
            <a:r>
              <a:rPr lang="en-US" altLang="zh-TW" sz="1200" dirty="0" smtClean="0"/>
              <a:t>IP</a:t>
            </a:r>
            <a:r>
              <a:rPr lang="zh-TW" altLang="en-US" sz="1200" dirty="0" smtClean="0"/>
              <a:t>申請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提供</a:t>
            </a:r>
            <a:r>
              <a:rPr lang="en-US" altLang="zh-TW" sz="1200" dirty="0" smtClean="0"/>
              <a:t>FTP</a:t>
            </a:r>
            <a:r>
              <a:rPr lang="zh-TW" altLang="en-US" sz="1200" dirty="0" smtClean="0"/>
              <a:t>空間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監控網頁開</a:t>
            </a:r>
            <a:r>
              <a:rPr lang="zh-TW" altLang="en-US" sz="1200" dirty="0"/>
              <a:t>發</a:t>
            </a:r>
            <a:endParaRPr lang="en-US" altLang="zh-TW" sz="1200" dirty="0" smtClean="0"/>
          </a:p>
        </p:txBody>
      </p:sp>
      <p:sp>
        <p:nvSpPr>
          <p:cNvPr id="20" name="圓角矩形 19"/>
          <p:cNvSpPr/>
          <p:nvPr/>
        </p:nvSpPr>
        <p:spPr>
          <a:xfrm>
            <a:off x="2985026" y="121787"/>
            <a:ext cx="1345674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：林宗賢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2985028" y="331388"/>
            <a:ext cx="1345672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</a:t>
            </a:r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：吳英翠</a:t>
            </a:r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蕭百凱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391419"/>
              </p:ext>
            </p:extLst>
          </p:nvPr>
        </p:nvGraphicFramePr>
        <p:xfrm>
          <a:off x="3046412" y="1893939"/>
          <a:ext cx="1688700" cy="1922130"/>
        </p:xfrm>
        <a:graphic>
          <a:graphicData uri="http://schemas.openxmlformats.org/drawingml/2006/table">
            <a:tbl>
              <a:tblPr/>
              <a:tblGrid>
                <a:gridCol w="344382"/>
                <a:gridCol w="991067"/>
                <a:gridCol w="353251"/>
              </a:tblGrid>
              <a:tr h="18228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硬體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硬體採購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28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固定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IP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申請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28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硬體安裝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平展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樹莓派系統拷貝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併瓶監控程式測試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畫面色調調整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FTP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上傳功能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Inline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測試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站點平展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</a:rPr>
                        <a:t>100%</a:t>
                      </a:r>
                      <a:endParaRPr lang="zh-TW" altLang="en-US" sz="800" b="0" i="0" u="none" strike="noStrike" dirty="0" smtClean="0">
                        <a:solidFill>
                          <a:schemeClr val="accent6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監控網頁開發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</a:rPr>
                        <a:t>10%</a:t>
                      </a:r>
                      <a:endParaRPr lang="zh-TW" altLang="en-US" sz="800" b="0" i="0" u="none" strike="noStrike" dirty="0" smtClean="0">
                        <a:solidFill>
                          <a:schemeClr val="accent6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4763670" y="1802914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系統流程</a:t>
            </a:r>
            <a:endParaRPr lang="zh-TW" altLang="en-US" sz="1200" dirty="0"/>
          </a:p>
        </p:txBody>
      </p:sp>
      <p:grpSp>
        <p:nvGrpSpPr>
          <p:cNvPr id="70" name="群組 69"/>
          <p:cNvGrpSpPr/>
          <p:nvPr/>
        </p:nvGrpSpPr>
        <p:grpSpPr>
          <a:xfrm>
            <a:off x="4851582" y="1874037"/>
            <a:ext cx="4086180" cy="1031506"/>
            <a:chOff x="6073797" y="2666604"/>
            <a:chExt cx="4855055" cy="1031506"/>
          </a:xfrm>
        </p:grpSpPr>
        <p:cxnSp>
          <p:nvCxnSpPr>
            <p:cNvPr id="71" name="直線單箭頭接點 70"/>
            <p:cNvCxnSpPr>
              <a:stCxn id="79" idx="3"/>
              <a:endCxn id="80" idx="1"/>
            </p:cNvCxnSpPr>
            <p:nvPr/>
          </p:nvCxnSpPr>
          <p:spPr>
            <a:xfrm>
              <a:off x="6900467" y="3162513"/>
              <a:ext cx="1294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>
              <a:stCxn id="80" idx="3"/>
              <a:endCxn id="81" idx="1"/>
            </p:cNvCxnSpPr>
            <p:nvPr/>
          </p:nvCxnSpPr>
          <p:spPr>
            <a:xfrm flipV="1">
              <a:off x="7856576" y="3159806"/>
              <a:ext cx="135193" cy="27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字方塊 74"/>
            <p:cNvSpPr txBox="1"/>
            <p:nvPr/>
          </p:nvSpPr>
          <p:spPr>
            <a:xfrm>
              <a:off x="8457706" y="3409311"/>
              <a:ext cx="32893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altLang="zh-TW" sz="800" dirty="0">
                  <a:solidFill>
                    <a:srgbClr val="000000"/>
                  </a:solidFill>
                  <a:latin typeface="+mn-ea"/>
                  <a:ea typeface="+mn-ea"/>
                </a:rPr>
                <a:t>NG</a:t>
              </a:r>
              <a:endParaRPr lang="zh-TW" altLang="en-US" sz="80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8471134" y="2703301"/>
              <a:ext cx="32572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altLang="zh-TW" sz="800" dirty="0">
                  <a:solidFill>
                    <a:srgbClr val="000000"/>
                  </a:solidFill>
                  <a:latin typeface="+mn-ea"/>
                  <a:ea typeface="+mn-ea"/>
                </a:rPr>
                <a:t>OK</a:t>
              </a:r>
              <a:endParaRPr lang="zh-TW" altLang="en-US" sz="80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6073797" y="2961536"/>
              <a:ext cx="826670" cy="4019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hangingPunct="0"/>
              <a:r>
                <a:rPr lang="en-US" altLang="zh-TW" sz="800" dirty="0" smtClean="0">
                  <a:solidFill>
                    <a:srgbClr val="FFFFFF"/>
                  </a:solidFill>
                  <a:latin typeface="+mn-ea"/>
                </a:rPr>
                <a:t>PI</a:t>
              </a:r>
              <a:r>
                <a:rPr lang="zh-TW" altLang="en-US" sz="800" dirty="0" smtClean="0">
                  <a:solidFill>
                    <a:srgbClr val="FFFFFF"/>
                  </a:solidFill>
                  <a:latin typeface="+mn-ea"/>
                </a:rPr>
                <a:t>液瓶放</a:t>
              </a:r>
              <a:r>
                <a:rPr lang="zh-TW" altLang="en-US" sz="800" dirty="0">
                  <a:solidFill>
                    <a:srgbClr val="FFFFFF"/>
                  </a:solidFill>
                  <a:latin typeface="+mn-ea"/>
                </a:rPr>
                <a:t>到指定位置</a:t>
              </a:r>
            </a:p>
          </p:txBody>
        </p:sp>
        <p:sp>
          <p:nvSpPr>
            <p:cNvPr id="80" name="矩形 79"/>
            <p:cNvSpPr/>
            <p:nvPr/>
          </p:nvSpPr>
          <p:spPr>
            <a:xfrm>
              <a:off x="7029906" y="2961536"/>
              <a:ext cx="826670" cy="4019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hangingPunct="0"/>
              <a:r>
                <a:rPr lang="en-US" altLang="zh-TW" sz="800" dirty="0" smtClean="0">
                  <a:ln w="0"/>
                  <a:solidFill>
                    <a:schemeClr val="bg1"/>
                  </a:solidFill>
                  <a:latin typeface="+mn-ea"/>
                </a:rPr>
                <a:t>Barcode</a:t>
              </a:r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瓶</a:t>
              </a:r>
              <a:r>
                <a:rPr lang="zh-TW" altLang="en-US" sz="800" dirty="0">
                  <a:ln w="0"/>
                  <a:solidFill>
                    <a:schemeClr val="bg1"/>
                  </a:solidFill>
                  <a:latin typeface="+mn-ea"/>
                </a:rPr>
                <a:t>身</a:t>
              </a:r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條碼比對</a:t>
              </a:r>
              <a:endParaRPr lang="zh-TW" altLang="en-US" sz="800" dirty="0">
                <a:ln w="0"/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7991769" y="2961536"/>
              <a:ext cx="701515" cy="3965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監控手接近</a:t>
              </a:r>
              <a:r>
                <a:rPr lang="zh-TW" altLang="en-US" sz="800" dirty="0">
                  <a:ln w="0"/>
                  <a:solidFill>
                    <a:schemeClr val="bg1"/>
                  </a:solidFill>
                  <a:latin typeface="+mn-ea"/>
                </a:rPr>
                <a:t>瓶口</a:t>
              </a:r>
            </a:p>
          </p:txBody>
        </p:sp>
        <p:sp>
          <p:nvSpPr>
            <p:cNvPr id="82" name="矩形 81"/>
            <p:cNvSpPr/>
            <p:nvPr/>
          </p:nvSpPr>
          <p:spPr>
            <a:xfrm>
              <a:off x="8948461" y="2666604"/>
              <a:ext cx="719426" cy="3367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zh-TW" altLang="en-US" sz="800" dirty="0">
                  <a:ln w="0"/>
                  <a:solidFill>
                    <a:schemeClr val="bg1"/>
                  </a:solidFill>
                  <a:latin typeface="+mn-ea"/>
                </a:rPr>
                <a:t>持續監控</a:t>
              </a:r>
            </a:p>
          </p:txBody>
        </p:sp>
        <p:sp>
          <p:nvSpPr>
            <p:cNvPr id="83" name="矩形 82"/>
            <p:cNvSpPr/>
            <p:nvPr/>
          </p:nvSpPr>
          <p:spPr>
            <a:xfrm>
              <a:off x="8948462" y="3360186"/>
              <a:ext cx="577674" cy="3379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蜂鳴警報</a:t>
              </a:r>
              <a:endParaRPr lang="zh-TW" altLang="en-US" sz="800" dirty="0">
                <a:ln w="0"/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9668358" y="3356157"/>
              <a:ext cx="651324" cy="3419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資料上</a:t>
              </a:r>
              <a:r>
                <a:rPr lang="zh-TW" altLang="en-US" sz="800" dirty="0">
                  <a:ln w="0"/>
                  <a:solidFill>
                    <a:schemeClr val="bg1"/>
                  </a:solidFill>
                  <a:latin typeface="+mn-ea"/>
                </a:rPr>
                <a:t>拋</a:t>
              </a:r>
              <a:r>
                <a:rPr lang="en-US" altLang="zh-TW" sz="800" dirty="0">
                  <a:ln w="0"/>
                  <a:solidFill>
                    <a:schemeClr val="bg1"/>
                  </a:solidFill>
                  <a:latin typeface="+mn-ea"/>
                </a:rPr>
                <a:t>FTP</a:t>
              </a:r>
              <a:endParaRPr lang="zh-TW" altLang="en-US" sz="800" dirty="0">
                <a:ln w="0"/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85" name="肘形接點 84"/>
            <p:cNvCxnSpPr>
              <a:stCxn id="81" idx="3"/>
              <a:endCxn id="82" idx="1"/>
            </p:cNvCxnSpPr>
            <p:nvPr/>
          </p:nvCxnSpPr>
          <p:spPr>
            <a:xfrm flipV="1">
              <a:off x="8693284" y="2834974"/>
              <a:ext cx="255177" cy="32483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肘形接點 85"/>
            <p:cNvCxnSpPr>
              <a:stCxn id="81" idx="3"/>
              <a:endCxn id="83" idx="1"/>
            </p:cNvCxnSpPr>
            <p:nvPr/>
          </p:nvCxnSpPr>
          <p:spPr>
            <a:xfrm>
              <a:off x="8693284" y="3159806"/>
              <a:ext cx="255177" cy="36934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單箭頭接點 86"/>
            <p:cNvCxnSpPr>
              <a:stCxn id="83" idx="3"/>
              <a:endCxn id="84" idx="1"/>
            </p:cNvCxnSpPr>
            <p:nvPr/>
          </p:nvCxnSpPr>
          <p:spPr>
            <a:xfrm flipV="1">
              <a:off x="9526136" y="3527134"/>
              <a:ext cx="142222" cy="20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矩形 87"/>
            <p:cNvSpPr/>
            <p:nvPr/>
          </p:nvSpPr>
          <p:spPr>
            <a:xfrm>
              <a:off x="10458922" y="3356157"/>
              <a:ext cx="469930" cy="3419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網</a:t>
              </a:r>
              <a:r>
                <a:rPr lang="zh-TW" altLang="en-US" sz="800" dirty="0">
                  <a:ln w="0"/>
                  <a:solidFill>
                    <a:schemeClr val="bg1"/>
                  </a:solidFill>
                  <a:latin typeface="+mn-ea"/>
                </a:rPr>
                <a:t>頁監控</a:t>
              </a:r>
            </a:p>
          </p:txBody>
        </p:sp>
        <p:cxnSp>
          <p:nvCxnSpPr>
            <p:cNvPr id="89" name="直線單箭頭接點 88"/>
            <p:cNvCxnSpPr>
              <a:stCxn id="84" idx="3"/>
              <a:endCxn id="88" idx="1"/>
            </p:cNvCxnSpPr>
            <p:nvPr/>
          </p:nvCxnSpPr>
          <p:spPr>
            <a:xfrm>
              <a:off x="10319682" y="3527134"/>
              <a:ext cx="1392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5" name="群組 124"/>
          <p:cNvGrpSpPr/>
          <p:nvPr/>
        </p:nvGrpSpPr>
        <p:grpSpPr>
          <a:xfrm>
            <a:off x="4800600" y="2673603"/>
            <a:ext cx="2103660" cy="1206948"/>
            <a:chOff x="1612415" y="2149886"/>
            <a:chExt cx="6910351" cy="3964727"/>
          </a:xfrm>
        </p:grpSpPr>
        <p:pic>
          <p:nvPicPr>
            <p:cNvPr id="123" name="圖片 12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374" t="17231" r="15585" b="12348"/>
            <a:stretch/>
          </p:blipFill>
          <p:spPr>
            <a:xfrm>
              <a:off x="1612415" y="2149886"/>
              <a:ext cx="6910351" cy="3964727"/>
            </a:xfrm>
            <a:prstGeom prst="rect">
              <a:avLst/>
            </a:prstGeom>
          </p:spPr>
        </p:pic>
        <p:pic>
          <p:nvPicPr>
            <p:cNvPr id="124" name="圖片 12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01" t="26891" r="6124" b="32808"/>
            <a:stretch/>
          </p:blipFill>
          <p:spPr>
            <a:xfrm>
              <a:off x="5125504" y="2899895"/>
              <a:ext cx="3365767" cy="2519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432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0280" y="26516"/>
            <a:ext cx="8482972" cy="1064131"/>
          </a:xfrm>
        </p:spPr>
        <p:txBody>
          <a:bodyPr/>
          <a:lstStyle/>
          <a:p>
            <a:r>
              <a:rPr lang="zh-TW" altLang="en-US" dirty="0" smtClean="0"/>
              <a:t>平展站點</a:t>
            </a:r>
            <a:endParaRPr lang="zh-TW" altLang="en-US" dirty="0"/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97" y="3274671"/>
            <a:ext cx="2213090" cy="1659818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272" y="3274671"/>
            <a:ext cx="2213090" cy="1659818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766" y="1269276"/>
            <a:ext cx="2213596" cy="1660197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44" y="1272131"/>
            <a:ext cx="2213596" cy="1660197"/>
          </a:xfrm>
          <a:prstGeom prst="rect">
            <a:avLst/>
          </a:prstGeom>
        </p:spPr>
      </p:pic>
      <p:sp>
        <p:nvSpPr>
          <p:cNvPr id="25" name="文字方塊 24"/>
          <p:cNvSpPr txBox="1"/>
          <p:nvPr/>
        </p:nvSpPr>
        <p:spPr>
          <a:xfrm>
            <a:off x="1658251" y="951108"/>
            <a:ext cx="91403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PI100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183291" y="953439"/>
            <a:ext cx="9492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PI400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658251" y="2953269"/>
            <a:ext cx="94929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PI300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220327" y="2954686"/>
            <a:ext cx="9525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PI600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42541" y="701694"/>
            <a:ext cx="17700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已平展</a:t>
            </a:r>
            <a:r>
              <a:rPr lang="en-US" altLang="zh-TW" dirty="0" smtClean="0"/>
              <a:t>(4/4)</a:t>
            </a:r>
            <a:r>
              <a:rPr lang="zh-TW" altLang="en-US" dirty="0" smtClean="0"/>
              <a:t>站點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14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363" y="2129020"/>
            <a:ext cx="1680925" cy="141516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r="49774"/>
          <a:stretch/>
        </p:blipFill>
        <p:spPr>
          <a:xfrm>
            <a:off x="208149" y="2178509"/>
            <a:ext cx="1453128" cy="1843088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66052" y="951155"/>
            <a:ext cx="87434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zh-TW" altLang="en-US" sz="1050" dirty="0">
                <a:latin typeface="+mn-ea"/>
              </a:rPr>
              <a:t>資料上</a:t>
            </a:r>
            <a:r>
              <a:rPr lang="zh-TW" altLang="en-US" sz="1050" dirty="0" smtClean="0">
                <a:latin typeface="+mn-ea"/>
              </a:rPr>
              <a:t>拋製造</a:t>
            </a:r>
            <a:r>
              <a:rPr lang="en-US" altLang="zh-TW" sz="1050" dirty="0" smtClean="0">
                <a:latin typeface="+mn-ea"/>
              </a:rPr>
              <a:t>FTP:</a:t>
            </a:r>
            <a:r>
              <a:rPr lang="zh-TW" altLang="en-US" sz="1050" dirty="0" smtClean="0">
                <a:latin typeface="+mn-ea"/>
              </a:rPr>
              <a:t> </a:t>
            </a:r>
            <a:r>
              <a:rPr lang="en-US" altLang="zh-TW" sz="1050" u="sng" dirty="0">
                <a:latin typeface="+mn-ea"/>
                <a:hlinkClick r:id="rId4" action="ppaction://hlinkfile"/>
              </a:rPr>
              <a:t>\\10.97.143.183\ftp\PI_PROJECT</a:t>
            </a:r>
            <a:endParaRPr lang="en-US" altLang="zh-TW" sz="1050" dirty="0">
              <a:latin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TW" altLang="en-US" sz="1050" dirty="0">
                <a:latin typeface="+mn-ea"/>
              </a:rPr>
              <a:t>人員資料可修改</a:t>
            </a:r>
            <a:r>
              <a:rPr lang="en-US" altLang="zh-TW" sz="1050" dirty="0">
                <a:latin typeface="+mn-ea"/>
              </a:rPr>
              <a:t>opname.txt</a:t>
            </a:r>
            <a:r>
              <a:rPr lang="zh-TW" altLang="en-US" sz="1050" dirty="0">
                <a:latin typeface="+mn-ea"/>
              </a:rPr>
              <a:t>進行調整，每次執行軟體時會自動從</a:t>
            </a:r>
            <a:r>
              <a:rPr lang="en-US" altLang="zh-TW" sz="1050" dirty="0">
                <a:latin typeface="+mn-ea"/>
              </a:rPr>
              <a:t>FTP</a:t>
            </a:r>
            <a:r>
              <a:rPr lang="zh-TW" altLang="en-US" sz="1050" dirty="0">
                <a:latin typeface="+mn-ea"/>
              </a:rPr>
              <a:t>撈取</a:t>
            </a:r>
            <a:r>
              <a:rPr lang="en-US" altLang="zh-TW" sz="1050" dirty="0" err="1">
                <a:latin typeface="+mn-ea"/>
              </a:rPr>
              <a:t>opname</a:t>
            </a:r>
            <a:r>
              <a:rPr lang="zh-TW" altLang="en-US" sz="1050" dirty="0">
                <a:latin typeface="+mn-ea"/>
              </a:rPr>
              <a:t>檔案，如果有更新，軟體需要</a:t>
            </a:r>
            <a:r>
              <a:rPr lang="zh-TW" altLang="en-US" sz="1050" dirty="0">
                <a:solidFill>
                  <a:srgbClr val="0000FF"/>
                </a:solidFill>
                <a:latin typeface="+mn-ea"/>
              </a:rPr>
              <a:t>重新啟動</a:t>
            </a:r>
            <a:r>
              <a:rPr lang="zh-TW" altLang="en-US" sz="1050" dirty="0">
                <a:latin typeface="+mn-ea"/>
              </a:rPr>
              <a:t>以撈取新的</a:t>
            </a:r>
            <a:r>
              <a:rPr lang="en-US" altLang="zh-TW" sz="1050" dirty="0" err="1">
                <a:latin typeface="+mn-ea"/>
              </a:rPr>
              <a:t>opname</a:t>
            </a:r>
            <a:endParaRPr lang="en-US" altLang="zh-TW" sz="1050" dirty="0">
              <a:latin typeface="+mn-ea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zh-TW" altLang="en-US" sz="1050" dirty="0">
                <a:latin typeface="+mn-ea"/>
              </a:rPr>
              <a:t>偵測結果</a:t>
            </a:r>
            <a:r>
              <a:rPr lang="en-US" altLang="zh-TW" sz="1050" dirty="0">
                <a:latin typeface="+mn-ea"/>
              </a:rPr>
              <a:t>By</a:t>
            </a:r>
            <a:r>
              <a:rPr lang="zh-TW" altLang="en-US" sz="1050" dirty="0">
                <a:latin typeface="+mn-ea"/>
              </a:rPr>
              <a:t>站點資料夾存放，會自動上傳</a:t>
            </a:r>
            <a:r>
              <a:rPr lang="zh-TW" altLang="en-US" sz="1050" dirty="0">
                <a:solidFill>
                  <a:srgbClr val="0000FF"/>
                </a:solidFill>
                <a:latin typeface="+mn-ea"/>
              </a:rPr>
              <a:t>原液</a:t>
            </a:r>
            <a:r>
              <a:rPr lang="en-US" altLang="zh-TW" sz="1050" dirty="0">
                <a:solidFill>
                  <a:srgbClr val="0000FF"/>
                </a:solidFill>
                <a:latin typeface="+mn-ea"/>
              </a:rPr>
              <a:t>/</a:t>
            </a:r>
            <a:r>
              <a:rPr lang="zh-TW" altLang="en-US" sz="1050" dirty="0">
                <a:solidFill>
                  <a:srgbClr val="0000FF"/>
                </a:solidFill>
                <a:latin typeface="+mn-ea"/>
              </a:rPr>
              <a:t>併入瓶編號比對記錄</a:t>
            </a:r>
            <a:r>
              <a:rPr lang="zh-TW" altLang="en-US" sz="1050" dirty="0">
                <a:latin typeface="+mn-ea"/>
              </a:rPr>
              <a:t>和</a:t>
            </a:r>
            <a:r>
              <a:rPr lang="zh-TW" altLang="en-US" sz="1050" dirty="0">
                <a:solidFill>
                  <a:srgbClr val="0000FF"/>
                </a:solidFill>
                <a:latin typeface="+mn-ea"/>
              </a:rPr>
              <a:t>手接近瓶</a:t>
            </a:r>
            <a:r>
              <a:rPr lang="zh-TW" altLang="en-US" sz="1050" dirty="0" smtClean="0">
                <a:solidFill>
                  <a:srgbClr val="0000FF"/>
                </a:solidFill>
                <a:latin typeface="+mn-ea"/>
              </a:rPr>
              <a:t>口的</a:t>
            </a:r>
            <a:r>
              <a:rPr lang="zh-TW" altLang="en-US" sz="1050" dirty="0">
                <a:solidFill>
                  <a:srgbClr val="0000FF"/>
                </a:solidFill>
                <a:latin typeface="+mn-ea"/>
              </a:rPr>
              <a:t>照片</a:t>
            </a:r>
            <a:endParaRPr lang="en-US" altLang="zh-TW" sz="1050" dirty="0">
              <a:solidFill>
                <a:srgbClr val="0000FF"/>
              </a:solidFill>
              <a:latin typeface="+mn-ea"/>
            </a:endParaRPr>
          </a:p>
          <a:p>
            <a:endParaRPr lang="en-US" altLang="zh-TW" sz="1050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66051" y="3280919"/>
            <a:ext cx="756084" cy="216024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zh-TW" altLang="en-US" sz="1013"/>
          </a:p>
        </p:txBody>
      </p:sp>
      <p:sp>
        <p:nvSpPr>
          <p:cNvPr id="9" name="文字方塊 8"/>
          <p:cNvSpPr txBox="1"/>
          <p:nvPr/>
        </p:nvSpPr>
        <p:spPr>
          <a:xfrm>
            <a:off x="1661277" y="1932683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900" dirty="0">
                <a:latin typeface="+mn-ea"/>
              </a:rPr>
              <a:t>人員資料</a:t>
            </a:r>
          </a:p>
        </p:txBody>
      </p:sp>
      <p:sp>
        <p:nvSpPr>
          <p:cNvPr id="10" name="矩形 9"/>
          <p:cNvSpPr/>
          <p:nvPr/>
        </p:nvSpPr>
        <p:spPr bwMode="auto">
          <a:xfrm>
            <a:off x="3040175" y="3308743"/>
            <a:ext cx="818885" cy="18513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zh-TW" altLang="en-US" sz="1013"/>
          </a:p>
        </p:txBody>
      </p:sp>
      <p:sp>
        <p:nvSpPr>
          <p:cNvPr id="11" name="文字方塊 10"/>
          <p:cNvSpPr txBox="1"/>
          <p:nvPr/>
        </p:nvSpPr>
        <p:spPr>
          <a:xfrm>
            <a:off x="4808751" y="3548928"/>
            <a:ext cx="14991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900" dirty="0">
                <a:latin typeface="+mn-ea"/>
              </a:rPr>
              <a:t>原液</a:t>
            </a:r>
            <a:r>
              <a:rPr lang="en-US" altLang="zh-TW" sz="900" dirty="0">
                <a:latin typeface="+mn-ea"/>
              </a:rPr>
              <a:t>/</a:t>
            </a:r>
            <a:r>
              <a:rPr lang="zh-TW" altLang="en-US" sz="900" dirty="0">
                <a:latin typeface="+mn-ea"/>
              </a:rPr>
              <a:t>併入瓶編號比對記錄</a:t>
            </a:r>
            <a:endParaRPr lang="en-US" altLang="zh-TW" sz="900" dirty="0">
              <a:latin typeface="+mn-ea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5"/>
          <a:srcRect t="20322" r="70109" b="38832"/>
          <a:stretch/>
        </p:blipFill>
        <p:spPr>
          <a:xfrm>
            <a:off x="4884790" y="1826051"/>
            <a:ext cx="933455" cy="119360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3" name="矩形 12"/>
          <p:cNvSpPr/>
          <p:nvPr/>
        </p:nvSpPr>
        <p:spPr bwMode="auto">
          <a:xfrm>
            <a:off x="3023724" y="2945624"/>
            <a:ext cx="347690" cy="1426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zh-TW" altLang="en-US" sz="1013"/>
          </a:p>
        </p:txBody>
      </p:sp>
      <p:sp>
        <p:nvSpPr>
          <p:cNvPr id="14" name="文字方塊 13"/>
          <p:cNvSpPr txBox="1"/>
          <p:nvPr/>
        </p:nvSpPr>
        <p:spPr>
          <a:xfrm>
            <a:off x="4868152" y="1609518"/>
            <a:ext cx="5790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 smtClean="0">
                <a:latin typeface="+mn-ea"/>
              </a:rPr>
              <a:t>NG</a:t>
            </a:r>
            <a:r>
              <a:rPr lang="zh-TW" altLang="en-US" sz="900" dirty="0" smtClean="0">
                <a:latin typeface="+mn-ea"/>
              </a:rPr>
              <a:t>照片</a:t>
            </a:r>
            <a:endParaRPr lang="en-US" altLang="zh-TW" sz="900" dirty="0">
              <a:latin typeface="+mn-ea"/>
            </a:endParaRPr>
          </a:p>
        </p:txBody>
      </p:sp>
      <p:cxnSp>
        <p:nvCxnSpPr>
          <p:cNvPr id="16" name="直線單箭頭接點 15"/>
          <p:cNvCxnSpPr>
            <a:stCxn id="13" idx="3"/>
            <a:endCxn id="12" idx="1"/>
          </p:cNvCxnSpPr>
          <p:nvPr/>
        </p:nvCxnSpPr>
        <p:spPr>
          <a:xfrm flipV="1">
            <a:off x="3371414" y="2422854"/>
            <a:ext cx="1513376" cy="594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圖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7086" y="2178509"/>
            <a:ext cx="1053721" cy="213820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8" name="標題 1"/>
          <p:cNvSpPr>
            <a:spLocks noGrp="1"/>
          </p:cNvSpPr>
          <p:nvPr/>
        </p:nvSpPr>
        <p:spPr>
          <a:xfrm>
            <a:off x="42668" y="69579"/>
            <a:ext cx="7032507" cy="8128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 smtClean="0">
                <a:latin typeface="+mj-ea"/>
              </a:rPr>
              <a:t>監控資料上拋</a:t>
            </a:r>
            <a:endParaRPr lang="zh-TW" altLang="en-US" dirty="0">
              <a:latin typeface="+mj-ea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042670" y="3103592"/>
            <a:ext cx="1001217" cy="175823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zh-TW" altLang="en-US" sz="1013"/>
          </a:p>
        </p:txBody>
      </p:sp>
      <p:sp>
        <p:nvSpPr>
          <p:cNvPr id="21" name="文字方塊 20"/>
          <p:cNvSpPr txBox="1"/>
          <p:nvPr/>
        </p:nvSpPr>
        <p:spPr>
          <a:xfrm>
            <a:off x="6047747" y="2461212"/>
            <a:ext cx="8098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900" dirty="0" smtClean="0">
                <a:latin typeface="+mn-ea"/>
              </a:rPr>
              <a:t>動作</a:t>
            </a:r>
            <a:r>
              <a:rPr lang="en-US" altLang="zh-TW" sz="900" dirty="0" smtClean="0">
                <a:latin typeface="+mn-ea"/>
              </a:rPr>
              <a:t>NG</a:t>
            </a:r>
            <a:r>
              <a:rPr lang="zh-TW" altLang="en-US" sz="900" dirty="0" smtClean="0">
                <a:latin typeface="+mn-ea"/>
              </a:rPr>
              <a:t>資料</a:t>
            </a:r>
            <a:endParaRPr lang="en-US" altLang="zh-TW" sz="900" dirty="0">
              <a:latin typeface="+mn-ea"/>
            </a:endParaRPr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7"/>
          <a:srcRect b="77231"/>
          <a:stretch/>
        </p:blipFill>
        <p:spPr>
          <a:xfrm>
            <a:off x="6130768" y="2681286"/>
            <a:ext cx="2292974" cy="739488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4790" y="3779760"/>
            <a:ext cx="2392465" cy="931719"/>
          </a:xfrm>
          <a:prstGeom prst="rect">
            <a:avLst/>
          </a:prstGeom>
        </p:spPr>
      </p:pic>
      <p:cxnSp>
        <p:nvCxnSpPr>
          <p:cNvPr id="26" name="直線單箭頭接點 25"/>
          <p:cNvCxnSpPr>
            <a:stCxn id="10" idx="3"/>
            <a:endCxn id="24" idx="1"/>
          </p:cNvCxnSpPr>
          <p:nvPr/>
        </p:nvCxnSpPr>
        <p:spPr>
          <a:xfrm>
            <a:off x="3859060" y="3401308"/>
            <a:ext cx="1025730" cy="8443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20" idx="3"/>
            <a:endCxn id="22" idx="1"/>
          </p:cNvCxnSpPr>
          <p:nvPr/>
        </p:nvCxnSpPr>
        <p:spPr>
          <a:xfrm flipV="1">
            <a:off x="4043887" y="3051030"/>
            <a:ext cx="2086881" cy="140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8" idx="3"/>
            <a:endCxn id="17" idx="1"/>
          </p:cNvCxnSpPr>
          <p:nvPr/>
        </p:nvCxnSpPr>
        <p:spPr>
          <a:xfrm flipV="1">
            <a:off x="1022135" y="3247613"/>
            <a:ext cx="694951" cy="1413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35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301857" y="112427"/>
            <a:ext cx="5390549" cy="1073757"/>
          </a:xfrm>
        </p:spPr>
        <p:txBody>
          <a:bodyPr/>
          <a:lstStyle/>
          <a:p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進行中的專案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1848" y="684450"/>
            <a:ext cx="6210444" cy="2913255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Auto Repair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ODF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</a:rPr>
              <a:t>Nozzle</a:t>
            </a:r>
            <a:r>
              <a:rPr lang="zh-TW" altLang="en-US" sz="1600" dirty="0">
                <a:solidFill>
                  <a:schemeClr val="bg1">
                    <a:lumMod val="75000"/>
                  </a:schemeClr>
                </a:solidFill>
              </a:rPr>
              <a:t>檢查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機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ODF</a:t>
            </a:r>
            <a:r>
              <a:rPr lang="zh-TW" altLang="en-US" sz="1600" dirty="0">
                <a:solidFill>
                  <a:schemeClr val="bg1">
                    <a:lumMod val="75000"/>
                  </a:schemeClr>
                </a:solidFill>
              </a:rPr>
              <a:t>光箱人員動作辨識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CF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鷹眼計畫</a:t>
            </a:r>
            <a:endParaRPr lang="en-US" altLang="zh-TW" sz="16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PI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併瓶作業辨識</a:t>
            </a:r>
            <a:endParaRPr lang="en-US" altLang="zh-TW" sz="1600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301849" y="2235031"/>
            <a:ext cx="5390549" cy="1073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 smtClean="0"/>
              <a:t>評估中的專案</a:t>
            </a:r>
            <a:endParaRPr lang="zh-TW" altLang="en-US" dirty="0"/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 txBox="1">
            <a:spLocks/>
          </p:cNvSpPr>
          <p:nvPr/>
        </p:nvSpPr>
        <p:spPr>
          <a:xfrm>
            <a:off x="3301850" y="2809352"/>
            <a:ext cx="5390548" cy="99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None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rgbClr val="000000"/>
                </a:solidFill>
              </a:rPr>
              <a:t>FAB</a:t>
            </a:r>
            <a:r>
              <a:rPr lang="zh-TW" altLang="en-US" sz="1600" dirty="0" smtClean="0">
                <a:solidFill>
                  <a:srgbClr val="000000"/>
                </a:solidFill>
              </a:rPr>
              <a:t>門禁人臉辨識系統</a:t>
            </a:r>
            <a:endParaRPr lang="en-US" altLang="zh-TW" sz="1600" dirty="0" smtClean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rgbClr val="000000"/>
                </a:solidFill>
              </a:rPr>
              <a:t>Packer</a:t>
            </a:r>
            <a:r>
              <a:rPr lang="zh-TW" altLang="en-US" sz="1600" dirty="0" smtClean="0">
                <a:solidFill>
                  <a:srgbClr val="000000"/>
                </a:solidFill>
              </a:rPr>
              <a:t>異物檢</a:t>
            </a:r>
            <a:endParaRPr lang="en-US" altLang="zh-TW" sz="1600" dirty="0" smtClean="0">
              <a:solidFill>
                <a:srgbClr val="000000"/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3301849" y="3653054"/>
            <a:ext cx="5390549" cy="1073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 smtClean="0">
                <a:solidFill>
                  <a:schemeClr val="bg1">
                    <a:lumMod val="75000"/>
                  </a:schemeClr>
                </a:solidFill>
              </a:rPr>
              <a:t>專利申請報告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 txBox="1">
            <a:spLocks/>
          </p:cNvSpPr>
          <p:nvPr/>
        </p:nvSpPr>
        <p:spPr>
          <a:xfrm>
            <a:off x="3301848" y="4263682"/>
            <a:ext cx="5390548" cy="370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None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</a:rPr>
              <a:t>Seal Dispenser</a:t>
            </a:r>
            <a:r>
              <a:rPr lang="zh-TW" altLang="en-US" sz="1600" dirty="0">
                <a:solidFill>
                  <a:schemeClr val="bg1">
                    <a:lumMod val="75000"/>
                  </a:schemeClr>
                </a:solidFill>
              </a:rPr>
              <a:t>密封膠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噴嘴自動化</a:t>
            </a:r>
            <a:r>
              <a:rPr lang="zh-TW" altLang="en-US" sz="1600" dirty="0">
                <a:solidFill>
                  <a:schemeClr val="bg1">
                    <a:lumMod val="75000"/>
                  </a:schemeClr>
                </a:solidFill>
              </a:rPr>
              <a:t>檢測系統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73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圓角矩形 5"/>
          <p:cNvSpPr/>
          <p:nvPr/>
        </p:nvSpPr>
        <p:spPr>
          <a:xfrm>
            <a:off x="160231" y="1654536"/>
            <a:ext cx="2569620" cy="2283139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38435" y="4204354"/>
            <a:ext cx="8857987" cy="718166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985028" y="1640543"/>
            <a:ext cx="6011395" cy="2297132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標題 1"/>
          <p:cNvSpPr>
            <a:spLocks noGrp="1"/>
          </p:cNvSpPr>
          <p:nvPr/>
        </p:nvSpPr>
        <p:spPr>
          <a:xfrm>
            <a:off x="42668" y="69578"/>
            <a:ext cx="7032507" cy="8128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FAB</a:t>
            </a:r>
            <a:r>
              <a:rPr lang="zh-TW" altLang="en-US" dirty="0" smtClean="0"/>
              <a:t>門禁人臉辨識系統</a:t>
            </a:r>
            <a:endParaRPr lang="zh-TW" altLang="en-US" dirty="0"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138435" y="775405"/>
            <a:ext cx="8857989" cy="654177"/>
          </a:xfrm>
          <a:prstGeom prst="roundRect">
            <a:avLst>
              <a:gd name="adj" fmla="val 163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7658" y="60622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324976" y="1482145"/>
            <a:ext cx="1610978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分工</a:t>
            </a:r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088462" y="1482145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進度</a:t>
            </a:r>
          </a:p>
        </p:txBody>
      </p:sp>
      <p:sp>
        <p:nvSpPr>
          <p:cNvPr id="21" name="圓角矩形 20"/>
          <p:cNvSpPr/>
          <p:nvPr/>
        </p:nvSpPr>
        <p:spPr>
          <a:xfrm>
            <a:off x="297657" y="399389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效益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177398" y="992216"/>
            <a:ext cx="88190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在</a:t>
            </a:r>
            <a:r>
              <a:rPr lang="en-US" altLang="zh-TW" dirty="0" smtClean="0"/>
              <a:t>FAB</a:t>
            </a:r>
            <a:r>
              <a:rPr lang="zh-TW" altLang="en-US" dirty="0" smtClean="0"/>
              <a:t>門禁建立人臉辨識系統，避免未完</a:t>
            </a:r>
            <a:r>
              <a:rPr lang="zh-TW" altLang="en-US" dirty="0"/>
              <a:t>成</a:t>
            </a:r>
            <a:r>
              <a:rPr lang="zh-TW" altLang="en-US" dirty="0" smtClean="0"/>
              <a:t>危害告知的承商進入</a:t>
            </a:r>
            <a:r>
              <a:rPr lang="en-US" altLang="zh-TW" dirty="0" smtClean="0"/>
              <a:t>FAB</a:t>
            </a:r>
            <a:endParaRPr lang="zh-TW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415408" y="4411256"/>
            <a:ext cx="64346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評估</a:t>
            </a:r>
            <a:r>
              <a:rPr lang="zh-TW" altLang="en-US" sz="1200" dirty="0"/>
              <a:t>中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254313" y="1928523"/>
            <a:ext cx="22445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sym typeface="Wingdings" panose="05000000000000000000" pitchFamily="2" charset="2"/>
              </a:rPr>
              <a:t>系統開發：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宗賢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PC</a:t>
            </a:r>
            <a:r>
              <a:rPr lang="zh-TW" altLang="en-US" sz="1200" dirty="0" smtClean="0"/>
              <a:t>環境建置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人臉辨識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照片資料庫建立</a:t>
            </a:r>
            <a:r>
              <a:rPr lang="en-US" altLang="zh-TW" sz="1200" dirty="0" smtClean="0"/>
              <a:t>/</a:t>
            </a:r>
            <a:r>
              <a:rPr lang="zh-TW" altLang="en-US" sz="1200" dirty="0" smtClean="0"/>
              <a:t>定期更新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喇叭警報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照片共用資料夾建立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 smtClean="0"/>
          </a:p>
        </p:txBody>
      </p:sp>
      <p:sp>
        <p:nvSpPr>
          <p:cNvPr id="20" name="圓角矩形 19"/>
          <p:cNvSpPr/>
          <p:nvPr/>
        </p:nvSpPr>
        <p:spPr>
          <a:xfrm>
            <a:off x="4220914" y="133195"/>
            <a:ext cx="1000641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：林宗賢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271549"/>
              </p:ext>
            </p:extLst>
          </p:nvPr>
        </p:nvGraphicFramePr>
        <p:xfrm>
          <a:off x="3047015" y="2199699"/>
          <a:ext cx="1436353" cy="1178820"/>
        </p:xfrm>
        <a:graphic>
          <a:graphicData uri="http://schemas.openxmlformats.org/drawingml/2006/table">
            <a:tbl>
              <a:tblPr/>
              <a:tblGrid>
                <a:gridCol w="292920"/>
                <a:gridCol w="842969"/>
                <a:gridCol w="300464"/>
              </a:tblGrid>
              <a:tr h="196470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系統開發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PC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環境建置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人臉辨識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照片資料庫建立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資料庫定期更新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喇叭警報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共用資料夾建立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4586910" y="1888086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系統流程</a:t>
            </a:r>
            <a:endParaRPr lang="zh-TW" altLang="en-US" sz="1200" dirty="0"/>
          </a:p>
        </p:txBody>
      </p:sp>
      <p:grpSp>
        <p:nvGrpSpPr>
          <p:cNvPr id="38" name="群組 37"/>
          <p:cNvGrpSpPr/>
          <p:nvPr/>
        </p:nvGrpSpPr>
        <p:grpSpPr>
          <a:xfrm>
            <a:off x="4721234" y="2367353"/>
            <a:ext cx="3253407" cy="994529"/>
            <a:chOff x="4777076" y="2517877"/>
            <a:chExt cx="3253407" cy="994529"/>
          </a:xfrm>
        </p:grpSpPr>
        <p:cxnSp>
          <p:nvCxnSpPr>
            <p:cNvPr id="71" name="直線單箭頭接點 70"/>
            <p:cNvCxnSpPr>
              <a:stCxn id="79" idx="3"/>
              <a:endCxn id="80" idx="1"/>
            </p:cNvCxnSpPr>
            <p:nvPr/>
          </p:nvCxnSpPr>
          <p:spPr>
            <a:xfrm>
              <a:off x="5392761" y="2731927"/>
              <a:ext cx="18900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單箭頭接點 72"/>
            <p:cNvCxnSpPr>
              <a:stCxn id="80" idx="3"/>
              <a:endCxn id="81" idx="1"/>
            </p:cNvCxnSpPr>
            <p:nvPr/>
          </p:nvCxnSpPr>
          <p:spPr>
            <a:xfrm flipV="1">
              <a:off x="6202298" y="2729220"/>
              <a:ext cx="189009" cy="27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字方塊 74"/>
            <p:cNvSpPr txBox="1"/>
            <p:nvPr/>
          </p:nvSpPr>
          <p:spPr>
            <a:xfrm>
              <a:off x="6972145" y="3118003"/>
              <a:ext cx="27684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hangingPunct="0"/>
              <a:r>
                <a:rPr lang="en-US" altLang="zh-TW" sz="800" dirty="0">
                  <a:solidFill>
                    <a:srgbClr val="000000"/>
                  </a:solidFill>
                  <a:latin typeface="+mn-ea"/>
                  <a:ea typeface="+mn-ea"/>
                </a:rPr>
                <a:t>NG</a:t>
              </a:r>
              <a:endParaRPr lang="zh-TW" altLang="en-US" sz="80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7075174" y="2517877"/>
              <a:ext cx="3347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en-US" altLang="zh-TW" sz="800" dirty="0">
                  <a:solidFill>
                    <a:srgbClr val="000000"/>
                  </a:solidFill>
                  <a:latin typeface="+mn-ea"/>
                  <a:ea typeface="+mn-ea"/>
                </a:rPr>
                <a:t>OK</a:t>
              </a:r>
              <a:endParaRPr lang="zh-TW" altLang="en-US" sz="80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4777076" y="2530950"/>
              <a:ext cx="615685" cy="4019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hangingPunct="0"/>
              <a:r>
                <a:rPr lang="zh-TW" altLang="en-US" sz="800" dirty="0" smtClean="0">
                  <a:solidFill>
                    <a:srgbClr val="FFFFFF"/>
                  </a:solidFill>
                  <a:latin typeface="+mn-ea"/>
                </a:rPr>
                <a:t>辨識人員</a:t>
              </a:r>
              <a:endParaRPr lang="zh-TW" altLang="en-US" sz="80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5581770" y="2530950"/>
              <a:ext cx="620528" cy="40195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人臉辨識</a:t>
              </a:r>
              <a:endParaRPr lang="zh-TW" altLang="en-US" sz="800" dirty="0">
                <a:ln w="0"/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6391307" y="2530950"/>
              <a:ext cx="683868" cy="3965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照片資料庫比對</a:t>
              </a:r>
              <a:endParaRPr lang="zh-TW" altLang="en-US" sz="800" dirty="0">
                <a:ln w="0"/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7422802" y="2530950"/>
              <a:ext cx="605494" cy="3965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持續</a:t>
              </a:r>
              <a:r>
                <a:rPr lang="zh-TW" altLang="en-US" sz="800" dirty="0">
                  <a:ln w="0"/>
                  <a:solidFill>
                    <a:schemeClr val="bg1"/>
                  </a:solidFill>
                  <a:latin typeface="+mn-ea"/>
                </a:rPr>
                <a:t>辨識</a:t>
              </a:r>
            </a:p>
          </p:txBody>
        </p:sp>
        <p:sp>
          <p:nvSpPr>
            <p:cNvPr id="83" name="矩形 82"/>
            <p:cNvSpPr/>
            <p:nvPr/>
          </p:nvSpPr>
          <p:spPr>
            <a:xfrm>
              <a:off x="7424989" y="3125757"/>
              <a:ext cx="605494" cy="38664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hangingPunct="0"/>
              <a:r>
                <a:rPr lang="zh-TW" altLang="en-US" sz="800" dirty="0" smtClean="0">
                  <a:ln w="0"/>
                  <a:solidFill>
                    <a:schemeClr val="bg1"/>
                  </a:solidFill>
                  <a:latin typeface="+mn-ea"/>
                </a:rPr>
                <a:t>喇叭警報</a:t>
              </a:r>
              <a:endParaRPr lang="zh-TW" altLang="en-US" sz="800" dirty="0">
                <a:ln w="0"/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86" name="肘形接點 85"/>
            <p:cNvCxnSpPr>
              <a:stCxn id="81" idx="2"/>
              <a:endCxn id="83" idx="1"/>
            </p:cNvCxnSpPr>
            <p:nvPr/>
          </p:nvCxnSpPr>
          <p:spPr>
            <a:xfrm rot="16200000" flipH="1">
              <a:off x="6883319" y="2777412"/>
              <a:ext cx="391592" cy="691748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81" idx="3"/>
              <a:endCxn id="82" idx="1"/>
            </p:cNvCxnSpPr>
            <p:nvPr/>
          </p:nvCxnSpPr>
          <p:spPr>
            <a:xfrm flipV="1">
              <a:off x="7075177" y="2729219"/>
              <a:ext cx="34762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055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083" y="95906"/>
            <a:ext cx="8482972" cy="1064131"/>
          </a:xfrm>
        </p:spPr>
        <p:txBody>
          <a:bodyPr/>
          <a:lstStyle/>
          <a:p>
            <a:r>
              <a:rPr lang="zh-TW" altLang="en-US" dirty="0" smtClean="0"/>
              <a:t>門禁畫面</a:t>
            </a:r>
            <a:endParaRPr lang="zh-TW" altLang="en-US" dirty="0"/>
          </a:p>
        </p:txBody>
      </p:sp>
      <p:pic>
        <p:nvPicPr>
          <p:cNvPr id="1026" name="圖片 3" descr="image00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31"/>
          <a:stretch/>
        </p:blipFill>
        <p:spPr bwMode="auto">
          <a:xfrm>
            <a:off x="2804967" y="1318881"/>
            <a:ext cx="4966743" cy="3511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921008" y="1256059"/>
            <a:ext cx="509551" cy="3908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/>
          <p:cNvSpPr txBox="1"/>
          <p:nvPr/>
        </p:nvSpPr>
        <p:spPr>
          <a:xfrm>
            <a:off x="4400469" y="907966"/>
            <a:ext cx="20601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系統預計位置</a:t>
            </a:r>
            <a:r>
              <a:rPr lang="en-US" altLang="zh-TW" dirty="0" smtClean="0"/>
              <a:t>(</a:t>
            </a:r>
            <a:r>
              <a:rPr lang="zh-TW" altLang="en-US" dirty="0" smtClean="0"/>
              <a:t>三叉門前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26941" y="1311533"/>
            <a:ext cx="245291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使用現有</a:t>
            </a:r>
            <a:r>
              <a:rPr lang="en-US" altLang="zh-TW" dirty="0" smtClean="0"/>
              <a:t>PC</a:t>
            </a:r>
            <a:r>
              <a:rPr lang="zh-TW" altLang="en-US" dirty="0" smtClean="0"/>
              <a:t>、網點、電源</a:t>
            </a:r>
            <a:endParaRPr lang="en-US" altLang="zh-TW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節省地插及網點建置費用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443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63074" y="319003"/>
            <a:ext cx="8482972" cy="607688"/>
          </a:xfrm>
        </p:spPr>
        <p:txBody>
          <a:bodyPr/>
          <a:lstStyle/>
          <a:p>
            <a:r>
              <a:rPr lang="zh-TW" altLang="en-US" dirty="0" smtClean="0"/>
              <a:t>人臉戴口罩辨識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37" y="1667616"/>
            <a:ext cx="410822" cy="527054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323" y="1696720"/>
            <a:ext cx="390416" cy="50057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65" y="2331179"/>
            <a:ext cx="390174" cy="52843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646" y="1955063"/>
            <a:ext cx="625615" cy="691682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250083" y="2638741"/>
            <a:ext cx="6527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Dataset</a:t>
            </a:r>
            <a:endParaRPr lang="zh-TW" altLang="en-US" sz="1000" dirty="0"/>
          </a:p>
        </p:txBody>
      </p:sp>
      <p:grpSp>
        <p:nvGrpSpPr>
          <p:cNvPr id="12" name="群組 11"/>
          <p:cNvGrpSpPr/>
          <p:nvPr/>
        </p:nvGrpSpPr>
        <p:grpSpPr>
          <a:xfrm>
            <a:off x="1885487" y="1972315"/>
            <a:ext cx="720268" cy="703773"/>
            <a:chOff x="1594378" y="2359739"/>
            <a:chExt cx="720268" cy="703773"/>
          </a:xfrm>
        </p:grpSpPr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378" y="2359739"/>
              <a:ext cx="720268" cy="703773"/>
            </a:xfrm>
            <a:prstGeom prst="rect">
              <a:avLst/>
            </a:prstGeom>
          </p:spPr>
        </p:pic>
        <p:sp>
          <p:nvSpPr>
            <p:cNvPr id="14" name="圓角矩形 13"/>
            <p:cNvSpPr/>
            <p:nvPr/>
          </p:nvSpPr>
          <p:spPr>
            <a:xfrm>
              <a:off x="1816617" y="2585956"/>
              <a:ext cx="271462" cy="269081"/>
            </a:xfrm>
            <a:prstGeom prst="roundRect">
              <a:avLst>
                <a:gd name="adj" fmla="val 516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1782692" y="2581996"/>
              <a:ext cx="3449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 smtClean="0">
                  <a:solidFill>
                    <a:schemeClr val="bg1"/>
                  </a:solidFill>
                </a:rPr>
                <a:t>AI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2962107" y="2683666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Face Feature</a:t>
            </a:r>
            <a:endParaRPr lang="zh-TW" altLang="en-US" sz="1000" dirty="0"/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2619768" y="2310715"/>
            <a:ext cx="315548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3898682" y="2310265"/>
            <a:ext cx="315548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1894891" y="2639443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AI Model</a:t>
            </a:r>
            <a:endParaRPr lang="zh-TW" altLang="en-US" sz="1000" dirty="0"/>
          </a:p>
        </p:txBody>
      </p:sp>
      <p:grpSp>
        <p:nvGrpSpPr>
          <p:cNvPr id="33" name="群組 32"/>
          <p:cNvGrpSpPr>
            <a:grpSpLocks noChangeAspect="1"/>
          </p:cNvGrpSpPr>
          <p:nvPr/>
        </p:nvGrpSpPr>
        <p:grpSpPr>
          <a:xfrm>
            <a:off x="5527826" y="2749863"/>
            <a:ext cx="631936" cy="533809"/>
            <a:chOff x="5559500" y="616708"/>
            <a:chExt cx="735482" cy="62127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4" name="Rectangle 158"/>
            <p:cNvSpPr>
              <a:spLocks noChangeArrowheads="1"/>
            </p:cNvSpPr>
            <p:nvPr/>
          </p:nvSpPr>
          <p:spPr bwMode="auto">
            <a:xfrm>
              <a:off x="5559500" y="621278"/>
              <a:ext cx="45682" cy="17816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35" name="Rectangle 159"/>
            <p:cNvSpPr>
              <a:spLocks noChangeArrowheads="1"/>
            </p:cNvSpPr>
            <p:nvPr/>
          </p:nvSpPr>
          <p:spPr bwMode="auto">
            <a:xfrm>
              <a:off x="5559500" y="854255"/>
              <a:ext cx="45682" cy="2603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36" name="Rectangle 160"/>
            <p:cNvSpPr>
              <a:spLocks noChangeArrowheads="1"/>
            </p:cNvSpPr>
            <p:nvPr/>
          </p:nvSpPr>
          <p:spPr bwMode="auto">
            <a:xfrm>
              <a:off x="5559500" y="1174029"/>
              <a:ext cx="45682" cy="639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37" name="Rectangle 161"/>
            <p:cNvSpPr>
              <a:spLocks noChangeArrowheads="1"/>
            </p:cNvSpPr>
            <p:nvPr/>
          </p:nvSpPr>
          <p:spPr bwMode="auto">
            <a:xfrm>
              <a:off x="5664567" y="616708"/>
              <a:ext cx="41115" cy="913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38" name="Rectangle 162"/>
            <p:cNvSpPr>
              <a:spLocks noChangeArrowheads="1"/>
            </p:cNvSpPr>
            <p:nvPr/>
          </p:nvSpPr>
          <p:spPr bwMode="auto">
            <a:xfrm>
              <a:off x="5664567" y="772027"/>
              <a:ext cx="41115" cy="19186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39" name="Rectangle 163"/>
            <p:cNvSpPr>
              <a:spLocks noChangeArrowheads="1"/>
            </p:cNvSpPr>
            <p:nvPr/>
          </p:nvSpPr>
          <p:spPr bwMode="auto">
            <a:xfrm>
              <a:off x="5664567" y="1027846"/>
              <a:ext cx="41115" cy="2101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40" name="Rectangle 164"/>
            <p:cNvSpPr>
              <a:spLocks noChangeArrowheads="1"/>
            </p:cNvSpPr>
            <p:nvPr/>
          </p:nvSpPr>
          <p:spPr bwMode="auto">
            <a:xfrm>
              <a:off x="5765067" y="616708"/>
              <a:ext cx="45682" cy="2603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41" name="Rectangle 165"/>
            <p:cNvSpPr>
              <a:spLocks noChangeArrowheads="1"/>
            </p:cNvSpPr>
            <p:nvPr/>
          </p:nvSpPr>
          <p:spPr bwMode="auto">
            <a:xfrm>
              <a:off x="5765067" y="927346"/>
              <a:ext cx="45682" cy="31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42" name="Rectangle 166"/>
            <p:cNvSpPr>
              <a:spLocks noChangeArrowheads="1"/>
            </p:cNvSpPr>
            <p:nvPr/>
          </p:nvSpPr>
          <p:spPr bwMode="auto">
            <a:xfrm>
              <a:off x="5870137" y="616708"/>
              <a:ext cx="45682" cy="13247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43" name="Rectangle 167"/>
            <p:cNvSpPr>
              <a:spLocks noChangeArrowheads="1"/>
            </p:cNvSpPr>
            <p:nvPr/>
          </p:nvSpPr>
          <p:spPr bwMode="auto">
            <a:xfrm>
              <a:off x="5870137" y="1137483"/>
              <a:ext cx="45682" cy="1005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44" name="Freeform 168"/>
            <p:cNvSpPr>
              <a:spLocks noEditPoints="1"/>
            </p:cNvSpPr>
            <p:nvPr/>
          </p:nvSpPr>
          <p:spPr bwMode="auto">
            <a:xfrm>
              <a:off x="5833592" y="740051"/>
              <a:ext cx="461390" cy="488799"/>
            </a:xfrm>
            <a:custGeom>
              <a:avLst/>
              <a:gdLst>
                <a:gd name="T0" fmla="*/ 433 w 509"/>
                <a:gd name="T1" fmla="*/ 195 h 537"/>
                <a:gd name="T2" fmla="*/ 417 w 509"/>
                <a:gd name="T3" fmla="*/ 133 h 537"/>
                <a:gd name="T4" fmla="*/ 384 w 509"/>
                <a:gd name="T5" fmla="*/ 79 h 537"/>
                <a:gd name="T6" fmla="*/ 338 w 509"/>
                <a:gd name="T7" fmla="*/ 38 h 537"/>
                <a:gd name="T8" fmla="*/ 282 w 509"/>
                <a:gd name="T9" fmla="*/ 10 h 537"/>
                <a:gd name="T10" fmla="*/ 217 w 509"/>
                <a:gd name="T11" fmla="*/ 0 h 537"/>
                <a:gd name="T12" fmla="*/ 173 w 509"/>
                <a:gd name="T13" fmla="*/ 5 h 537"/>
                <a:gd name="T14" fmla="*/ 113 w 509"/>
                <a:gd name="T15" fmla="*/ 27 h 537"/>
                <a:gd name="T16" fmla="*/ 63 w 509"/>
                <a:gd name="T17" fmla="*/ 65 h 537"/>
                <a:gd name="T18" fmla="*/ 25 w 509"/>
                <a:gd name="T19" fmla="*/ 115 h 537"/>
                <a:gd name="T20" fmla="*/ 5 w 509"/>
                <a:gd name="T21" fmla="*/ 173 h 537"/>
                <a:gd name="T22" fmla="*/ 0 w 509"/>
                <a:gd name="T23" fmla="*/ 217 h 537"/>
                <a:gd name="T24" fmla="*/ 9 w 509"/>
                <a:gd name="T25" fmla="*/ 282 h 537"/>
                <a:gd name="T26" fmla="*/ 36 w 509"/>
                <a:gd name="T27" fmla="*/ 339 h 537"/>
                <a:gd name="T28" fmla="*/ 79 w 509"/>
                <a:gd name="T29" fmla="*/ 384 h 537"/>
                <a:gd name="T30" fmla="*/ 133 w 509"/>
                <a:gd name="T31" fmla="*/ 417 h 537"/>
                <a:gd name="T32" fmla="*/ 195 w 509"/>
                <a:gd name="T33" fmla="*/ 433 h 537"/>
                <a:gd name="T34" fmla="*/ 240 w 509"/>
                <a:gd name="T35" fmla="*/ 433 h 537"/>
                <a:gd name="T36" fmla="*/ 306 w 509"/>
                <a:gd name="T37" fmla="*/ 415 h 537"/>
                <a:gd name="T38" fmla="*/ 404 w 509"/>
                <a:gd name="T39" fmla="*/ 328 h 537"/>
                <a:gd name="T40" fmla="*/ 416 w 509"/>
                <a:gd name="T41" fmla="*/ 303 h 537"/>
                <a:gd name="T42" fmla="*/ 429 w 509"/>
                <a:gd name="T43" fmla="*/ 261 h 537"/>
                <a:gd name="T44" fmla="*/ 434 w 509"/>
                <a:gd name="T45" fmla="*/ 217 h 537"/>
                <a:gd name="T46" fmla="*/ 349 w 509"/>
                <a:gd name="T47" fmla="*/ 390 h 537"/>
                <a:gd name="T48" fmla="*/ 373 w 509"/>
                <a:gd name="T49" fmla="*/ 367 h 537"/>
                <a:gd name="T50" fmla="*/ 48 w 509"/>
                <a:gd name="T51" fmla="*/ 217 h 537"/>
                <a:gd name="T52" fmla="*/ 52 w 509"/>
                <a:gd name="T53" fmla="*/ 183 h 537"/>
                <a:gd name="T54" fmla="*/ 69 w 509"/>
                <a:gd name="T55" fmla="*/ 138 h 537"/>
                <a:gd name="T56" fmla="*/ 97 w 509"/>
                <a:gd name="T57" fmla="*/ 99 h 537"/>
                <a:gd name="T58" fmla="*/ 136 w 509"/>
                <a:gd name="T59" fmla="*/ 70 h 537"/>
                <a:gd name="T60" fmla="*/ 183 w 509"/>
                <a:gd name="T61" fmla="*/ 53 h 537"/>
                <a:gd name="T62" fmla="*/ 217 w 509"/>
                <a:gd name="T63" fmla="*/ 49 h 537"/>
                <a:gd name="T64" fmla="*/ 267 w 509"/>
                <a:gd name="T65" fmla="*/ 57 h 537"/>
                <a:gd name="T66" fmla="*/ 311 w 509"/>
                <a:gd name="T67" fmla="*/ 78 h 537"/>
                <a:gd name="T68" fmla="*/ 346 w 509"/>
                <a:gd name="T69" fmla="*/ 111 h 537"/>
                <a:gd name="T70" fmla="*/ 372 w 509"/>
                <a:gd name="T71" fmla="*/ 153 h 537"/>
                <a:gd name="T72" fmla="*/ 384 w 509"/>
                <a:gd name="T73" fmla="*/ 200 h 537"/>
                <a:gd name="T74" fmla="*/ 384 w 509"/>
                <a:gd name="T75" fmla="*/ 234 h 537"/>
                <a:gd name="T76" fmla="*/ 372 w 509"/>
                <a:gd name="T77" fmla="*/ 283 h 537"/>
                <a:gd name="T78" fmla="*/ 346 w 509"/>
                <a:gd name="T79" fmla="*/ 325 h 537"/>
                <a:gd name="T80" fmla="*/ 311 w 509"/>
                <a:gd name="T81" fmla="*/ 358 h 537"/>
                <a:gd name="T82" fmla="*/ 267 w 509"/>
                <a:gd name="T83" fmla="*/ 378 h 537"/>
                <a:gd name="T84" fmla="*/ 217 w 509"/>
                <a:gd name="T85" fmla="*/ 386 h 537"/>
                <a:gd name="T86" fmla="*/ 183 w 509"/>
                <a:gd name="T87" fmla="*/ 382 h 537"/>
                <a:gd name="T88" fmla="*/ 136 w 509"/>
                <a:gd name="T89" fmla="*/ 365 h 537"/>
                <a:gd name="T90" fmla="*/ 97 w 509"/>
                <a:gd name="T91" fmla="*/ 337 h 537"/>
                <a:gd name="T92" fmla="*/ 69 w 509"/>
                <a:gd name="T93" fmla="*/ 298 h 537"/>
                <a:gd name="T94" fmla="*/ 52 w 509"/>
                <a:gd name="T95" fmla="*/ 251 h 537"/>
                <a:gd name="T96" fmla="*/ 48 w 509"/>
                <a:gd name="T97" fmla="*/ 21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09" h="537">
                  <a:moveTo>
                    <a:pt x="434" y="217"/>
                  </a:moveTo>
                  <a:lnTo>
                    <a:pt x="434" y="217"/>
                  </a:lnTo>
                  <a:lnTo>
                    <a:pt x="433" y="195"/>
                  </a:lnTo>
                  <a:lnTo>
                    <a:pt x="429" y="173"/>
                  </a:lnTo>
                  <a:lnTo>
                    <a:pt x="424" y="153"/>
                  </a:lnTo>
                  <a:lnTo>
                    <a:pt x="417" y="133"/>
                  </a:lnTo>
                  <a:lnTo>
                    <a:pt x="407" y="115"/>
                  </a:lnTo>
                  <a:lnTo>
                    <a:pt x="396" y="96"/>
                  </a:lnTo>
                  <a:lnTo>
                    <a:pt x="384" y="79"/>
                  </a:lnTo>
                  <a:lnTo>
                    <a:pt x="369" y="65"/>
                  </a:lnTo>
                  <a:lnTo>
                    <a:pt x="355" y="50"/>
                  </a:lnTo>
                  <a:lnTo>
                    <a:pt x="338" y="38"/>
                  </a:lnTo>
                  <a:lnTo>
                    <a:pt x="319" y="27"/>
                  </a:lnTo>
                  <a:lnTo>
                    <a:pt x="301" y="17"/>
                  </a:lnTo>
                  <a:lnTo>
                    <a:pt x="282" y="10"/>
                  </a:lnTo>
                  <a:lnTo>
                    <a:pt x="261" y="5"/>
                  </a:lnTo>
                  <a:lnTo>
                    <a:pt x="239" y="1"/>
                  </a:lnTo>
                  <a:lnTo>
                    <a:pt x="217" y="0"/>
                  </a:lnTo>
                  <a:lnTo>
                    <a:pt x="217" y="0"/>
                  </a:lnTo>
                  <a:lnTo>
                    <a:pt x="195" y="1"/>
                  </a:lnTo>
                  <a:lnTo>
                    <a:pt x="173" y="5"/>
                  </a:lnTo>
                  <a:lnTo>
                    <a:pt x="152" y="10"/>
                  </a:lnTo>
                  <a:lnTo>
                    <a:pt x="133" y="17"/>
                  </a:lnTo>
                  <a:lnTo>
                    <a:pt x="113" y="27"/>
                  </a:lnTo>
                  <a:lnTo>
                    <a:pt x="95" y="38"/>
                  </a:lnTo>
                  <a:lnTo>
                    <a:pt x="79" y="50"/>
                  </a:lnTo>
                  <a:lnTo>
                    <a:pt x="63" y="65"/>
                  </a:lnTo>
                  <a:lnTo>
                    <a:pt x="50" y="79"/>
                  </a:lnTo>
                  <a:lnTo>
                    <a:pt x="36" y="96"/>
                  </a:lnTo>
                  <a:lnTo>
                    <a:pt x="25" y="115"/>
                  </a:lnTo>
                  <a:lnTo>
                    <a:pt x="17" y="133"/>
                  </a:lnTo>
                  <a:lnTo>
                    <a:pt x="9" y="153"/>
                  </a:lnTo>
                  <a:lnTo>
                    <a:pt x="5" y="173"/>
                  </a:lnTo>
                  <a:lnTo>
                    <a:pt x="1" y="195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1" y="239"/>
                  </a:lnTo>
                  <a:lnTo>
                    <a:pt x="5" y="261"/>
                  </a:lnTo>
                  <a:lnTo>
                    <a:pt x="9" y="282"/>
                  </a:lnTo>
                  <a:lnTo>
                    <a:pt x="17" y="301"/>
                  </a:lnTo>
                  <a:lnTo>
                    <a:pt x="25" y="321"/>
                  </a:lnTo>
                  <a:lnTo>
                    <a:pt x="36" y="339"/>
                  </a:lnTo>
                  <a:lnTo>
                    <a:pt x="50" y="355"/>
                  </a:lnTo>
                  <a:lnTo>
                    <a:pt x="63" y="371"/>
                  </a:lnTo>
                  <a:lnTo>
                    <a:pt x="79" y="384"/>
                  </a:lnTo>
                  <a:lnTo>
                    <a:pt x="95" y="398"/>
                  </a:lnTo>
                  <a:lnTo>
                    <a:pt x="113" y="409"/>
                  </a:lnTo>
                  <a:lnTo>
                    <a:pt x="133" y="417"/>
                  </a:lnTo>
                  <a:lnTo>
                    <a:pt x="152" y="425"/>
                  </a:lnTo>
                  <a:lnTo>
                    <a:pt x="173" y="430"/>
                  </a:lnTo>
                  <a:lnTo>
                    <a:pt x="195" y="433"/>
                  </a:lnTo>
                  <a:lnTo>
                    <a:pt x="217" y="434"/>
                  </a:lnTo>
                  <a:lnTo>
                    <a:pt x="217" y="434"/>
                  </a:lnTo>
                  <a:lnTo>
                    <a:pt x="240" y="433"/>
                  </a:lnTo>
                  <a:lnTo>
                    <a:pt x="263" y="430"/>
                  </a:lnTo>
                  <a:lnTo>
                    <a:pt x="285" y="423"/>
                  </a:lnTo>
                  <a:lnTo>
                    <a:pt x="306" y="415"/>
                  </a:lnTo>
                  <a:lnTo>
                    <a:pt x="408" y="537"/>
                  </a:lnTo>
                  <a:lnTo>
                    <a:pt x="509" y="453"/>
                  </a:lnTo>
                  <a:lnTo>
                    <a:pt x="404" y="328"/>
                  </a:lnTo>
                  <a:lnTo>
                    <a:pt x="404" y="328"/>
                  </a:lnTo>
                  <a:lnTo>
                    <a:pt x="410" y="316"/>
                  </a:lnTo>
                  <a:lnTo>
                    <a:pt x="416" y="303"/>
                  </a:lnTo>
                  <a:lnTo>
                    <a:pt x="422" y="289"/>
                  </a:lnTo>
                  <a:lnTo>
                    <a:pt x="426" y="276"/>
                  </a:lnTo>
                  <a:lnTo>
                    <a:pt x="429" y="261"/>
                  </a:lnTo>
                  <a:lnTo>
                    <a:pt x="432" y="248"/>
                  </a:lnTo>
                  <a:lnTo>
                    <a:pt x="433" y="233"/>
                  </a:lnTo>
                  <a:lnTo>
                    <a:pt x="434" y="217"/>
                  </a:lnTo>
                  <a:lnTo>
                    <a:pt x="434" y="217"/>
                  </a:lnTo>
                  <a:close/>
                  <a:moveTo>
                    <a:pt x="415" y="469"/>
                  </a:moveTo>
                  <a:lnTo>
                    <a:pt x="349" y="390"/>
                  </a:lnTo>
                  <a:lnTo>
                    <a:pt x="349" y="390"/>
                  </a:lnTo>
                  <a:lnTo>
                    <a:pt x="361" y="380"/>
                  </a:lnTo>
                  <a:lnTo>
                    <a:pt x="373" y="367"/>
                  </a:lnTo>
                  <a:lnTo>
                    <a:pt x="440" y="447"/>
                  </a:lnTo>
                  <a:lnTo>
                    <a:pt x="415" y="469"/>
                  </a:lnTo>
                  <a:close/>
                  <a:moveTo>
                    <a:pt x="48" y="217"/>
                  </a:moveTo>
                  <a:lnTo>
                    <a:pt x="48" y="217"/>
                  </a:lnTo>
                  <a:lnTo>
                    <a:pt x="50" y="200"/>
                  </a:lnTo>
                  <a:lnTo>
                    <a:pt x="52" y="183"/>
                  </a:lnTo>
                  <a:lnTo>
                    <a:pt x="56" y="167"/>
                  </a:lnTo>
                  <a:lnTo>
                    <a:pt x="62" y="153"/>
                  </a:lnTo>
                  <a:lnTo>
                    <a:pt x="69" y="138"/>
                  </a:lnTo>
                  <a:lnTo>
                    <a:pt x="77" y="123"/>
                  </a:lnTo>
                  <a:lnTo>
                    <a:pt x="86" y="111"/>
                  </a:lnTo>
                  <a:lnTo>
                    <a:pt x="97" y="99"/>
                  </a:lnTo>
                  <a:lnTo>
                    <a:pt x="109" y="88"/>
                  </a:lnTo>
                  <a:lnTo>
                    <a:pt x="123" y="78"/>
                  </a:lnTo>
                  <a:lnTo>
                    <a:pt x="136" y="70"/>
                  </a:lnTo>
                  <a:lnTo>
                    <a:pt x="151" y="62"/>
                  </a:lnTo>
                  <a:lnTo>
                    <a:pt x="167" y="57"/>
                  </a:lnTo>
                  <a:lnTo>
                    <a:pt x="183" y="53"/>
                  </a:lnTo>
                  <a:lnTo>
                    <a:pt x="200" y="50"/>
                  </a:lnTo>
                  <a:lnTo>
                    <a:pt x="217" y="49"/>
                  </a:lnTo>
                  <a:lnTo>
                    <a:pt x="217" y="49"/>
                  </a:lnTo>
                  <a:lnTo>
                    <a:pt x="234" y="50"/>
                  </a:lnTo>
                  <a:lnTo>
                    <a:pt x="251" y="53"/>
                  </a:lnTo>
                  <a:lnTo>
                    <a:pt x="267" y="57"/>
                  </a:lnTo>
                  <a:lnTo>
                    <a:pt x="282" y="62"/>
                  </a:lnTo>
                  <a:lnTo>
                    <a:pt x="296" y="70"/>
                  </a:lnTo>
                  <a:lnTo>
                    <a:pt x="311" y="78"/>
                  </a:lnTo>
                  <a:lnTo>
                    <a:pt x="323" y="88"/>
                  </a:lnTo>
                  <a:lnTo>
                    <a:pt x="335" y="99"/>
                  </a:lnTo>
                  <a:lnTo>
                    <a:pt x="346" y="111"/>
                  </a:lnTo>
                  <a:lnTo>
                    <a:pt x="356" y="123"/>
                  </a:lnTo>
                  <a:lnTo>
                    <a:pt x="365" y="138"/>
                  </a:lnTo>
                  <a:lnTo>
                    <a:pt x="372" y="153"/>
                  </a:lnTo>
                  <a:lnTo>
                    <a:pt x="377" y="167"/>
                  </a:lnTo>
                  <a:lnTo>
                    <a:pt x="382" y="183"/>
                  </a:lnTo>
                  <a:lnTo>
                    <a:pt x="384" y="200"/>
                  </a:lnTo>
                  <a:lnTo>
                    <a:pt x="385" y="217"/>
                  </a:lnTo>
                  <a:lnTo>
                    <a:pt x="385" y="217"/>
                  </a:lnTo>
                  <a:lnTo>
                    <a:pt x="384" y="234"/>
                  </a:lnTo>
                  <a:lnTo>
                    <a:pt x="382" y="251"/>
                  </a:lnTo>
                  <a:lnTo>
                    <a:pt x="377" y="267"/>
                  </a:lnTo>
                  <a:lnTo>
                    <a:pt x="372" y="283"/>
                  </a:lnTo>
                  <a:lnTo>
                    <a:pt x="365" y="298"/>
                  </a:lnTo>
                  <a:lnTo>
                    <a:pt x="356" y="311"/>
                  </a:lnTo>
                  <a:lnTo>
                    <a:pt x="346" y="325"/>
                  </a:lnTo>
                  <a:lnTo>
                    <a:pt x="335" y="337"/>
                  </a:lnTo>
                  <a:lnTo>
                    <a:pt x="323" y="348"/>
                  </a:lnTo>
                  <a:lnTo>
                    <a:pt x="311" y="358"/>
                  </a:lnTo>
                  <a:lnTo>
                    <a:pt x="296" y="365"/>
                  </a:lnTo>
                  <a:lnTo>
                    <a:pt x="282" y="372"/>
                  </a:lnTo>
                  <a:lnTo>
                    <a:pt x="267" y="378"/>
                  </a:lnTo>
                  <a:lnTo>
                    <a:pt x="251" y="382"/>
                  </a:lnTo>
                  <a:lnTo>
                    <a:pt x="234" y="384"/>
                  </a:lnTo>
                  <a:lnTo>
                    <a:pt x="217" y="386"/>
                  </a:lnTo>
                  <a:lnTo>
                    <a:pt x="217" y="386"/>
                  </a:lnTo>
                  <a:lnTo>
                    <a:pt x="200" y="384"/>
                  </a:lnTo>
                  <a:lnTo>
                    <a:pt x="183" y="382"/>
                  </a:lnTo>
                  <a:lnTo>
                    <a:pt x="167" y="378"/>
                  </a:lnTo>
                  <a:lnTo>
                    <a:pt x="151" y="372"/>
                  </a:lnTo>
                  <a:lnTo>
                    <a:pt x="136" y="365"/>
                  </a:lnTo>
                  <a:lnTo>
                    <a:pt x="123" y="358"/>
                  </a:lnTo>
                  <a:lnTo>
                    <a:pt x="109" y="348"/>
                  </a:lnTo>
                  <a:lnTo>
                    <a:pt x="97" y="337"/>
                  </a:lnTo>
                  <a:lnTo>
                    <a:pt x="86" y="325"/>
                  </a:lnTo>
                  <a:lnTo>
                    <a:pt x="77" y="311"/>
                  </a:lnTo>
                  <a:lnTo>
                    <a:pt x="69" y="298"/>
                  </a:lnTo>
                  <a:lnTo>
                    <a:pt x="62" y="283"/>
                  </a:lnTo>
                  <a:lnTo>
                    <a:pt x="56" y="267"/>
                  </a:lnTo>
                  <a:lnTo>
                    <a:pt x="52" y="251"/>
                  </a:lnTo>
                  <a:lnTo>
                    <a:pt x="50" y="234"/>
                  </a:lnTo>
                  <a:lnTo>
                    <a:pt x="48" y="217"/>
                  </a:lnTo>
                  <a:lnTo>
                    <a:pt x="48" y="2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  <p:sp>
          <p:nvSpPr>
            <p:cNvPr id="45" name="Freeform 169"/>
            <p:cNvSpPr>
              <a:spLocks/>
            </p:cNvSpPr>
            <p:nvPr/>
          </p:nvSpPr>
          <p:spPr bwMode="auto">
            <a:xfrm>
              <a:off x="5906683" y="817709"/>
              <a:ext cx="123343" cy="118773"/>
            </a:xfrm>
            <a:custGeom>
              <a:avLst/>
              <a:gdLst>
                <a:gd name="T0" fmla="*/ 0 w 134"/>
                <a:gd name="T1" fmla="*/ 134 h 134"/>
                <a:gd name="T2" fmla="*/ 24 w 134"/>
                <a:gd name="T3" fmla="*/ 134 h 134"/>
                <a:gd name="T4" fmla="*/ 24 w 134"/>
                <a:gd name="T5" fmla="*/ 134 h 134"/>
                <a:gd name="T6" fmla="*/ 48 w 134"/>
                <a:gd name="T7" fmla="*/ 134 h 134"/>
                <a:gd name="T8" fmla="*/ 48 w 134"/>
                <a:gd name="T9" fmla="*/ 134 h 134"/>
                <a:gd name="T10" fmla="*/ 48 w 134"/>
                <a:gd name="T11" fmla="*/ 127 h 134"/>
                <a:gd name="T12" fmla="*/ 50 w 134"/>
                <a:gd name="T13" fmla="*/ 120 h 134"/>
                <a:gd name="T14" fmla="*/ 53 w 134"/>
                <a:gd name="T15" fmla="*/ 105 h 134"/>
                <a:gd name="T16" fmla="*/ 53 w 134"/>
                <a:gd name="T17" fmla="*/ 105 h 134"/>
                <a:gd name="T18" fmla="*/ 57 w 134"/>
                <a:gd name="T19" fmla="*/ 96 h 134"/>
                <a:gd name="T20" fmla="*/ 62 w 134"/>
                <a:gd name="T21" fmla="*/ 88 h 134"/>
                <a:gd name="T22" fmla="*/ 67 w 134"/>
                <a:gd name="T23" fmla="*/ 81 h 134"/>
                <a:gd name="T24" fmla="*/ 73 w 134"/>
                <a:gd name="T25" fmla="*/ 74 h 134"/>
                <a:gd name="T26" fmla="*/ 80 w 134"/>
                <a:gd name="T27" fmla="*/ 68 h 134"/>
                <a:gd name="T28" fmla="*/ 88 w 134"/>
                <a:gd name="T29" fmla="*/ 63 h 134"/>
                <a:gd name="T30" fmla="*/ 95 w 134"/>
                <a:gd name="T31" fmla="*/ 59 h 134"/>
                <a:gd name="T32" fmla="*/ 103 w 134"/>
                <a:gd name="T33" fmla="*/ 55 h 134"/>
                <a:gd name="T34" fmla="*/ 103 w 134"/>
                <a:gd name="T35" fmla="*/ 55 h 134"/>
                <a:gd name="T36" fmla="*/ 118 w 134"/>
                <a:gd name="T37" fmla="*/ 51 h 134"/>
                <a:gd name="T38" fmla="*/ 125 w 134"/>
                <a:gd name="T39" fmla="*/ 50 h 134"/>
                <a:gd name="T40" fmla="*/ 134 w 134"/>
                <a:gd name="T41" fmla="*/ 49 h 134"/>
                <a:gd name="T42" fmla="*/ 134 w 134"/>
                <a:gd name="T43" fmla="*/ 24 h 134"/>
                <a:gd name="T44" fmla="*/ 134 w 134"/>
                <a:gd name="T45" fmla="*/ 0 h 134"/>
                <a:gd name="T46" fmla="*/ 134 w 134"/>
                <a:gd name="T47" fmla="*/ 0 h 134"/>
                <a:gd name="T48" fmla="*/ 120 w 134"/>
                <a:gd name="T49" fmla="*/ 1 h 134"/>
                <a:gd name="T50" fmla="*/ 107 w 134"/>
                <a:gd name="T51" fmla="*/ 4 h 134"/>
                <a:gd name="T52" fmla="*/ 94 w 134"/>
                <a:gd name="T53" fmla="*/ 6 h 134"/>
                <a:gd name="T54" fmla="*/ 81 w 134"/>
                <a:gd name="T55" fmla="*/ 11 h 134"/>
                <a:gd name="T56" fmla="*/ 69 w 134"/>
                <a:gd name="T57" fmla="*/ 17 h 134"/>
                <a:gd name="T58" fmla="*/ 58 w 134"/>
                <a:gd name="T59" fmla="*/ 23 h 134"/>
                <a:gd name="T60" fmla="*/ 48 w 134"/>
                <a:gd name="T61" fmla="*/ 31 h 134"/>
                <a:gd name="T62" fmla="*/ 39 w 134"/>
                <a:gd name="T63" fmla="*/ 40 h 134"/>
                <a:gd name="T64" fmla="*/ 30 w 134"/>
                <a:gd name="T65" fmla="*/ 49 h 134"/>
                <a:gd name="T66" fmla="*/ 23 w 134"/>
                <a:gd name="T67" fmla="*/ 60 h 134"/>
                <a:gd name="T68" fmla="*/ 16 w 134"/>
                <a:gd name="T69" fmla="*/ 71 h 134"/>
                <a:gd name="T70" fmla="*/ 11 w 134"/>
                <a:gd name="T71" fmla="*/ 83 h 134"/>
                <a:gd name="T72" fmla="*/ 6 w 134"/>
                <a:gd name="T73" fmla="*/ 95 h 134"/>
                <a:gd name="T74" fmla="*/ 2 w 134"/>
                <a:gd name="T75" fmla="*/ 107 h 134"/>
                <a:gd name="T76" fmla="*/ 0 w 134"/>
                <a:gd name="T77" fmla="*/ 121 h 134"/>
                <a:gd name="T78" fmla="*/ 0 w 134"/>
                <a:gd name="T79" fmla="*/ 134 h 134"/>
                <a:gd name="T80" fmla="*/ 0 w 134"/>
                <a:gd name="T81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4" h="134">
                  <a:moveTo>
                    <a:pt x="0" y="134"/>
                  </a:moveTo>
                  <a:lnTo>
                    <a:pt x="24" y="134"/>
                  </a:lnTo>
                  <a:lnTo>
                    <a:pt x="24" y="134"/>
                  </a:lnTo>
                  <a:lnTo>
                    <a:pt x="48" y="134"/>
                  </a:lnTo>
                  <a:lnTo>
                    <a:pt x="48" y="134"/>
                  </a:lnTo>
                  <a:lnTo>
                    <a:pt x="48" y="127"/>
                  </a:lnTo>
                  <a:lnTo>
                    <a:pt x="50" y="120"/>
                  </a:lnTo>
                  <a:lnTo>
                    <a:pt x="53" y="105"/>
                  </a:lnTo>
                  <a:lnTo>
                    <a:pt x="53" y="105"/>
                  </a:lnTo>
                  <a:lnTo>
                    <a:pt x="57" y="96"/>
                  </a:lnTo>
                  <a:lnTo>
                    <a:pt x="62" y="88"/>
                  </a:lnTo>
                  <a:lnTo>
                    <a:pt x="67" y="81"/>
                  </a:lnTo>
                  <a:lnTo>
                    <a:pt x="73" y="74"/>
                  </a:lnTo>
                  <a:lnTo>
                    <a:pt x="80" y="68"/>
                  </a:lnTo>
                  <a:lnTo>
                    <a:pt x="88" y="63"/>
                  </a:lnTo>
                  <a:lnTo>
                    <a:pt x="95" y="59"/>
                  </a:lnTo>
                  <a:lnTo>
                    <a:pt x="103" y="55"/>
                  </a:lnTo>
                  <a:lnTo>
                    <a:pt x="103" y="55"/>
                  </a:lnTo>
                  <a:lnTo>
                    <a:pt x="118" y="51"/>
                  </a:lnTo>
                  <a:lnTo>
                    <a:pt x="125" y="50"/>
                  </a:lnTo>
                  <a:lnTo>
                    <a:pt x="134" y="49"/>
                  </a:lnTo>
                  <a:lnTo>
                    <a:pt x="134" y="24"/>
                  </a:lnTo>
                  <a:lnTo>
                    <a:pt x="134" y="0"/>
                  </a:lnTo>
                  <a:lnTo>
                    <a:pt x="134" y="0"/>
                  </a:lnTo>
                  <a:lnTo>
                    <a:pt x="120" y="1"/>
                  </a:lnTo>
                  <a:lnTo>
                    <a:pt x="107" y="4"/>
                  </a:lnTo>
                  <a:lnTo>
                    <a:pt x="94" y="6"/>
                  </a:lnTo>
                  <a:lnTo>
                    <a:pt x="81" y="11"/>
                  </a:lnTo>
                  <a:lnTo>
                    <a:pt x="69" y="17"/>
                  </a:lnTo>
                  <a:lnTo>
                    <a:pt x="58" y="23"/>
                  </a:lnTo>
                  <a:lnTo>
                    <a:pt x="48" y="31"/>
                  </a:lnTo>
                  <a:lnTo>
                    <a:pt x="39" y="40"/>
                  </a:lnTo>
                  <a:lnTo>
                    <a:pt x="30" y="49"/>
                  </a:lnTo>
                  <a:lnTo>
                    <a:pt x="23" y="60"/>
                  </a:lnTo>
                  <a:lnTo>
                    <a:pt x="16" y="71"/>
                  </a:lnTo>
                  <a:lnTo>
                    <a:pt x="11" y="83"/>
                  </a:lnTo>
                  <a:lnTo>
                    <a:pt x="6" y="95"/>
                  </a:lnTo>
                  <a:lnTo>
                    <a:pt x="2" y="107"/>
                  </a:lnTo>
                  <a:lnTo>
                    <a:pt x="0" y="121"/>
                  </a:lnTo>
                  <a:lnTo>
                    <a:pt x="0" y="134"/>
                  </a:lnTo>
                  <a:lnTo>
                    <a:pt x="0" y="13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>
                <a:latin typeface="+mj-lt"/>
              </a:endParaRPr>
            </a:p>
          </p:txBody>
        </p:sp>
      </p:grpSp>
      <p:cxnSp>
        <p:nvCxnSpPr>
          <p:cNvPr id="46" name="直線單箭頭接點 45"/>
          <p:cNvCxnSpPr/>
          <p:nvPr/>
        </p:nvCxnSpPr>
        <p:spPr>
          <a:xfrm flipV="1">
            <a:off x="4902826" y="3283156"/>
            <a:ext cx="534172" cy="44082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8" idx="3"/>
          </p:cNvCxnSpPr>
          <p:nvPr/>
        </p:nvCxnSpPr>
        <p:spPr>
          <a:xfrm>
            <a:off x="4889261" y="2300904"/>
            <a:ext cx="534555" cy="57799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/>
          <p:cNvSpPr txBox="1"/>
          <p:nvPr/>
        </p:nvSpPr>
        <p:spPr>
          <a:xfrm>
            <a:off x="5240471" y="3446704"/>
            <a:ext cx="1277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 smtClean="0"/>
              <a:t>Feature Retrieval</a:t>
            </a:r>
            <a:endParaRPr lang="zh-TW" altLang="en-US" sz="1000" dirty="0"/>
          </a:p>
        </p:txBody>
      </p:sp>
      <p:cxnSp>
        <p:nvCxnSpPr>
          <p:cNvPr id="54" name="直線單箭頭接點 53"/>
          <p:cNvCxnSpPr/>
          <p:nvPr/>
        </p:nvCxnSpPr>
        <p:spPr>
          <a:xfrm flipV="1">
            <a:off x="6187710" y="3036151"/>
            <a:ext cx="296014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8" name="圖片 7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38" y="2310801"/>
            <a:ext cx="437942" cy="561493"/>
          </a:xfrm>
          <a:prstGeom prst="rect">
            <a:avLst/>
          </a:prstGeom>
        </p:spPr>
      </p:pic>
      <p:grpSp>
        <p:nvGrpSpPr>
          <p:cNvPr id="85" name="群組 84"/>
          <p:cNvGrpSpPr/>
          <p:nvPr/>
        </p:nvGrpSpPr>
        <p:grpSpPr>
          <a:xfrm>
            <a:off x="2812895" y="3398581"/>
            <a:ext cx="720268" cy="703773"/>
            <a:chOff x="1594378" y="2359739"/>
            <a:chExt cx="720268" cy="703773"/>
          </a:xfrm>
        </p:grpSpPr>
        <p:pic>
          <p:nvPicPr>
            <p:cNvPr id="86" name="圖片 8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4378" y="2359739"/>
              <a:ext cx="720268" cy="703773"/>
            </a:xfrm>
            <a:prstGeom prst="rect">
              <a:avLst/>
            </a:prstGeom>
          </p:spPr>
        </p:pic>
        <p:sp>
          <p:nvSpPr>
            <p:cNvPr id="87" name="圓角矩形 86"/>
            <p:cNvSpPr/>
            <p:nvPr/>
          </p:nvSpPr>
          <p:spPr>
            <a:xfrm>
              <a:off x="1816617" y="2585956"/>
              <a:ext cx="271462" cy="269081"/>
            </a:xfrm>
            <a:prstGeom prst="roundRect">
              <a:avLst>
                <a:gd name="adj" fmla="val 516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1782692" y="2581996"/>
              <a:ext cx="3449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 smtClean="0">
                  <a:solidFill>
                    <a:schemeClr val="bg1"/>
                  </a:solidFill>
                </a:rPr>
                <a:t>AI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89" name="文字方塊 88"/>
          <p:cNvSpPr txBox="1"/>
          <p:nvPr/>
        </p:nvSpPr>
        <p:spPr>
          <a:xfrm>
            <a:off x="2808408" y="4072426"/>
            <a:ext cx="7024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AI Model</a:t>
            </a:r>
            <a:endParaRPr lang="zh-TW" altLang="en-US" sz="1000" dirty="0"/>
          </a:p>
        </p:txBody>
      </p:sp>
      <p:cxnSp>
        <p:nvCxnSpPr>
          <p:cNvPr id="90" name="直線單箭頭接點 89"/>
          <p:cNvCxnSpPr/>
          <p:nvPr/>
        </p:nvCxnSpPr>
        <p:spPr>
          <a:xfrm flipV="1">
            <a:off x="3671662" y="3787289"/>
            <a:ext cx="315548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2" name="圖片 9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8920" y="1305662"/>
            <a:ext cx="1485662" cy="1709729"/>
          </a:xfrm>
          <a:prstGeom prst="rect">
            <a:avLst/>
          </a:prstGeom>
        </p:spPr>
      </p:pic>
      <p:pic>
        <p:nvPicPr>
          <p:cNvPr id="93" name="圖片 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8921" y="3112579"/>
            <a:ext cx="1487682" cy="1652980"/>
          </a:xfrm>
          <a:prstGeom prst="rect">
            <a:avLst/>
          </a:prstGeom>
        </p:spPr>
      </p:pic>
      <p:sp>
        <p:nvSpPr>
          <p:cNvPr id="94" name="文字方塊 93"/>
          <p:cNvSpPr txBox="1"/>
          <p:nvPr/>
        </p:nvSpPr>
        <p:spPr>
          <a:xfrm>
            <a:off x="450378" y="2165358"/>
            <a:ext cx="587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1204642</a:t>
            </a:r>
            <a:endParaRPr lang="zh-TW" altLang="en-US" sz="800" dirty="0"/>
          </a:p>
        </p:txBody>
      </p:sp>
      <p:sp>
        <p:nvSpPr>
          <p:cNvPr id="95" name="文字方塊 94"/>
          <p:cNvSpPr txBox="1"/>
          <p:nvPr/>
        </p:nvSpPr>
        <p:spPr>
          <a:xfrm>
            <a:off x="963136" y="2814680"/>
            <a:ext cx="6174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2209056</a:t>
            </a:r>
            <a:endParaRPr lang="zh-TW" altLang="en-US" sz="8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957144" y="2167164"/>
            <a:ext cx="5870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2007122</a:t>
            </a:r>
            <a:endParaRPr lang="zh-TW" altLang="en-US" sz="800" dirty="0"/>
          </a:p>
        </p:txBody>
      </p:sp>
      <p:sp>
        <p:nvSpPr>
          <p:cNvPr id="97" name="文字方塊 96"/>
          <p:cNvSpPr txBox="1"/>
          <p:nvPr/>
        </p:nvSpPr>
        <p:spPr>
          <a:xfrm>
            <a:off x="482514" y="2833924"/>
            <a:ext cx="5597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 smtClean="0"/>
              <a:t>2112027</a:t>
            </a:r>
            <a:endParaRPr lang="zh-TW" altLang="en-US" sz="800" dirty="0"/>
          </a:p>
        </p:txBody>
      </p:sp>
      <p:sp>
        <p:nvSpPr>
          <p:cNvPr id="98" name="矩形 97"/>
          <p:cNvSpPr/>
          <p:nvPr/>
        </p:nvSpPr>
        <p:spPr>
          <a:xfrm>
            <a:off x="416251" y="1595196"/>
            <a:ext cx="1235255" cy="1457334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9" name="直線單箭頭接點 98"/>
          <p:cNvCxnSpPr>
            <a:stCxn id="98" idx="3"/>
            <a:endCxn id="13" idx="1"/>
          </p:cNvCxnSpPr>
          <p:nvPr/>
        </p:nvCxnSpPr>
        <p:spPr>
          <a:xfrm>
            <a:off x="1651506" y="2323863"/>
            <a:ext cx="233981" cy="339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" name="圖片 10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1" y="3381633"/>
            <a:ext cx="2035347" cy="1144883"/>
          </a:xfrm>
          <a:prstGeom prst="rect">
            <a:avLst/>
          </a:prstGeom>
        </p:spPr>
      </p:pic>
      <p:cxnSp>
        <p:nvCxnSpPr>
          <p:cNvPr id="108" name="直線單箭頭接點 107"/>
          <p:cNvCxnSpPr/>
          <p:nvPr/>
        </p:nvCxnSpPr>
        <p:spPr>
          <a:xfrm flipV="1">
            <a:off x="2447981" y="3793363"/>
            <a:ext cx="315548" cy="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文字方塊 108"/>
          <p:cNvSpPr txBox="1"/>
          <p:nvPr/>
        </p:nvSpPr>
        <p:spPr>
          <a:xfrm>
            <a:off x="361196" y="1081076"/>
            <a:ext cx="15119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人臉辨識架構</a:t>
            </a:r>
            <a:endParaRPr lang="zh-TW" altLang="en-US" dirty="0"/>
          </a:p>
        </p:txBody>
      </p:sp>
      <p:sp>
        <p:nvSpPr>
          <p:cNvPr id="110" name="文字方塊 109"/>
          <p:cNvSpPr txBox="1"/>
          <p:nvPr/>
        </p:nvSpPr>
        <p:spPr>
          <a:xfrm>
            <a:off x="3912253" y="1675711"/>
            <a:ext cx="13388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建立人臉特徵資料庫</a:t>
            </a:r>
            <a:endParaRPr lang="zh-TW" altLang="en-US" sz="1000" dirty="0"/>
          </a:p>
        </p:txBody>
      </p:sp>
      <p:pic>
        <p:nvPicPr>
          <p:cNvPr id="111" name="圖片 1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9283" y="1891842"/>
            <a:ext cx="585395" cy="812292"/>
          </a:xfrm>
          <a:prstGeom prst="rect">
            <a:avLst/>
          </a:prstGeom>
        </p:spPr>
      </p:pic>
      <p:sp>
        <p:nvSpPr>
          <p:cNvPr id="112" name="文字方塊 111"/>
          <p:cNvSpPr txBox="1"/>
          <p:nvPr/>
        </p:nvSpPr>
        <p:spPr>
          <a:xfrm>
            <a:off x="3940703" y="4885866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Face Feature</a:t>
            </a:r>
            <a:endParaRPr lang="zh-TW" altLang="en-US" sz="1000" dirty="0"/>
          </a:p>
        </p:txBody>
      </p:sp>
      <p:pic>
        <p:nvPicPr>
          <p:cNvPr id="117" name="圖片 1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8678" y="4020141"/>
            <a:ext cx="696855" cy="886575"/>
          </a:xfrm>
          <a:prstGeom prst="rect">
            <a:avLst/>
          </a:prstGeom>
        </p:spPr>
      </p:pic>
      <p:pic>
        <p:nvPicPr>
          <p:cNvPr id="118" name="圖片 1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9466" y="2993944"/>
            <a:ext cx="701490" cy="982732"/>
          </a:xfrm>
          <a:prstGeom prst="rect">
            <a:avLst/>
          </a:prstGeom>
        </p:spPr>
      </p:pic>
      <p:sp>
        <p:nvSpPr>
          <p:cNvPr id="119" name="文字方塊 118"/>
          <p:cNvSpPr txBox="1"/>
          <p:nvPr/>
        </p:nvSpPr>
        <p:spPr>
          <a:xfrm>
            <a:off x="5234099" y="371659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使用餘弦相似度，</a:t>
            </a:r>
            <a:endParaRPr lang="en-US" altLang="zh-TW" sz="1000" dirty="0" smtClean="0"/>
          </a:p>
          <a:p>
            <a:r>
              <a:rPr lang="zh-TW" altLang="en-US" sz="1000" dirty="0" smtClean="0"/>
              <a:t>找出最相似的人</a:t>
            </a:r>
            <a:endParaRPr lang="zh-TW" altLang="en-US" sz="1000" dirty="0"/>
          </a:p>
        </p:txBody>
      </p:sp>
      <p:grpSp>
        <p:nvGrpSpPr>
          <p:cNvPr id="122" name="群組 121"/>
          <p:cNvGrpSpPr/>
          <p:nvPr/>
        </p:nvGrpSpPr>
        <p:grpSpPr>
          <a:xfrm>
            <a:off x="2022804" y="824674"/>
            <a:ext cx="1545957" cy="835242"/>
            <a:chOff x="4510720" y="425078"/>
            <a:chExt cx="1734191" cy="936940"/>
          </a:xfrm>
        </p:grpSpPr>
        <p:pic>
          <p:nvPicPr>
            <p:cNvPr id="3074" name="Picture 2" descr="https://www.khanhtoan.com/images/products/202485106391.jpg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0720" y="425078"/>
              <a:ext cx="772103" cy="7721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文字方塊 119"/>
            <p:cNvSpPr txBox="1"/>
            <p:nvPr/>
          </p:nvSpPr>
          <p:spPr>
            <a:xfrm>
              <a:off x="5154548" y="651811"/>
              <a:ext cx="282450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+</a:t>
              </a:r>
              <a:endParaRPr lang="zh-TW" altLang="en-US" dirty="0"/>
            </a:p>
          </p:txBody>
        </p:sp>
        <p:sp>
          <p:nvSpPr>
            <p:cNvPr id="121" name="文字方塊 120"/>
            <p:cNvSpPr txBox="1"/>
            <p:nvPr/>
          </p:nvSpPr>
          <p:spPr>
            <a:xfrm>
              <a:off x="4563298" y="1073747"/>
              <a:ext cx="7457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 smtClean="0"/>
                <a:t>webcam</a:t>
              </a:r>
              <a:endParaRPr lang="zh-TW" altLang="en-US" sz="1000" dirty="0"/>
            </a:p>
          </p:txBody>
        </p:sp>
        <p:pic>
          <p:nvPicPr>
            <p:cNvPr id="123" name="圖片 122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6748" y="482351"/>
              <a:ext cx="391733" cy="605597"/>
            </a:xfrm>
            <a:prstGeom prst="rect">
              <a:avLst/>
            </a:prstGeom>
          </p:spPr>
        </p:pic>
        <p:sp>
          <p:nvSpPr>
            <p:cNvPr id="124" name="文字方塊 123"/>
            <p:cNvSpPr txBox="1"/>
            <p:nvPr/>
          </p:nvSpPr>
          <p:spPr>
            <a:xfrm>
              <a:off x="5444692" y="1085019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000" dirty="0" smtClean="0"/>
                <a:t>辨識主機</a:t>
              </a:r>
              <a:endParaRPr lang="zh-TW" altLang="en-US" sz="1000" dirty="0"/>
            </a:p>
          </p:txBody>
        </p:sp>
      </p:grpSp>
      <p:sp>
        <p:nvSpPr>
          <p:cNvPr id="126" name="文字方塊 125"/>
          <p:cNvSpPr txBox="1"/>
          <p:nvPr/>
        </p:nvSpPr>
        <p:spPr>
          <a:xfrm>
            <a:off x="627223" y="1383559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資料庫照片</a:t>
            </a:r>
            <a:endParaRPr lang="zh-TW" altLang="en-US" sz="1000" dirty="0"/>
          </a:p>
        </p:txBody>
      </p:sp>
      <p:sp>
        <p:nvSpPr>
          <p:cNvPr id="127" name="文字方塊 126"/>
          <p:cNvSpPr txBox="1"/>
          <p:nvPr/>
        </p:nvSpPr>
        <p:spPr>
          <a:xfrm>
            <a:off x="953879" y="4526516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目標照片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3648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圖片 4" descr="image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-12700"/>
            <a:ext cx="9169400" cy="5171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07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圓角矩形 5"/>
          <p:cNvSpPr/>
          <p:nvPr/>
        </p:nvSpPr>
        <p:spPr>
          <a:xfrm>
            <a:off x="160231" y="1654536"/>
            <a:ext cx="2569620" cy="2283139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138435" y="4204354"/>
            <a:ext cx="8857987" cy="718166"/>
          </a:xfrm>
          <a:prstGeom prst="roundRect">
            <a:avLst>
              <a:gd name="adj" fmla="val 23754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985028" y="1640543"/>
            <a:ext cx="6011395" cy="2297132"/>
          </a:xfrm>
          <a:prstGeom prst="roundRect">
            <a:avLst>
              <a:gd name="adj" fmla="val 722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endParaRPr lang="en-US" altLang="zh-TW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  <a:p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標題 1"/>
          <p:cNvSpPr>
            <a:spLocks noGrp="1"/>
          </p:cNvSpPr>
          <p:nvPr/>
        </p:nvSpPr>
        <p:spPr>
          <a:xfrm>
            <a:off x="42668" y="69578"/>
            <a:ext cx="7032507" cy="8128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/>
              <a:t>Packer</a:t>
            </a:r>
            <a:r>
              <a:rPr lang="zh-TW" altLang="en-US" dirty="0" smtClean="0"/>
              <a:t>異物檢</a:t>
            </a:r>
            <a:endParaRPr lang="zh-TW" altLang="en-US" dirty="0">
              <a:latin typeface="Bahnschrift" panose="020B0502040204020203" pitchFamily="34" charset="0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138435" y="775405"/>
            <a:ext cx="8857989" cy="654177"/>
          </a:xfrm>
          <a:prstGeom prst="roundRect">
            <a:avLst>
              <a:gd name="adj" fmla="val 1637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>
                <a:solidFill>
                  <a:srgbClr val="0000FF"/>
                </a:solidFill>
                <a:latin typeface="Bahnschrift" panose="020B0502040204020203" pitchFamily="34" charset="0"/>
              </a:rPr>
              <a:t> </a:t>
            </a:r>
            <a:endParaRPr lang="zh-TW" altLang="en-US" sz="14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297658" y="606223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目標</a:t>
            </a:r>
          </a:p>
        </p:txBody>
      </p:sp>
      <p:sp>
        <p:nvSpPr>
          <p:cNvPr id="10" name="圓角矩形 9"/>
          <p:cNvSpPr/>
          <p:nvPr/>
        </p:nvSpPr>
        <p:spPr>
          <a:xfrm>
            <a:off x="324976" y="1482145"/>
            <a:ext cx="1610978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 smtClean="0">
                <a:solidFill>
                  <a:srgbClr val="FFFFFF"/>
                </a:solidFill>
              </a:rPr>
              <a:t>分工</a:t>
            </a:r>
            <a:endParaRPr lang="zh-TW" altLang="en-US" dirty="0">
              <a:solidFill>
                <a:srgbClr val="FFFFFF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3088462" y="1482145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進度</a:t>
            </a:r>
          </a:p>
        </p:txBody>
      </p:sp>
      <p:sp>
        <p:nvSpPr>
          <p:cNvPr id="21" name="圓角矩形 20"/>
          <p:cNvSpPr/>
          <p:nvPr/>
        </p:nvSpPr>
        <p:spPr>
          <a:xfrm>
            <a:off x="297657" y="3993897"/>
            <a:ext cx="1632773" cy="30941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dirty="0">
                <a:solidFill>
                  <a:srgbClr val="FFFFFF"/>
                </a:solidFill>
              </a:rPr>
              <a:t>效益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177398" y="915638"/>
            <a:ext cx="881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 smtClean="0"/>
              <a:t>在</a:t>
            </a:r>
            <a:r>
              <a:rPr lang="en-US" altLang="zh-TW" dirty="0" smtClean="0"/>
              <a:t>Packer</a:t>
            </a:r>
            <a:r>
              <a:rPr lang="zh-TW" altLang="en-US" dirty="0" smtClean="0"/>
              <a:t>區建立異物辨識系統，</a:t>
            </a:r>
            <a:r>
              <a:rPr lang="zh-TW" altLang="en-US" sz="1400" dirty="0" smtClean="0"/>
              <a:t>辨識</a:t>
            </a:r>
            <a:r>
              <a:rPr lang="zh-TW" altLang="zh-TW" sz="1400" dirty="0"/>
              <a:t>餌料</a:t>
            </a:r>
            <a:r>
              <a:rPr lang="en-US" altLang="zh-TW" sz="1400" dirty="0"/>
              <a:t>/</a:t>
            </a:r>
            <a:r>
              <a:rPr lang="zh-TW" altLang="en-US" sz="1400" dirty="0"/>
              <a:t>束帶</a:t>
            </a:r>
            <a:r>
              <a:rPr lang="en-US" altLang="zh-TW" sz="1400" dirty="0"/>
              <a:t>/</a:t>
            </a:r>
            <a:r>
              <a:rPr lang="zh-TW" altLang="en-US" sz="1400" dirty="0" smtClean="0"/>
              <a:t>螺絲等</a:t>
            </a:r>
            <a:r>
              <a:rPr lang="zh-TW" altLang="zh-TW" sz="1400" dirty="0"/>
              <a:t>殘留</a:t>
            </a:r>
            <a:r>
              <a:rPr lang="zh-TW" altLang="en-US" sz="1400" dirty="0"/>
              <a:t>物是否存在於</a:t>
            </a:r>
            <a:r>
              <a:rPr lang="en-US" altLang="zh-TW" sz="1400" dirty="0"/>
              <a:t>PPBOX</a:t>
            </a:r>
            <a:r>
              <a:rPr lang="zh-TW" altLang="en-US" sz="1400" dirty="0" smtClean="0"/>
              <a:t>內，即時停止</a:t>
            </a:r>
            <a:r>
              <a:rPr lang="en-US" altLang="zh-TW" sz="1400" dirty="0" smtClean="0"/>
              <a:t>Robot</a:t>
            </a:r>
            <a:r>
              <a:rPr lang="zh-TW" altLang="en-US" sz="1400" dirty="0" smtClean="0"/>
              <a:t>，避免客訴</a:t>
            </a:r>
            <a:endParaRPr lang="en-US" altLang="zh-TW" sz="1400" dirty="0"/>
          </a:p>
        </p:txBody>
      </p:sp>
      <p:sp>
        <p:nvSpPr>
          <p:cNvPr id="72" name="矩形 71"/>
          <p:cNvSpPr/>
          <p:nvPr/>
        </p:nvSpPr>
        <p:spPr>
          <a:xfrm>
            <a:off x="415408" y="4411256"/>
            <a:ext cx="64346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評估</a:t>
            </a:r>
            <a:r>
              <a:rPr lang="zh-TW" altLang="en-US" sz="1200" dirty="0"/>
              <a:t>中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236868" y="1874377"/>
            <a:ext cx="19864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sym typeface="Wingdings" panose="05000000000000000000" pitchFamily="2" charset="2"/>
              </a:rPr>
              <a:t>辨識系統開發：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宗賢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照片收集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AI</a:t>
            </a:r>
            <a:r>
              <a:rPr lang="zh-TW" altLang="en-US" sz="1200" dirty="0" smtClean="0"/>
              <a:t>模型訓練</a:t>
            </a:r>
            <a:r>
              <a:rPr lang="en-US" altLang="zh-TW" sz="1200" dirty="0" smtClean="0"/>
              <a:t>/</a:t>
            </a:r>
            <a:r>
              <a:rPr lang="zh-TW" altLang="en-US" sz="1200" dirty="0" smtClean="0"/>
              <a:t>測試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PC</a:t>
            </a:r>
            <a:r>
              <a:rPr lang="zh-TW" altLang="en-US" sz="1200" dirty="0" smtClean="0"/>
              <a:t> </a:t>
            </a:r>
            <a:r>
              <a:rPr lang="en-US" altLang="zh-TW" sz="1200" dirty="0" smtClean="0"/>
              <a:t>AI</a:t>
            </a:r>
            <a:r>
              <a:rPr lang="zh-TW" altLang="en-US" sz="1200" dirty="0" smtClean="0"/>
              <a:t>環境安裝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硬體安</a:t>
            </a:r>
            <a:r>
              <a:rPr lang="zh-TW" altLang="en-US" sz="1200" dirty="0"/>
              <a:t>裝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TW" sz="1200" dirty="0" smtClean="0"/>
          </a:p>
        </p:txBody>
      </p:sp>
      <p:sp>
        <p:nvSpPr>
          <p:cNvPr id="20" name="圓角矩形 19"/>
          <p:cNvSpPr/>
          <p:nvPr/>
        </p:nvSpPr>
        <p:spPr>
          <a:xfrm>
            <a:off x="2729851" y="158076"/>
            <a:ext cx="1000641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AM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：林宗賢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702166" y="1665328"/>
            <a:ext cx="973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系統流程</a:t>
            </a:r>
            <a:endParaRPr lang="zh-TW" altLang="en-US" sz="1200" dirty="0"/>
          </a:p>
        </p:txBody>
      </p:sp>
      <p:sp>
        <p:nvSpPr>
          <p:cNvPr id="29" name="圓角矩形 28"/>
          <p:cNvSpPr/>
          <p:nvPr/>
        </p:nvSpPr>
        <p:spPr>
          <a:xfrm>
            <a:off x="2729851" y="374887"/>
            <a:ext cx="1000641" cy="190163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C2</a:t>
            </a:r>
            <a:r>
              <a:rPr lang="zh-TW" altLang="en-US" sz="1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：陳弘育</a:t>
            </a:r>
            <a:endParaRPr lang="zh-TW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29826" y="2867886"/>
            <a:ext cx="17684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200" dirty="0" smtClean="0">
                <a:sym typeface="Wingdings" panose="05000000000000000000" pitchFamily="2" charset="2"/>
              </a:rPr>
              <a:t>硬體</a:t>
            </a:r>
            <a:r>
              <a:rPr lang="en-US" altLang="zh-TW" sz="1200" dirty="0" smtClean="0">
                <a:sym typeface="Wingdings" panose="05000000000000000000" pitchFamily="2" charset="2"/>
              </a:rPr>
              <a:t>/PLC</a:t>
            </a:r>
            <a:r>
              <a:rPr lang="zh-TW" altLang="en-US" sz="1200" dirty="0" smtClean="0">
                <a:sym typeface="Wingdings" panose="05000000000000000000" pitchFamily="2" charset="2"/>
              </a:rPr>
              <a:t>：</a:t>
            </a:r>
            <a:r>
              <a:rPr lang="en-US" altLang="zh-TW" sz="1200" dirty="0" smtClean="0">
                <a:sym typeface="Wingdings" panose="05000000000000000000" pitchFamily="2" charset="2"/>
              </a:rPr>
              <a:t>(</a:t>
            </a:r>
            <a:r>
              <a:rPr lang="zh-TW" altLang="en-US" sz="1200" dirty="0" smtClean="0">
                <a:sym typeface="Wingdings" panose="05000000000000000000" pitchFamily="2" charset="2"/>
              </a:rPr>
              <a:t>弘</a:t>
            </a:r>
            <a:r>
              <a:rPr lang="zh-TW" altLang="en-US" sz="1200" dirty="0">
                <a:sym typeface="Wingdings" panose="05000000000000000000" pitchFamily="2" charset="2"/>
              </a:rPr>
              <a:t>育</a:t>
            </a:r>
            <a:r>
              <a:rPr lang="en-US" altLang="zh-TW" sz="1200" dirty="0" smtClean="0">
                <a:sym typeface="Wingdings" panose="05000000000000000000" pitchFamily="2" charset="2"/>
              </a:rPr>
              <a:t>)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照片收集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硬體採</a:t>
            </a:r>
            <a:r>
              <a:rPr lang="zh-TW" altLang="en-US" sz="1200" dirty="0"/>
              <a:t>購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sz="1200" dirty="0" smtClean="0"/>
              <a:t>PLC</a:t>
            </a:r>
            <a:r>
              <a:rPr lang="zh-TW" altLang="en-US" sz="1200" dirty="0" smtClean="0"/>
              <a:t>通訊</a:t>
            </a:r>
            <a:endParaRPr lang="en-US" altLang="zh-TW" sz="12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sz="1200" dirty="0" smtClean="0"/>
              <a:t>硬體安</a:t>
            </a:r>
            <a:r>
              <a:rPr lang="zh-TW" altLang="en-US" sz="1200" dirty="0"/>
              <a:t>裝</a:t>
            </a:r>
            <a:endParaRPr lang="en-US" altLang="zh-TW" sz="1200" dirty="0" smtClean="0"/>
          </a:p>
        </p:txBody>
      </p:sp>
      <p:grpSp>
        <p:nvGrpSpPr>
          <p:cNvPr id="2" name="群組 1"/>
          <p:cNvGrpSpPr/>
          <p:nvPr/>
        </p:nvGrpSpPr>
        <p:grpSpPr>
          <a:xfrm>
            <a:off x="4872814" y="1956732"/>
            <a:ext cx="3954411" cy="706005"/>
            <a:chOff x="4633329" y="2271238"/>
            <a:chExt cx="4426864" cy="706005"/>
          </a:xfrm>
        </p:grpSpPr>
        <p:sp>
          <p:nvSpPr>
            <p:cNvPr id="31" name="矩形 30"/>
            <p:cNvSpPr/>
            <p:nvPr/>
          </p:nvSpPr>
          <p:spPr>
            <a:xfrm>
              <a:off x="4633329" y="2295979"/>
              <a:ext cx="607514" cy="475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Robot</a:t>
              </a:r>
            </a:p>
            <a:p>
              <a:pPr algn="ctr"/>
              <a:r>
                <a:rPr lang="zh-TW" altLang="en-US" sz="800" dirty="0" smtClean="0"/>
                <a:t>放完片</a:t>
              </a:r>
              <a:endParaRPr lang="zh-TW" altLang="en-US" sz="800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6367853" y="2295979"/>
              <a:ext cx="607514" cy="475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CCD</a:t>
              </a:r>
            </a:p>
            <a:p>
              <a:pPr algn="ctr"/>
              <a:r>
                <a:rPr lang="zh-TW" altLang="en-US" sz="800" dirty="0" smtClean="0"/>
                <a:t>拍照</a:t>
              </a:r>
              <a:endParaRPr lang="zh-TW" altLang="en-US" sz="800" dirty="0"/>
            </a:p>
          </p:txBody>
        </p:sp>
        <p:cxnSp>
          <p:nvCxnSpPr>
            <p:cNvPr id="33" name="直線單箭頭接點 32"/>
            <p:cNvCxnSpPr>
              <a:stCxn id="31" idx="3"/>
              <a:endCxn id="34" idx="1"/>
            </p:cNvCxnSpPr>
            <p:nvPr/>
          </p:nvCxnSpPr>
          <p:spPr>
            <a:xfrm>
              <a:off x="5240843" y="2533664"/>
              <a:ext cx="209257" cy="10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5450100" y="2296992"/>
              <a:ext cx="707034" cy="475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PLC</a:t>
              </a:r>
            </a:p>
            <a:p>
              <a:pPr algn="ctr"/>
              <a:r>
                <a:rPr lang="zh-TW" altLang="en-US" sz="800" dirty="0" smtClean="0"/>
                <a:t>通知拍照</a:t>
              </a:r>
              <a:endParaRPr lang="zh-TW" altLang="en-US" sz="800" dirty="0"/>
            </a:p>
          </p:txBody>
        </p:sp>
        <p:cxnSp>
          <p:nvCxnSpPr>
            <p:cNvPr id="35" name="直線單箭頭接點 34"/>
            <p:cNvCxnSpPr>
              <a:stCxn id="34" idx="3"/>
              <a:endCxn id="32" idx="1"/>
            </p:cNvCxnSpPr>
            <p:nvPr/>
          </p:nvCxnSpPr>
          <p:spPr>
            <a:xfrm flipV="1">
              <a:off x="6157134" y="2533664"/>
              <a:ext cx="210719" cy="10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7237537" y="2295979"/>
              <a:ext cx="722032" cy="475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800" dirty="0" smtClean="0"/>
                <a:t>異物辨識</a:t>
              </a:r>
              <a:r>
                <a:rPr lang="en-US" altLang="zh-TW" sz="800" dirty="0" smtClean="0"/>
                <a:t>(OK/NG)</a:t>
              </a:r>
              <a:endParaRPr lang="zh-TW" altLang="en-US" sz="800" dirty="0"/>
            </a:p>
          </p:txBody>
        </p:sp>
        <p:cxnSp>
          <p:nvCxnSpPr>
            <p:cNvPr id="39" name="直線單箭頭接點 38"/>
            <p:cNvCxnSpPr>
              <a:stCxn id="32" idx="3"/>
              <a:endCxn id="36" idx="1"/>
            </p:cNvCxnSpPr>
            <p:nvPr/>
          </p:nvCxnSpPr>
          <p:spPr>
            <a:xfrm>
              <a:off x="6975367" y="2533664"/>
              <a:ext cx="26217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/>
            <p:cNvSpPr/>
            <p:nvPr/>
          </p:nvSpPr>
          <p:spPr>
            <a:xfrm>
              <a:off x="8227695" y="2295979"/>
              <a:ext cx="832498" cy="475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/>
                <a:t>Robot PLC Alarm</a:t>
              </a:r>
              <a:endParaRPr lang="zh-TW" altLang="en-US" sz="800" dirty="0"/>
            </a:p>
          </p:txBody>
        </p:sp>
        <p:cxnSp>
          <p:nvCxnSpPr>
            <p:cNvPr id="41" name="直線單箭頭接點 40"/>
            <p:cNvCxnSpPr>
              <a:stCxn id="36" idx="3"/>
              <a:endCxn id="40" idx="1"/>
            </p:cNvCxnSpPr>
            <p:nvPr/>
          </p:nvCxnSpPr>
          <p:spPr>
            <a:xfrm>
              <a:off x="7959569" y="2533664"/>
              <a:ext cx="2681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肘形接點 41"/>
            <p:cNvCxnSpPr>
              <a:stCxn id="36" idx="2"/>
              <a:endCxn id="31" idx="2"/>
            </p:cNvCxnSpPr>
            <p:nvPr/>
          </p:nvCxnSpPr>
          <p:spPr>
            <a:xfrm rot="5400000">
              <a:off x="6267820" y="1440615"/>
              <a:ext cx="12700" cy="2661467"/>
            </a:xfrm>
            <a:prstGeom prst="bentConnector3">
              <a:avLst>
                <a:gd name="adj1" fmla="val 126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/>
            <p:cNvSpPr txBox="1"/>
            <p:nvPr/>
          </p:nvSpPr>
          <p:spPr>
            <a:xfrm>
              <a:off x="7901913" y="2271238"/>
              <a:ext cx="3433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smtClean="0"/>
                <a:t>NG</a:t>
              </a:r>
              <a:endParaRPr lang="zh-TW" altLang="en-US" sz="800" dirty="0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7551875" y="2761799"/>
              <a:ext cx="33695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smtClean="0"/>
                <a:t>OK</a:t>
              </a:r>
              <a:endParaRPr lang="zh-TW" altLang="en-US" sz="800" dirty="0"/>
            </a:p>
          </p:txBody>
        </p:sp>
      </p:grpSp>
      <p:pic>
        <p:nvPicPr>
          <p:cNvPr id="45" name="圖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599" y="2750791"/>
            <a:ext cx="1800901" cy="1085792"/>
          </a:xfrm>
          <a:prstGeom prst="rect">
            <a:avLst/>
          </a:prstGeom>
        </p:spPr>
      </p:pic>
      <p:grpSp>
        <p:nvGrpSpPr>
          <p:cNvPr id="46" name="群組 45"/>
          <p:cNvGrpSpPr/>
          <p:nvPr/>
        </p:nvGrpSpPr>
        <p:grpSpPr>
          <a:xfrm rot="579997">
            <a:off x="5155629" y="2837836"/>
            <a:ext cx="288164" cy="313543"/>
            <a:chOff x="7273182" y="373894"/>
            <a:chExt cx="504729" cy="549181"/>
          </a:xfrm>
          <a:solidFill>
            <a:schemeClr val="accent1"/>
          </a:solidFill>
        </p:grpSpPr>
        <p:grpSp>
          <p:nvGrpSpPr>
            <p:cNvPr id="47" name="群組 46"/>
            <p:cNvGrpSpPr/>
            <p:nvPr/>
          </p:nvGrpSpPr>
          <p:grpSpPr>
            <a:xfrm rot="19022223">
              <a:off x="7273182" y="373894"/>
              <a:ext cx="205364" cy="337310"/>
              <a:chOff x="4454702" y="468067"/>
              <a:chExt cx="205364" cy="337310"/>
            </a:xfrm>
            <a:grpFill/>
          </p:grpSpPr>
          <p:sp>
            <p:nvSpPr>
              <p:cNvPr id="49" name="矩形 48">
                <a:extLst>
                  <a:ext uri="{FF2B5EF4-FFF2-40B4-BE49-F238E27FC236}">
                    <a16:creationId xmlns="" xmlns:a16="http://schemas.microsoft.com/office/drawing/2014/main" id="{F53BCA71-731B-4E2A-8E11-78229C009457}"/>
                  </a:ext>
                </a:extLst>
              </p:cNvPr>
              <p:cNvSpPr/>
              <p:nvPr/>
            </p:nvSpPr>
            <p:spPr>
              <a:xfrm>
                <a:off x="4454702" y="468067"/>
                <a:ext cx="205364" cy="27569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="" xmlns:a16="http://schemas.microsoft.com/office/drawing/2014/main" id="{C66D3C04-734C-474A-B690-6D3F03E90568}"/>
                  </a:ext>
                </a:extLst>
              </p:cNvPr>
              <p:cNvSpPr/>
              <p:nvPr/>
            </p:nvSpPr>
            <p:spPr>
              <a:xfrm>
                <a:off x="4504331" y="718104"/>
                <a:ext cx="106105" cy="872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+mn-cs"/>
                </a:endParaRPr>
              </a:p>
            </p:txBody>
          </p:sp>
        </p:grpSp>
        <p:cxnSp>
          <p:nvCxnSpPr>
            <p:cNvPr id="48" name="直線單箭頭接點 47"/>
            <p:cNvCxnSpPr/>
            <p:nvPr/>
          </p:nvCxnSpPr>
          <p:spPr>
            <a:xfrm rot="16451876" flipH="1">
              <a:off x="7535223" y="680386"/>
              <a:ext cx="222910" cy="262467"/>
            </a:xfrm>
            <a:prstGeom prst="straightConnector1">
              <a:avLst/>
            </a:prstGeom>
            <a:grpFill/>
            <a:ln>
              <a:solidFill>
                <a:schemeClr val="accent1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2" name="圖片 5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6" r="12372" b="7127"/>
          <a:stretch/>
        </p:blipFill>
        <p:spPr>
          <a:xfrm>
            <a:off x="6821196" y="2739459"/>
            <a:ext cx="1002860" cy="1087853"/>
          </a:xfrm>
          <a:prstGeom prst="rect">
            <a:avLst/>
          </a:prstGeom>
        </p:spPr>
      </p:pic>
      <p:sp>
        <p:nvSpPr>
          <p:cNvPr id="53" name="矩形 52"/>
          <p:cNvSpPr/>
          <p:nvPr/>
        </p:nvSpPr>
        <p:spPr>
          <a:xfrm>
            <a:off x="7134841" y="2973841"/>
            <a:ext cx="202020" cy="5194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/>
        </p:nvSpPr>
        <p:spPr>
          <a:xfrm>
            <a:off x="7495958" y="2890304"/>
            <a:ext cx="167463" cy="1764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/>
        </p:nvSpPr>
        <p:spPr>
          <a:xfrm>
            <a:off x="7507242" y="3137955"/>
            <a:ext cx="168924" cy="2183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文字方塊 55"/>
          <p:cNvSpPr txBox="1"/>
          <p:nvPr/>
        </p:nvSpPr>
        <p:spPr>
          <a:xfrm>
            <a:off x="7295423" y="3440374"/>
            <a:ext cx="528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>
                <a:solidFill>
                  <a:srgbClr val="FF0000"/>
                </a:solidFill>
              </a:rPr>
              <a:t>餌</a:t>
            </a:r>
            <a:r>
              <a:rPr lang="zh-TW" altLang="en-US" sz="1200" dirty="0">
                <a:solidFill>
                  <a:srgbClr val="FF0000"/>
                </a:solidFill>
              </a:rPr>
              <a:t>料</a:t>
            </a:r>
          </a:p>
        </p:txBody>
      </p:sp>
      <p:graphicFrame>
        <p:nvGraphicFramePr>
          <p:cNvPr id="61" name="表格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81856"/>
              </p:ext>
            </p:extLst>
          </p:nvPr>
        </p:nvGraphicFramePr>
        <p:xfrm>
          <a:off x="3046412" y="1893939"/>
          <a:ext cx="1688700" cy="1922130"/>
        </p:xfrm>
        <a:graphic>
          <a:graphicData uri="http://schemas.openxmlformats.org/drawingml/2006/table">
            <a:tbl>
              <a:tblPr/>
              <a:tblGrid>
                <a:gridCol w="275908"/>
                <a:gridCol w="1059541"/>
                <a:gridCol w="353251"/>
              </a:tblGrid>
              <a:tr h="18228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硬體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IPCam&amp;Switch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採購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28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PC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採購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28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硬體安裝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系統開發</a:t>
                      </a:r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照片收集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AI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模型訓練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測試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PC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AI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環境安裝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辨識邏輯開發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PLC</a:t>
                      </a: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通訊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系統部署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6470">
                <a:tc vMerge="1">
                  <a:txBody>
                    <a:bodyPr/>
                    <a:lstStyle/>
                    <a:p>
                      <a:pPr algn="ctr" fontAlgn="ctr"/>
                      <a:endParaRPr lang="en-US" altLang="zh-TW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上線測試</a:t>
                      </a: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0%</a:t>
                      </a:r>
                      <a:endParaRPr lang="zh-TW" altLang="en-US" sz="800" b="0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642" marR="8642" marT="8642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60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圓角矩形 24"/>
          <p:cNvSpPr/>
          <p:nvPr/>
        </p:nvSpPr>
        <p:spPr>
          <a:xfrm>
            <a:off x="3403710" y="835966"/>
            <a:ext cx="2122957" cy="4117378"/>
          </a:xfrm>
          <a:prstGeom prst="roundRect">
            <a:avLst>
              <a:gd name="adj" fmla="val 2198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圓角矩形 16"/>
          <p:cNvSpPr/>
          <p:nvPr/>
        </p:nvSpPr>
        <p:spPr>
          <a:xfrm>
            <a:off x="5535250" y="826718"/>
            <a:ext cx="3425870" cy="4152378"/>
          </a:xfrm>
          <a:prstGeom prst="roundRect">
            <a:avLst>
              <a:gd name="adj" fmla="val 2198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照片收集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-41749" y="882637"/>
            <a:ext cx="351410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三腳架</a:t>
            </a:r>
            <a:r>
              <a:rPr lang="en-US" altLang="zh-TW" dirty="0" smtClean="0"/>
              <a:t>+</a:t>
            </a:r>
            <a:r>
              <a:rPr lang="zh-TW" altLang="en-US" dirty="0" smtClean="0"/>
              <a:t>數位相機人工模擬異物情形拍照</a:t>
            </a:r>
            <a:endParaRPr lang="en-US" altLang="zh-TW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884" y="1182719"/>
            <a:ext cx="969015" cy="117896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883" y="2455029"/>
            <a:ext cx="972620" cy="118335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010" y="1182719"/>
            <a:ext cx="969016" cy="1178968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137" y="1182719"/>
            <a:ext cx="1049767" cy="1178968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136" y="2455029"/>
            <a:ext cx="1053673" cy="118335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011" y="2455029"/>
            <a:ext cx="969016" cy="118335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915" y="3731725"/>
            <a:ext cx="964983" cy="108375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009" y="3731725"/>
            <a:ext cx="969016" cy="1088280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136" y="3731726"/>
            <a:ext cx="1049768" cy="1083750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5585354" y="835966"/>
            <a:ext cx="11176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NG(</a:t>
            </a:r>
            <a:r>
              <a:rPr lang="zh-TW" altLang="en-US" dirty="0" smtClean="0"/>
              <a:t>有異物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410" y="1170176"/>
            <a:ext cx="969015" cy="1178968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409" y="2455029"/>
            <a:ext cx="969015" cy="1178968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408" y="3743964"/>
            <a:ext cx="969015" cy="1088279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491" y="1182719"/>
            <a:ext cx="883070" cy="1166425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968" y="2458123"/>
            <a:ext cx="883998" cy="1175873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968" y="3743964"/>
            <a:ext cx="887862" cy="1071511"/>
          </a:xfrm>
          <a:prstGeom prst="rect">
            <a:avLst/>
          </a:prstGeom>
        </p:spPr>
      </p:pic>
      <p:sp>
        <p:nvSpPr>
          <p:cNvPr id="26" name="文字方塊 25"/>
          <p:cNvSpPr txBox="1"/>
          <p:nvPr/>
        </p:nvSpPr>
        <p:spPr>
          <a:xfrm>
            <a:off x="3461153" y="846759"/>
            <a:ext cx="11063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OK(</a:t>
            </a:r>
            <a:r>
              <a:rPr lang="zh-TW" altLang="en-US" dirty="0"/>
              <a:t>無</a:t>
            </a:r>
            <a:r>
              <a:rPr lang="zh-TW" altLang="en-US" dirty="0" smtClean="0"/>
              <a:t>異物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/>
          </p:nvPr>
        </p:nvGraphicFramePr>
        <p:xfrm>
          <a:off x="478148" y="1500054"/>
          <a:ext cx="1337307" cy="861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02"/>
                <a:gridCol w="610405"/>
              </a:tblGrid>
              <a:tr h="312993"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類別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張數</a:t>
                      </a:r>
                      <a:endParaRPr lang="zh-TW" altLang="en-US" sz="1200" dirty="0"/>
                    </a:p>
                  </a:txBody>
                  <a:tcPr/>
                </a:tc>
              </a:tr>
              <a:tr h="234316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OK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35</a:t>
                      </a:r>
                      <a:endParaRPr lang="zh-TW" altLang="en-US" sz="1200" dirty="0"/>
                    </a:p>
                  </a:txBody>
                  <a:tcPr/>
                </a:tc>
              </a:tr>
              <a:tr h="234316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NG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129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853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977" y="964503"/>
            <a:ext cx="3963830" cy="3475974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272961" y="1849975"/>
          <a:ext cx="3815702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02"/>
                <a:gridCol w="610405"/>
                <a:gridCol w="698297"/>
                <a:gridCol w="563298"/>
                <a:gridCol w="518400"/>
                <a:gridCol w="698400"/>
              </a:tblGrid>
              <a:tr h="312993"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類別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訓練張數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驗證</a:t>
                      </a:r>
                      <a:endParaRPr lang="en-US" altLang="zh-TW" sz="1200" dirty="0" smtClean="0"/>
                    </a:p>
                    <a:p>
                      <a:r>
                        <a:rPr lang="zh-TW" altLang="en-US" sz="1200" dirty="0" smtClean="0"/>
                        <a:t>張數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正確</a:t>
                      </a:r>
                      <a:endParaRPr lang="en-US" altLang="zh-TW" sz="1200" dirty="0" smtClean="0"/>
                    </a:p>
                    <a:p>
                      <a:r>
                        <a:rPr lang="zh-TW" altLang="en-US" sz="1200" dirty="0" smtClean="0"/>
                        <a:t>張數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錯誤</a:t>
                      </a:r>
                      <a:endParaRPr lang="en-US" altLang="zh-TW" sz="1200" dirty="0" smtClean="0"/>
                    </a:p>
                    <a:p>
                      <a:r>
                        <a:rPr lang="zh-TW" altLang="en-US" sz="1200" dirty="0" smtClean="0"/>
                        <a:t>張數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200" dirty="0" smtClean="0"/>
                        <a:t>準確率</a:t>
                      </a:r>
                      <a:endParaRPr lang="zh-TW" altLang="en-US" sz="1200" dirty="0"/>
                    </a:p>
                  </a:txBody>
                  <a:tcPr/>
                </a:tc>
              </a:tr>
              <a:tr h="234316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OK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9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100%</a:t>
                      </a:r>
                      <a:endParaRPr lang="zh-TW" altLang="en-US" sz="1200" dirty="0"/>
                    </a:p>
                  </a:txBody>
                  <a:tcPr/>
                </a:tc>
              </a:tr>
              <a:tr h="234316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NG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117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100%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22804" y="1215814"/>
            <a:ext cx="216918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模型</a:t>
            </a:r>
            <a:r>
              <a:rPr lang="en-US" altLang="zh-TW" dirty="0" smtClean="0"/>
              <a:t>:</a:t>
            </a:r>
            <a:r>
              <a:rPr lang="zh-TW" altLang="en-US" dirty="0" smtClean="0"/>
              <a:t> </a:t>
            </a:r>
            <a:r>
              <a:rPr lang="en-US" altLang="zh-TW" dirty="0" smtClean="0"/>
              <a:t>EfficientNet-B0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整體準確度</a:t>
            </a:r>
            <a:r>
              <a:rPr lang="en-US" altLang="zh-TW" dirty="0" smtClean="0"/>
              <a:t>: 100%</a:t>
            </a:r>
          </a:p>
        </p:txBody>
      </p:sp>
      <p:sp>
        <p:nvSpPr>
          <p:cNvPr id="9" name="標題 1"/>
          <p:cNvSpPr>
            <a:spLocks noGrp="1"/>
          </p:cNvSpPr>
          <p:nvPr>
            <p:ph type="ctrTitle"/>
          </p:nvPr>
        </p:nvSpPr>
        <p:spPr>
          <a:xfrm>
            <a:off x="478148" y="331531"/>
            <a:ext cx="8482972" cy="1064131"/>
          </a:xfrm>
        </p:spPr>
        <p:txBody>
          <a:bodyPr/>
          <a:lstStyle/>
          <a:p>
            <a:r>
              <a:rPr lang="en-US" altLang="zh-TW" dirty="0" smtClean="0"/>
              <a:t>AI</a:t>
            </a:r>
            <a:r>
              <a:rPr lang="zh-TW" altLang="en-US" dirty="0" smtClean="0"/>
              <a:t>模型測試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331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69" y="1404872"/>
            <a:ext cx="1293913" cy="157426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69" y="3066138"/>
            <a:ext cx="1266886" cy="154137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59" y="1401586"/>
            <a:ext cx="1296614" cy="1577547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59" y="3066138"/>
            <a:ext cx="1266886" cy="1541378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878" y="1401587"/>
            <a:ext cx="1372460" cy="1579368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877" y="3066138"/>
            <a:ext cx="1372460" cy="1541378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44" y="1395662"/>
            <a:ext cx="1409940" cy="1583471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44" y="3066138"/>
            <a:ext cx="1409940" cy="1541378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808" y="1395662"/>
            <a:ext cx="1409940" cy="1583471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3808" y="3066137"/>
            <a:ext cx="1409940" cy="1583471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656" y="1401586"/>
            <a:ext cx="1404665" cy="1577547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656" y="3066137"/>
            <a:ext cx="1404665" cy="1577546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265206" y="995819"/>
            <a:ext cx="272382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使用熱區圖觀察模型關注位置</a:t>
            </a:r>
            <a:endParaRPr lang="zh-TW" altLang="en-US" dirty="0"/>
          </a:p>
        </p:txBody>
      </p:sp>
      <p:sp>
        <p:nvSpPr>
          <p:cNvPr id="20" name="標題 1"/>
          <p:cNvSpPr txBox="1">
            <a:spLocks/>
          </p:cNvSpPr>
          <p:nvPr/>
        </p:nvSpPr>
        <p:spPr>
          <a:xfrm>
            <a:off x="478148" y="331531"/>
            <a:ext cx="8482972" cy="1064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AI</a:t>
            </a:r>
            <a:r>
              <a:rPr lang="zh-TW" altLang="en-US" dirty="0"/>
              <a:t>模型熱區視覺化</a:t>
            </a:r>
          </a:p>
        </p:txBody>
      </p:sp>
    </p:spTree>
    <p:extLst>
      <p:ext uri="{BB962C8B-B14F-4D97-AF65-F5344CB8AC3E}">
        <p14:creationId xmlns:p14="http://schemas.microsoft.com/office/powerpoint/2010/main" val="371633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301857" y="112427"/>
            <a:ext cx="5390549" cy="1073757"/>
          </a:xfrm>
        </p:spPr>
        <p:txBody>
          <a:bodyPr/>
          <a:lstStyle/>
          <a:p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進行中的專案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1848" y="684450"/>
            <a:ext cx="6210444" cy="2913255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Auto Repair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ODF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600" dirty="0">
                <a:solidFill>
                  <a:schemeClr val="bg1">
                    <a:lumMod val="75000"/>
                  </a:schemeClr>
                </a:solidFill>
              </a:rPr>
              <a:t>Nozzle</a:t>
            </a:r>
            <a:r>
              <a:rPr lang="zh-TW" altLang="en-US" sz="1600" dirty="0">
                <a:solidFill>
                  <a:schemeClr val="bg1">
                    <a:lumMod val="75000"/>
                  </a:schemeClr>
                </a:solidFill>
              </a:rPr>
              <a:t>檢查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機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ODF</a:t>
            </a:r>
            <a:r>
              <a:rPr lang="zh-TW" altLang="en-US" sz="1600" dirty="0">
                <a:solidFill>
                  <a:schemeClr val="bg1">
                    <a:lumMod val="75000"/>
                  </a:schemeClr>
                </a:solidFill>
              </a:rPr>
              <a:t>光箱人員動作辨識</a:t>
            </a:r>
            <a:endParaRPr lang="en-US" altLang="zh-TW" sz="16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CF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鷹眼計畫</a:t>
            </a:r>
            <a:endParaRPr lang="en-US" altLang="zh-TW" sz="16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PI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併瓶作業辨識</a:t>
            </a:r>
            <a:endParaRPr lang="en-US" altLang="zh-TW" sz="1600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3301849" y="2235031"/>
            <a:ext cx="5390549" cy="1073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 smtClean="0">
                <a:solidFill>
                  <a:schemeClr val="bg1">
                    <a:lumMod val="75000"/>
                  </a:schemeClr>
                </a:solidFill>
              </a:rPr>
              <a:t>評估中的專案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 txBox="1">
            <a:spLocks/>
          </p:cNvSpPr>
          <p:nvPr/>
        </p:nvSpPr>
        <p:spPr>
          <a:xfrm>
            <a:off x="3301850" y="2809352"/>
            <a:ext cx="5390548" cy="99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None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FAB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門禁人臉辨識系統</a:t>
            </a:r>
            <a:endParaRPr lang="en-US" altLang="zh-TW" sz="16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dirty="0" smtClean="0">
                <a:solidFill>
                  <a:schemeClr val="bg1">
                    <a:lumMod val="75000"/>
                  </a:schemeClr>
                </a:solidFill>
              </a:rPr>
              <a:t>Packer</a:t>
            </a:r>
            <a:r>
              <a:rPr lang="zh-TW" altLang="en-US" sz="1600" dirty="0" smtClean="0">
                <a:solidFill>
                  <a:schemeClr val="bg1">
                    <a:lumMod val="75000"/>
                  </a:schemeClr>
                </a:solidFill>
              </a:rPr>
              <a:t>異物檢</a:t>
            </a:r>
            <a:endParaRPr lang="en-US" altLang="zh-TW" sz="1600" dirty="0" smtClean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>
          <a:xfrm>
            <a:off x="3301849" y="3653054"/>
            <a:ext cx="5390549" cy="1073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00508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 smtClean="0"/>
              <a:t>專利申請報告</a:t>
            </a:r>
            <a:endParaRPr lang="zh-TW" altLang="en-US" dirty="0"/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xmlns="" id="{4275F585-F73D-42E1-609F-61D8693FD778}"/>
              </a:ext>
            </a:extLst>
          </p:cNvPr>
          <p:cNvSpPr txBox="1">
            <a:spLocks/>
          </p:cNvSpPr>
          <p:nvPr/>
        </p:nvSpPr>
        <p:spPr>
          <a:xfrm>
            <a:off x="3301848" y="4263682"/>
            <a:ext cx="5390548" cy="370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None/>
              <a:tabLst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1600" dirty="0"/>
              <a:t>Seal Dispenser</a:t>
            </a:r>
            <a:r>
              <a:rPr lang="zh-TW" altLang="en-US" sz="1600" dirty="0"/>
              <a:t>密封膠</a:t>
            </a:r>
            <a:r>
              <a:rPr lang="zh-TW" altLang="en-US" sz="1600" dirty="0" smtClean="0"/>
              <a:t>噴嘴自動化</a:t>
            </a:r>
            <a:r>
              <a:rPr lang="zh-TW" altLang="en-US" sz="1600" dirty="0"/>
              <a:t>檢測系統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312147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901" y="761128"/>
            <a:ext cx="7117908" cy="1929544"/>
          </a:xfrm>
        </p:spPr>
        <p:txBody>
          <a:bodyPr>
            <a:noAutofit/>
          </a:bodyPr>
          <a:lstStyle/>
          <a:p>
            <a:r>
              <a:rPr lang="en-US" altLang="zh-TW" dirty="0"/>
              <a:t>Seal Dispenser</a:t>
            </a:r>
            <a:r>
              <a:rPr lang="zh-TW" altLang="en-US" dirty="0"/>
              <a:t>密封膠</a:t>
            </a:r>
            <a:r>
              <a:rPr lang="zh-TW" altLang="en-US" dirty="0" smtClean="0"/>
              <a:t>噴嘴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 smtClean="0"/>
              <a:t>自動化</a:t>
            </a:r>
            <a:r>
              <a:rPr lang="zh-TW" altLang="en-US" dirty="0"/>
              <a:t>檢測</a:t>
            </a:r>
            <a:r>
              <a:rPr lang="zh-TW" altLang="en-US" dirty="0" smtClean="0"/>
              <a:t>系統</a:t>
            </a:r>
            <a:endParaRPr lang="zh-TW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533348" y="3936525"/>
            <a:ext cx="3397207" cy="969846"/>
          </a:xfrm>
        </p:spPr>
        <p:txBody>
          <a:bodyPr>
            <a:normAutofit/>
          </a:bodyPr>
          <a:lstStyle/>
          <a:p>
            <a:pPr lvl="0"/>
            <a:r>
              <a:rPr lang="en-US" altLang="zh-TW" dirty="0" smtClean="0"/>
              <a:t>ML6A01</a:t>
            </a:r>
            <a:r>
              <a:rPr lang="zh-TW" altLang="en-US" dirty="0" smtClean="0"/>
              <a:t> 林宗賢</a:t>
            </a:r>
            <a:endParaRPr lang="en-US" altLang="zh-TW" dirty="0" smtClean="0"/>
          </a:p>
          <a:p>
            <a:pPr lvl="0"/>
            <a:r>
              <a:rPr lang="en-US" altLang="zh-TW" dirty="0" smtClean="0"/>
              <a:t>ML6AL1</a:t>
            </a:r>
            <a:r>
              <a:rPr lang="zh-TW" altLang="en-US" dirty="0" smtClean="0"/>
              <a:t> 陳星榮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5469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8997" y="1150844"/>
            <a:ext cx="6074244" cy="14796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212023" y="1191483"/>
            <a:ext cx="5933022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00" dirty="0" smtClean="0"/>
              <a:t>現況：清洗完</a:t>
            </a:r>
            <a:r>
              <a:rPr lang="en-US" altLang="zh-TW" sz="1300" dirty="0" smtClean="0"/>
              <a:t>Seal</a:t>
            </a:r>
            <a:r>
              <a:rPr lang="zh-TW" altLang="en-US" sz="1300" dirty="0" smtClean="0"/>
              <a:t>噴嘴後皆由人員手動檢查噴嘴外觀缺陷，有以下缺點：</a:t>
            </a:r>
            <a:endParaRPr lang="en-US" altLang="zh-TW" sz="1300" dirty="0" smtClean="0"/>
          </a:p>
          <a:p>
            <a:endParaRPr lang="en-US" altLang="zh-TW" sz="600" dirty="0" smtClean="0"/>
          </a:p>
          <a:p>
            <a:r>
              <a:rPr lang="en-US" altLang="zh-TW" sz="1200" dirty="0" smtClean="0">
                <a:solidFill>
                  <a:srgbClr val="0909B7"/>
                </a:solidFill>
              </a:rPr>
              <a:t>1.</a:t>
            </a:r>
            <a:r>
              <a:rPr lang="zh-TW" altLang="en-US" sz="1200" dirty="0" smtClean="0">
                <a:solidFill>
                  <a:srgbClr val="0909B7"/>
                </a:solidFill>
              </a:rPr>
              <a:t> 缺陷漏檢風險</a:t>
            </a:r>
            <a:r>
              <a:rPr lang="zh-TW" altLang="en-US" sz="1200" dirty="0" smtClean="0"/>
              <a:t>：人員在高亮度環境下</a:t>
            </a:r>
            <a:r>
              <a:rPr lang="zh-TW" altLang="en-US" sz="1200" dirty="0" smtClean="0">
                <a:solidFill>
                  <a:srgbClr val="FF0000"/>
                </a:solidFill>
              </a:rPr>
              <a:t>長時間檢查產生視覺疲勞</a:t>
            </a:r>
            <a:r>
              <a:rPr lang="zh-TW" altLang="en-US" sz="1200" dirty="0" smtClean="0"/>
              <a:t>，及現有顯微鏡和噴嘴治具</a:t>
            </a:r>
            <a:r>
              <a:rPr lang="zh-TW" altLang="en-US" sz="1200" dirty="0" smtClean="0">
                <a:solidFill>
                  <a:srgbClr val="FF0000"/>
                </a:solidFill>
              </a:rPr>
              <a:t>無法檢測噴嘴內部狀況</a:t>
            </a:r>
            <a:r>
              <a:rPr lang="zh-TW" altLang="en-US" sz="1200" dirty="0" smtClean="0"/>
              <a:t>，這兩種情況皆易導致</a:t>
            </a:r>
            <a:r>
              <a:rPr lang="zh-TW" altLang="en-US" sz="1200" dirty="0" smtClean="0">
                <a:solidFill>
                  <a:srgbClr val="FF0000"/>
                </a:solidFill>
              </a:rPr>
              <a:t>缺陷漏檢</a:t>
            </a:r>
            <a:endParaRPr lang="en-US" altLang="zh-TW" sz="1200" dirty="0" smtClean="0">
              <a:solidFill>
                <a:srgbClr val="FF0000"/>
              </a:solidFill>
            </a:endParaRPr>
          </a:p>
          <a:p>
            <a:r>
              <a:rPr lang="en-US" altLang="zh-TW" sz="1200" dirty="0" smtClean="0">
                <a:solidFill>
                  <a:srgbClr val="0909B7"/>
                </a:solidFill>
              </a:rPr>
              <a:t>2.</a:t>
            </a:r>
            <a:r>
              <a:rPr lang="zh-TW" altLang="en-US" sz="1200" dirty="0" smtClean="0">
                <a:solidFill>
                  <a:srgbClr val="0909B7"/>
                </a:solidFill>
              </a:rPr>
              <a:t> 標準未統一</a:t>
            </a:r>
            <a:r>
              <a:rPr lang="zh-TW" altLang="en-US" sz="1200" dirty="0" smtClean="0"/>
              <a:t>：噴嘴</a:t>
            </a:r>
            <a:r>
              <a:rPr lang="zh-TW" altLang="en-US" sz="1200" dirty="0" smtClean="0">
                <a:solidFill>
                  <a:srgbClr val="FF0000"/>
                </a:solidFill>
              </a:rPr>
              <a:t>缺陷判斷因人而異</a:t>
            </a:r>
            <a:r>
              <a:rPr lang="zh-TW" altLang="en-US" sz="1200" dirty="0" smtClean="0"/>
              <a:t>，無法保證噴嘴上機的狀況</a:t>
            </a:r>
            <a:endParaRPr lang="en-US" altLang="zh-TW" sz="1200" dirty="0" smtClean="0"/>
          </a:p>
          <a:p>
            <a:r>
              <a:rPr lang="en-US" altLang="zh-TW" sz="1200" dirty="0" smtClean="0">
                <a:solidFill>
                  <a:srgbClr val="0909B7"/>
                </a:solidFill>
              </a:rPr>
              <a:t>3.</a:t>
            </a:r>
            <a:r>
              <a:rPr lang="zh-TW" altLang="en-US" sz="1200" dirty="0" smtClean="0">
                <a:solidFill>
                  <a:srgbClr val="0909B7"/>
                </a:solidFill>
              </a:rPr>
              <a:t> 耗時費工</a:t>
            </a:r>
            <a:r>
              <a:rPr lang="zh-TW" altLang="en-US" sz="1200" dirty="0" smtClean="0"/>
              <a:t>：人員手動量測和紙</a:t>
            </a:r>
            <a:r>
              <a:rPr lang="zh-TW" altLang="en-US" sz="1200" dirty="0"/>
              <a:t>本</a:t>
            </a:r>
            <a:r>
              <a:rPr lang="zh-TW" altLang="en-US" sz="1200" dirty="0" smtClean="0"/>
              <a:t>記錄，平均</a:t>
            </a:r>
            <a:r>
              <a:rPr lang="zh-TW" altLang="en-US" sz="1200" dirty="0" smtClean="0">
                <a:solidFill>
                  <a:srgbClr val="FF0000"/>
                </a:solidFill>
              </a:rPr>
              <a:t>每月檢查</a:t>
            </a:r>
            <a:r>
              <a:rPr lang="en-US" altLang="zh-TW" sz="1200" dirty="0" smtClean="0">
                <a:solidFill>
                  <a:srgbClr val="FF0000"/>
                </a:solidFill>
              </a:rPr>
              <a:t>4500</a:t>
            </a:r>
            <a:r>
              <a:rPr lang="zh-TW" altLang="en-US" sz="1200" dirty="0" smtClean="0">
                <a:solidFill>
                  <a:srgbClr val="FF0000"/>
                </a:solidFill>
              </a:rPr>
              <a:t>支</a:t>
            </a:r>
            <a:r>
              <a:rPr lang="zh-TW" altLang="en-US" sz="1200" dirty="0" smtClean="0"/>
              <a:t>噴嘴，清洗完和組裝前各檢查</a:t>
            </a:r>
            <a:r>
              <a:rPr lang="en-US" altLang="zh-TW" sz="1200" dirty="0" smtClean="0"/>
              <a:t>1</a:t>
            </a:r>
            <a:r>
              <a:rPr lang="zh-TW" altLang="en-US" sz="1200" dirty="0" smtClean="0"/>
              <a:t>次，耗費工時</a:t>
            </a:r>
            <a:r>
              <a:rPr lang="en-US" altLang="zh-TW" sz="1200" dirty="0" smtClean="0">
                <a:solidFill>
                  <a:srgbClr val="FF0000"/>
                </a:solidFill>
              </a:rPr>
              <a:t>25hrs/</a:t>
            </a:r>
            <a:r>
              <a:rPr lang="zh-TW" altLang="en-US" sz="1200" dirty="0" smtClean="0">
                <a:solidFill>
                  <a:srgbClr val="FF0000"/>
                </a:solidFill>
              </a:rPr>
              <a:t>月</a:t>
            </a:r>
            <a:endParaRPr lang="en-US" altLang="zh-TW" sz="1200" dirty="0" smtClean="0">
              <a:solidFill>
                <a:srgbClr val="FF0000"/>
              </a:solidFill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98447" y="2808917"/>
            <a:ext cx="7223104" cy="2033476"/>
            <a:chOff x="57450" y="2697953"/>
            <a:chExt cx="8964736" cy="2342570"/>
          </a:xfrm>
        </p:grpSpPr>
        <p:sp>
          <p:nvSpPr>
            <p:cNvPr id="53" name="圓角矩形 52"/>
            <p:cNvSpPr/>
            <p:nvPr/>
          </p:nvSpPr>
          <p:spPr>
            <a:xfrm>
              <a:off x="1165404" y="3870091"/>
              <a:ext cx="7856782" cy="117043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57450" y="4284617"/>
              <a:ext cx="1002182" cy="438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 smtClean="0"/>
                <a:t>清洗噴嘴</a:t>
              </a:r>
              <a:endParaRPr lang="en-US" altLang="zh-TW" sz="1000" dirty="0" smtClean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507124" y="4284617"/>
              <a:ext cx="1413181" cy="438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 smtClean="0"/>
                <a:t>手持噴嘴治具</a:t>
              </a:r>
              <a:endParaRPr lang="en-US" altLang="zh-TW" sz="1000" dirty="0" smtClean="0"/>
            </a:p>
            <a:p>
              <a:pPr algn="ctr"/>
              <a:r>
                <a:rPr lang="zh-TW" altLang="en-US" sz="1000" dirty="0" smtClean="0"/>
                <a:t>在顯微鏡下檢視</a:t>
              </a:r>
              <a:endParaRPr lang="zh-TW" altLang="en-US" sz="100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3199940" y="4288277"/>
              <a:ext cx="931469" cy="438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 smtClean="0"/>
                <a:t>手動對焦拍照</a:t>
              </a:r>
              <a:endParaRPr lang="zh-TW" altLang="en-US" sz="10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4530100" y="4284617"/>
              <a:ext cx="1122883" cy="438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 smtClean="0"/>
                <a:t>人員檢查缺陷和口徑</a:t>
              </a:r>
              <a:endParaRPr lang="zh-TW" altLang="en-US" sz="10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019370" y="4276083"/>
              <a:ext cx="1122883" cy="438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 smtClean="0"/>
                <a:t>手動紙本記錄檢測結果</a:t>
              </a:r>
              <a:endParaRPr lang="zh-TW" altLang="en-US" sz="10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499266" y="4276083"/>
              <a:ext cx="1391901" cy="4389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000" dirty="0" smtClean="0"/>
                <a:t>手動移動治具到下一個噴嘴位置</a:t>
              </a:r>
              <a:endParaRPr lang="zh-TW" altLang="en-US" sz="1000" dirty="0"/>
            </a:p>
          </p:txBody>
        </p:sp>
        <p:cxnSp>
          <p:nvCxnSpPr>
            <p:cNvPr id="14" name="直線單箭頭接點 13"/>
            <p:cNvCxnSpPr>
              <a:stCxn id="5" idx="3"/>
              <a:endCxn id="6" idx="1"/>
            </p:cNvCxnSpPr>
            <p:nvPr/>
          </p:nvCxnSpPr>
          <p:spPr>
            <a:xfrm>
              <a:off x="1059632" y="4504073"/>
              <a:ext cx="4474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4"/>
            <p:cNvCxnSpPr>
              <a:stCxn id="6" idx="3"/>
              <a:endCxn id="8" idx="1"/>
            </p:cNvCxnSpPr>
            <p:nvPr/>
          </p:nvCxnSpPr>
          <p:spPr>
            <a:xfrm>
              <a:off x="2920305" y="4504073"/>
              <a:ext cx="279635" cy="3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單箭頭接點 17"/>
            <p:cNvCxnSpPr>
              <a:stCxn id="8" idx="3"/>
              <a:endCxn id="9" idx="1"/>
            </p:cNvCxnSpPr>
            <p:nvPr/>
          </p:nvCxnSpPr>
          <p:spPr>
            <a:xfrm flipV="1">
              <a:off x="4131409" y="4504073"/>
              <a:ext cx="398691" cy="36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單箭頭接點 20"/>
            <p:cNvCxnSpPr>
              <a:stCxn id="9" idx="3"/>
              <a:endCxn id="11" idx="1"/>
            </p:cNvCxnSpPr>
            <p:nvPr/>
          </p:nvCxnSpPr>
          <p:spPr>
            <a:xfrm flipV="1">
              <a:off x="5652983" y="4495539"/>
              <a:ext cx="366387" cy="85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11" idx="3"/>
              <a:endCxn id="12" idx="1"/>
            </p:cNvCxnSpPr>
            <p:nvPr/>
          </p:nvCxnSpPr>
          <p:spPr>
            <a:xfrm>
              <a:off x="7142253" y="4495539"/>
              <a:ext cx="35701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字方塊 53"/>
            <p:cNvSpPr txBox="1"/>
            <p:nvPr/>
          </p:nvSpPr>
          <p:spPr>
            <a:xfrm>
              <a:off x="1229358" y="3905936"/>
              <a:ext cx="1396536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 smtClean="0"/>
                <a:t>欲改善現況流程</a:t>
              </a:r>
              <a:endParaRPr lang="zh-TW" altLang="en-US" dirty="0"/>
            </a:p>
          </p:txBody>
        </p:sp>
        <p:cxnSp>
          <p:nvCxnSpPr>
            <p:cNvPr id="72" name="肘形接點 71"/>
            <p:cNvCxnSpPr>
              <a:stCxn id="12" idx="2"/>
              <a:endCxn id="6" idx="2"/>
            </p:cNvCxnSpPr>
            <p:nvPr/>
          </p:nvCxnSpPr>
          <p:spPr>
            <a:xfrm rot="5400000">
              <a:off x="5200199" y="1728511"/>
              <a:ext cx="8534" cy="5981503"/>
            </a:xfrm>
            <a:prstGeom prst="bentConnector3">
              <a:avLst>
                <a:gd name="adj1" fmla="val 260727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 218"/>
            <p:cNvSpPr>
              <a:spLocks noChangeArrowheads="1"/>
            </p:cNvSpPr>
            <p:nvPr/>
          </p:nvSpPr>
          <p:spPr bwMode="auto">
            <a:xfrm>
              <a:off x="4941198" y="2699970"/>
              <a:ext cx="1196866" cy="272415"/>
            </a:xfrm>
            <a:prstGeom prst="round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TW" altLang="en-US" sz="1000" b="1" dirty="0" smtClean="0">
                  <a:solidFill>
                    <a:prstClr val="black"/>
                  </a:solidFill>
                  <a:latin typeface="+mn-lt"/>
                  <a:ea typeface="+mn-ea"/>
                </a:rPr>
                <a:t>噴嘴治具： </a:t>
              </a:r>
              <a:endParaRPr lang="en-US" altLang="zh-TW" sz="1000" b="1" dirty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grpSp>
          <p:nvGrpSpPr>
            <p:cNvPr id="165" name="群組 164"/>
            <p:cNvGrpSpPr/>
            <p:nvPr/>
          </p:nvGrpSpPr>
          <p:grpSpPr>
            <a:xfrm>
              <a:off x="6599668" y="2715303"/>
              <a:ext cx="2192123" cy="1143826"/>
              <a:chOff x="6878725" y="2149232"/>
              <a:chExt cx="2192123" cy="1143826"/>
            </a:xfrm>
          </p:grpSpPr>
          <p:sp>
            <p:nvSpPr>
              <p:cNvPr id="80" name="矩形: 圓角 141">
                <a:extLst>
                  <a:ext uri="{FF2B5EF4-FFF2-40B4-BE49-F238E27FC236}">
                    <a16:creationId xmlns:a16="http://schemas.microsoft.com/office/drawing/2014/main" xmlns="" xmlns:lc="http://schemas.openxmlformats.org/drawingml/2006/lockedCanvas" id="{5D1DE3B7-A051-84EB-6D77-09521AB192C2}"/>
                  </a:ext>
                </a:extLst>
              </p:cNvPr>
              <p:cNvSpPr/>
              <p:nvPr/>
            </p:nvSpPr>
            <p:spPr>
              <a:xfrm>
                <a:off x="6905549" y="2402453"/>
                <a:ext cx="2165299" cy="890605"/>
              </a:xfrm>
              <a:prstGeom prst="roundRect">
                <a:avLst>
                  <a:gd name="adj" fmla="val 10917"/>
                </a:avLst>
              </a:prstGeom>
              <a:solidFill>
                <a:srgbClr val="A5A5A5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zh-TW" altLang="en-US" kern="0" dirty="0">
                  <a:solidFill>
                    <a:prstClr val="white"/>
                  </a:solidFill>
                  <a:latin typeface="等线" panose="020F0502020204030204"/>
                  <a:ea typeface="新細明體" panose="02020500000000000000" pitchFamily="18" charset="-120"/>
                </a:endParaRPr>
              </a:p>
            </p:txBody>
          </p:sp>
          <p:grpSp>
            <p:nvGrpSpPr>
              <p:cNvPr id="81" name="群組 80"/>
              <p:cNvGrpSpPr/>
              <p:nvPr/>
            </p:nvGrpSpPr>
            <p:grpSpPr>
              <a:xfrm>
                <a:off x="7031665" y="2494229"/>
                <a:ext cx="1939110" cy="727529"/>
                <a:chOff x="216568" y="3445694"/>
                <a:chExt cx="3166328" cy="1114290"/>
              </a:xfrm>
            </p:grpSpPr>
            <p:sp>
              <p:nvSpPr>
                <p:cNvPr id="83" name="矩形 82"/>
                <p:cNvSpPr/>
                <p:nvPr/>
              </p:nvSpPr>
              <p:spPr>
                <a:xfrm>
                  <a:off x="216568" y="3450394"/>
                  <a:ext cx="3161421" cy="1098884"/>
                </a:xfrm>
                <a:prstGeom prst="rect">
                  <a:avLst/>
                </a:prstGeom>
                <a:noFill/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>
                  <a:off x="222130" y="3446719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221475" y="3884873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216568" y="4319352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702177" y="3446719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702739" y="3874167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697832" y="4308646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1188568" y="3447748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>
                  <a:off x="1184003" y="3874167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2" name="矩形 91"/>
                <p:cNvSpPr/>
                <p:nvPr/>
              </p:nvSpPr>
              <p:spPr>
                <a:xfrm>
                  <a:off x="1179096" y="4308646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1666161" y="3446369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1665267" y="3874167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5" name="矩形 94"/>
                <p:cNvSpPr/>
                <p:nvPr/>
              </p:nvSpPr>
              <p:spPr>
                <a:xfrm>
                  <a:off x="1660360" y="4308646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6" name="矩形 95"/>
                <p:cNvSpPr/>
                <p:nvPr/>
              </p:nvSpPr>
              <p:spPr>
                <a:xfrm>
                  <a:off x="2148981" y="3445694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7" name="矩形 96"/>
                <p:cNvSpPr/>
                <p:nvPr/>
              </p:nvSpPr>
              <p:spPr>
                <a:xfrm>
                  <a:off x="2148981" y="3884873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2144074" y="4319352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99" name="矩形 98"/>
                <p:cNvSpPr/>
                <p:nvPr/>
              </p:nvSpPr>
              <p:spPr>
                <a:xfrm>
                  <a:off x="2642841" y="3451399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>
                  <a:off x="2637602" y="3874167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>
                  <a:off x="2632695" y="4308646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>
                  <a:off x="3125985" y="3448729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>
                  <a:off x="3126223" y="3874167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>
                  <a:off x="3121316" y="4308646"/>
                  <a:ext cx="256673" cy="24063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TW" altLang="en-US"/>
                </a:p>
              </p:txBody>
            </p:sp>
            <p:grpSp>
              <p:nvGrpSpPr>
                <p:cNvPr id="105" name="群組 104"/>
                <p:cNvGrpSpPr/>
                <p:nvPr/>
              </p:nvGrpSpPr>
              <p:grpSpPr>
                <a:xfrm>
                  <a:off x="2818867" y="4027913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50" name="流程圖: 接點 149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51" name="直線接點 150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直線接點 151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6" name="群組 105"/>
                <p:cNvGrpSpPr/>
                <p:nvPr/>
              </p:nvGrpSpPr>
              <p:grpSpPr>
                <a:xfrm>
                  <a:off x="384565" y="3560004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47" name="流程圖: 接點 146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48" name="直線接點 147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直線接點 148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群組 106"/>
                <p:cNvGrpSpPr/>
                <p:nvPr/>
              </p:nvGrpSpPr>
              <p:grpSpPr>
                <a:xfrm>
                  <a:off x="880760" y="3560020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44" name="流程圖: 接點 143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45" name="直線接點 144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直線接點 145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8" name="群組 107"/>
                <p:cNvGrpSpPr/>
                <p:nvPr/>
              </p:nvGrpSpPr>
              <p:grpSpPr>
                <a:xfrm>
                  <a:off x="1364922" y="3560004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41" name="流程圖: 接點 140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42" name="直線接點 141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直線接點 142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9" name="群組 108"/>
                <p:cNvGrpSpPr/>
                <p:nvPr/>
              </p:nvGrpSpPr>
              <p:grpSpPr>
                <a:xfrm>
                  <a:off x="1836607" y="3558661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38" name="流程圖: 接點 137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39" name="直線接點 138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線接點 139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0" name="群組 109"/>
                <p:cNvGrpSpPr/>
                <p:nvPr/>
              </p:nvGrpSpPr>
              <p:grpSpPr>
                <a:xfrm>
                  <a:off x="2300495" y="3551982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35" name="流程圖: 接點 134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36" name="直線接點 135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7" name="直線接點 136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1" name="群組 110"/>
                <p:cNvGrpSpPr/>
                <p:nvPr/>
              </p:nvGrpSpPr>
              <p:grpSpPr>
                <a:xfrm>
                  <a:off x="2810053" y="3558661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32" name="流程圖: 接點 131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33" name="直線接點 132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直線接點 133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2" name="群組 111"/>
                <p:cNvGrpSpPr/>
                <p:nvPr/>
              </p:nvGrpSpPr>
              <p:grpSpPr>
                <a:xfrm>
                  <a:off x="378778" y="4017235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29" name="流程圖: 接點 128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30" name="直線接點 129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直線接點 130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群組 112"/>
                <p:cNvGrpSpPr/>
                <p:nvPr/>
              </p:nvGrpSpPr>
              <p:grpSpPr>
                <a:xfrm>
                  <a:off x="890337" y="4027915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26" name="流程圖: 接點 125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27" name="直線接點 126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直線接點 127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4" name="群組 113"/>
                <p:cNvGrpSpPr/>
                <p:nvPr/>
              </p:nvGrpSpPr>
              <p:grpSpPr>
                <a:xfrm>
                  <a:off x="1371600" y="4027914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23" name="流程圖: 接點 122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24" name="直線接點 123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直線接點 124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5" name="群組 114"/>
                <p:cNvGrpSpPr/>
                <p:nvPr/>
              </p:nvGrpSpPr>
              <p:grpSpPr>
                <a:xfrm>
                  <a:off x="1845174" y="4029254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20" name="流程圖: 接點 119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21" name="直線接點 120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直線接點 121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6" name="群組 115"/>
                <p:cNvGrpSpPr/>
                <p:nvPr/>
              </p:nvGrpSpPr>
              <p:grpSpPr>
                <a:xfrm>
                  <a:off x="2310397" y="4031917"/>
                  <a:ext cx="417095" cy="433137"/>
                  <a:chOff x="4178968" y="2935705"/>
                  <a:chExt cx="417095" cy="433137"/>
                </a:xfrm>
              </p:grpSpPr>
              <p:sp>
                <p:nvSpPr>
                  <p:cNvPr id="117" name="流程圖: 接點 116"/>
                  <p:cNvSpPr/>
                  <p:nvPr/>
                </p:nvSpPr>
                <p:spPr>
                  <a:xfrm>
                    <a:off x="4267201" y="3048001"/>
                    <a:ext cx="211662" cy="208546"/>
                  </a:xfrm>
                  <a:prstGeom prst="flowChartConnector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7145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0574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4003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743200" algn="l" defTabSz="685800" rtl="0" eaLnBrk="1" latinLnBrk="0" hangingPunct="1">
                      <a:defRPr sz="135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18" name="直線接點 117"/>
                  <p:cNvCxnSpPr/>
                  <p:nvPr/>
                </p:nvCxnSpPr>
                <p:spPr>
                  <a:xfrm>
                    <a:off x="4178968" y="3152274"/>
                    <a:ext cx="417095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9" name="直線接點 118"/>
                  <p:cNvCxnSpPr/>
                  <p:nvPr/>
                </p:nvCxnSpPr>
                <p:spPr>
                  <a:xfrm>
                    <a:off x="4373032" y="2935705"/>
                    <a:ext cx="0" cy="43313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54" name="矩形 153"/>
              <p:cNvSpPr/>
              <p:nvPr/>
            </p:nvSpPr>
            <p:spPr>
              <a:xfrm>
                <a:off x="6878725" y="2149232"/>
                <a:ext cx="954107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000" b="1" dirty="0" smtClean="0">
                    <a:solidFill>
                      <a:prstClr val="black"/>
                    </a:solidFill>
                  </a:rPr>
                  <a:t>治具平面圖</a:t>
                </a:r>
                <a:r>
                  <a:rPr lang="zh-TW" altLang="en-US" sz="1000" b="1" dirty="0">
                    <a:solidFill>
                      <a:prstClr val="black"/>
                    </a:solidFill>
                  </a:rPr>
                  <a:t>：</a:t>
                </a:r>
                <a:endParaRPr lang="zh-TW" altLang="en-US" sz="1000" dirty="0"/>
              </a:p>
            </p:txBody>
          </p:sp>
        </p:grpSp>
        <p:pic>
          <p:nvPicPr>
            <p:cNvPr id="155" name="圖片 15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1326" y="2762887"/>
              <a:ext cx="1408597" cy="1056448"/>
            </a:xfrm>
            <a:prstGeom prst="rect">
              <a:avLst/>
            </a:prstGeom>
          </p:spPr>
        </p:pic>
        <p:pic>
          <p:nvPicPr>
            <p:cNvPr id="157" name="圖片 15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4163" y="2866221"/>
              <a:ext cx="638175" cy="847725"/>
            </a:xfrm>
            <a:prstGeom prst="rect">
              <a:avLst/>
            </a:prstGeom>
          </p:spPr>
        </p:pic>
        <p:cxnSp>
          <p:nvCxnSpPr>
            <p:cNvPr id="159" name="直線單箭頭接點 158"/>
            <p:cNvCxnSpPr>
              <a:stCxn id="157" idx="3"/>
              <a:endCxn id="155" idx="1"/>
            </p:cNvCxnSpPr>
            <p:nvPr/>
          </p:nvCxnSpPr>
          <p:spPr>
            <a:xfrm>
              <a:off x="1012338" y="3290084"/>
              <a:ext cx="1008988" cy="1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字方塊 162"/>
            <p:cNvSpPr txBox="1"/>
            <p:nvPr/>
          </p:nvSpPr>
          <p:spPr>
            <a:xfrm>
              <a:off x="1009228" y="2951530"/>
              <a:ext cx="9028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操作顯微鏡檢查</a:t>
              </a:r>
              <a:endParaRPr lang="en-US" altLang="zh-TW" sz="800" dirty="0" smtClean="0"/>
            </a:p>
            <a:p>
              <a:r>
                <a:rPr lang="zh-TW" altLang="en-US" sz="800" dirty="0" smtClean="0"/>
                <a:t>噴嘴外觀缺陷</a:t>
              </a:r>
              <a:endParaRPr lang="zh-TW" altLang="en-US" sz="800" dirty="0"/>
            </a:p>
          </p:txBody>
        </p:sp>
        <p:pic>
          <p:nvPicPr>
            <p:cNvPr id="190" name="圖片 189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63" t="18124" r="16075" b="18694"/>
            <a:stretch/>
          </p:blipFill>
          <p:spPr>
            <a:xfrm>
              <a:off x="3617102" y="2984893"/>
              <a:ext cx="1180114" cy="829886"/>
            </a:xfrm>
            <a:prstGeom prst="rect">
              <a:avLst/>
            </a:prstGeom>
          </p:spPr>
        </p:pic>
        <p:pic>
          <p:nvPicPr>
            <p:cNvPr id="191" name="圖片 190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8" t="16918" r="7653" b="16502"/>
            <a:stretch/>
          </p:blipFill>
          <p:spPr>
            <a:xfrm>
              <a:off x="4956436" y="2978992"/>
              <a:ext cx="1562231" cy="858192"/>
            </a:xfrm>
            <a:prstGeom prst="rect">
              <a:avLst/>
            </a:prstGeom>
          </p:spPr>
        </p:pic>
        <p:sp>
          <p:nvSpPr>
            <p:cNvPr id="192" name="矩形 218"/>
            <p:cNvSpPr>
              <a:spLocks noChangeArrowheads="1"/>
            </p:cNvSpPr>
            <p:nvPr/>
          </p:nvSpPr>
          <p:spPr bwMode="auto">
            <a:xfrm>
              <a:off x="3547475" y="2697953"/>
              <a:ext cx="1196866" cy="272415"/>
            </a:xfrm>
            <a:prstGeom prst="round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TW" altLang="en-US" sz="1000" b="1" dirty="0" smtClean="0">
                  <a:solidFill>
                    <a:prstClr val="black"/>
                  </a:solidFill>
                  <a:latin typeface="+mn-lt"/>
                  <a:ea typeface="+mn-ea"/>
                </a:rPr>
                <a:t>噴嘴： </a:t>
              </a:r>
              <a:endParaRPr lang="en-US" altLang="zh-TW" sz="1000" b="1" dirty="0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96" name="矩形 195"/>
          <p:cNvSpPr/>
          <p:nvPr/>
        </p:nvSpPr>
        <p:spPr>
          <a:xfrm>
            <a:off x="6446675" y="243704"/>
            <a:ext cx="22522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800" b="1" dirty="0" smtClean="0">
                <a:latin typeface="+mn-ea"/>
              </a:rPr>
              <a:t>Seal</a:t>
            </a:r>
            <a:r>
              <a:rPr lang="zh-TW" altLang="en-US" sz="800" b="1" dirty="0" smtClean="0">
                <a:latin typeface="+mn-ea"/>
              </a:rPr>
              <a:t>膠</a:t>
            </a:r>
            <a:r>
              <a:rPr lang="zh-TW" altLang="en-US" sz="800" dirty="0">
                <a:latin typeface="+mn-ea"/>
              </a:rPr>
              <a:t>：在於</a:t>
            </a:r>
            <a:r>
              <a:rPr lang="zh-TW" altLang="en-US" sz="800" dirty="0" smtClean="0">
                <a:latin typeface="+mn-ea"/>
              </a:rPr>
              <a:t>提供</a:t>
            </a:r>
            <a:r>
              <a:rPr lang="en-US" altLang="zh-TW" sz="800" dirty="0" smtClean="0">
                <a:latin typeface="+mn-ea"/>
              </a:rPr>
              <a:t>Panel</a:t>
            </a:r>
            <a:r>
              <a:rPr lang="zh-TW" altLang="en-US" sz="800" dirty="0">
                <a:latin typeface="+mn-ea"/>
              </a:rPr>
              <a:t>中</a:t>
            </a:r>
            <a:r>
              <a:rPr lang="en-US" altLang="zh-TW" sz="800" dirty="0">
                <a:latin typeface="+mn-ea"/>
              </a:rPr>
              <a:t>TFT</a:t>
            </a:r>
            <a:r>
              <a:rPr lang="zh-TW" altLang="en-US" sz="800" dirty="0">
                <a:latin typeface="+mn-ea"/>
              </a:rPr>
              <a:t>與</a:t>
            </a:r>
            <a:r>
              <a:rPr lang="en-US" altLang="zh-TW" sz="800" dirty="0">
                <a:latin typeface="+mn-ea"/>
              </a:rPr>
              <a:t>CF</a:t>
            </a:r>
            <a:r>
              <a:rPr lang="zh-TW" altLang="en-US" sz="800" dirty="0">
                <a:latin typeface="+mn-ea"/>
              </a:rPr>
              <a:t>之固著，將</a:t>
            </a:r>
            <a:r>
              <a:rPr lang="en-US" altLang="zh-TW" sz="800" dirty="0">
                <a:latin typeface="+mn-ea"/>
              </a:rPr>
              <a:t>LCD Cell</a:t>
            </a:r>
            <a:r>
              <a:rPr lang="zh-TW" altLang="en-US" sz="800" dirty="0">
                <a:latin typeface="+mn-ea"/>
              </a:rPr>
              <a:t>上下兩片玻璃基板區隔開，保護液晶不和外界水氣及雜質接觸，並防止液晶外流</a:t>
            </a:r>
            <a:endParaRPr lang="en-US" altLang="zh-TW" sz="800" dirty="0">
              <a:latin typeface="+mn-ea"/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7397915" y="739848"/>
            <a:ext cx="1008521" cy="978478"/>
            <a:chOff x="7191560" y="613213"/>
            <a:chExt cx="1453012" cy="1409728"/>
          </a:xfrm>
        </p:grpSpPr>
        <p:grpSp>
          <p:nvGrpSpPr>
            <p:cNvPr id="195" name="群組 194"/>
            <p:cNvGrpSpPr/>
            <p:nvPr/>
          </p:nvGrpSpPr>
          <p:grpSpPr>
            <a:xfrm>
              <a:off x="7221192" y="613213"/>
              <a:ext cx="1423380" cy="1409728"/>
              <a:chOff x="7221192" y="562008"/>
              <a:chExt cx="1423380" cy="1409728"/>
            </a:xfrm>
          </p:grpSpPr>
          <p:grpSp>
            <p:nvGrpSpPr>
              <p:cNvPr id="167" name="Group 3"/>
              <p:cNvGrpSpPr>
                <a:grpSpLocks/>
              </p:cNvGrpSpPr>
              <p:nvPr/>
            </p:nvGrpSpPr>
            <p:grpSpPr bwMode="auto">
              <a:xfrm>
                <a:off x="7221192" y="562008"/>
                <a:ext cx="1423380" cy="1409728"/>
                <a:chOff x="2761" y="1387"/>
                <a:chExt cx="2434" cy="1712"/>
              </a:xfrm>
            </p:grpSpPr>
            <p:sp>
              <p:nvSpPr>
                <p:cNvPr id="168" name="Rectangle 4"/>
                <p:cNvSpPr>
                  <a:spLocks noChangeArrowheads="1"/>
                </p:cNvSpPr>
                <p:nvPr/>
              </p:nvSpPr>
              <p:spPr bwMode="auto">
                <a:xfrm>
                  <a:off x="2761" y="2842"/>
                  <a:ext cx="2425" cy="257"/>
                </a:xfrm>
                <a:prstGeom prst="rect">
                  <a:avLst/>
                </a:prstGeom>
                <a:noFill/>
                <a:ln w="1428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TW" altLang="en-US" sz="600"/>
                </a:p>
              </p:txBody>
            </p:sp>
            <p:sp>
              <p:nvSpPr>
                <p:cNvPr id="169" name="Rectangle 5"/>
                <p:cNvSpPr>
                  <a:spLocks noChangeArrowheads="1"/>
                </p:cNvSpPr>
                <p:nvPr/>
              </p:nvSpPr>
              <p:spPr bwMode="auto">
                <a:xfrm>
                  <a:off x="3064" y="2671"/>
                  <a:ext cx="1819" cy="171"/>
                </a:xfrm>
                <a:prstGeom prst="rect">
                  <a:avLst/>
                </a:prstGeom>
                <a:solidFill>
                  <a:srgbClr val="FFFFFF"/>
                </a:solidFill>
                <a:ln w="4763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TW" altLang="en-US" sz="600"/>
                </a:p>
              </p:txBody>
            </p:sp>
            <p:sp>
              <p:nvSpPr>
                <p:cNvPr id="170" name="Freeform 6"/>
                <p:cNvSpPr>
                  <a:spLocks/>
                </p:cNvSpPr>
                <p:nvPr/>
              </p:nvSpPr>
              <p:spPr bwMode="auto">
                <a:xfrm>
                  <a:off x="3670" y="1387"/>
                  <a:ext cx="506" cy="1113"/>
                </a:xfrm>
                <a:custGeom>
                  <a:avLst/>
                  <a:gdLst>
                    <a:gd name="T0" fmla="*/ 0 w 1011"/>
                    <a:gd name="T1" fmla="*/ 0 h 2225"/>
                    <a:gd name="T2" fmla="*/ 0 w 1011"/>
                    <a:gd name="T3" fmla="*/ 1 h 2225"/>
                    <a:gd name="T4" fmla="*/ 1 w 1011"/>
                    <a:gd name="T5" fmla="*/ 1 h 2225"/>
                    <a:gd name="T6" fmla="*/ 1 w 1011"/>
                    <a:gd name="T7" fmla="*/ 1 h 2225"/>
                    <a:gd name="T8" fmla="*/ 1 w 1011"/>
                    <a:gd name="T9" fmla="*/ 1 h 2225"/>
                    <a:gd name="T10" fmla="*/ 1 w 1011"/>
                    <a:gd name="T11" fmla="*/ 1 h 2225"/>
                    <a:gd name="T12" fmla="*/ 1 w 1011"/>
                    <a:gd name="T13" fmla="*/ 1 h 2225"/>
                    <a:gd name="T14" fmla="*/ 1 w 1011"/>
                    <a:gd name="T15" fmla="*/ 1 h 2225"/>
                    <a:gd name="T16" fmla="*/ 1 w 1011"/>
                    <a:gd name="T17" fmla="*/ 1 h 2225"/>
                    <a:gd name="T18" fmla="*/ 1 w 1011"/>
                    <a:gd name="T19" fmla="*/ 1 h 2225"/>
                    <a:gd name="T20" fmla="*/ 1 w 1011"/>
                    <a:gd name="T21" fmla="*/ 1 h 2225"/>
                    <a:gd name="T22" fmla="*/ 1 w 1011"/>
                    <a:gd name="T23" fmla="*/ 0 h 2225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011"/>
                    <a:gd name="T37" fmla="*/ 0 h 2225"/>
                    <a:gd name="T38" fmla="*/ 1011 w 1011"/>
                    <a:gd name="T39" fmla="*/ 2225 h 2225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011" h="2225">
                      <a:moveTo>
                        <a:pt x="0" y="0"/>
                      </a:moveTo>
                      <a:lnTo>
                        <a:pt x="0" y="1368"/>
                      </a:lnTo>
                      <a:lnTo>
                        <a:pt x="202" y="1541"/>
                      </a:lnTo>
                      <a:lnTo>
                        <a:pt x="202" y="1712"/>
                      </a:lnTo>
                      <a:lnTo>
                        <a:pt x="405" y="1712"/>
                      </a:lnTo>
                      <a:lnTo>
                        <a:pt x="405" y="2225"/>
                      </a:lnTo>
                      <a:lnTo>
                        <a:pt x="607" y="2225"/>
                      </a:lnTo>
                      <a:lnTo>
                        <a:pt x="607" y="1712"/>
                      </a:lnTo>
                      <a:lnTo>
                        <a:pt x="809" y="1712"/>
                      </a:lnTo>
                      <a:lnTo>
                        <a:pt x="809" y="1541"/>
                      </a:lnTo>
                      <a:lnTo>
                        <a:pt x="1011" y="1368"/>
                      </a:lnTo>
                      <a:lnTo>
                        <a:pt x="1011" y="0"/>
                      </a:lnTo>
                    </a:path>
                  </a:pathLst>
                </a:cu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1" name="Line 7"/>
                <p:cNvSpPr>
                  <a:spLocks noChangeShapeType="1"/>
                </p:cNvSpPr>
                <p:nvPr/>
              </p:nvSpPr>
              <p:spPr bwMode="auto">
                <a:xfrm>
                  <a:off x="3771" y="2157"/>
                  <a:ext cx="304" cy="1"/>
                </a:xfrm>
                <a:prstGeom prst="line">
                  <a:avLst/>
                </a:prstGeom>
                <a:noFill/>
                <a:ln w="1428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2" name="Line 8"/>
                <p:cNvSpPr>
                  <a:spLocks noChangeShapeType="1"/>
                </p:cNvSpPr>
                <p:nvPr/>
              </p:nvSpPr>
              <p:spPr bwMode="auto">
                <a:xfrm>
                  <a:off x="3670" y="2071"/>
                  <a:ext cx="506" cy="1"/>
                </a:xfrm>
                <a:prstGeom prst="line">
                  <a:avLst/>
                </a:prstGeom>
                <a:noFill/>
                <a:ln w="1428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3" name="Line 9"/>
                <p:cNvSpPr>
                  <a:spLocks noChangeShapeType="1"/>
                </p:cNvSpPr>
                <p:nvPr/>
              </p:nvSpPr>
              <p:spPr bwMode="auto">
                <a:xfrm>
                  <a:off x="3873" y="2243"/>
                  <a:ext cx="101" cy="1"/>
                </a:xfrm>
                <a:prstGeom prst="line">
                  <a:avLst/>
                </a:prstGeom>
                <a:noFill/>
                <a:ln w="1428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4" name="Line 10"/>
                <p:cNvSpPr>
                  <a:spLocks noChangeShapeType="1"/>
                </p:cNvSpPr>
                <p:nvPr/>
              </p:nvSpPr>
              <p:spPr bwMode="auto">
                <a:xfrm>
                  <a:off x="3670" y="1558"/>
                  <a:ext cx="50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5" name="Rectangle 11"/>
                <p:cNvSpPr>
                  <a:spLocks noChangeArrowheads="1"/>
                </p:cNvSpPr>
                <p:nvPr/>
              </p:nvSpPr>
              <p:spPr bwMode="auto">
                <a:xfrm>
                  <a:off x="3679" y="1558"/>
                  <a:ext cx="488" cy="507"/>
                </a:xfrm>
                <a:prstGeom prst="rect">
                  <a:avLst/>
                </a:prstGeom>
                <a:solidFill>
                  <a:srgbClr val="FFFF00"/>
                </a:solidFill>
                <a:ln w="4763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TW" altLang="en-US" sz="600"/>
                </a:p>
              </p:txBody>
            </p:sp>
            <p:sp>
              <p:nvSpPr>
                <p:cNvPr id="176" name="Freeform 12"/>
                <p:cNvSpPr>
                  <a:spLocks/>
                </p:cNvSpPr>
                <p:nvPr/>
              </p:nvSpPr>
              <p:spPr bwMode="auto">
                <a:xfrm>
                  <a:off x="3873" y="2500"/>
                  <a:ext cx="101" cy="171"/>
                </a:xfrm>
                <a:custGeom>
                  <a:avLst/>
                  <a:gdLst>
                    <a:gd name="T0" fmla="*/ 0 w 202"/>
                    <a:gd name="T1" fmla="*/ 0 h 342"/>
                    <a:gd name="T2" fmla="*/ 0 w 202"/>
                    <a:gd name="T3" fmla="*/ 1 h 342"/>
                    <a:gd name="T4" fmla="*/ 1 w 202"/>
                    <a:gd name="T5" fmla="*/ 1 h 342"/>
                    <a:gd name="T6" fmla="*/ 0 60000 65536"/>
                    <a:gd name="T7" fmla="*/ 0 60000 65536"/>
                    <a:gd name="T8" fmla="*/ 0 60000 65536"/>
                    <a:gd name="T9" fmla="*/ 0 w 202"/>
                    <a:gd name="T10" fmla="*/ 0 h 342"/>
                    <a:gd name="T11" fmla="*/ 202 w 202"/>
                    <a:gd name="T12" fmla="*/ 342 h 34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2" h="342">
                      <a:moveTo>
                        <a:pt x="0" y="0"/>
                      </a:moveTo>
                      <a:lnTo>
                        <a:pt x="0" y="171"/>
                      </a:lnTo>
                      <a:lnTo>
                        <a:pt x="202" y="342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7" name="Line 13"/>
                <p:cNvSpPr>
                  <a:spLocks noChangeShapeType="1"/>
                </p:cNvSpPr>
                <p:nvPr/>
              </p:nvSpPr>
              <p:spPr bwMode="auto">
                <a:xfrm>
                  <a:off x="3974" y="2671"/>
                  <a:ext cx="384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8" name="Freeform 14"/>
                <p:cNvSpPr>
                  <a:spLocks/>
                </p:cNvSpPr>
                <p:nvPr/>
              </p:nvSpPr>
              <p:spPr bwMode="auto">
                <a:xfrm>
                  <a:off x="3974" y="2500"/>
                  <a:ext cx="605" cy="171"/>
                </a:xfrm>
                <a:custGeom>
                  <a:avLst/>
                  <a:gdLst>
                    <a:gd name="T0" fmla="*/ 0 w 1211"/>
                    <a:gd name="T1" fmla="*/ 0 h 342"/>
                    <a:gd name="T2" fmla="*/ 0 w 1211"/>
                    <a:gd name="T3" fmla="*/ 1 h 342"/>
                    <a:gd name="T4" fmla="*/ 0 w 1211"/>
                    <a:gd name="T5" fmla="*/ 1 h 342"/>
                    <a:gd name="T6" fmla="*/ 0 w 1211"/>
                    <a:gd name="T7" fmla="*/ 1 h 342"/>
                    <a:gd name="T8" fmla="*/ 0 w 1211"/>
                    <a:gd name="T9" fmla="*/ 1 h 342"/>
                    <a:gd name="T10" fmla="*/ 0 w 1211"/>
                    <a:gd name="T11" fmla="*/ 1 h 34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1"/>
                    <a:gd name="T19" fmla="*/ 0 h 342"/>
                    <a:gd name="T20" fmla="*/ 1211 w 1211"/>
                    <a:gd name="T21" fmla="*/ 342 h 34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1" h="342">
                      <a:moveTo>
                        <a:pt x="0" y="0"/>
                      </a:moveTo>
                      <a:lnTo>
                        <a:pt x="0" y="103"/>
                      </a:lnTo>
                      <a:lnTo>
                        <a:pt x="122" y="171"/>
                      </a:lnTo>
                      <a:lnTo>
                        <a:pt x="1211" y="171"/>
                      </a:lnTo>
                      <a:lnTo>
                        <a:pt x="1211" y="342"/>
                      </a:lnTo>
                      <a:lnTo>
                        <a:pt x="0" y="342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79" name="Line 15"/>
                <p:cNvSpPr>
                  <a:spLocks noChangeShapeType="1"/>
                </p:cNvSpPr>
                <p:nvPr/>
              </p:nvSpPr>
              <p:spPr bwMode="auto">
                <a:xfrm>
                  <a:off x="4176" y="1387"/>
                  <a:ext cx="100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80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569" y="1387"/>
                  <a:ext cx="101" cy="1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TW" altLang="en-US" sz="600"/>
                </a:p>
              </p:txBody>
            </p:sp>
            <p:sp>
              <p:nvSpPr>
                <p:cNvPr id="183" name="Rectangle 28"/>
                <p:cNvSpPr>
                  <a:spLocks noChangeArrowheads="1"/>
                </p:cNvSpPr>
                <p:nvPr/>
              </p:nvSpPr>
              <p:spPr bwMode="auto">
                <a:xfrm>
                  <a:off x="3642" y="2889"/>
                  <a:ext cx="526" cy="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60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塗佈台面</a:t>
                  </a:r>
                  <a:endParaRPr lang="zh-TW" altLang="en-US" sz="6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84" name="Rectangle 33"/>
                <p:cNvSpPr>
                  <a:spLocks noChangeArrowheads="1"/>
                </p:cNvSpPr>
                <p:nvPr/>
              </p:nvSpPr>
              <p:spPr bwMode="auto">
                <a:xfrm>
                  <a:off x="4562" y="2363"/>
                  <a:ext cx="633" cy="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600" dirty="0" smtClean="0">
                      <a:latin typeface="+mn-ea"/>
                      <a:ea typeface="+mn-ea"/>
                    </a:rPr>
                    <a:t>噴嘴</a:t>
                  </a:r>
                  <a:endParaRPr lang="zh-TW" altLang="en-US" sz="600" dirty="0">
                    <a:latin typeface="+mn-ea"/>
                    <a:ea typeface="+mn-ea"/>
                  </a:endParaRPr>
                </a:p>
              </p:txBody>
            </p:sp>
            <p:sp>
              <p:nvSpPr>
                <p:cNvPr id="185" name="Rectangle 34"/>
                <p:cNvSpPr>
                  <a:spLocks noChangeArrowheads="1"/>
                </p:cNvSpPr>
                <p:nvPr/>
              </p:nvSpPr>
              <p:spPr bwMode="auto">
                <a:xfrm>
                  <a:off x="3780" y="2684"/>
                  <a:ext cx="263" cy="1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en-US"/>
                  </a:defPPr>
                  <a:lvl1pPr marL="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7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6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5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4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3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200" algn="l" defTabSz="685800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TW" altLang="en-US" sz="600" dirty="0">
                      <a:solidFill>
                        <a:srgbClr val="000000"/>
                      </a:solidFill>
                      <a:latin typeface="+mn-ea"/>
                      <a:ea typeface="+mn-ea"/>
                    </a:rPr>
                    <a:t>玻璃</a:t>
                  </a:r>
                  <a:endParaRPr lang="zh-TW" altLang="en-US" sz="600" dirty="0">
                    <a:latin typeface="+mn-ea"/>
                    <a:ea typeface="+mn-ea"/>
                  </a:endParaRPr>
                </a:p>
              </p:txBody>
            </p:sp>
          </p:grpSp>
          <p:cxnSp>
            <p:nvCxnSpPr>
              <p:cNvPr id="187" name="直線單箭頭接點 186"/>
              <p:cNvCxnSpPr/>
              <p:nvPr/>
            </p:nvCxnSpPr>
            <p:spPr>
              <a:xfrm flipV="1">
                <a:off x="7958726" y="1428678"/>
                <a:ext cx="294908" cy="4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7" name="矩形 196"/>
            <p:cNvSpPr/>
            <p:nvPr/>
          </p:nvSpPr>
          <p:spPr>
            <a:xfrm>
              <a:off x="7191560" y="1465682"/>
              <a:ext cx="600934" cy="266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600" dirty="0" smtClean="0">
                  <a:latin typeface="+mn-ea"/>
                </a:rPr>
                <a:t>Seal</a:t>
              </a:r>
              <a:r>
                <a:rPr lang="zh-TW" altLang="en-US" sz="600" dirty="0" smtClean="0">
                  <a:latin typeface="+mn-ea"/>
                </a:rPr>
                <a:t>膠</a:t>
              </a:r>
              <a:endParaRPr lang="zh-TW" altLang="en-US" sz="600" dirty="0"/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6162444" y="1641413"/>
            <a:ext cx="3258671" cy="1195713"/>
            <a:chOff x="5650869" y="1546039"/>
            <a:chExt cx="3258671" cy="1195713"/>
          </a:xfrm>
        </p:grpSpPr>
        <p:pic>
          <p:nvPicPr>
            <p:cNvPr id="158" name="Picture 2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719987" y="1682726"/>
              <a:ext cx="2242725" cy="10590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矩形 6"/>
            <p:cNvSpPr/>
            <p:nvPr/>
          </p:nvSpPr>
          <p:spPr>
            <a:xfrm>
              <a:off x="5650869" y="1546039"/>
              <a:ext cx="370614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600" dirty="0">
                  <a:latin typeface="+mn-ea"/>
                </a:rPr>
                <a:t>NG</a:t>
              </a:r>
              <a:r>
                <a:rPr lang="zh-TW" altLang="en-US" sz="600" dirty="0">
                  <a:latin typeface="+mn-ea"/>
                </a:rPr>
                <a:t>率</a:t>
              </a:r>
              <a:endParaRPr lang="zh-TW" altLang="en-US" sz="600" dirty="0"/>
            </a:p>
          </p:txBody>
        </p:sp>
        <p:sp>
          <p:nvSpPr>
            <p:cNvPr id="156" name="矩形 155"/>
            <p:cNvSpPr/>
            <p:nvPr/>
          </p:nvSpPr>
          <p:spPr>
            <a:xfrm>
              <a:off x="6072033" y="1721802"/>
              <a:ext cx="28375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TW" altLang="en-US" sz="800" dirty="0" smtClean="0">
                  <a:solidFill>
                    <a:srgbClr val="FF0000"/>
                  </a:solidFill>
                  <a:latin typeface="+mn-ea"/>
                </a:rPr>
                <a:t>人檢造成缺陷漏檢</a:t>
              </a:r>
              <a:r>
                <a:rPr lang="en-US" altLang="zh-TW" sz="800" dirty="0" smtClean="0">
                  <a:solidFill>
                    <a:srgbClr val="FF0000"/>
                  </a:solidFill>
                  <a:latin typeface="+mn-ea"/>
                </a:rPr>
                <a:t>&amp;</a:t>
              </a:r>
              <a:r>
                <a:rPr lang="zh-TW" altLang="en-US" sz="800" dirty="0" smtClean="0">
                  <a:solidFill>
                    <a:srgbClr val="FF0000"/>
                  </a:solidFill>
                  <a:latin typeface="+mn-ea"/>
                </a:rPr>
                <a:t>品質不穩定</a:t>
              </a:r>
              <a:r>
                <a:rPr lang="zh-TW" altLang="en-US" sz="800" dirty="0" smtClean="0">
                  <a:latin typeface="+mn-ea"/>
                </a:rPr>
                <a:t>：</a:t>
              </a:r>
              <a:endParaRPr lang="en-US" altLang="zh-TW" sz="800" dirty="0" smtClean="0">
                <a:latin typeface="+mn-ea"/>
              </a:endParaRPr>
            </a:p>
            <a:p>
              <a:pPr>
                <a:spcBef>
                  <a:spcPct val="0"/>
                </a:spcBef>
              </a:pPr>
              <a:r>
                <a:rPr lang="zh-TW" altLang="en-US" sz="800" dirty="0" smtClean="0">
                  <a:latin typeface="+mn-ea"/>
                </a:rPr>
                <a:t>觀察不同</a:t>
              </a:r>
              <a:r>
                <a:rPr lang="en-US" altLang="zh-TW" sz="800" dirty="0" err="1" smtClean="0">
                  <a:latin typeface="+mn-ea"/>
                </a:rPr>
                <a:t>Reclean</a:t>
              </a:r>
              <a:r>
                <a:rPr lang="en-US" altLang="zh-TW" sz="800" dirty="0" smtClean="0">
                  <a:latin typeface="+mn-ea"/>
                </a:rPr>
                <a:t> Ratio</a:t>
              </a:r>
              <a:r>
                <a:rPr lang="zh-TW" altLang="en-US" sz="800" dirty="0" smtClean="0">
                  <a:latin typeface="+mn-ea"/>
                </a:rPr>
                <a:t>，噴嘴異常</a:t>
              </a:r>
              <a:r>
                <a:rPr lang="en-US" altLang="zh-TW" sz="800" dirty="0" smtClean="0">
                  <a:latin typeface="+mn-ea"/>
                </a:rPr>
                <a:t>NG</a:t>
              </a:r>
              <a:r>
                <a:rPr lang="zh-TW" altLang="en-US" sz="800" dirty="0" smtClean="0">
                  <a:latin typeface="+mn-ea"/>
                </a:rPr>
                <a:t>率未穩定統一</a:t>
              </a:r>
              <a:endParaRPr lang="en-US" altLang="zh-TW" sz="800" dirty="0">
                <a:latin typeface="+mn-ea"/>
              </a:endParaRPr>
            </a:p>
          </p:txBody>
        </p:sp>
      </p:grpSp>
      <p:sp>
        <p:nvSpPr>
          <p:cNvPr id="160" name="圓角矩形 159"/>
          <p:cNvSpPr/>
          <p:nvPr/>
        </p:nvSpPr>
        <p:spPr>
          <a:xfrm>
            <a:off x="7499440" y="3861007"/>
            <a:ext cx="1466881" cy="798615"/>
          </a:xfrm>
          <a:prstGeom prst="roundRect">
            <a:avLst>
              <a:gd name="adj" fmla="val 1548"/>
            </a:avLst>
          </a:prstGeom>
          <a:solidFill>
            <a:schemeClr val="bg1"/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/>
          </a:p>
        </p:txBody>
      </p:sp>
      <p:sp>
        <p:nvSpPr>
          <p:cNvPr id="161" name="文字方塊 57"/>
          <p:cNvSpPr txBox="1"/>
          <p:nvPr/>
        </p:nvSpPr>
        <p:spPr>
          <a:xfrm>
            <a:off x="7488162" y="4141708"/>
            <a:ext cx="125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000" dirty="0" smtClean="0">
                <a:sym typeface="Wingdings" pitchFamily="2" charset="2"/>
              </a:rPr>
              <a:t>人員檢查工時</a:t>
            </a:r>
            <a:endParaRPr lang="en-US" altLang="zh-TW" sz="1000" dirty="0" smtClean="0">
              <a:sym typeface="Wingdings" pitchFamily="2" charset="2"/>
            </a:endParaRPr>
          </a:p>
          <a:p>
            <a:r>
              <a:rPr lang="en-US" altLang="zh-TW" sz="1000" dirty="0" smtClean="0">
                <a:solidFill>
                  <a:schemeClr val="accent1"/>
                </a:solidFill>
                <a:sym typeface="Wingdings" pitchFamily="2" charset="2"/>
              </a:rPr>
              <a:t>300 </a:t>
            </a:r>
            <a:r>
              <a:rPr lang="en-US" altLang="zh-TW" sz="1000" dirty="0" err="1" smtClean="0">
                <a:solidFill>
                  <a:schemeClr val="accent1"/>
                </a:solidFill>
                <a:sym typeface="Wingdings" pitchFamily="2" charset="2"/>
              </a:rPr>
              <a:t>hrs</a:t>
            </a:r>
            <a:r>
              <a:rPr lang="en-US" altLang="zh-TW" sz="1000" dirty="0" smtClean="0">
                <a:solidFill>
                  <a:schemeClr val="accent1"/>
                </a:solidFill>
                <a:sym typeface="Wingdings" pitchFamily="2" charset="2"/>
              </a:rPr>
              <a:t>/</a:t>
            </a:r>
            <a:r>
              <a:rPr lang="zh-TW" altLang="en-US" sz="1000" dirty="0">
                <a:solidFill>
                  <a:schemeClr val="accent1"/>
                </a:solidFill>
                <a:sym typeface="Wingdings" pitchFamily="2" charset="2"/>
              </a:rPr>
              <a:t>年</a:t>
            </a:r>
            <a:endParaRPr lang="zh-TW" altLang="en-US" sz="1000" dirty="0">
              <a:solidFill>
                <a:schemeClr val="accent1"/>
              </a:solidFill>
            </a:endParaRPr>
          </a:p>
        </p:txBody>
      </p:sp>
      <p:sp>
        <p:nvSpPr>
          <p:cNvPr id="162" name="文字方塊 59"/>
          <p:cNvSpPr txBox="1"/>
          <p:nvPr/>
        </p:nvSpPr>
        <p:spPr>
          <a:xfrm>
            <a:off x="7451624" y="3893669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TW" altLang="en-US" sz="1000" b="1" dirty="0" smtClean="0"/>
              <a:t>人力工時成本</a:t>
            </a:r>
            <a:endParaRPr lang="zh-TW" altLang="en-US" sz="1000" b="1" dirty="0"/>
          </a:p>
        </p:txBody>
      </p:sp>
      <p:sp>
        <p:nvSpPr>
          <p:cNvPr id="164" name="圓角矩形 163"/>
          <p:cNvSpPr/>
          <p:nvPr/>
        </p:nvSpPr>
        <p:spPr>
          <a:xfrm>
            <a:off x="7489642" y="3027780"/>
            <a:ext cx="1466881" cy="798615"/>
          </a:xfrm>
          <a:prstGeom prst="roundRect">
            <a:avLst>
              <a:gd name="adj" fmla="val 1548"/>
            </a:avLst>
          </a:prstGeom>
          <a:solidFill>
            <a:schemeClr val="bg1"/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00"/>
          </a:p>
        </p:txBody>
      </p:sp>
      <p:sp>
        <p:nvSpPr>
          <p:cNvPr id="166" name="文字方塊 64"/>
          <p:cNvSpPr txBox="1"/>
          <p:nvPr/>
        </p:nvSpPr>
        <p:spPr>
          <a:xfrm>
            <a:off x="7478215" y="3256997"/>
            <a:ext cx="11495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TW" altLang="en-US" sz="1000" dirty="0" smtClean="0"/>
              <a:t>因噴嘴異常造成的玻璃報廢 </a:t>
            </a:r>
            <a:r>
              <a:rPr lang="en-US" altLang="zh-TW" sz="1000" dirty="0" smtClean="0">
                <a:solidFill>
                  <a:schemeClr val="accent1"/>
                </a:solidFill>
              </a:rPr>
              <a:t>188.28</a:t>
            </a:r>
            <a:r>
              <a:rPr lang="zh-TW" altLang="en-US" sz="1000" dirty="0" smtClean="0">
                <a:solidFill>
                  <a:schemeClr val="accent1"/>
                </a:solidFill>
              </a:rPr>
              <a:t>萬</a:t>
            </a:r>
            <a:r>
              <a:rPr lang="en-US" altLang="zh-TW" sz="1000" dirty="0" smtClean="0">
                <a:solidFill>
                  <a:schemeClr val="accent1"/>
                </a:solidFill>
              </a:rPr>
              <a:t>/</a:t>
            </a:r>
            <a:r>
              <a:rPr lang="zh-TW" altLang="en-US" sz="1000" dirty="0" smtClean="0">
                <a:solidFill>
                  <a:schemeClr val="accent1"/>
                </a:solidFill>
              </a:rPr>
              <a:t>年</a:t>
            </a:r>
            <a:endParaRPr lang="zh-TW" altLang="en-US" sz="1000" dirty="0">
              <a:solidFill>
                <a:schemeClr val="accent1"/>
              </a:solidFill>
            </a:endParaRPr>
          </a:p>
        </p:txBody>
      </p:sp>
      <p:sp>
        <p:nvSpPr>
          <p:cNvPr id="181" name="文字方塊 65"/>
          <p:cNvSpPr txBox="1"/>
          <p:nvPr/>
        </p:nvSpPr>
        <p:spPr>
          <a:xfrm>
            <a:off x="7451624" y="3050377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zh-TW" altLang="en-US" sz="1000" b="1" dirty="0"/>
              <a:t>重大</a:t>
            </a:r>
            <a:r>
              <a:rPr lang="zh-TW" altLang="en-US" sz="1000" b="1" dirty="0" smtClean="0"/>
              <a:t>異常報</a:t>
            </a:r>
            <a:r>
              <a:rPr lang="zh-TW" altLang="en-US" sz="1000" b="1" dirty="0"/>
              <a:t>廢</a:t>
            </a:r>
          </a:p>
        </p:txBody>
      </p:sp>
      <p:pic>
        <p:nvPicPr>
          <p:cNvPr id="182" name="圖片 18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750" y="3307200"/>
            <a:ext cx="321318" cy="384858"/>
          </a:xfrm>
          <a:prstGeom prst="rect">
            <a:avLst/>
          </a:prstGeom>
        </p:spPr>
      </p:pic>
      <p:pic>
        <p:nvPicPr>
          <p:cNvPr id="186" name="圖片 18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572" y="4144522"/>
            <a:ext cx="360916" cy="43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3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16819" y="3919659"/>
            <a:ext cx="926926" cy="21294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/>
        </p:nvSpPr>
        <p:spPr>
          <a:xfrm>
            <a:off x="716818" y="4131508"/>
            <a:ext cx="1327759" cy="21294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/>
        </p:nvSpPr>
        <p:spPr>
          <a:xfrm>
            <a:off x="716817" y="4324684"/>
            <a:ext cx="1327759" cy="21294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/>
          <p:nvPr/>
        </p:nvCxnSpPr>
        <p:spPr>
          <a:xfrm>
            <a:off x="144399" y="2482736"/>
            <a:ext cx="7239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144399" y="2273379"/>
            <a:ext cx="9999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改善後</a:t>
            </a:r>
            <a:endParaRPr lang="zh-TW" altLang="en-US" dirty="0"/>
          </a:p>
        </p:txBody>
      </p:sp>
      <p:cxnSp>
        <p:nvCxnSpPr>
          <p:cNvPr id="31" name="直線接點 30"/>
          <p:cNvCxnSpPr/>
          <p:nvPr/>
        </p:nvCxnSpPr>
        <p:spPr>
          <a:xfrm>
            <a:off x="150313" y="1406649"/>
            <a:ext cx="7239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50313" y="1182767"/>
            <a:ext cx="9999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改善前</a:t>
            </a:r>
            <a:endParaRPr lang="zh-TW" altLang="en-US" dirty="0"/>
          </a:p>
        </p:txBody>
      </p:sp>
      <p:grpSp>
        <p:nvGrpSpPr>
          <p:cNvPr id="54" name="群組 53"/>
          <p:cNvGrpSpPr/>
          <p:nvPr/>
        </p:nvGrpSpPr>
        <p:grpSpPr>
          <a:xfrm>
            <a:off x="1155247" y="1866666"/>
            <a:ext cx="6562815" cy="1316256"/>
            <a:chOff x="1163356" y="2064786"/>
            <a:chExt cx="4235015" cy="1316256"/>
          </a:xfrm>
        </p:grpSpPr>
        <p:sp>
          <p:nvSpPr>
            <p:cNvPr id="23" name="圓角矩形 22"/>
            <p:cNvSpPr/>
            <p:nvPr/>
          </p:nvSpPr>
          <p:spPr>
            <a:xfrm>
              <a:off x="1163356" y="2064786"/>
              <a:ext cx="4235015" cy="1316256"/>
            </a:xfrm>
            <a:prstGeom prst="roundRect">
              <a:avLst>
                <a:gd name="adj" fmla="val 1087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350871" y="2225838"/>
              <a:ext cx="633250" cy="351482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 smtClean="0"/>
                <a:t>全自動化控制</a:t>
              </a:r>
              <a:endParaRPr lang="zh-TW" altLang="en-US" sz="9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148739" y="2226930"/>
              <a:ext cx="643102" cy="35148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 smtClean="0"/>
                <a:t>自動對焦技術</a:t>
              </a:r>
              <a:endParaRPr lang="zh-TW" altLang="en-US" sz="900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2148739" y="2761967"/>
              <a:ext cx="643102" cy="35148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 smtClean="0"/>
                <a:t>全焦距</a:t>
              </a:r>
              <a:endParaRPr lang="en-US" altLang="zh-TW" sz="900" dirty="0"/>
            </a:p>
            <a:p>
              <a:pPr algn="ctr"/>
              <a:r>
                <a:rPr lang="zh-TW" altLang="en-US" sz="900" dirty="0" smtClean="0"/>
                <a:t>影像融合</a:t>
              </a:r>
              <a:endParaRPr lang="zh-TW" altLang="en-US" sz="900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1350871" y="2782101"/>
              <a:ext cx="633250" cy="351482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 smtClean="0"/>
                <a:t>新型噴嘴治具</a:t>
              </a:r>
              <a:endParaRPr lang="zh-TW" altLang="en-US" sz="9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2988383" y="2224370"/>
              <a:ext cx="672138" cy="35148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 smtClean="0"/>
                <a:t>自適應</a:t>
              </a:r>
              <a:endParaRPr lang="en-US" altLang="zh-TW" sz="900" dirty="0" smtClean="0"/>
            </a:p>
            <a:p>
              <a:pPr algn="ctr"/>
              <a:r>
                <a:rPr lang="zh-TW" altLang="en-US" sz="900" dirty="0" smtClean="0"/>
                <a:t>口徑量測</a:t>
              </a:r>
              <a:endParaRPr lang="zh-TW" altLang="en-US" sz="9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2988383" y="2763911"/>
              <a:ext cx="672138" cy="351481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 smtClean="0"/>
                <a:t>噴嘴</a:t>
              </a:r>
              <a:endParaRPr lang="en-US" altLang="zh-TW" sz="900" dirty="0" smtClean="0"/>
            </a:p>
            <a:p>
              <a:pPr algn="ctr"/>
              <a:r>
                <a:rPr lang="zh-TW" altLang="en-US" sz="900" dirty="0" smtClean="0"/>
                <a:t>缺陷</a:t>
              </a:r>
              <a:r>
                <a:rPr lang="zh-TW" altLang="en-US" sz="900" dirty="0"/>
                <a:t>辨識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3811343" y="2224370"/>
              <a:ext cx="618798" cy="88907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dirty="0" smtClean="0"/>
                <a:t>數據</a:t>
              </a:r>
              <a:endParaRPr lang="en-US" altLang="zh-TW" sz="900" dirty="0" smtClean="0"/>
            </a:p>
            <a:p>
              <a:pPr algn="ctr"/>
              <a:r>
                <a:rPr lang="zh-TW" altLang="en-US" sz="900" dirty="0" smtClean="0"/>
                <a:t>自動儲存管理</a:t>
              </a:r>
              <a:endParaRPr lang="zh-TW" altLang="en-US" sz="900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4628372" y="2224370"/>
              <a:ext cx="618798" cy="88907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 smtClean="0"/>
                <a:t>XY</a:t>
              </a:r>
              <a:r>
                <a:rPr lang="zh-TW" altLang="en-US" sz="900" dirty="0" smtClean="0"/>
                <a:t>電動平台</a:t>
              </a:r>
              <a:endParaRPr lang="en-US" altLang="zh-TW" sz="900" dirty="0" smtClean="0"/>
            </a:p>
            <a:p>
              <a:pPr algn="ctr"/>
              <a:r>
                <a:rPr lang="zh-TW" altLang="en-US" sz="900" dirty="0" smtClean="0"/>
                <a:t>自動移動</a:t>
              </a:r>
              <a:endParaRPr lang="en-US" altLang="zh-TW" sz="900" dirty="0" smtClean="0"/>
            </a:p>
            <a:p>
              <a:pPr algn="ctr"/>
              <a:r>
                <a:rPr lang="zh-TW" altLang="en-US" sz="900" dirty="0" smtClean="0"/>
                <a:t>噴嘴位置</a:t>
              </a:r>
              <a:endParaRPr lang="zh-TW" altLang="en-US" sz="900" dirty="0"/>
            </a:p>
          </p:txBody>
        </p:sp>
        <p:sp>
          <p:nvSpPr>
            <p:cNvPr id="8" name="向右箭號 7"/>
            <p:cNvSpPr/>
            <p:nvPr/>
          </p:nvSpPr>
          <p:spPr>
            <a:xfrm>
              <a:off x="1991741" y="2463942"/>
              <a:ext cx="146366" cy="396240"/>
            </a:xfrm>
            <a:prstGeom prst="rightArrow">
              <a:avLst>
                <a:gd name="adj1" fmla="val 42308"/>
                <a:gd name="adj2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" name="肘形接點 6"/>
            <p:cNvCxnSpPr>
              <a:stCxn id="21" idx="2"/>
              <a:endCxn id="17" idx="2"/>
            </p:cNvCxnSpPr>
            <p:nvPr/>
          </p:nvCxnSpPr>
          <p:spPr>
            <a:xfrm rot="5400000">
              <a:off x="3292567" y="1488378"/>
              <a:ext cx="20135" cy="3270275"/>
            </a:xfrm>
            <a:prstGeom prst="bentConnector3">
              <a:avLst>
                <a:gd name="adj1" fmla="val 856881"/>
              </a:avLst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29" name="十字形 28"/>
            <p:cNvSpPr/>
            <p:nvPr/>
          </p:nvSpPr>
          <p:spPr>
            <a:xfrm>
              <a:off x="2435513" y="2604447"/>
              <a:ext cx="84294" cy="127591"/>
            </a:xfrm>
            <a:prstGeom prst="plus">
              <a:avLst>
                <a:gd name="adj" fmla="val 3561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288345" y="2170413"/>
              <a:ext cx="172762" cy="1442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endParaRPr lang="zh-TW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288345" y="2729175"/>
              <a:ext cx="172762" cy="1442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endParaRPr lang="zh-TW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118948" y="2170413"/>
              <a:ext cx="172762" cy="1442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endParaRPr lang="zh-TW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2945927" y="2172289"/>
              <a:ext cx="172762" cy="1442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5</a:t>
              </a:r>
              <a:endParaRPr lang="zh-TW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964444" y="2723833"/>
              <a:ext cx="172762" cy="14422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</a:t>
              </a:r>
              <a:endParaRPr lang="zh-TW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4" name="圓角矩形 33"/>
          <p:cNvSpPr/>
          <p:nvPr/>
        </p:nvSpPr>
        <p:spPr>
          <a:xfrm>
            <a:off x="1178107" y="1000708"/>
            <a:ext cx="6562815" cy="77606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0" dirty="0"/>
          </a:p>
        </p:txBody>
      </p:sp>
      <p:sp>
        <p:nvSpPr>
          <p:cNvPr id="36" name="矩形 35"/>
          <p:cNvSpPr/>
          <p:nvPr/>
        </p:nvSpPr>
        <p:spPr>
          <a:xfrm>
            <a:off x="1402587" y="1168958"/>
            <a:ext cx="1144059" cy="366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 smtClean="0"/>
              <a:t>手持噴嘴治具</a:t>
            </a:r>
            <a:endParaRPr lang="en-US" altLang="zh-TW" sz="1000" dirty="0" smtClean="0"/>
          </a:p>
          <a:p>
            <a:pPr algn="ctr"/>
            <a:r>
              <a:rPr lang="zh-TW" altLang="en-US" sz="1000" dirty="0" smtClean="0"/>
              <a:t>在顯微鏡下檢視</a:t>
            </a:r>
            <a:endParaRPr lang="zh-TW" altLang="en-US" sz="1000" dirty="0"/>
          </a:p>
        </p:txBody>
      </p:sp>
      <p:sp>
        <p:nvSpPr>
          <p:cNvPr id="37" name="矩形 36"/>
          <p:cNvSpPr/>
          <p:nvPr/>
        </p:nvSpPr>
        <p:spPr>
          <a:xfrm>
            <a:off x="2816606" y="1172015"/>
            <a:ext cx="778061" cy="366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 smtClean="0"/>
              <a:t>手動對焦拍照</a:t>
            </a:r>
            <a:endParaRPr lang="zh-TW" altLang="en-US" sz="1000" dirty="0"/>
          </a:p>
        </p:txBody>
      </p:sp>
      <p:sp>
        <p:nvSpPr>
          <p:cNvPr id="39" name="矩形 38"/>
          <p:cNvSpPr/>
          <p:nvPr/>
        </p:nvSpPr>
        <p:spPr>
          <a:xfrm>
            <a:off x="3927696" y="1168958"/>
            <a:ext cx="937950" cy="366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 smtClean="0"/>
              <a:t>人員檢查缺陷和口徑</a:t>
            </a:r>
            <a:endParaRPr lang="zh-TW" altLang="en-US" sz="1000" dirty="0"/>
          </a:p>
        </p:txBody>
      </p:sp>
      <p:sp>
        <p:nvSpPr>
          <p:cNvPr id="44" name="矩形 43"/>
          <p:cNvSpPr/>
          <p:nvPr/>
        </p:nvSpPr>
        <p:spPr>
          <a:xfrm>
            <a:off x="5171692" y="1161830"/>
            <a:ext cx="937950" cy="366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 smtClean="0"/>
              <a:t>手動紙本記錄檢測結果</a:t>
            </a:r>
            <a:endParaRPr lang="zh-TW" altLang="en-US" sz="1000" dirty="0"/>
          </a:p>
        </p:txBody>
      </p:sp>
      <p:sp>
        <p:nvSpPr>
          <p:cNvPr id="45" name="矩形 44"/>
          <p:cNvSpPr/>
          <p:nvPr/>
        </p:nvSpPr>
        <p:spPr>
          <a:xfrm>
            <a:off x="6490971" y="1161830"/>
            <a:ext cx="1079548" cy="3666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00" dirty="0" smtClean="0"/>
              <a:t>手動移動治具到下一個噴嘴位置</a:t>
            </a:r>
            <a:endParaRPr lang="zh-TW" altLang="en-US" sz="1000" dirty="0"/>
          </a:p>
        </p:txBody>
      </p:sp>
      <p:cxnSp>
        <p:nvCxnSpPr>
          <p:cNvPr id="47" name="直線單箭頭接點 46"/>
          <p:cNvCxnSpPr>
            <a:stCxn id="36" idx="3"/>
            <a:endCxn id="37" idx="1"/>
          </p:cNvCxnSpPr>
          <p:nvPr/>
        </p:nvCxnSpPr>
        <p:spPr>
          <a:xfrm>
            <a:off x="2546646" y="1352271"/>
            <a:ext cx="269961" cy="3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37" idx="3"/>
            <a:endCxn id="39" idx="1"/>
          </p:cNvCxnSpPr>
          <p:nvPr/>
        </p:nvCxnSpPr>
        <p:spPr>
          <a:xfrm flipV="1">
            <a:off x="3594668" y="1352271"/>
            <a:ext cx="333029" cy="3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39" idx="3"/>
            <a:endCxn id="44" idx="1"/>
          </p:cNvCxnSpPr>
          <p:nvPr/>
        </p:nvCxnSpPr>
        <p:spPr>
          <a:xfrm flipV="1">
            <a:off x="4865647" y="1345143"/>
            <a:ext cx="306045" cy="7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44" idx="3"/>
            <a:endCxn id="45" idx="1"/>
          </p:cNvCxnSpPr>
          <p:nvPr/>
        </p:nvCxnSpPr>
        <p:spPr>
          <a:xfrm>
            <a:off x="6109643" y="1345143"/>
            <a:ext cx="3813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接點 51"/>
          <p:cNvCxnSpPr>
            <a:stCxn id="45" idx="2"/>
            <a:endCxn id="36" idx="2"/>
          </p:cNvCxnSpPr>
          <p:nvPr/>
        </p:nvCxnSpPr>
        <p:spPr>
          <a:xfrm rot="5400000">
            <a:off x="4499117" y="-996044"/>
            <a:ext cx="7128" cy="5056129"/>
          </a:xfrm>
          <a:prstGeom prst="bentConnector3">
            <a:avLst>
              <a:gd name="adj1" fmla="val 234492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十字形 54"/>
          <p:cNvSpPr/>
          <p:nvPr/>
        </p:nvSpPr>
        <p:spPr>
          <a:xfrm>
            <a:off x="1876505" y="2414572"/>
            <a:ext cx="130627" cy="127591"/>
          </a:xfrm>
          <a:prstGeom prst="plus">
            <a:avLst>
              <a:gd name="adj" fmla="val 356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十字形 55"/>
          <p:cNvSpPr/>
          <p:nvPr/>
        </p:nvSpPr>
        <p:spPr>
          <a:xfrm>
            <a:off x="4435004" y="2400146"/>
            <a:ext cx="130627" cy="127591"/>
          </a:xfrm>
          <a:prstGeom prst="plus">
            <a:avLst>
              <a:gd name="adj" fmla="val 35615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/>
        </p:nvSpPr>
        <p:spPr>
          <a:xfrm>
            <a:off x="2668015" y="2511867"/>
            <a:ext cx="267722" cy="14422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TW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0" name="向右箭號 59"/>
          <p:cNvSpPr/>
          <p:nvPr/>
        </p:nvSpPr>
        <p:spPr>
          <a:xfrm>
            <a:off x="3719860" y="2257193"/>
            <a:ext cx="226817" cy="396240"/>
          </a:xfrm>
          <a:prstGeom prst="rightArrow">
            <a:avLst>
              <a:gd name="adj1" fmla="val 42308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向右箭號 60"/>
          <p:cNvSpPr/>
          <p:nvPr/>
        </p:nvSpPr>
        <p:spPr>
          <a:xfrm>
            <a:off x="5031310" y="2271826"/>
            <a:ext cx="226817" cy="396240"/>
          </a:xfrm>
          <a:prstGeom prst="rightArrow">
            <a:avLst>
              <a:gd name="adj1" fmla="val 42308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向右箭號 61"/>
          <p:cNvSpPr/>
          <p:nvPr/>
        </p:nvSpPr>
        <p:spPr>
          <a:xfrm>
            <a:off x="6257826" y="2291184"/>
            <a:ext cx="226817" cy="396240"/>
          </a:xfrm>
          <a:prstGeom prst="rightArrow">
            <a:avLst>
              <a:gd name="adj1" fmla="val 42308"/>
              <a:gd name="adj2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46920" y="3264864"/>
            <a:ext cx="9084538" cy="1528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zh-TW" altLang="en-US" sz="1200" dirty="0" smtClean="0"/>
              <a:t>本發明提出一種噴嘴外觀和內部缺陷檢測的系統裝置</a:t>
            </a:r>
            <a:endParaRPr lang="en-US" altLang="zh-TW" sz="1200" dirty="0" smtClean="0"/>
          </a:p>
          <a:p>
            <a:pPr marL="628650" lvl="1" indent="-285750">
              <a:lnSpc>
                <a:spcPts val="1600"/>
              </a:lnSpc>
              <a:buFont typeface="+mj-lt"/>
              <a:buAutoNum type="arabicPeriod"/>
            </a:pPr>
            <a:r>
              <a:rPr lang="zh-TW" altLang="en-US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全自動化控制模組：</a:t>
            </a:r>
            <a:r>
              <a:rPr lang="zh-TW" altLang="en-US" sz="1100" dirty="0" smtClean="0">
                <a:sym typeface="Wingdings" panose="05000000000000000000" pitchFamily="2" charset="2"/>
              </a:rPr>
              <a:t>整</a:t>
            </a:r>
            <a:r>
              <a:rPr lang="zh-TW" altLang="en-US" sz="1100" dirty="0">
                <a:sym typeface="Wingdings" panose="05000000000000000000" pitchFamily="2" charset="2"/>
              </a:rPr>
              <a:t>合</a:t>
            </a:r>
            <a:r>
              <a:rPr lang="zh-TW" altLang="en-US" sz="1100" dirty="0" smtClean="0">
                <a:sym typeface="Wingdings" panose="05000000000000000000" pitchFamily="2" charset="2"/>
              </a:rPr>
              <a:t>升降馬達、</a:t>
            </a:r>
            <a:r>
              <a:rPr lang="en-US" altLang="zh-TW" sz="1100" dirty="0">
                <a:sym typeface="Wingdings" panose="05000000000000000000" pitchFamily="2" charset="2"/>
              </a:rPr>
              <a:t> XY</a:t>
            </a:r>
            <a:r>
              <a:rPr lang="zh-TW" altLang="en-US" sz="1100" dirty="0" smtClean="0">
                <a:sym typeface="Wingdings" panose="05000000000000000000" pitchFamily="2" charset="2"/>
              </a:rPr>
              <a:t>平台、顯微鏡、雙光源，實現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自動拍照</a:t>
            </a:r>
            <a:r>
              <a:rPr lang="zh-TW" altLang="en-US" sz="1100" dirty="0" smtClean="0">
                <a:sym typeface="Wingdings" panose="05000000000000000000" pitchFamily="2" charset="2"/>
              </a:rPr>
              <a:t>與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位置校正</a:t>
            </a:r>
            <a:r>
              <a:rPr lang="zh-TW" altLang="en-US" sz="1100" dirty="0" smtClean="0">
                <a:sym typeface="Wingdings" panose="05000000000000000000" pitchFamily="2" charset="2"/>
              </a:rPr>
              <a:t>流程，自動控制拍攝位置，免於人工干預</a:t>
            </a:r>
            <a:endParaRPr lang="en-US" altLang="zh-TW" sz="1100" dirty="0" smtClean="0">
              <a:sym typeface="Wingdings" panose="05000000000000000000" pitchFamily="2" charset="2"/>
            </a:endParaRPr>
          </a:p>
          <a:p>
            <a:pPr marL="628650" lvl="1" indent="-285750">
              <a:lnSpc>
                <a:spcPts val="1600"/>
              </a:lnSpc>
              <a:buFont typeface="+mj-lt"/>
              <a:buAutoNum type="arabicPeriod"/>
            </a:pPr>
            <a:r>
              <a:rPr lang="zh-TW" altLang="en-US" sz="1100" dirty="0" smtClean="0">
                <a:solidFill>
                  <a:srgbClr val="0909B7"/>
                </a:solidFill>
              </a:rPr>
              <a:t>新型噴嘴</a:t>
            </a:r>
            <a:r>
              <a:rPr lang="zh-TW" altLang="en-US" sz="1100" dirty="0">
                <a:solidFill>
                  <a:srgbClr val="0909B7"/>
                </a:solidFill>
              </a:rPr>
              <a:t>治</a:t>
            </a:r>
            <a:r>
              <a:rPr lang="zh-TW" altLang="en-US" sz="1100" dirty="0" smtClean="0">
                <a:solidFill>
                  <a:srgbClr val="0909B7"/>
                </a:solidFill>
              </a:rPr>
              <a:t>具</a:t>
            </a:r>
            <a:r>
              <a:rPr lang="zh-TW" altLang="en-US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：</a:t>
            </a:r>
            <a:r>
              <a:rPr lang="zh-TW" altLang="en-US" sz="1100" dirty="0" smtClean="0">
                <a:sym typeface="Wingdings" panose="05000000000000000000" pitchFamily="2" charset="2"/>
              </a:rPr>
              <a:t>新型</a:t>
            </a:r>
            <a:r>
              <a:rPr lang="zh-TW" altLang="en-US" sz="1100" dirty="0">
                <a:sym typeface="Wingdings" panose="05000000000000000000" pitchFamily="2" charset="2"/>
              </a:rPr>
              <a:t>治</a:t>
            </a:r>
            <a:r>
              <a:rPr lang="zh-TW" altLang="en-US" sz="1100" dirty="0" smtClean="0">
                <a:sym typeface="Wingdings" panose="05000000000000000000" pitchFamily="2" charset="2"/>
              </a:rPr>
              <a:t>具可固定噴嘴於精準位置，並支援</a:t>
            </a:r>
            <a:r>
              <a:rPr lang="zh-TW" altLang="en-US" sz="1100" dirty="0" smtClean="0"/>
              <a:t>噴嘴</a:t>
            </a:r>
            <a:r>
              <a:rPr lang="zh-TW" altLang="en-US" sz="1100" dirty="0" smtClean="0">
                <a:solidFill>
                  <a:srgbClr val="FF0000"/>
                </a:solidFill>
              </a:rPr>
              <a:t>外觀</a:t>
            </a:r>
            <a:r>
              <a:rPr lang="zh-TW" altLang="en-US" sz="1100" dirty="0"/>
              <a:t>和</a:t>
            </a:r>
            <a:r>
              <a:rPr lang="zh-TW" altLang="en-US" sz="1100" dirty="0">
                <a:solidFill>
                  <a:srgbClr val="FF0000"/>
                </a:solidFill>
              </a:rPr>
              <a:t>內部</a:t>
            </a:r>
            <a:r>
              <a:rPr lang="zh-TW" altLang="en-US" sz="1100" dirty="0"/>
              <a:t>的缺陷</a:t>
            </a:r>
            <a:r>
              <a:rPr lang="zh-TW" altLang="en-US" sz="1100" dirty="0">
                <a:sym typeface="Wingdings" panose="05000000000000000000" pitchFamily="2" charset="2"/>
              </a:rPr>
              <a:t>檢測，</a:t>
            </a:r>
            <a:r>
              <a:rPr lang="zh-TW" altLang="en-US" sz="1100" dirty="0" smtClean="0">
                <a:sym typeface="Wingdings" panose="05000000000000000000" pitchFamily="2" charset="2"/>
              </a:rPr>
              <a:t>不遺漏</a:t>
            </a:r>
            <a:r>
              <a:rPr lang="zh-TW" altLang="en-US" sz="1100" dirty="0">
                <a:sym typeface="Wingdings" panose="05000000000000000000" pitchFamily="2" charset="2"/>
              </a:rPr>
              <a:t>異常</a:t>
            </a:r>
            <a:r>
              <a:rPr lang="zh-TW" altLang="en-US" sz="1100" dirty="0" smtClean="0">
                <a:sym typeface="Wingdings" panose="05000000000000000000" pitchFamily="2" charset="2"/>
              </a:rPr>
              <a:t>噴嘴</a:t>
            </a:r>
            <a:endParaRPr lang="en-US" altLang="zh-TW" sz="1100" dirty="0" smtClean="0">
              <a:sym typeface="Wingdings" panose="05000000000000000000" pitchFamily="2" charset="2"/>
            </a:endParaRPr>
          </a:p>
          <a:p>
            <a:pPr marL="628650" lvl="1" indent="-285750">
              <a:lnSpc>
                <a:spcPts val="1600"/>
              </a:lnSpc>
              <a:buFont typeface="+mj-lt"/>
              <a:buAutoNum type="arabicPeriod"/>
            </a:pPr>
            <a:r>
              <a:rPr lang="zh-TW" altLang="en-US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自動對焦</a:t>
            </a:r>
            <a:r>
              <a:rPr lang="zh-TW" altLang="en-US" sz="1100" dirty="0">
                <a:solidFill>
                  <a:srgbClr val="0909B7"/>
                </a:solidFill>
                <a:sym typeface="Wingdings" panose="05000000000000000000" pitchFamily="2" charset="2"/>
              </a:rPr>
              <a:t>模組</a:t>
            </a:r>
            <a:r>
              <a:rPr lang="zh-TW" altLang="en-US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：</a:t>
            </a:r>
            <a:r>
              <a:rPr lang="zh-TW" altLang="en-US" sz="1100" dirty="0" smtClean="0">
                <a:sym typeface="Wingdings" panose="05000000000000000000" pitchFamily="2" charset="2"/>
              </a:rPr>
              <a:t>使用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升降馬達驅動顯微鏡高度</a:t>
            </a:r>
            <a:r>
              <a:rPr lang="zh-TW" altLang="en-US" sz="1100" dirty="0" smtClean="0">
                <a:sym typeface="Wingdings" panose="05000000000000000000" pitchFamily="2" charset="2"/>
              </a:rPr>
              <a:t>，結合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影像清晰度演算法</a:t>
            </a:r>
            <a:r>
              <a:rPr lang="zh-TW" altLang="en-US" sz="1100" dirty="0" smtClean="0">
                <a:sym typeface="Wingdings" panose="05000000000000000000" pitchFamily="2" charset="2"/>
              </a:rPr>
              <a:t>，動態找出最佳焦距影像，實現鏡頭自動對焦</a:t>
            </a:r>
            <a:endParaRPr lang="en-US" altLang="zh-TW" sz="1100" dirty="0" smtClean="0">
              <a:sym typeface="Wingdings" panose="05000000000000000000" pitchFamily="2" charset="2"/>
            </a:endParaRPr>
          </a:p>
          <a:p>
            <a:pPr marL="628650" lvl="1" indent="-285750">
              <a:lnSpc>
                <a:spcPts val="1600"/>
              </a:lnSpc>
              <a:buFont typeface="+mj-lt"/>
              <a:buAutoNum type="arabicPeriod"/>
            </a:pPr>
            <a:r>
              <a:rPr lang="zh-TW" altLang="en-US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全焦距影像融合方法：</a:t>
            </a:r>
            <a:r>
              <a:rPr lang="zh-TW" altLang="en-US" sz="1100" dirty="0">
                <a:sym typeface="Wingdings" panose="05000000000000000000" pitchFamily="2" charset="2"/>
              </a:rPr>
              <a:t>使</a:t>
            </a:r>
            <a:r>
              <a:rPr lang="zh-TW" altLang="en-US" sz="1100" dirty="0" smtClean="0">
                <a:sym typeface="Wingdings" panose="05000000000000000000" pitchFamily="2" charset="2"/>
              </a:rPr>
              <a:t>用多張不同焦距的影像，進行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焦點堆疊</a:t>
            </a:r>
            <a:r>
              <a:rPr lang="zh-TW" altLang="en-US" sz="1100" dirty="0" smtClean="0">
                <a:sym typeface="Wingdings" panose="05000000000000000000" pitchFamily="2" charset="2"/>
              </a:rPr>
              <a:t>和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局部區域融合</a:t>
            </a:r>
            <a:r>
              <a:rPr lang="zh-TW" altLang="en-US" sz="1100" dirty="0" smtClean="0">
                <a:sym typeface="Wingdings" panose="05000000000000000000" pitchFamily="2" charset="2"/>
              </a:rPr>
              <a:t>，合成單張全焦距清晰影像</a:t>
            </a:r>
            <a:endParaRPr lang="en-US" altLang="zh-TW" sz="1100" dirty="0" smtClean="0">
              <a:sym typeface="Wingdings" panose="05000000000000000000" pitchFamily="2" charset="2"/>
            </a:endParaRPr>
          </a:p>
          <a:p>
            <a:pPr marL="628650" lvl="1" indent="-285750">
              <a:lnSpc>
                <a:spcPts val="1600"/>
              </a:lnSpc>
              <a:buFont typeface="+mj-lt"/>
              <a:buAutoNum type="arabicPeriod"/>
            </a:pPr>
            <a:r>
              <a:rPr lang="zh-TW" altLang="en-US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自適應口徑量測方法：</a:t>
            </a:r>
            <a:r>
              <a:rPr lang="zh-TW" altLang="en-US" sz="1100" dirty="0" smtClean="0">
                <a:sym typeface="Wingdings" panose="05000000000000000000" pitchFamily="2" charset="2"/>
              </a:rPr>
              <a:t>使用深度學習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語義分割方法</a:t>
            </a:r>
            <a:r>
              <a:rPr lang="zh-TW" altLang="en-US" sz="1100" dirty="0" smtClean="0">
                <a:sym typeface="Wingdings" panose="05000000000000000000" pitchFamily="2" charset="2"/>
              </a:rPr>
              <a:t>標記口徑區，再以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最小平方圓法</a:t>
            </a:r>
            <a:r>
              <a:rPr lang="zh-TW" altLang="en-US" sz="1100" dirty="0" smtClean="0">
                <a:sym typeface="Wingdings" panose="05000000000000000000" pitchFamily="2" charset="2"/>
              </a:rPr>
              <a:t>擬合圓形，並量測實際口徑，適用多樣化噴嘴型號</a:t>
            </a:r>
            <a:endParaRPr lang="en-US" altLang="zh-TW" sz="1100" dirty="0" smtClean="0">
              <a:sym typeface="Wingdings" panose="05000000000000000000" pitchFamily="2" charset="2"/>
            </a:endParaRPr>
          </a:p>
          <a:p>
            <a:pPr marL="628650" lvl="1" indent="-285750">
              <a:lnSpc>
                <a:spcPts val="1600"/>
              </a:lnSpc>
              <a:buFont typeface="+mj-lt"/>
              <a:buAutoNum type="arabicPeriod"/>
            </a:pPr>
            <a:r>
              <a:rPr lang="en-US" altLang="zh-TW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AI</a:t>
            </a:r>
            <a:r>
              <a:rPr lang="zh-TW" altLang="en-US" sz="1100" dirty="0" smtClean="0">
                <a:solidFill>
                  <a:srgbClr val="0909B7"/>
                </a:solidFill>
                <a:sym typeface="Wingdings" panose="05000000000000000000" pitchFamily="2" charset="2"/>
              </a:rPr>
              <a:t>缺陷辨識方法：</a:t>
            </a:r>
            <a:r>
              <a:rPr lang="zh-TW" altLang="en-US" sz="1100" dirty="0" smtClean="0">
                <a:sym typeface="Wingdings" panose="05000000000000000000" pitchFamily="2" charset="2"/>
              </a:rPr>
              <a:t>使用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物件偵測</a:t>
            </a:r>
            <a:r>
              <a:rPr lang="zh-TW" altLang="en-US" sz="1100" dirty="0" smtClean="0">
                <a:sym typeface="Wingdings" panose="05000000000000000000" pitchFamily="2" charset="2"/>
              </a:rPr>
              <a:t>和</a:t>
            </a:r>
            <a:r>
              <a:rPr lang="zh-TW" altLang="en-US" sz="1100" dirty="0">
                <a:solidFill>
                  <a:srgbClr val="FF0000"/>
                </a:solidFill>
                <a:sym typeface="Wingdings" panose="05000000000000000000" pitchFamily="2" charset="2"/>
              </a:rPr>
              <a:t>異常</a:t>
            </a:r>
            <a:r>
              <a:rPr lang="zh-TW" altLang="en-US" sz="1100" dirty="0" smtClean="0">
                <a:solidFill>
                  <a:srgbClr val="FF0000"/>
                </a:solidFill>
                <a:sym typeface="Wingdings" panose="05000000000000000000" pitchFamily="2" charset="2"/>
              </a:rPr>
              <a:t>偵測</a:t>
            </a:r>
            <a:r>
              <a:rPr lang="zh-TW" altLang="en-US" sz="1100" dirty="0">
                <a:sym typeface="Wingdings" panose="05000000000000000000" pitchFamily="2" charset="2"/>
              </a:rPr>
              <a:t>技術</a:t>
            </a:r>
            <a:r>
              <a:rPr lang="zh-TW" altLang="en-US" sz="1100" dirty="0" smtClean="0">
                <a:sym typeface="Wingdings" panose="05000000000000000000" pitchFamily="2" charset="2"/>
              </a:rPr>
              <a:t>，統一缺陷</a:t>
            </a:r>
            <a:r>
              <a:rPr lang="zh-TW" altLang="en-US" sz="1100" dirty="0">
                <a:sym typeface="Wingdings" panose="05000000000000000000" pitchFamily="2" charset="2"/>
              </a:rPr>
              <a:t>辨識</a:t>
            </a:r>
            <a:r>
              <a:rPr lang="zh-TW" altLang="en-US" sz="1100" dirty="0" smtClean="0">
                <a:sym typeface="Wingdings" panose="05000000000000000000" pitchFamily="2" charset="2"/>
              </a:rPr>
              <a:t>標準，維持噴嘴品質穩定</a:t>
            </a:r>
            <a:endParaRPr lang="en-US" altLang="zh-TW" sz="1100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74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/>
          <p:cNvGrpSpPr/>
          <p:nvPr/>
        </p:nvGrpSpPr>
        <p:grpSpPr>
          <a:xfrm>
            <a:off x="193606" y="877541"/>
            <a:ext cx="8501114" cy="2436568"/>
            <a:chOff x="178974" y="3459792"/>
            <a:chExt cx="8501115" cy="701979"/>
          </a:xfrm>
        </p:grpSpPr>
        <p:sp>
          <p:nvSpPr>
            <p:cNvPr id="34" name="矩形: 圓角 151">
              <a:extLst>
                <a:ext uri="{FF2B5EF4-FFF2-40B4-BE49-F238E27FC236}">
                  <a16:creationId xmlns:a16="http://schemas.microsoft.com/office/drawing/2014/main" xmlns="" id="{C88F03E9-9D92-5EC5-789F-D4CE2360796D}"/>
                </a:ext>
              </a:extLst>
            </p:cNvPr>
            <p:cNvSpPr/>
            <p:nvPr/>
          </p:nvSpPr>
          <p:spPr>
            <a:xfrm>
              <a:off x="203176" y="3462617"/>
              <a:ext cx="8476913" cy="699154"/>
            </a:xfrm>
            <a:prstGeom prst="roundRect">
              <a:avLst>
                <a:gd name="adj" fmla="val 4609"/>
              </a:avLst>
            </a:prstGeom>
            <a:solidFill>
              <a:srgbClr val="F9BF8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TW" altLang="en-US" kern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xmlns="" id="{CC033CB1-211B-4A93-0006-D162621A90C7}"/>
                </a:ext>
              </a:extLst>
            </p:cNvPr>
            <p:cNvSpPr txBox="1"/>
            <p:nvPr/>
          </p:nvSpPr>
          <p:spPr>
            <a:xfrm>
              <a:off x="178974" y="3459792"/>
              <a:ext cx="1268584" cy="79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 </a:t>
              </a:r>
              <a:r>
                <a:rPr lang="zh-TW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顯微鏡</a:t>
              </a:r>
              <a:r>
                <a:rPr lang="zh-TW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控制</a:t>
              </a:r>
            </a:p>
          </p:txBody>
        </p:sp>
      </p:grpSp>
      <p:sp>
        <p:nvSpPr>
          <p:cNvPr id="40" name="矩形: 圓角 141">
            <a:extLst>
              <a:ext uri="{FF2B5EF4-FFF2-40B4-BE49-F238E27FC236}">
                <a16:creationId xmlns:a16="http://schemas.microsoft.com/office/drawing/2014/main" xmlns="" id="{5D1DE3B7-A051-84EB-6D77-09521AB192C2}"/>
              </a:ext>
            </a:extLst>
          </p:cNvPr>
          <p:cNvSpPr/>
          <p:nvPr/>
        </p:nvSpPr>
        <p:spPr>
          <a:xfrm>
            <a:off x="217808" y="3344967"/>
            <a:ext cx="8476913" cy="657634"/>
          </a:xfrm>
          <a:prstGeom prst="roundRect">
            <a:avLst/>
          </a:prstGeom>
          <a:solidFill>
            <a:srgbClr val="A5A5A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TW" altLang="en-US" kern="0" dirty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xmlns="" id="{AF9FC49D-15B0-753D-B5B6-D84CFB0D40F7}"/>
              </a:ext>
            </a:extLst>
          </p:cNvPr>
          <p:cNvGrpSpPr/>
          <p:nvPr/>
        </p:nvGrpSpPr>
        <p:grpSpPr>
          <a:xfrm>
            <a:off x="6349975" y="3554473"/>
            <a:ext cx="905264" cy="260880"/>
            <a:chOff x="7361912" y="5893265"/>
            <a:chExt cx="1207019" cy="428448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xmlns="" id="{A01093E9-69CD-5413-FB96-D5DC220DFDFD}"/>
                </a:ext>
              </a:extLst>
            </p:cNvPr>
            <p:cNvGrpSpPr/>
            <p:nvPr/>
          </p:nvGrpSpPr>
          <p:grpSpPr>
            <a:xfrm>
              <a:off x="7361912" y="5912907"/>
              <a:ext cx="1207019" cy="408806"/>
              <a:chOff x="425507" y="5869101"/>
              <a:chExt cx="1406149" cy="408806"/>
            </a:xfrm>
          </p:grpSpPr>
          <p:sp>
            <p:nvSpPr>
              <p:cNvPr id="50" name="矩形: 圓角 3">
                <a:extLst>
                  <a:ext uri="{FF2B5EF4-FFF2-40B4-BE49-F238E27FC236}">
                    <a16:creationId xmlns:a16="http://schemas.microsoft.com/office/drawing/2014/main" xmlns="" id="{C4F17719-CD22-1F80-A3FB-5163BF765B73}"/>
                  </a:ext>
                </a:extLst>
              </p:cNvPr>
              <p:cNvSpPr/>
              <p:nvPr/>
            </p:nvSpPr>
            <p:spPr>
              <a:xfrm>
                <a:off x="480846" y="5869101"/>
                <a:ext cx="1350810" cy="40880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 sz="900" dirty="0">
                  <a:latin typeface="+mn-ea"/>
                </a:endParaRPr>
              </a:p>
            </p:txBody>
          </p:sp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xmlns="" id="{5D1B508A-0B02-3DFA-362F-D2A54550A2EA}"/>
                  </a:ext>
                </a:extLst>
              </p:cNvPr>
              <p:cNvSpPr txBox="1"/>
              <p:nvPr/>
            </p:nvSpPr>
            <p:spPr>
              <a:xfrm>
                <a:off x="425507" y="5897249"/>
                <a:ext cx="1207020" cy="379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dirty="0" smtClean="0">
                    <a:solidFill>
                      <a:schemeClr val="bg1"/>
                    </a:solidFill>
                    <a:latin typeface="+mn-ea"/>
                  </a:rPr>
                  <a:t>記錄時間</a:t>
                </a:r>
                <a:endParaRPr lang="zh-TW" altLang="en-US" sz="9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pic>
          <p:nvPicPr>
            <p:cNvPr id="47" name="圖形 18" descr="碼錶 以實心填滿">
              <a:extLst>
                <a:ext uri="{FF2B5EF4-FFF2-40B4-BE49-F238E27FC236}">
                  <a16:creationId xmlns:a16="http://schemas.microsoft.com/office/drawing/2014/main" xmlns="" id="{01782919-844E-BC08-864C-41129EF33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092656" y="5893265"/>
              <a:ext cx="428448" cy="428448"/>
            </a:xfrm>
            <a:prstGeom prst="rect">
              <a:avLst/>
            </a:prstGeom>
          </p:spPr>
        </p:pic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xmlns="" id="{5200FB22-F550-81AA-6E64-5CE093B21C37}"/>
              </a:ext>
            </a:extLst>
          </p:cNvPr>
          <p:cNvGrpSpPr/>
          <p:nvPr/>
        </p:nvGrpSpPr>
        <p:grpSpPr>
          <a:xfrm>
            <a:off x="336809" y="3584832"/>
            <a:ext cx="1013109" cy="248921"/>
            <a:chOff x="480844" y="5869101"/>
            <a:chExt cx="1350812" cy="408806"/>
          </a:xfrm>
          <a:solidFill>
            <a:srgbClr val="646464"/>
          </a:solidFill>
        </p:grpSpPr>
        <p:sp>
          <p:nvSpPr>
            <p:cNvPr id="60" name="矩形: 圓角 155">
              <a:extLst>
                <a:ext uri="{FF2B5EF4-FFF2-40B4-BE49-F238E27FC236}">
                  <a16:creationId xmlns:a16="http://schemas.microsoft.com/office/drawing/2014/main" xmlns="" id="{E70C9C04-5833-3E3A-4013-B6D370AE154C}"/>
                </a:ext>
              </a:extLst>
            </p:cNvPr>
            <p:cNvSpPr/>
            <p:nvPr/>
          </p:nvSpPr>
          <p:spPr>
            <a:xfrm>
              <a:off x="480846" y="5869101"/>
              <a:ext cx="1350810" cy="408806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sz="900" dirty="0">
                <a:latin typeface="+mn-ea"/>
              </a:endParaRP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xmlns="" id="{CC033CB1-211B-4A93-0006-D162621A90C7}"/>
                </a:ext>
              </a:extLst>
            </p:cNvPr>
            <p:cNvSpPr txBox="1"/>
            <p:nvPr/>
          </p:nvSpPr>
          <p:spPr>
            <a:xfrm>
              <a:off x="480844" y="5890013"/>
              <a:ext cx="1151679" cy="379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900" dirty="0">
                  <a:solidFill>
                    <a:schemeClr val="bg1"/>
                  </a:solidFill>
                  <a:latin typeface="+mn-ea"/>
                </a:rPr>
                <a:t>  </a:t>
              </a:r>
              <a:r>
                <a:rPr lang="zh-TW" altLang="en-US" sz="900" dirty="0" smtClean="0">
                  <a:solidFill>
                    <a:schemeClr val="bg1"/>
                  </a:solidFill>
                  <a:latin typeface="+mn-ea"/>
                </a:rPr>
                <a:t>輸入工號</a:t>
              </a:r>
              <a:endParaRPr lang="zh-TW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xmlns="" id="{31E7CB02-7CF2-B7C0-096C-B16C1BDED5AC}"/>
              </a:ext>
            </a:extLst>
          </p:cNvPr>
          <p:cNvGrpSpPr/>
          <p:nvPr/>
        </p:nvGrpSpPr>
        <p:grpSpPr>
          <a:xfrm>
            <a:off x="3255563" y="2574456"/>
            <a:ext cx="1039604" cy="228716"/>
            <a:chOff x="3823195" y="3593099"/>
            <a:chExt cx="1386138" cy="375624"/>
          </a:xfrm>
        </p:grpSpPr>
        <p:sp>
          <p:nvSpPr>
            <p:cNvPr id="64" name="矩形: 圓角 84">
              <a:extLst>
                <a:ext uri="{FF2B5EF4-FFF2-40B4-BE49-F238E27FC236}">
                  <a16:creationId xmlns:a16="http://schemas.microsoft.com/office/drawing/2014/main" xmlns="" id="{E6F84042-2EB6-FABC-B4A6-72631F38BF8B}"/>
                </a:ext>
              </a:extLst>
            </p:cNvPr>
            <p:cNvSpPr/>
            <p:nvPr/>
          </p:nvSpPr>
          <p:spPr>
            <a:xfrm>
              <a:off x="3823195" y="3597440"/>
              <a:ext cx="1386138" cy="371283"/>
            </a:xfrm>
            <a:prstGeom prst="roundRect">
              <a:avLst/>
            </a:prstGeom>
            <a:solidFill>
              <a:srgbClr val="87DC6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>
                  <a:solidFill>
                    <a:prstClr val="white"/>
                  </a:solidFill>
                  <a:latin typeface="+mn-ea"/>
                </a:rPr>
                <a:t>噴嘴清晰照片</a:t>
              </a:r>
            </a:p>
          </p:txBody>
        </p:sp>
        <p:pic>
          <p:nvPicPr>
            <p:cNvPr id="65" name="圖形 26" descr="相機 以實心填滿">
              <a:extLst>
                <a:ext uri="{FF2B5EF4-FFF2-40B4-BE49-F238E27FC236}">
                  <a16:creationId xmlns:a16="http://schemas.microsoft.com/office/drawing/2014/main" xmlns="" id="{489B35D2-3841-D515-3C41-77B299A2E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4861793" y="3593099"/>
              <a:ext cx="339845" cy="339846"/>
            </a:xfrm>
            <a:prstGeom prst="rect">
              <a:avLst/>
            </a:prstGeom>
          </p:spPr>
        </p:pic>
      </p:grpSp>
      <p:sp>
        <p:nvSpPr>
          <p:cNvPr id="66" name="文字方塊 65">
            <a:extLst>
              <a:ext uri="{FF2B5EF4-FFF2-40B4-BE49-F238E27FC236}">
                <a16:creationId xmlns:a16="http://schemas.microsoft.com/office/drawing/2014/main" xmlns="" id="{CC033CB1-211B-4A93-0006-D162621A90C7}"/>
              </a:ext>
            </a:extLst>
          </p:cNvPr>
          <p:cNvSpPr txBox="1"/>
          <p:nvPr/>
        </p:nvSpPr>
        <p:spPr>
          <a:xfrm>
            <a:off x="102590" y="3318831"/>
            <a:ext cx="16340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</a:t>
            </a:r>
            <a:r>
              <a:rPr lang="zh-TW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資料數位化</a:t>
            </a:r>
            <a:endParaRPr lang="zh-TW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xmlns="" id="{748F1BC0-073A-DBB7-437B-32CEDDE1408C}"/>
              </a:ext>
            </a:extLst>
          </p:cNvPr>
          <p:cNvCxnSpPr>
            <a:cxnSpLocks/>
            <a:stCxn id="154" idx="3"/>
            <a:endCxn id="99" idx="1"/>
          </p:cNvCxnSpPr>
          <p:nvPr/>
        </p:nvCxnSpPr>
        <p:spPr>
          <a:xfrm>
            <a:off x="3142751" y="1596567"/>
            <a:ext cx="111936" cy="0"/>
          </a:xfrm>
          <a:prstGeom prst="straightConnector1">
            <a:avLst/>
          </a:prstGeom>
          <a:noFill/>
          <a:ln w="19050" cap="flat" cmpd="sng" algn="ctr">
            <a:solidFill>
              <a:srgbClr val="4472C4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8" name="直線接點 67"/>
          <p:cNvCxnSpPr>
            <a:endCxn id="97" idx="3"/>
          </p:cNvCxnSpPr>
          <p:nvPr/>
        </p:nvCxnSpPr>
        <p:spPr>
          <a:xfrm flipH="1" flipV="1">
            <a:off x="6965944" y="1592496"/>
            <a:ext cx="81332" cy="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群組 68"/>
          <p:cNvGrpSpPr/>
          <p:nvPr/>
        </p:nvGrpSpPr>
        <p:grpSpPr>
          <a:xfrm>
            <a:off x="4083319" y="3572035"/>
            <a:ext cx="905264" cy="257506"/>
            <a:chOff x="4027501" y="4391758"/>
            <a:chExt cx="905264" cy="317179"/>
          </a:xfrm>
        </p:grpSpPr>
        <p:grpSp>
          <p:nvGrpSpPr>
            <p:cNvPr id="70" name="群組 69">
              <a:extLst>
                <a:ext uri="{FF2B5EF4-FFF2-40B4-BE49-F238E27FC236}">
                  <a16:creationId xmlns:a16="http://schemas.microsoft.com/office/drawing/2014/main" xmlns="" id="{A01093E9-69CD-5413-FB96-D5DC220DFDFD}"/>
                </a:ext>
              </a:extLst>
            </p:cNvPr>
            <p:cNvGrpSpPr/>
            <p:nvPr/>
          </p:nvGrpSpPr>
          <p:grpSpPr>
            <a:xfrm>
              <a:off x="4027501" y="4391758"/>
              <a:ext cx="905264" cy="317179"/>
              <a:chOff x="425507" y="5869101"/>
              <a:chExt cx="1406149" cy="422905"/>
            </a:xfrm>
          </p:grpSpPr>
          <p:sp>
            <p:nvSpPr>
              <p:cNvPr id="72" name="矩形: 圓角 3">
                <a:extLst>
                  <a:ext uri="{FF2B5EF4-FFF2-40B4-BE49-F238E27FC236}">
                    <a16:creationId xmlns:a16="http://schemas.microsoft.com/office/drawing/2014/main" xmlns="" id="{C4F17719-CD22-1F80-A3FB-5163BF765B73}"/>
                  </a:ext>
                </a:extLst>
              </p:cNvPr>
              <p:cNvSpPr/>
              <p:nvPr/>
            </p:nvSpPr>
            <p:spPr>
              <a:xfrm>
                <a:off x="480846" y="5869101"/>
                <a:ext cx="1350810" cy="40880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 sz="900" dirty="0">
                  <a:latin typeface="+mn-ea"/>
                </a:endParaRPr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xmlns="" id="{5D1B508A-0B02-3DFA-362F-D2A54550A2EA}"/>
                  </a:ext>
                </a:extLst>
              </p:cNvPr>
              <p:cNvSpPr txBox="1"/>
              <p:nvPr/>
            </p:nvSpPr>
            <p:spPr>
              <a:xfrm>
                <a:off x="425507" y="5912908"/>
                <a:ext cx="1207020" cy="379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dirty="0">
                    <a:solidFill>
                      <a:schemeClr val="bg1"/>
                    </a:solidFill>
                    <a:latin typeface="+mn-ea"/>
                  </a:rPr>
                  <a:t>圖片儲存</a:t>
                </a:r>
              </a:p>
            </p:txBody>
          </p:sp>
        </p:grpSp>
        <p:pic>
          <p:nvPicPr>
            <p:cNvPr id="71" name="圖形 50" descr="信封 以實心填滿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2A0A1A3A-011E-E5BA-05BF-677C799F8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  <a:ext uri="{96DAC541-7B7A-43D3-8B79-37D633B846F1}">
                  <asvg:svgBlip xmlns="" xmlns:asvg="http://schemas.microsoft.com/office/drawing/2016/SVG/main" xmlns:lc="http://schemas.openxmlformats.org/drawingml/2006/lockedCanvas" r:embed="rId29"/>
                </a:ext>
              </a:extLst>
            </a:blip>
            <a:stretch>
              <a:fillRect/>
            </a:stretch>
          </p:blipFill>
          <p:spPr>
            <a:xfrm>
              <a:off x="4650040" y="4419483"/>
              <a:ext cx="256213" cy="256213"/>
            </a:xfrm>
            <a:prstGeom prst="rect">
              <a:avLst/>
            </a:prstGeom>
          </p:spPr>
        </p:pic>
      </p:grpSp>
      <p:grpSp>
        <p:nvGrpSpPr>
          <p:cNvPr id="74" name="群組 73"/>
          <p:cNvGrpSpPr/>
          <p:nvPr/>
        </p:nvGrpSpPr>
        <p:grpSpPr>
          <a:xfrm>
            <a:off x="5391459" y="3572035"/>
            <a:ext cx="905264" cy="257506"/>
            <a:chOff x="4027501" y="4391758"/>
            <a:chExt cx="905264" cy="317179"/>
          </a:xfrm>
        </p:grpSpPr>
        <p:grpSp>
          <p:nvGrpSpPr>
            <p:cNvPr id="75" name="群組 74">
              <a:extLst>
                <a:ext uri="{FF2B5EF4-FFF2-40B4-BE49-F238E27FC236}">
                  <a16:creationId xmlns:a16="http://schemas.microsoft.com/office/drawing/2014/main" xmlns="" id="{A01093E9-69CD-5413-FB96-D5DC220DFDFD}"/>
                </a:ext>
              </a:extLst>
            </p:cNvPr>
            <p:cNvGrpSpPr/>
            <p:nvPr/>
          </p:nvGrpSpPr>
          <p:grpSpPr>
            <a:xfrm>
              <a:off x="4027501" y="4391758"/>
              <a:ext cx="905264" cy="317179"/>
              <a:chOff x="425507" y="5869101"/>
              <a:chExt cx="1406149" cy="422905"/>
            </a:xfrm>
          </p:grpSpPr>
          <p:sp>
            <p:nvSpPr>
              <p:cNvPr id="77" name="矩形: 圓角 3">
                <a:extLst>
                  <a:ext uri="{FF2B5EF4-FFF2-40B4-BE49-F238E27FC236}">
                    <a16:creationId xmlns:a16="http://schemas.microsoft.com/office/drawing/2014/main" xmlns="" id="{C4F17719-CD22-1F80-A3FB-5163BF765B73}"/>
                  </a:ext>
                </a:extLst>
              </p:cNvPr>
              <p:cNvSpPr/>
              <p:nvPr/>
            </p:nvSpPr>
            <p:spPr>
              <a:xfrm>
                <a:off x="480846" y="5869101"/>
                <a:ext cx="1350810" cy="40880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 sz="900" dirty="0">
                  <a:latin typeface="+mn-ea"/>
                </a:endParaRPr>
              </a:p>
            </p:txBody>
          </p:sp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xmlns="" id="{5D1B508A-0B02-3DFA-362F-D2A54550A2EA}"/>
                  </a:ext>
                </a:extLst>
              </p:cNvPr>
              <p:cNvSpPr txBox="1"/>
              <p:nvPr/>
            </p:nvSpPr>
            <p:spPr>
              <a:xfrm>
                <a:off x="425507" y="5912908"/>
                <a:ext cx="1207020" cy="379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dirty="0">
                    <a:solidFill>
                      <a:schemeClr val="bg1"/>
                    </a:solidFill>
                    <a:latin typeface="+mn-ea"/>
                  </a:rPr>
                  <a:t>圖片儲存</a:t>
                </a:r>
              </a:p>
            </p:txBody>
          </p:sp>
        </p:grpSp>
        <p:pic>
          <p:nvPicPr>
            <p:cNvPr id="76" name="圖形 50" descr="信封 以實心填滿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2A0A1A3A-011E-E5BA-05BF-677C799F8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  <a:ext uri="{96DAC541-7B7A-43D3-8B79-37D633B846F1}">
                  <asvg:svgBlip xmlns="" xmlns:asvg="http://schemas.microsoft.com/office/drawing/2016/SVG/main" xmlns:lc="http://schemas.openxmlformats.org/drawingml/2006/lockedCanvas" r:embed="rId29"/>
                </a:ext>
              </a:extLst>
            </a:blip>
            <a:stretch>
              <a:fillRect/>
            </a:stretch>
          </p:blipFill>
          <p:spPr>
            <a:xfrm>
              <a:off x="4650040" y="4419483"/>
              <a:ext cx="256213" cy="256213"/>
            </a:xfrm>
            <a:prstGeom prst="rect">
              <a:avLst/>
            </a:prstGeom>
          </p:spPr>
        </p:pic>
      </p:grpSp>
      <p:cxnSp>
        <p:nvCxnSpPr>
          <p:cNvPr id="79" name="直線單箭頭接點 78"/>
          <p:cNvCxnSpPr>
            <a:stCxn id="50" idx="3"/>
            <a:endCxn id="217" idx="1"/>
          </p:cNvCxnSpPr>
          <p:nvPr/>
        </p:nvCxnSpPr>
        <p:spPr>
          <a:xfrm flipV="1">
            <a:off x="7255239" y="3688998"/>
            <a:ext cx="157024" cy="1899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弧形接點 79"/>
          <p:cNvCxnSpPr>
            <a:stCxn id="60" idx="2"/>
            <a:endCxn id="217" idx="2"/>
          </p:cNvCxnSpPr>
          <p:nvPr/>
        </p:nvCxnSpPr>
        <p:spPr>
          <a:xfrm rot="5400000" flipH="1" flipV="1">
            <a:off x="4402959" y="253863"/>
            <a:ext cx="20295" cy="7139485"/>
          </a:xfrm>
          <a:prstGeom prst="curvedConnector3">
            <a:avLst>
              <a:gd name="adj1" fmla="val -609352"/>
            </a:avLst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群組 80"/>
          <p:cNvGrpSpPr/>
          <p:nvPr/>
        </p:nvGrpSpPr>
        <p:grpSpPr>
          <a:xfrm>
            <a:off x="2166791" y="1148123"/>
            <a:ext cx="6324269" cy="782704"/>
            <a:chOff x="2152160" y="1493847"/>
            <a:chExt cx="6324269" cy="964085"/>
          </a:xfrm>
        </p:grpSpPr>
        <p:grpSp>
          <p:nvGrpSpPr>
            <p:cNvPr id="82" name="群組 81"/>
            <p:cNvGrpSpPr/>
            <p:nvPr/>
          </p:nvGrpSpPr>
          <p:grpSpPr>
            <a:xfrm>
              <a:off x="2152160" y="1493847"/>
              <a:ext cx="6324269" cy="964085"/>
              <a:chOff x="-1340324" y="1286935"/>
              <a:chExt cx="9989029" cy="887557"/>
            </a:xfrm>
          </p:grpSpPr>
          <p:sp>
            <p:nvSpPr>
              <p:cNvPr id="103" name="矩形: 圓角 75">
                <a:extLst>
                  <a:ext uri="{FF2B5EF4-FFF2-40B4-BE49-F238E27FC236}">
                    <a16:creationId xmlns:a16="http://schemas.microsoft.com/office/drawing/2014/main" xmlns="" id="{03DCC888-2079-61C9-A9E2-F66F4F00360A}"/>
                  </a:ext>
                </a:extLst>
              </p:cNvPr>
              <p:cNvSpPr/>
              <p:nvPr/>
            </p:nvSpPr>
            <p:spPr>
              <a:xfrm>
                <a:off x="-1338335" y="1298623"/>
                <a:ext cx="9987040" cy="875869"/>
              </a:xfrm>
              <a:prstGeom prst="roundRect">
                <a:avLst>
                  <a:gd name="adj" fmla="val 11734"/>
                </a:avLst>
              </a:prstGeom>
              <a:solidFill>
                <a:srgbClr val="B5E2E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TW" altLang="en-US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xmlns="" id="{CC033CB1-211B-4A93-0006-D162621A90C7}"/>
                  </a:ext>
                </a:extLst>
              </p:cNvPr>
              <p:cNvSpPr txBox="1"/>
              <p:nvPr/>
            </p:nvSpPr>
            <p:spPr>
              <a:xfrm>
                <a:off x="-1340324" y="1286935"/>
                <a:ext cx="3627768" cy="31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2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噴嘴口徑量測</a:t>
                </a:r>
                <a:endParaRPr lang="zh-TW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83" name="群組 82">
              <a:extLst>
                <a:ext uri="{FF2B5EF4-FFF2-40B4-BE49-F238E27FC236}">
                  <a16:creationId xmlns:a16="http://schemas.microsoft.com/office/drawing/2014/main" xmlns="" id="{EBC8B9F4-7137-2B98-51D4-61E0C8188ACA}"/>
                </a:ext>
              </a:extLst>
            </p:cNvPr>
            <p:cNvGrpSpPr/>
            <p:nvPr/>
          </p:nvGrpSpPr>
          <p:grpSpPr>
            <a:xfrm>
              <a:off x="4530613" y="1905308"/>
              <a:ext cx="1077654" cy="281902"/>
              <a:chOff x="4033823" y="2269085"/>
              <a:chExt cx="1436872" cy="415602"/>
            </a:xfrm>
          </p:grpSpPr>
          <p:sp>
            <p:nvSpPr>
              <p:cNvPr id="101" name="矩形: 圓角 163">
                <a:extLst>
                  <a:ext uri="{FF2B5EF4-FFF2-40B4-BE49-F238E27FC236}">
                    <a16:creationId xmlns:a16="http://schemas.microsoft.com/office/drawing/2014/main" xmlns="" id="{7309D953-A9A9-78D7-3319-145228DC2C58}"/>
                  </a:ext>
                </a:extLst>
              </p:cNvPr>
              <p:cNvSpPr/>
              <p:nvPr/>
            </p:nvSpPr>
            <p:spPr>
              <a:xfrm>
                <a:off x="4033823" y="2269085"/>
                <a:ext cx="1436872" cy="415602"/>
              </a:xfrm>
              <a:prstGeom prst="roundRect">
                <a:avLst/>
              </a:prstGeom>
              <a:solidFill>
                <a:schemeClr val="accent6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噴嘴區</a:t>
                </a:r>
                <a:r>
                  <a:rPr lang="zh-TW" altLang="en-US" sz="900" kern="0" dirty="0">
                    <a:solidFill>
                      <a:prstClr val="white"/>
                    </a:solidFill>
                    <a:latin typeface="+mn-ea"/>
                  </a:rPr>
                  <a:t>域</a:t>
                </a: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分割</a:t>
                </a:r>
                <a:endParaRPr lang="zh-TW" altLang="en-US" sz="900" kern="0" dirty="0">
                  <a:solidFill>
                    <a:prstClr val="white"/>
                  </a:solidFill>
                  <a:latin typeface="+mn-ea"/>
                </a:endParaRPr>
              </a:p>
            </p:txBody>
          </p:sp>
          <p:pic>
            <p:nvPicPr>
              <p:cNvPr id="102" name="圖形 16" descr="目標 以實心填滿">
                <a:extLst>
                  <a:ext uri="{FF2B5EF4-FFF2-40B4-BE49-F238E27FC236}">
                    <a16:creationId xmlns:a16="http://schemas.microsoft.com/office/drawing/2014/main" xmlns="" id="{849C01D9-AA4E-AA7C-47B5-0A87FB6F6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5096596" y="2293620"/>
                <a:ext cx="342877" cy="342876"/>
              </a:xfrm>
              <a:prstGeom prst="rect">
                <a:avLst/>
              </a:prstGeom>
            </p:spPr>
          </p:pic>
        </p:grpSp>
        <p:grpSp>
          <p:nvGrpSpPr>
            <p:cNvPr id="84" name="群組 83">
              <a:extLst>
                <a:ext uri="{FF2B5EF4-FFF2-40B4-BE49-F238E27FC236}">
                  <a16:creationId xmlns:a16="http://schemas.microsoft.com/office/drawing/2014/main" xmlns="" id="{FFFDDFEA-AB01-F56E-63CE-08307F5A9D51}"/>
                </a:ext>
              </a:extLst>
            </p:cNvPr>
            <p:cNvGrpSpPr/>
            <p:nvPr/>
          </p:nvGrpSpPr>
          <p:grpSpPr>
            <a:xfrm>
              <a:off x="3240056" y="1886390"/>
              <a:ext cx="1077467" cy="295713"/>
              <a:chOff x="1924303" y="2271666"/>
              <a:chExt cx="1436622" cy="394284"/>
            </a:xfrm>
          </p:grpSpPr>
          <p:sp>
            <p:nvSpPr>
              <p:cNvPr id="99" name="矩形: 圓角 91">
                <a:extLst>
                  <a:ext uri="{FF2B5EF4-FFF2-40B4-BE49-F238E27FC236}">
                    <a16:creationId xmlns:a16="http://schemas.microsoft.com/office/drawing/2014/main" xmlns="" id="{9EDC90CF-961F-433D-1BC7-9A84729AF078}"/>
                  </a:ext>
                </a:extLst>
              </p:cNvPr>
              <p:cNvSpPr/>
              <p:nvPr/>
            </p:nvSpPr>
            <p:spPr>
              <a:xfrm>
                <a:off x="1924303" y="2303573"/>
                <a:ext cx="1436622" cy="362377"/>
              </a:xfrm>
              <a:prstGeom prst="roundRect">
                <a:avLst/>
              </a:prstGeom>
              <a:solidFill>
                <a:schemeClr val="accent6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自動對</a:t>
                </a:r>
                <a:r>
                  <a:rPr lang="zh-TW" altLang="en-US" sz="900" kern="0" dirty="0">
                    <a:solidFill>
                      <a:prstClr val="white"/>
                    </a:solidFill>
                    <a:latin typeface="+mn-ea"/>
                  </a:rPr>
                  <a:t>焦</a:t>
                </a: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照片</a:t>
                </a:r>
                <a:endParaRPr lang="zh-TW" altLang="en-US" sz="900" kern="0" dirty="0">
                  <a:solidFill>
                    <a:prstClr val="white"/>
                  </a:solidFill>
                  <a:latin typeface="+mn-ea"/>
                </a:endParaRPr>
              </a:p>
            </p:txBody>
          </p:sp>
          <p:pic>
            <p:nvPicPr>
              <p:cNvPr id="100" name="圖形 25" descr="相機 以實心填滿">
                <a:extLst>
                  <a:ext uri="{FF2B5EF4-FFF2-40B4-BE49-F238E27FC236}">
                    <a16:creationId xmlns:a16="http://schemas.microsoft.com/office/drawing/2014/main" xmlns="" id="{B6BAF955-5B8B-B600-4AAA-C190922C88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xmlns="" r:embed="rId21"/>
                  </a:ext>
                </a:extLst>
              </a:blip>
              <a:stretch>
                <a:fillRect/>
              </a:stretch>
            </p:blipFill>
            <p:spPr>
              <a:xfrm>
                <a:off x="2979705" y="2271666"/>
                <a:ext cx="371282" cy="371283"/>
              </a:xfrm>
              <a:prstGeom prst="rect">
                <a:avLst/>
              </a:prstGeom>
            </p:spPr>
          </p:pic>
        </p:grpSp>
        <p:grpSp>
          <p:nvGrpSpPr>
            <p:cNvPr id="85" name="群組 84">
              <a:extLst>
                <a:ext uri="{FF2B5EF4-FFF2-40B4-BE49-F238E27FC236}">
                  <a16:creationId xmlns:a16="http://schemas.microsoft.com/office/drawing/2014/main" xmlns="" id="{28DA9A24-2C39-7016-95FA-6FAD6CB306E9}"/>
                </a:ext>
              </a:extLst>
            </p:cNvPr>
            <p:cNvGrpSpPr/>
            <p:nvPr/>
          </p:nvGrpSpPr>
          <p:grpSpPr>
            <a:xfrm>
              <a:off x="5858477" y="1885348"/>
              <a:ext cx="1092836" cy="311702"/>
              <a:chOff x="5960137" y="2238076"/>
              <a:chExt cx="1457114" cy="415602"/>
            </a:xfrm>
          </p:grpSpPr>
          <p:sp>
            <p:nvSpPr>
              <p:cNvPr id="97" name="矩形: 圓角 164">
                <a:extLst>
                  <a:ext uri="{FF2B5EF4-FFF2-40B4-BE49-F238E27FC236}">
                    <a16:creationId xmlns:a16="http://schemas.microsoft.com/office/drawing/2014/main" xmlns="" id="{B1B78C75-714C-5E4B-4418-58D33CFA91DA}"/>
                  </a:ext>
                </a:extLst>
              </p:cNvPr>
              <p:cNvSpPr/>
              <p:nvPr/>
            </p:nvSpPr>
            <p:spPr>
              <a:xfrm>
                <a:off x="5960137" y="2238076"/>
                <a:ext cx="1457114" cy="415602"/>
              </a:xfrm>
              <a:prstGeom prst="roundRect">
                <a:avLst/>
              </a:prstGeom>
              <a:solidFill>
                <a:schemeClr val="accent6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r>
                  <a:rPr lang="zh-TW" altLang="en-US" sz="900" kern="0" dirty="0">
                    <a:solidFill>
                      <a:prstClr val="white"/>
                    </a:solidFill>
                    <a:latin typeface="+mn-ea"/>
                  </a:rPr>
                  <a:t>量測噴嘴口徑</a:t>
                </a:r>
              </a:p>
            </p:txBody>
          </p:sp>
          <p:pic>
            <p:nvPicPr>
              <p:cNvPr id="98" name="圖形 32" descr="尺規 以實心填滿">
                <a:extLst>
                  <a:ext uri="{FF2B5EF4-FFF2-40B4-BE49-F238E27FC236}">
                    <a16:creationId xmlns:a16="http://schemas.microsoft.com/office/drawing/2014/main" xmlns="" id="{57A50B10-A1FC-800B-AF6B-DE6BF72B41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p:blipFill>
            <p:spPr>
              <a:xfrm>
                <a:off x="6997084" y="2269085"/>
                <a:ext cx="371284" cy="371284"/>
              </a:xfrm>
              <a:prstGeom prst="rect">
                <a:avLst/>
              </a:prstGeom>
            </p:spPr>
          </p:pic>
        </p:grpSp>
        <p:grpSp>
          <p:nvGrpSpPr>
            <p:cNvPr id="86" name="群組 85">
              <a:extLst>
                <a:ext uri="{FF2B5EF4-FFF2-40B4-BE49-F238E27FC236}">
                  <a16:creationId xmlns:a16="http://schemas.microsoft.com/office/drawing/2014/main" xmlns="" id="{0168044E-A44F-B563-0DD4-F7B01FE54B78}"/>
                </a:ext>
              </a:extLst>
            </p:cNvPr>
            <p:cNvGrpSpPr/>
            <p:nvPr/>
          </p:nvGrpSpPr>
          <p:grpSpPr>
            <a:xfrm>
              <a:off x="7154991" y="2083184"/>
              <a:ext cx="988385" cy="311702"/>
              <a:chOff x="7769502" y="2487185"/>
              <a:chExt cx="1317846" cy="415602"/>
            </a:xfrm>
          </p:grpSpPr>
          <p:sp>
            <p:nvSpPr>
              <p:cNvPr id="95" name="矩形: 圓角 166">
                <a:extLst>
                  <a:ext uri="{FF2B5EF4-FFF2-40B4-BE49-F238E27FC236}">
                    <a16:creationId xmlns:a16="http://schemas.microsoft.com/office/drawing/2014/main" xmlns="" id="{57B5DD6C-998B-60C9-1DDA-08B61E3266CE}"/>
                  </a:ext>
                </a:extLst>
              </p:cNvPr>
              <p:cNvSpPr/>
              <p:nvPr/>
            </p:nvSpPr>
            <p:spPr>
              <a:xfrm>
                <a:off x="7769502" y="2487185"/>
                <a:ext cx="1317846" cy="415602"/>
              </a:xfrm>
              <a:prstGeom prst="roundRect">
                <a:avLst/>
              </a:prstGeom>
              <a:solidFill>
                <a:schemeClr val="accent6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噴嘴口徑</a:t>
                </a:r>
                <a:endParaRPr lang="zh-TW" altLang="en-US" sz="900" kern="0" dirty="0">
                  <a:solidFill>
                    <a:prstClr val="white"/>
                  </a:solidFill>
                  <a:latin typeface="+mn-ea"/>
                </a:endParaRPr>
              </a:p>
            </p:txBody>
          </p:sp>
          <p:pic>
            <p:nvPicPr>
              <p:cNvPr id="96" name="圖形 33" descr="尺規 以實心填滿">
                <a:extLst>
                  <a:ext uri="{FF2B5EF4-FFF2-40B4-BE49-F238E27FC236}">
                    <a16:creationId xmlns:a16="http://schemas.microsoft.com/office/drawing/2014/main" xmlns="" id="{569459A6-09AB-1700-4575-89224FAD69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xmlns="" r:embed="rId25"/>
                  </a:ext>
                </a:extLst>
              </a:blip>
              <a:stretch>
                <a:fillRect/>
              </a:stretch>
            </p:blipFill>
            <p:spPr>
              <a:xfrm>
                <a:off x="8601724" y="2498290"/>
                <a:ext cx="371284" cy="371284"/>
              </a:xfrm>
              <a:prstGeom prst="rect">
                <a:avLst/>
              </a:prstGeom>
            </p:spPr>
          </p:pic>
        </p:grpSp>
        <p:cxnSp>
          <p:nvCxnSpPr>
            <p:cNvPr id="87" name="直線單箭頭接點 86">
              <a:extLst>
                <a:ext uri="{FF2B5EF4-FFF2-40B4-BE49-F238E27FC236}">
                  <a16:creationId xmlns:a16="http://schemas.microsoft.com/office/drawing/2014/main" xmlns="" id="{748F1BC0-073A-DBB7-437B-32CEDDE1408C}"/>
                </a:ext>
              </a:extLst>
            </p:cNvPr>
            <p:cNvCxnSpPr>
              <a:cxnSpLocks/>
              <a:stCxn id="99" idx="3"/>
              <a:endCxn id="101" idx="1"/>
            </p:cNvCxnSpPr>
            <p:nvPr/>
          </p:nvCxnSpPr>
          <p:spPr>
            <a:xfrm>
              <a:off x="4317523" y="2046212"/>
              <a:ext cx="213090" cy="4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8" name="直線單箭頭接點 87">
              <a:extLst>
                <a:ext uri="{FF2B5EF4-FFF2-40B4-BE49-F238E27FC236}">
                  <a16:creationId xmlns:a16="http://schemas.microsoft.com/office/drawing/2014/main" xmlns="" id="{748F1BC0-073A-DBB7-437B-32CEDDE1408C}"/>
                </a:ext>
              </a:extLst>
            </p:cNvPr>
            <p:cNvCxnSpPr>
              <a:cxnSpLocks/>
            </p:cNvCxnSpPr>
            <p:nvPr/>
          </p:nvCxnSpPr>
          <p:spPr>
            <a:xfrm>
              <a:off x="5557062" y="2045922"/>
              <a:ext cx="301415" cy="191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9" name="肘形接點 88"/>
            <p:cNvCxnSpPr>
              <a:endCxn id="95" idx="1"/>
            </p:cNvCxnSpPr>
            <p:nvPr/>
          </p:nvCxnSpPr>
          <p:spPr>
            <a:xfrm rot="10800000" flipH="1" flipV="1">
              <a:off x="7152349" y="1827143"/>
              <a:ext cx="2641" cy="411892"/>
            </a:xfrm>
            <a:prstGeom prst="bentConnector3">
              <a:avLst>
                <a:gd name="adj1" fmla="val -4568345"/>
              </a:avLst>
            </a:prstGeom>
            <a:ln w="19050">
              <a:solidFill>
                <a:schemeClr val="accent6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線接點 89"/>
            <p:cNvCxnSpPr/>
            <p:nvPr/>
          </p:nvCxnSpPr>
          <p:spPr>
            <a:xfrm flipH="1" flipV="1">
              <a:off x="6951313" y="2041198"/>
              <a:ext cx="81332" cy="1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群組 90">
              <a:extLst>
                <a:ext uri="{FF2B5EF4-FFF2-40B4-BE49-F238E27FC236}">
                  <a16:creationId xmlns:a16="http://schemas.microsoft.com/office/drawing/2014/main" xmlns="" id="{8867D5B3-F01F-E909-5935-5738C0A5B5E9}"/>
                </a:ext>
              </a:extLst>
            </p:cNvPr>
            <p:cNvGrpSpPr/>
            <p:nvPr/>
          </p:nvGrpSpPr>
          <p:grpSpPr>
            <a:xfrm>
              <a:off x="7152349" y="1671292"/>
              <a:ext cx="988385" cy="311702"/>
              <a:chOff x="7769502" y="1853483"/>
              <a:chExt cx="1317846" cy="415602"/>
            </a:xfrm>
          </p:grpSpPr>
          <p:sp>
            <p:nvSpPr>
              <p:cNvPr id="93" name="矩形: 圓角 165">
                <a:extLst>
                  <a:ext uri="{FF2B5EF4-FFF2-40B4-BE49-F238E27FC236}">
                    <a16:creationId xmlns:a16="http://schemas.microsoft.com/office/drawing/2014/main" xmlns="" id="{E4C2D30C-AC65-9DF7-FC58-BE9463DE2E84}"/>
                  </a:ext>
                </a:extLst>
              </p:cNvPr>
              <p:cNvSpPr/>
              <p:nvPr/>
            </p:nvSpPr>
            <p:spPr>
              <a:xfrm>
                <a:off x="7769502" y="1853483"/>
                <a:ext cx="1317846" cy="415602"/>
              </a:xfrm>
              <a:prstGeom prst="roundRect">
                <a:avLst/>
              </a:prstGeom>
              <a:solidFill>
                <a:schemeClr val="accent6"/>
              </a:solidFill>
              <a:ln w="285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圖片</a:t>
                </a:r>
                <a:r>
                  <a:rPr lang="zh-TW" altLang="en-US" sz="900" kern="0" dirty="0">
                    <a:solidFill>
                      <a:prstClr val="white"/>
                    </a:solidFill>
                    <a:latin typeface="+mn-ea"/>
                  </a:rPr>
                  <a:t>名稱</a:t>
                </a:r>
              </a:p>
            </p:txBody>
          </p:sp>
          <p:pic>
            <p:nvPicPr>
              <p:cNvPr id="94" name="圖形 35" descr="檢查清單 以實心填滿">
                <a:extLst>
                  <a:ext uri="{FF2B5EF4-FFF2-40B4-BE49-F238E27FC236}">
                    <a16:creationId xmlns:a16="http://schemas.microsoft.com/office/drawing/2014/main" xmlns="" id="{DF5A0C8D-84ED-DF6D-4A84-9F500C8D9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xmlns="" r:embed="rId27"/>
                  </a:ext>
                </a:extLst>
              </a:blip>
              <a:stretch>
                <a:fillRect/>
              </a:stretch>
            </p:blipFill>
            <p:spPr>
              <a:xfrm>
                <a:off x="8612548" y="1888441"/>
                <a:ext cx="349635" cy="349635"/>
              </a:xfrm>
              <a:prstGeom prst="rect">
                <a:avLst/>
              </a:prstGeom>
            </p:spPr>
          </p:pic>
        </p:grpSp>
        <p:cxnSp>
          <p:nvCxnSpPr>
            <p:cNvPr id="92" name="直線單箭頭接點 91">
              <a:extLst>
                <a:ext uri="{FF2B5EF4-FFF2-40B4-BE49-F238E27FC236}">
                  <a16:creationId xmlns:a16="http://schemas.microsoft.com/office/drawing/2014/main" xmlns="" id="{748F1BC0-073A-DBB7-437B-32CEDDE1408C}"/>
                </a:ext>
              </a:extLst>
            </p:cNvPr>
            <p:cNvCxnSpPr>
              <a:cxnSpLocks/>
              <a:endCxn id="99" idx="1"/>
            </p:cNvCxnSpPr>
            <p:nvPr/>
          </p:nvCxnSpPr>
          <p:spPr>
            <a:xfrm>
              <a:off x="3054450" y="2041197"/>
              <a:ext cx="185606" cy="501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6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105" name="群組 104"/>
          <p:cNvGrpSpPr/>
          <p:nvPr/>
        </p:nvGrpSpPr>
        <p:grpSpPr>
          <a:xfrm>
            <a:off x="2163078" y="2006296"/>
            <a:ext cx="6327982" cy="1189502"/>
            <a:chOff x="-1315788" y="1999632"/>
            <a:chExt cx="10001488" cy="1551129"/>
          </a:xfrm>
        </p:grpSpPr>
        <p:sp>
          <p:nvSpPr>
            <p:cNvPr id="106" name="矩形: 圓角 81">
              <a:extLst>
                <a:ext uri="{FF2B5EF4-FFF2-40B4-BE49-F238E27FC236}">
                  <a16:creationId xmlns:a16="http://schemas.microsoft.com/office/drawing/2014/main" xmlns="" id="{12B2889A-C24F-ABBC-59CE-FFD3F33943DA}"/>
                </a:ext>
              </a:extLst>
            </p:cNvPr>
            <p:cNvSpPr/>
            <p:nvPr/>
          </p:nvSpPr>
          <p:spPr>
            <a:xfrm>
              <a:off x="-1315788" y="1999632"/>
              <a:ext cx="10001488" cy="1551129"/>
            </a:xfrm>
            <a:prstGeom prst="roundRect">
              <a:avLst>
                <a:gd name="adj" fmla="val 9259"/>
              </a:avLst>
            </a:prstGeom>
            <a:solidFill>
              <a:srgbClr val="92E57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TW" altLang="en-US" kern="0" dirty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xmlns="" id="{CC033CB1-211B-4A93-0006-D162621A90C7}"/>
                </a:ext>
              </a:extLst>
            </p:cNvPr>
            <p:cNvSpPr txBox="1"/>
            <p:nvPr/>
          </p:nvSpPr>
          <p:spPr>
            <a:xfrm>
              <a:off x="-1310190" y="2007867"/>
              <a:ext cx="1952063" cy="361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噴嘴缺陷檢測</a:t>
              </a:r>
              <a:endPara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109" name="圓角矩形 108"/>
          <p:cNvSpPr/>
          <p:nvPr/>
        </p:nvSpPr>
        <p:spPr>
          <a:xfrm>
            <a:off x="217808" y="4028208"/>
            <a:ext cx="8476912" cy="70225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n-ea"/>
            </a:endParaRPr>
          </a:p>
        </p:txBody>
      </p:sp>
      <p:sp>
        <p:nvSpPr>
          <p:cNvPr id="110" name="文字方塊 109">
            <a:extLst>
              <a:ext uri="{FF2B5EF4-FFF2-40B4-BE49-F238E27FC236}">
                <a16:creationId xmlns:a16="http://schemas.microsoft.com/office/drawing/2014/main" xmlns="" id="{CC033CB1-211B-4A93-0006-D162621A90C7}"/>
              </a:ext>
            </a:extLst>
          </p:cNvPr>
          <p:cNvSpPr txBox="1"/>
          <p:nvPr/>
        </p:nvSpPr>
        <p:spPr>
          <a:xfrm>
            <a:off x="237261" y="4028636"/>
            <a:ext cx="12685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XY</a:t>
            </a:r>
            <a:r>
              <a:rPr lang="zh-TW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平台控制</a:t>
            </a:r>
            <a:endParaRPr lang="zh-TW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111" name="直線單箭頭接點 110"/>
          <p:cNvCxnSpPr/>
          <p:nvPr/>
        </p:nvCxnSpPr>
        <p:spPr>
          <a:xfrm>
            <a:off x="8351123" y="3731984"/>
            <a:ext cx="0" cy="593116"/>
          </a:xfrm>
          <a:prstGeom prst="straightConnector1">
            <a:avLst/>
          </a:prstGeom>
          <a:ln>
            <a:solidFill>
              <a:srgbClr val="705D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2" name="矩形: 圓角 82">
            <a:extLst>
              <a:ext uri="{FF2B5EF4-FFF2-40B4-BE49-F238E27FC236}">
                <a16:creationId xmlns:a16="http://schemas.microsoft.com/office/drawing/2014/main" xmlns="" id="{B371E90F-5E7B-76F4-85B9-89D069D81AF9}"/>
              </a:ext>
            </a:extLst>
          </p:cNvPr>
          <p:cNvSpPr/>
          <p:nvPr/>
        </p:nvSpPr>
        <p:spPr>
          <a:xfrm>
            <a:off x="7415184" y="4318857"/>
            <a:ext cx="1113829" cy="220650"/>
          </a:xfrm>
          <a:prstGeom prst="roundRect">
            <a:avLst/>
          </a:prstGeom>
          <a:solidFill>
            <a:srgbClr val="B8830C"/>
          </a:solidFill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endParaRPr lang="zh-TW" altLang="en-US" sz="900" kern="0" dirty="0">
              <a:solidFill>
                <a:prstClr val="white"/>
              </a:solidFill>
              <a:latin typeface="+mn-ea"/>
            </a:endParaRPr>
          </a:p>
        </p:txBody>
      </p:sp>
      <p:pic>
        <p:nvPicPr>
          <p:cNvPr id="113" name="圖形 16" descr="目標 以實心填滿">
            <a:extLst>
              <a:ext uri="{FF2B5EF4-FFF2-40B4-BE49-F238E27FC236}">
                <a16:creationId xmlns:a16="http://schemas.microsoft.com/office/drawing/2014/main" xmlns="" id="{849C01D9-AA4E-AA7C-47B5-0A87FB6F62C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273511" y="4328745"/>
            <a:ext cx="257158" cy="188817"/>
          </a:xfrm>
          <a:prstGeom prst="rect">
            <a:avLst/>
          </a:prstGeom>
        </p:spPr>
      </p:pic>
      <p:sp>
        <p:nvSpPr>
          <p:cNvPr id="114" name="文字方塊 113">
            <a:extLst>
              <a:ext uri="{FF2B5EF4-FFF2-40B4-BE49-F238E27FC236}">
                <a16:creationId xmlns:a16="http://schemas.microsoft.com/office/drawing/2014/main" xmlns="" id="{16343602-0EE2-43F7-88A9-012ACA9FDDCA}"/>
              </a:ext>
            </a:extLst>
          </p:cNvPr>
          <p:cNvSpPr txBox="1"/>
          <p:nvPr/>
        </p:nvSpPr>
        <p:spPr>
          <a:xfrm>
            <a:off x="7370827" y="4320778"/>
            <a:ext cx="105115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900" dirty="0" smtClean="0">
                <a:solidFill>
                  <a:schemeClr val="bg1"/>
                </a:solidFill>
                <a:latin typeface="+mn-ea"/>
              </a:rPr>
              <a:t>下一個噴嘴座標</a:t>
            </a:r>
            <a:endParaRPr lang="zh-TW" altLang="en-US" sz="9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5" name="群組 114"/>
          <p:cNvGrpSpPr/>
          <p:nvPr/>
        </p:nvGrpSpPr>
        <p:grpSpPr>
          <a:xfrm>
            <a:off x="5735970" y="4318857"/>
            <a:ext cx="1113829" cy="227246"/>
            <a:chOff x="5611611" y="4318857"/>
            <a:chExt cx="1113829" cy="227246"/>
          </a:xfrm>
        </p:grpSpPr>
        <p:sp>
          <p:nvSpPr>
            <p:cNvPr id="116" name="矩形: 圓角 82">
              <a:extLst>
                <a:ext uri="{FF2B5EF4-FFF2-40B4-BE49-F238E27FC236}">
                  <a16:creationId xmlns:a16="http://schemas.microsoft.com/office/drawing/2014/main" xmlns="" id="{B371E90F-5E7B-76F4-85B9-89D069D81AF9}"/>
                </a:ext>
              </a:extLst>
            </p:cNvPr>
            <p:cNvSpPr/>
            <p:nvPr/>
          </p:nvSpPr>
          <p:spPr>
            <a:xfrm>
              <a:off x="5611611" y="4318857"/>
              <a:ext cx="1113829" cy="220650"/>
            </a:xfrm>
            <a:prstGeom prst="roundRect">
              <a:avLst/>
            </a:prstGeom>
            <a:solidFill>
              <a:srgbClr val="B8830C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電控裝置通訊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17" name="圖形 6" descr="螢幕 以實心填滿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2F32321-93F1-C11A-6F1A-8923E1680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37"/>
                </a:ext>
              </a:extLst>
            </a:blip>
            <a:stretch>
              <a:fillRect/>
            </a:stretch>
          </p:blipFill>
          <p:spPr>
            <a:xfrm>
              <a:off x="6426575" y="4339477"/>
              <a:ext cx="254508" cy="206626"/>
            </a:xfrm>
            <a:prstGeom prst="rect">
              <a:avLst/>
            </a:prstGeom>
          </p:spPr>
        </p:pic>
      </p:grpSp>
      <p:cxnSp>
        <p:nvCxnSpPr>
          <p:cNvPr id="118" name="直線單箭頭接點 117"/>
          <p:cNvCxnSpPr>
            <a:stCxn id="112" idx="1"/>
            <a:endCxn id="116" idx="3"/>
          </p:cNvCxnSpPr>
          <p:nvPr/>
        </p:nvCxnSpPr>
        <p:spPr>
          <a:xfrm flipH="1">
            <a:off x="6849799" y="4429182"/>
            <a:ext cx="565385" cy="0"/>
          </a:xfrm>
          <a:prstGeom prst="straightConnector1">
            <a:avLst/>
          </a:prstGeom>
          <a:ln>
            <a:solidFill>
              <a:srgbClr val="705D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>
            <a:stCxn id="116" idx="1"/>
            <a:endCxn id="121" idx="3"/>
          </p:cNvCxnSpPr>
          <p:nvPr/>
        </p:nvCxnSpPr>
        <p:spPr>
          <a:xfrm flipH="1">
            <a:off x="5035314" y="4429182"/>
            <a:ext cx="700656" cy="0"/>
          </a:xfrm>
          <a:prstGeom prst="straightConnector1">
            <a:avLst/>
          </a:prstGeom>
          <a:ln>
            <a:solidFill>
              <a:srgbClr val="705D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0" name="群組 119"/>
          <p:cNvGrpSpPr/>
          <p:nvPr/>
        </p:nvGrpSpPr>
        <p:grpSpPr>
          <a:xfrm>
            <a:off x="4025252" y="4306800"/>
            <a:ext cx="1010062" cy="232707"/>
            <a:chOff x="4120347" y="4306800"/>
            <a:chExt cx="1010062" cy="232707"/>
          </a:xfrm>
        </p:grpSpPr>
        <p:sp>
          <p:nvSpPr>
            <p:cNvPr id="121" name="矩形: 圓角 82">
              <a:extLst>
                <a:ext uri="{FF2B5EF4-FFF2-40B4-BE49-F238E27FC236}">
                  <a16:creationId xmlns:a16="http://schemas.microsoft.com/office/drawing/2014/main" xmlns="" id="{B371E90F-5E7B-76F4-85B9-89D069D81AF9}"/>
                </a:ext>
              </a:extLst>
            </p:cNvPr>
            <p:cNvSpPr/>
            <p:nvPr/>
          </p:nvSpPr>
          <p:spPr>
            <a:xfrm>
              <a:off x="4120347" y="4318857"/>
              <a:ext cx="1010062" cy="220650"/>
            </a:xfrm>
            <a:prstGeom prst="roundRect">
              <a:avLst/>
            </a:prstGeom>
            <a:solidFill>
              <a:srgbClr val="B8830C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en-US" altLang="zh-TW" sz="900" kern="0" dirty="0" smtClean="0">
                  <a:solidFill>
                    <a:prstClr val="white"/>
                  </a:solidFill>
                  <a:latin typeface="+mn-ea"/>
                </a:rPr>
                <a:t>XY</a:t>
              </a: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平台移動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22" name="圖片 121"/>
            <p:cNvPicPr>
              <a:picLocks noChangeAspect="1"/>
            </p:cNvPicPr>
            <p:nvPr/>
          </p:nvPicPr>
          <p:blipFill>
            <a:blip r:embed="rId38" cstate="print">
              <a:duotone>
                <a:prstClr val="black"/>
                <a:schemeClr val="bg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9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8435" y="4306800"/>
              <a:ext cx="228272" cy="228272"/>
            </a:xfrm>
            <a:prstGeom prst="rect">
              <a:avLst/>
            </a:prstGeom>
          </p:spPr>
        </p:pic>
      </p:grpSp>
      <p:cxnSp>
        <p:nvCxnSpPr>
          <p:cNvPr id="123" name="直線單箭頭接點 122"/>
          <p:cNvCxnSpPr>
            <a:stCxn id="121" idx="1"/>
            <a:endCxn id="125" idx="3"/>
          </p:cNvCxnSpPr>
          <p:nvPr/>
        </p:nvCxnSpPr>
        <p:spPr>
          <a:xfrm flipH="1" flipV="1">
            <a:off x="3010860" y="4428251"/>
            <a:ext cx="1014392" cy="931"/>
          </a:xfrm>
          <a:prstGeom prst="straightConnector1">
            <a:avLst/>
          </a:prstGeom>
          <a:ln>
            <a:solidFill>
              <a:srgbClr val="705D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4" name="群組 123"/>
          <p:cNvGrpSpPr/>
          <p:nvPr/>
        </p:nvGrpSpPr>
        <p:grpSpPr>
          <a:xfrm>
            <a:off x="1802359" y="4312835"/>
            <a:ext cx="1208501" cy="230832"/>
            <a:chOff x="1494417" y="4320778"/>
            <a:chExt cx="1208501" cy="230832"/>
          </a:xfrm>
        </p:grpSpPr>
        <p:sp>
          <p:nvSpPr>
            <p:cNvPr id="125" name="矩形: 圓角 82">
              <a:extLst>
                <a:ext uri="{FF2B5EF4-FFF2-40B4-BE49-F238E27FC236}">
                  <a16:creationId xmlns:a16="http://schemas.microsoft.com/office/drawing/2014/main" xmlns="" id="{B371E90F-5E7B-76F4-85B9-89D069D81AF9}"/>
                </a:ext>
              </a:extLst>
            </p:cNvPr>
            <p:cNvSpPr/>
            <p:nvPr/>
          </p:nvSpPr>
          <p:spPr>
            <a:xfrm>
              <a:off x="1494417" y="4325869"/>
              <a:ext cx="1208501" cy="220650"/>
            </a:xfrm>
            <a:prstGeom prst="roundRect">
              <a:avLst/>
            </a:prstGeom>
            <a:solidFill>
              <a:srgbClr val="B8830C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26" name="圖形 9" descr="靶心 以實心填滿">
              <a:extLst>
                <a:ext uri="{FF2B5EF4-FFF2-40B4-BE49-F238E27FC236}">
                  <a16:creationId xmlns:a16="http://schemas.microsoft.com/office/drawing/2014/main" xmlns="" id="{5DEB39D5-633B-3920-F01F-D6CD538C2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2424789" y="4329065"/>
              <a:ext cx="246634" cy="200233"/>
            </a:xfrm>
            <a:prstGeom prst="rect">
              <a:avLst/>
            </a:prstGeom>
          </p:spPr>
        </p:pic>
        <p:sp>
          <p:nvSpPr>
            <p:cNvPr id="127" name="文字方塊 126">
              <a:extLst>
                <a:ext uri="{FF2B5EF4-FFF2-40B4-BE49-F238E27FC236}">
                  <a16:creationId xmlns:a16="http://schemas.microsoft.com/office/drawing/2014/main" xmlns="" id="{16343602-0EE2-43F7-88A9-012ACA9FDDCA}"/>
                </a:ext>
              </a:extLst>
            </p:cNvPr>
            <p:cNvSpPr txBox="1"/>
            <p:nvPr/>
          </p:nvSpPr>
          <p:spPr>
            <a:xfrm>
              <a:off x="1562078" y="4320778"/>
              <a:ext cx="91778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sz="900" dirty="0" smtClean="0">
                  <a:solidFill>
                    <a:schemeClr val="bg1"/>
                  </a:solidFill>
                  <a:latin typeface="+mn-ea"/>
                </a:rPr>
                <a:t>噴</a:t>
              </a:r>
              <a:r>
                <a:rPr lang="zh-TW" altLang="en-US" sz="900" dirty="0">
                  <a:solidFill>
                    <a:schemeClr val="bg1"/>
                  </a:solidFill>
                  <a:latin typeface="+mn-ea"/>
                </a:rPr>
                <a:t>嘴</a:t>
              </a:r>
              <a:r>
                <a:rPr lang="zh-TW" altLang="en-US" sz="900" dirty="0" smtClean="0">
                  <a:solidFill>
                    <a:schemeClr val="bg1"/>
                  </a:solidFill>
                  <a:latin typeface="+mn-ea"/>
                </a:rPr>
                <a:t>座標定位</a:t>
              </a:r>
              <a:endParaRPr lang="zh-TW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28" name="群組 127"/>
          <p:cNvGrpSpPr/>
          <p:nvPr/>
        </p:nvGrpSpPr>
        <p:grpSpPr>
          <a:xfrm>
            <a:off x="405837" y="4311013"/>
            <a:ext cx="1113829" cy="220650"/>
            <a:chOff x="303082" y="4318857"/>
            <a:chExt cx="1113829" cy="220650"/>
          </a:xfrm>
        </p:grpSpPr>
        <p:sp>
          <p:nvSpPr>
            <p:cNvPr id="129" name="矩形: 圓角 82">
              <a:extLst>
                <a:ext uri="{FF2B5EF4-FFF2-40B4-BE49-F238E27FC236}">
                  <a16:creationId xmlns:a16="http://schemas.microsoft.com/office/drawing/2014/main" xmlns="" id="{B371E90F-5E7B-76F4-85B9-89D069D81AF9}"/>
                </a:ext>
              </a:extLst>
            </p:cNvPr>
            <p:cNvSpPr/>
            <p:nvPr/>
          </p:nvSpPr>
          <p:spPr>
            <a:xfrm>
              <a:off x="303082" y="4318857"/>
              <a:ext cx="1113829" cy="220650"/>
            </a:xfrm>
            <a:prstGeom prst="roundRect">
              <a:avLst/>
            </a:prstGeom>
            <a:solidFill>
              <a:srgbClr val="B8830C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電控裝置通訊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30" name="圖形 6" descr="螢幕 以實心填滿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2F32321-93F1-C11A-6F1A-8923E1680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37"/>
                </a:ext>
              </a:extLst>
            </a:blip>
            <a:stretch>
              <a:fillRect/>
            </a:stretch>
          </p:blipFill>
          <p:spPr>
            <a:xfrm>
              <a:off x="1116496" y="4324635"/>
              <a:ext cx="254508" cy="206626"/>
            </a:xfrm>
            <a:prstGeom prst="rect">
              <a:avLst/>
            </a:prstGeom>
          </p:spPr>
        </p:pic>
      </p:grpSp>
      <p:cxnSp>
        <p:nvCxnSpPr>
          <p:cNvPr id="131" name="弧形接點 130"/>
          <p:cNvCxnSpPr>
            <a:stCxn id="129" idx="2"/>
            <a:endCxn id="121" idx="2"/>
          </p:cNvCxnSpPr>
          <p:nvPr/>
        </p:nvCxnSpPr>
        <p:spPr>
          <a:xfrm rot="16200000" flipH="1">
            <a:off x="2742595" y="2751819"/>
            <a:ext cx="7844" cy="3567531"/>
          </a:xfrm>
          <a:prstGeom prst="curvedConnector3">
            <a:avLst>
              <a:gd name="adj1" fmla="val 1428927"/>
            </a:avLst>
          </a:prstGeom>
          <a:ln w="19050">
            <a:solidFill>
              <a:srgbClr val="705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群組 1"/>
          <p:cNvGrpSpPr/>
          <p:nvPr/>
        </p:nvGrpSpPr>
        <p:grpSpPr>
          <a:xfrm>
            <a:off x="2557776" y="2563549"/>
            <a:ext cx="1141610" cy="231644"/>
            <a:chOff x="3055067" y="2579359"/>
            <a:chExt cx="1141610" cy="231644"/>
          </a:xfrm>
        </p:grpSpPr>
        <p:sp>
          <p:nvSpPr>
            <p:cNvPr id="133" name="矩形: 圓角 82">
              <a:extLst>
                <a:ext uri="{FF2B5EF4-FFF2-40B4-BE49-F238E27FC236}">
                  <a16:creationId xmlns:a16="http://schemas.microsoft.com/office/drawing/2014/main" xmlns="" id="{B371E90F-5E7B-76F4-85B9-89D069D81AF9}"/>
                </a:ext>
              </a:extLst>
            </p:cNvPr>
            <p:cNvSpPr/>
            <p:nvPr/>
          </p:nvSpPr>
          <p:spPr>
            <a:xfrm>
              <a:off x="3083131" y="2579359"/>
              <a:ext cx="1113546" cy="220650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xmlns="" id="{16343602-0EE2-43F7-88A9-012ACA9FDDCA}"/>
                </a:ext>
              </a:extLst>
            </p:cNvPr>
            <p:cNvSpPr txBox="1"/>
            <p:nvPr/>
          </p:nvSpPr>
          <p:spPr>
            <a:xfrm>
              <a:off x="3055067" y="2580171"/>
              <a:ext cx="890041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TW" altLang="en-US" sz="900" dirty="0" smtClean="0">
                  <a:solidFill>
                    <a:schemeClr val="bg1"/>
                  </a:solidFill>
                  <a:latin typeface="+mn-ea"/>
                </a:rPr>
                <a:t>馬達調整焦距</a:t>
              </a:r>
              <a:endParaRPr lang="zh-TW" altLang="en-US" sz="9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36" name="群組 135"/>
          <p:cNvGrpSpPr/>
          <p:nvPr/>
        </p:nvGrpSpPr>
        <p:grpSpPr>
          <a:xfrm>
            <a:off x="470265" y="1146580"/>
            <a:ext cx="1650697" cy="2047194"/>
            <a:chOff x="-285150" y="1371394"/>
            <a:chExt cx="1650697" cy="2521606"/>
          </a:xfrm>
        </p:grpSpPr>
        <p:grpSp>
          <p:nvGrpSpPr>
            <p:cNvPr id="137" name="群組 136"/>
            <p:cNvGrpSpPr/>
            <p:nvPr/>
          </p:nvGrpSpPr>
          <p:grpSpPr>
            <a:xfrm>
              <a:off x="-285150" y="1371394"/>
              <a:ext cx="1650697" cy="2521606"/>
              <a:chOff x="-6537769" y="938505"/>
              <a:chExt cx="5391821" cy="983784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148" name="矩形: 圓角 75">
                <a:extLst>
                  <a:ext uri="{FF2B5EF4-FFF2-40B4-BE49-F238E27FC236}">
                    <a16:creationId xmlns:a16="http://schemas.microsoft.com/office/drawing/2014/main" xmlns="" id="{03DCC888-2079-61C9-A9E2-F66F4F00360A}"/>
                  </a:ext>
                </a:extLst>
              </p:cNvPr>
              <p:cNvSpPr/>
              <p:nvPr/>
            </p:nvSpPr>
            <p:spPr>
              <a:xfrm>
                <a:off x="-6537769" y="938505"/>
                <a:ext cx="5391821" cy="983784"/>
              </a:xfrm>
              <a:prstGeom prst="roundRect">
                <a:avLst>
                  <a:gd name="adj" fmla="val 7369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TW" altLang="en-US" kern="0"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xmlns="" id="{CC033CB1-211B-4A93-0006-D162621A90C7}"/>
                  </a:ext>
                </a:extLst>
              </p:cNvPr>
              <p:cNvSpPr txBox="1"/>
              <p:nvPr/>
            </p:nvSpPr>
            <p:spPr>
              <a:xfrm>
                <a:off x="-6383964" y="968417"/>
                <a:ext cx="4181062" cy="133113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UI</a:t>
                </a:r>
                <a:r>
                  <a:rPr lang="zh-TW" altLang="en-US" sz="1200" b="1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介面</a:t>
                </a:r>
                <a:endParaRPr lang="zh-TW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</p:grpSp>
        <p:grpSp>
          <p:nvGrpSpPr>
            <p:cNvPr id="138" name="群組 137"/>
            <p:cNvGrpSpPr/>
            <p:nvPr/>
          </p:nvGrpSpPr>
          <p:grpSpPr>
            <a:xfrm>
              <a:off x="-129791" y="2959980"/>
              <a:ext cx="1060594" cy="278462"/>
              <a:chOff x="923843" y="3547191"/>
              <a:chExt cx="1060594" cy="278462"/>
            </a:xfrm>
          </p:grpSpPr>
          <p:sp>
            <p:nvSpPr>
              <p:cNvPr id="146" name="矩形: 圓角 158">
                <a:extLst>
                  <a:ext uri="{FF2B5EF4-FFF2-40B4-BE49-F238E27FC236}">
                    <a16:creationId xmlns:a16="http://schemas.microsoft.com/office/drawing/2014/main" xmlns="" id="{7F9DB2C4-DB77-1507-515A-07C7B2283157}"/>
                  </a:ext>
                </a:extLst>
              </p:cNvPr>
              <p:cNvSpPr/>
              <p:nvPr/>
            </p:nvSpPr>
            <p:spPr>
              <a:xfrm>
                <a:off x="923843" y="3547191"/>
                <a:ext cx="1057351" cy="278460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endParaRPr lang="zh-TW" altLang="en-US" sz="900" kern="0" dirty="0">
                  <a:solidFill>
                    <a:prstClr val="white"/>
                  </a:solidFill>
                  <a:latin typeface="+mn-ea"/>
                </a:endParaRPr>
              </a:p>
            </p:txBody>
          </p:sp>
          <p:pic>
            <p:nvPicPr>
              <p:cNvPr id="147" name="圖形 12" descr="燈泡 以實心填滿">
                <a:extLst>
                  <a:ext uri="{FF2B5EF4-FFF2-40B4-BE49-F238E27FC236}">
                    <a16:creationId xmlns:a16="http://schemas.microsoft.com/office/drawing/2014/main" xmlns="" id="{885BD5AD-06A3-FE34-896B-789CCAF80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712654" y="3553869"/>
                <a:ext cx="271783" cy="271784"/>
              </a:xfrm>
              <a:prstGeom prst="rect">
                <a:avLst/>
              </a:prstGeom>
            </p:spPr>
          </p:pic>
        </p:grpSp>
        <p:grpSp>
          <p:nvGrpSpPr>
            <p:cNvPr id="139" name="群組 138"/>
            <p:cNvGrpSpPr/>
            <p:nvPr/>
          </p:nvGrpSpPr>
          <p:grpSpPr>
            <a:xfrm>
              <a:off x="-123681" y="3449046"/>
              <a:ext cx="1039604" cy="278462"/>
              <a:chOff x="622198" y="3584197"/>
              <a:chExt cx="1039604" cy="278462"/>
            </a:xfrm>
          </p:grpSpPr>
          <p:sp>
            <p:nvSpPr>
              <p:cNvPr id="144" name="矩形: 圓角 157">
                <a:extLst>
                  <a:ext uri="{FF2B5EF4-FFF2-40B4-BE49-F238E27FC236}">
                    <a16:creationId xmlns:a16="http://schemas.microsoft.com/office/drawing/2014/main" xmlns="" id="{5D546715-776D-5C39-0316-FBE531BB60A5}"/>
                  </a:ext>
                </a:extLst>
              </p:cNvPr>
              <p:cNvSpPr/>
              <p:nvPr/>
            </p:nvSpPr>
            <p:spPr>
              <a:xfrm>
                <a:off x="622198" y="3584197"/>
                <a:ext cx="1039604" cy="278462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   啟動檢測</a:t>
                </a:r>
                <a:endParaRPr lang="zh-TW" altLang="en-US" sz="900" kern="0" dirty="0">
                  <a:solidFill>
                    <a:prstClr val="white"/>
                  </a:solidFill>
                  <a:latin typeface="+mn-ea"/>
                </a:endParaRPr>
              </a:p>
            </p:txBody>
          </p:sp>
          <p:pic>
            <p:nvPicPr>
              <p:cNvPr id="145" name="圖形 6" descr="螢幕 以實心填滿">
                <a:extLst>
                  <a:ext uri="{FF2B5EF4-FFF2-40B4-BE49-F238E27FC236}">
                    <a16:creationId xmlns="" xmlns:a16="http://schemas.microsoft.com/office/drawing/2014/main" xmlns:lc="http://schemas.openxmlformats.org/drawingml/2006/lockedCanvas" id="{52F32321-93F1-C11A-6F1A-8923E1680A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="" xmlns:asvg="http://schemas.microsoft.com/office/drawing/2016/SVG/main" xmlns:lc="http://schemas.openxmlformats.org/drawingml/2006/lockedCanvas" r:embed="rId37"/>
                  </a:ext>
                </a:extLst>
              </a:blip>
              <a:stretch>
                <a:fillRect/>
              </a:stretch>
            </p:blipFill>
            <p:spPr>
              <a:xfrm>
                <a:off x="1357916" y="3593280"/>
                <a:ext cx="254508" cy="254504"/>
              </a:xfrm>
              <a:prstGeom prst="rect">
                <a:avLst/>
              </a:prstGeom>
            </p:spPr>
          </p:pic>
        </p:grpSp>
        <p:cxnSp>
          <p:nvCxnSpPr>
            <p:cNvPr id="140" name="直線單箭頭接點 139"/>
            <p:cNvCxnSpPr/>
            <p:nvPr/>
          </p:nvCxnSpPr>
          <p:spPr>
            <a:xfrm flipH="1" flipV="1">
              <a:off x="653104" y="3235550"/>
              <a:ext cx="3268" cy="212684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群組 140">
              <a:extLst>
                <a:ext uri="{FF2B5EF4-FFF2-40B4-BE49-F238E27FC236}">
                  <a16:creationId xmlns:a16="http://schemas.microsoft.com/office/drawing/2014/main" xmlns="" id="{97DD5735-82CB-ED6B-8095-CA293DCDF6D2}"/>
                </a:ext>
              </a:extLst>
            </p:cNvPr>
            <p:cNvGrpSpPr/>
            <p:nvPr/>
          </p:nvGrpSpPr>
          <p:grpSpPr>
            <a:xfrm>
              <a:off x="121125" y="2461108"/>
              <a:ext cx="1039604" cy="287108"/>
              <a:chOff x="1557584" y="4227009"/>
              <a:chExt cx="1386138" cy="382809"/>
            </a:xfrm>
          </p:grpSpPr>
          <p:sp>
            <p:nvSpPr>
              <p:cNvPr id="142" name="矩形: 圓角 157">
                <a:extLst>
                  <a:ext uri="{FF2B5EF4-FFF2-40B4-BE49-F238E27FC236}">
                    <a16:creationId xmlns:a16="http://schemas.microsoft.com/office/drawing/2014/main" xmlns="" id="{5D546715-776D-5C39-0316-FBE531BB60A5}"/>
                  </a:ext>
                </a:extLst>
              </p:cNvPr>
              <p:cNvSpPr/>
              <p:nvPr/>
            </p:nvSpPr>
            <p:spPr>
              <a:xfrm>
                <a:off x="1557584" y="4227009"/>
                <a:ext cx="1386138" cy="371282"/>
              </a:xfrm>
              <a:prstGeom prst="roundRect">
                <a:avLst/>
              </a:prstGeom>
              <a:solidFill>
                <a:schemeClr val="accent4">
                  <a:lumMod val="7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defRPr/>
                </a:pPr>
                <a:r>
                  <a:rPr lang="zh-TW" altLang="en-US" sz="900" kern="0" dirty="0" smtClean="0">
                    <a:solidFill>
                      <a:prstClr val="white"/>
                    </a:solidFill>
                    <a:latin typeface="+mn-ea"/>
                  </a:rPr>
                  <a:t>顯微鏡</a:t>
                </a:r>
                <a:r>
                  <a:rPr lang="zh-TW" altLang="en-US" sz="900" kern="0" dirty="0">
                    <a:solidFill>
                      <a:prstClr val="white"/>
                    </a:solidFill>
                    <a:latin typeface="+mn-ea"/>
                  </a:rPr>
                  <a:t>啟動</a:t>
                </a:r>
              </a:p>
            </p:txBody>
          </p:sp>
          <p:pic>
            <p:nvPicPr>
              <p:cNvPr id="143" name="圖形 21" descr="顯微鏡 以實心填滿">
                <a:extLst>
                  <a:ext uri="{FF2B5EF4-FFF2-40B4-BE49-F238E27FC236}">
                    <a16:creationId xmlns:a16="http://schemas.microsoft.com/office/drawing/2014/main" xmlns="" id="{789246AD-3B17-2D47-D89C-73DA867E8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>
                <a:extLst>
                  <a:ext uri="{96DAC541-7B7A-43D3-8B79-37D633B846F1}">
                    <asvg:svgBlip xmlns:asvg="http://schemas.microsoft.com/office/drawing/2016/SVG/main" xmlns="" r:embed="rId17"/>
                  </a:ext>
                </a:extLst>
              </a:blip>
              <a:stretch>
                <a:fillRect/>
              </a:stretch>
            </p:blipFill>
            <p:spPr>
              <a:xfrm>
                <a:off x="2420355" y="4247443"/>
                <a:ext cx="362377" cy="362375"/>
              </a:xfrm>
              <a:prstGeom prst="rect">
                <a:avLst/>
              </a:prstGeom>
            </p:spPr>
          </p:pic>
        </p:grpSp>
      </p:grpSp>
      <p:grpSp>
        <p:nvGrpSpPr>
          <p:cNvPr id="150" name="群組 149"/>
          <p:cNvGrpSpPr/>
          <p:nvPr/>
        </p:nvGrpSpPr>
        <p:grpSpPr>
          <a:xfrm>
            <a:off x="1912371" y="1596566"/>
            <a:ext cx="676644" cy="1077307"/>
            <a:chOff x="1797097" y="2046213"/>
            <a:chExt cx="877198" cy="1326959"/>
          </a:xfrm>
        </p:grpSpPr>
        <p:cxnSp>
          <p:nvCxnSpPr>
            <p:cNvPr id="151" name="肘形接點 150"/>
            <p:cNvCxnSpPr/>
            <p:nvPr/>
          </p:nvCxnSpPr>
          <p:spPr>
            <a:xfrm rot="10800000" flipH="1" flipV="1">
              <a:off x="2176855" y="2046213"/>
              <a:ext cx="497440" cy="1326959"/>
            </a:xfrm>
            <a:prstGeom prst="bentConnector3">
              <a:avLst>
                <a:gd name="adj1" fmla="val -48137"/>
              </a:avLst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線接點 151"/>
            <p:cNvCxnSpPr/>
            <p:nvPr/>
          </p:nvCxnSpPr>
          <p:spPr>
            <a:xfrm>
              <a:off x="1797097" y="2710394"/>
              <a:ext cx="154589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群組 152"/>
          <p:cNvGrpSpPr/>
          <p:nvPr/>
        </p:nvGrpSpPr>
        <p:grpSpPr>
          <a:xfrm>
            <a:off x="2202130" y="1486242"/>
            <a:ext cx="940621" cy="220650"/>
            <a:chOff x="1499276" y="2694825"/>
            <a:chExt cx="940621" cy="271783"/>
          </a:xfrm>
          <a:solidFill>
            <a:srgbClr val="147891"/>
          </a:solidFill>
        </p:grpSpPr>
        <p:sp>
          <p:nvSpPr>
            <p:cNvPr id="154" name="矩形: 圓角 82">
              <a:extLst>
                <a:ext uri="{FF2B5EF4-FFF2-40B4-BE49-F238E27FC236}">
                  <a16:creationId xmlns:a16="http://schemas.microsoft.com/office/drawing/2014/main" xmlns="" id="{B371E90F-5E7B-76F4-85B9-89D069D81AF9}"/>
                </a:ext>
              </a:extLst>
            </p:cNvPr>
            <p:cNvSpPr/>
            <p:nvPr/>
          </p:nvSpPr>
          <p:spPr>
            <a:xfrm>
              <a:off x="1499276" y="2694825"/>
              <a:ext cx="940621" cy="271783"/>
            </a:xfrm>
            <a:prstGeom prst="roundRect">
              <a:avLst/>
            </a:prstGeom>
            <a:grpFill/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55" name="圖形 9" descr="靶心 以實心填滿">
              <a:extLst>
                <a:ext uri="{FF2B5EF4-FFF2-40B4-BE49-F238E27FC236}">
                  <a16:creationId xmlns:a16="http://schemas.microsoft.com/office/drawing/2014/main" xmlns="" id="{5DEB39D5-633B-3920-F01F-D6CD538C2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2193017" y="2710222"/>
              <a:ext cx="246634" cy="246635"/>
            </a:xfrm>
            <a:prstGeom prst="rect">
              <a:avLst/>
            </a:prstGeom>
            <a:noFill/>
          </p:spPr>
        </p:pic>
      </p:grpSp>
      <p:sp>
        <p:nvSpPr>
          <p:cNvPr id="159" name="文字方塊 158">
            <a:extLst>
              <a:ext uri="{FF2B5EF4-FFF2-40B4-BE49-F238E27FC236}">
                <a16:creationId xmlns:a16="http://schemas.microsoft.com/office/drawing/2014/main" xmlns="" id="{16343602-0EE2-43F7-88A9-012ACA9FDDCA}"/>
              </a:ext>
            </a:extLst>
          </p:cNvPr>
          <p:cNvSpPr txBox="1"/>
          <p:nvPr/>
        </p:nvSpPr>
        <p:spPr>
          <a:xfrm>
            <a:off x="558421" y="2431530"/>
            <a:ext cx="105115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900" dirty="0" smtClean="0">
                <a:solidFill>
                  <a:schemeClr val="bg1"/>
                </a:solidFill>
                <a:latin typeface="+mn-ea"/>
              </a:rPr>
              <a:t>控制器操</a:t>
            </a:r>
            <a:r>
              <a:rPr lang="zh-TW" altLang="en-US" sz="900" dirty="0">
                <a:solidFill>
                  <a:schemeClr val="bg1"/>
                </a:solidFill>
                <a:latin typeface="+mn-ea"/>
              </a:rPr>
              <a:t>控</a:t>
            </a:r>
            <a:r>
              <a:rPr lang="zh-TW" altLang="en-US" sz="900" dirty="0" smtClean="0">
                <a:solidFill>
                  <a:schemeClr val="bg1"/>
                </a:solidFill>
                <a:latin typeface="+mn-ea"/>
              </a:rPr>
              <a:t>光源</a:t>
            </a:r>
            <a:endParaRPr lang="zh-TW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矩形: 圓角 75">
            <a:extLst>
              <a:ext uri="{FF2B5EF4-FFF2-40B4-BE49-F238E27FC236}">
                <a16:creationId xmlns:a16="http://schemas.microsoft.com/office/drawing/2014/main" xmlns="" id="{03DCC888-2079-61C9-A9E2-F66F4F00360A}"/>
              </a:ext>
            </a:extLst>
          </p:cNvPr>
          <p:cNvSpPr/>
          <p:nvPr/>
        </p:nvSpPr>
        <p:spPr>
          <a:xfrm>
            <a:off x="4457475" y="2058274"/>
            <a:ext cx="3783033" cy="523392"/>
          </a:xfrm>
          <a:prstGeom prst="roundRect">
            <a:avLst>
              <a:gd name="adj" fmla="val 11734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TW" altLang="en-US" kern="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161" name="群組 160">
            <a:extLst>
              <a:ext uri="{FF2B5EF4-FFF2-40B4-BE49-F238E27FC236}">
                <a16:creationId xmlns:a16="http://schemas.microsoft.com/office/drawing/2014/main" xmlns="" id="{EB7EC183-5D12-24BD-7B44-71C64BC72613}"/>
              </a:ext>
            </a:extLst>
          </p:cNvPr>
          <p:cNvGrpSpPr/>
          <p:nvPr/>
        </p:nvGrpSpPr>
        <p:grpSpPr>
          <a:xfrm>
            <a:off x="7172075" y="2341410"/>
            <a:ext cx="1016178" cy="205522"/>
            <a:chOff x="7331893" y="3942312"/>
            <a:chExt cx="1354904" cy="371282"/>
          </a:xfrm>
        </p:grpSpPr>
        <p:sp>
          <p:nvSpPr>
            <p:cNvPr id="162" name="矩形: 圓角 162">
              <a:extLst>
                <a:ext uri="{FF2B5EF4-FFF2-40B4-BE49-F238E27FC236}">
                  <a16:creationId xmlns:a16="http://schemas.microsoft.com/office/drawing/2014/main" xmlns="" id="{907DFEB5-6DEB-BA33-54F4-1C5CD62DB169}"/>
                </a:ext>
              </a:extLst>
            </p:cNvPr>
            <p:cNvSpPr/>
            <p:nvPr/>
          </p:nvSpPr>
          <p:spPr>
            <a:xfrm>
              <a:off x="7331893" y="3942312"/>
              <a:ext cx="1354904" cy="37128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>
                  <a:solidFill>
                    <a:prstClr val="white"/>
                  </a:solidFill>
                  <a:latin typeface="+mn-ea"/>
                </a:rPr>
                <a:t>噴嘴</a:t>
              </a: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外觀狀況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63" name="圖形 23" descr="放大鏡 以實心填滿">
              <a:extLst>
                <a:ext uri="{FF2B5EF4-FFF2-40B4-BE49-F238E27FC236}">
                  <a16:creationId xmlns:a16="http://schemas.microsoft.com/office/drawing/2014/main" xmlns="" id="{06354F07-045D-6F7F-E15C-3E28BDE76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p:blipFill>
          <p:spPr>
            <a:xfrm>
              <a:off x="8403172" y="3992269"/>
              <a:ext cx="269939" cy="269937"/>
            </a:xfrm>
            <a:prstGeom prst="rect">
              <a:avLst/>
            </a:prstGeom>
          </p:spPr>
        </p:pic>
      </p:grpSp>
      <p:grpSp>
        <p:nvGrpSpPr>
          <p:cNvPr id="164" name="群組 163">
            <a:extLst>
              <a:ext uri="{FF2B5EF4-FFF2-40B4-BE49-F238E27FC236}">
                <a16:creationId xmlns:a16="http://schemas.microsoft.com/office/drawing/2014/main" xmlns="" id="{9711B2D3-879D-ECD9-681A-69CFAADD459D}"/>
              </a:ext>
            </a:extLst>
          </p:cNvPr>
          <p:cNvGrpSpPr/>
          <p:nvPr/>
        </p:nvGrpSpPr>
        <p:grpSpPr>
          <a:xfrm>
            <a:off x="5907990" y="2253249"/>
            <a:ext cx="1041433" cy="226073"/>
            <a:chOff x="5501149" y="3593100"/>
            <a:chExt cx="1542763" cy="371283"/>
          </a:xfrm>
        </p:grpSpPr>
        <p:sp>
          <p:nvSpPr>
            <p:cNvPr id="165" name="矩形: 圓角 87">
              <a:extLst>
                <a:ext uri="{FF2B5EF4-FFF2-40B4-BE49-F238E27FC236}">
                  <a16:creationId xmlns:a16="http://schemas.microsoft.com/office/drawing/2014/main" xmlns="" id="{A04972FF-1358-8E95-9A77-F18A9AC9E84A}"/>
                </a:ext>
              </a:extLst>
            </p:cNvPr>
            <p:cNvSpPr/>
            <p:nvPr/>
          </p:nvSpPr>
          <p:spPr>
            <a:xfrm>
              <a:off x="5501149" y="3593100"/>
              <a:ext cx="1542763" cy="371283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外觀缺陷檢測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66" name="圖形 28" descr="戲劇 以實心填滿">
              <a:extLst>
                <a:ext uri="{FF2B5EF4-FFF2-40B4-BE49-F238E27FC236}">
                  <a16:creationId xmlns:a16="http://schemas.microsoft.com/office/drawing/2014/main" xmlns="" id="{8D3B9A64-70A3-A345-3D97-AB29A938F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xmlns="" r:embed="rId35"/>
                </a:ext>
              </a:extLst>
            </a:blip>
            <a:stretch>
              <a:fillRect/>
            </a:stretch>
          </p:blipFill>
          <p:spPr>
            <a:xfrm>
              <a:off x="6676889" y="3603504"/>
              <a:ext cx="343312" cy="343311"/>
            </a:xfrm>
            <a:prstGeom prst="rect">
              <a:avLst/>
            </a:prstGeom>
          </p:spPr>
        </p:pic>
      </p:grpSp>
      <p:grpSp>
        <p:nvGrpSpPr>
          <p:cNvPr id="167" name="群組 166">
            <a:extLst>
              <a:ext uri="{FF2B5EF4-FFF2-40B4-BE49-F238E27FC236}">
                <a16:creationId xmlns:a16="http://schemas.microsoft.com/office/drawing/2014/main" xmlns="" id="{31E7CB02-7CF2-B7C0-096C-B16C1BDED5AC}"/>
              </a:ext>
            </a:extLst>
          </p:cNvPr>
          <p:cNvGrpSpPr/>
          <p:nvPr/>
        </p:nvGrpSpPr>
        <p:grpSpPr>
          <a:xfrm>
            <a:off x="4494038" y="2247028"/>
            <a:ext cx="1072455" cy="228716"/>
            <a:chOff x="3823195" y="3593099"/>
            <a:chExt cx="1386137" cy="375624"/>
          </a:xfrm>
        </p:grpSpPr>
        <p:sp>
          <p:nvSpPr>
            <p:cNvPr id="168" name="矩形: 圓角 84">
              <a:extLst>
                <a:ext uri="{FF2B5EF4-FFF2-40B4-BE49-F238E27FC236}">
                  <a16:creationId xmlns:a16="http://schemas.microsoft.com/office/drawing/2014/main" xmlns="" id="{E6F84042-2EB6-FABC-B4A6-72631F38BF8B}"/>
                </a:ext>
              </a:extLst>
            </p:cNvPr>
            <p:cNvSpPr/>
            <p:nvPr/>
          </p:nvSpPr>
          <p:spPr>
            <a:xfrm>
              <a:off x="3823195" y="3597440"/>
              <a:ext cx="1386137" cy="371283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自動對</a:t>
              </a:r>
              <a:r>
                <a:rPr lang="zh-TW" altLang="en-US" sz="900" kern="0" dirty="0">
                  <a:solidFill>
                    <a:prstClr val="white"/>
                  </a:solidFill>
                  <a:latin typeface="+mn-ea"/>
                </a:rPr>
                <a:t>焦</a:t>
              </a: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照片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69" name="圖形 26" descr="相機 以實心填滿">
              <a:extLst>
                <a:ext uri="{FF2B5EF4-FFF2-40B4-BE49-F238E27FC236}">
                  <a16:creationId xmlns:a16="http://schemas.microsoft.com/office/drawing/2014/main" xmlns="" id="{489B35D2-3841-D515-3C41-77B299A2E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4861793" y="3593099"/>
              <a:ext cx="339845" cy="339846"/>
            </a:xfrm>
            <a:prstGeom prst="rect">
              <a:avLst/>
            </a:prstGeom>
          </p:spPr>
        </p:pic>
      </p:grpSp>
      <p:sp>
        <p:nvSpPr>
          <p:cNvPr id="170" name="文字方塊 169">
            <a:extLst>
              <a:ext uri="{FF2B5EF4-FFF2-40B4-BE49-F238E27FC236}">
                <a16:creationId xmlns:a16="http://schemas.microsoft.com/office/drawing/2014/main" xmlns="" id="{CC033CB1-211B-4A93-0006-D162621A90C7}"/>
              </a:ext>
            </a:extLst>
          </p:cNvPr>
          <p:cNvSpPr txBox="1"/>
          <p:nvPr/>
        </p:nvSpPr>
        <p:spPr>
          <a:xfrm>
            <a:off x="4433763" y="2032672"/>
            <a:ext cx="12350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外觀檢測</a:t>
            </a:r>
            <a:endParaRPr lang="zh-TW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71" name="矩形: 圓角 75">
            <a:extLst>
              <a:ext uri="{FF2B5EF4-FFF2-40B4-BE49-F238E27FC236}">
                <a16:creationId xmlns:a16="http://schemas.microsoft.com/office/drawing/2014/main" xmlns="" id="{03DCC888-2079-61C9-A9E2-F66F4F00360A}"/>
              </a:ext>
            </a:extLst>
          </p:cNvPr>
          <p:cNvSpPr/>
          <p:nvPr/>
        </p:nvSpPr>
        <p:spPr>
          <a:xfrm>
            <a:off x="4454360" y="2648509"/>
            <a:ext cx="3783033" cy="523392"/>
          </a:xfrm>
          <a:prstGeom prst="roundRect">
            <a:avLst>
              <a:gd name="adj" fmla="val 11734"/>
            </a:avLst>
          </a:prstGeom>
          <a:solidFill>
            <a:schemeClr val="accent5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TW" altLang="en-US" kern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172" name="直線單箭頭接點 171"/>
          <p:cNvCxnSpPr/>
          <p:nvPr/>
        </p:nvCxnSpPr>
        <p:spPr>
          <a:xfrm flipH="1">
            <a:off x="5699835" y="2362707"/>
            <a:ext cx="11809" cy="1222125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群組 172">
            <a:extLst>
              <a:ext uri="{FF2B5EF4-FFF2-40B4-BE49-F238E27FC236}">
                <a16:creationId xmlns:a16="http://schemas.microsoft.com/office/drawing/2014/main" xmlns="" id="{31E7CB02-7CF2-B7C0-096C-B16C1BDED5AC}"/>
              </a:ext>
            </a:extLst>
          </p:cNvPr>
          <p:cNvGrpSpPr/>
          <p:nvPr/>
        </p:nvGrpSpPr>
        <p:grpSpPr>
          <a:xfrm>
            <a:off x="4494038" y="2852049"/>
            <a:ext cx="1072455" cy="228716"/>
            <a:chOff x="3823195" y="3593099"/>
            <a:chExt cx="1386137" cy="375620"/>
          </a:xfrm>
        </p:grpSpPr>
        <p:sp>
          <p:nvSpPr>
            <p:cNvPr id="174" name="矩形: 圓角 84">
              <a:extLst>
                <a:ext uri="{FF2B5EF4-FFF2-40B4-BE49-F238E27FC236}">
                  <a16:creationId xmlns:a16="http://schemas.microsoft.com/office/drawing/2014/main" xmlns="" id="{E6F84042-2EB6-FABC-B4A6-72631F38BF8B}"/>
                </a:ext>
              </a:extLst>
            </p:cNvPr>
            <p:cNvSpPr/>
            <p:nvPr/>
          </p:nvSpPr>
          <p:spPr>
            <a:xfrm>
              <a:off x="3823195" y="3597436"/>
              <a:ext cx="1386137" cy="371283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  全焦距照片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75" name="圖形 26" descr="相機 以實心填滿">
              <a:extLst>
                <a:ext uri="{FF2B5EF4-FFF2-40B4-BE49-F238E27FC236}">
                  <a16:creationId xmlns:a16="http://schemas.microsoft.com/office/drawing/2014/main" xmlns="" id="{489B35D2-3841-D515-3C41-77B299A2E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p:blipFill>
          <p:spPr>
            <a:xfrm>
              <a:off x="4861793" y="3593099"/>
              <a:ext cx="339845" cy="339846"/>
            </a:xfrm>
            <a:prstGeom prst="rect">
              <a:avLst/>
            </a:prstGeom>
          </p:spPr>
        </p:pic>
      </p:grpSp>
      <p:grpSp>
        <p:nvGrpSpPr>
          <p:cNvPr id="176" name="群組 175">
            <a:extLst>
              <a:ext uri="{FF2B5EF4-FFF2-40B4-BE49-F238E27FC236}">
                <a16:creationId xmlns:a16="http://schemas.microsoft.com/office/drawing/2014/main" xmlns="" id="{9711B2D3-879D-ECD9-681A-69CFAADD459D}"/>
              </a:ext>
            </a:extLst>
          </p:cNvPr>
          <p:cNvGrpSpPr/>
          <p:nvPr/>
        </p:nvGrpSpPr>
        <p:grpSpPr>
          <a:xfrm>
            <a:off x="5907990" y="2850178"/>
            <a:ext cx="1041433" cy="226073"/>
            <a:chOff x="5501149" y="3593100"/>
            <a:chExt cx="1542763" cy="371283"/>
          </a:xfrm>
        </p:grpSpPr>
        <p:sp>
          <p:nvSpPr>
            <p:cNvPr id="177" name="矩形: 圓角 87">
              <a:extLst>
                <a:ext uri="{FF2B5EF4-FFF2-40B4-BE49-F238E27FC236}">
                  <a16:creationId xmlns:a16="http://schemas.microsoft.com/office/drawing/2014/main" xmlns="" id="{A04972FF-1358-8E95-9A77-F18A9AC9E84A}"/>
                </a:ext>
              </a:extLst>
            </p:cNvPr>
            <p:cNvSpPr/>
            <p:nvPr/>
          </p:nvSpPr>
          <p:spPr>
            <a:xfrm>
              <a:off x="5501149" y="3593100"/>
              <a:ext cx="1542763" cy="371283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內</a:t>
              </a:r>
              <a:r>
                <a:rPr lang="zh-TW" altLang="en-US" sz="900" kern="0" dirty="0">
                  <a:solidFill>
                    <a:prstClr val="white"/>
                  </a:solidFill>
                  <a:latin typeface="+mn-ea"/>
                </a:rPr>
                <a:t>部</a:t>
              </a: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缺陷檢測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78" name="圖形 28" descr="戲劇 以實心填滿">
              <a:extLst>
                <a:ext uri="{FF2B5EF4-FFF2-40B4-BE49-F238E27FC236}">
                  <a16:creationId xmlns:a16="http://schemas.microsoft.com/office/drawing/2014/main" xmlns="" id="{8D3B9A64-70A3-A345-3D97-AB29A938F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xmlns="" r:embed="rId35"/>
                </a:ext>
              </a:extLst>
            </a:blip>
            <a:stretch>
              <a:fillRect/>
            </a:stretch>
          </p:blipFill>
          <p:spPr>
            <a:xfrm>
              <a:off x="6676889" y="3603504"/>
              <a:ext cx="343312" cy="343311"/>
            </a:xfrm>
            <a:prstGeom prst="rect">
              <a:avLst/>
            </a:prstGeom>
          </p:spPr>
        </p:pic>
      </p:grpSp>
      <p:grpSp>
        <p:nvGrpSpPr>
          <p:cNvPr id="179" name="群組 178">
            <a:extLst>
              <a:ext uri="{FF2B5EF4-FFF2-40B4-BE49-F238E27FC236}">
                <a16:creationId xmlns:a16="http://schemas.microsoft.com/office/drawing/2014/main" xmlns="" id="{EB7EC183-5D12-24BD-7B44-71C64BC72613}"/>
              </a:ext>
            </a:extLst>
          </p:cNvPr>
          <p:cNvGrpSpPr/>
          <p:nvPr/>
        </p:nvGrpSpPr>
        <p:grpSpPr>
          <a:xfrm>
            <a:off x="7157635" y="2938408"/>
            <a:ext cx="1016178" cy="205521"/>
            <a:chOff x="7331896" y="3858794"/>
            <a:chExt cx="1354904" cy="371282"/>
          </a:xfrm>
        </p:grpSpPr>
        <p:sp>
          <p:nvSpPr>
            <p:cNvPr id="180" name="矩形: 圓角 162">
              <a:extLst>
                <a:ext uri="{FF2B5EF4-FFF2-40B4-BE49-F238E27FC236}">
                  <a16:creationId xmlns:a16="http://schemas.microsoft.com/office/drawing/2014/main" xmlns="" id="{907DFEB5-6DEB-BA33-54F4-1C5CD62DB169}"/>
                </a:ext>
              </a:extLst>
            </p:cNvPr>
            <p:cNvSpPr/>
            <p:nvPr/>
          </p:nvSpPr>
          <p:spPr>
            <a:xfrm>
              <a:off x="7331896" y="3858794"/>
              <a:ext cx="1354904" cy="371282"/>
            </a:xfrm>
            <a:prstGeom prst="roundRect">
              <a:avLst/>
            </a:prstGeom>
            <a:solidFill>
              <a:schemeClr val="accent5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>
                <a:defRPr/>
              </a:pP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噴嘴內</a:t>
              </a:r>
              <a:r>
                <a:rPr lang="zh-TW" altLang="en-US" sz="900" kern="0" dirty="0">
                  <a:solidFill>
                    <a:prstClr val="white"/>
                  </a:solidFill>
                  <a:latin typeface="+mn-ea"/>
                </a:rPr>
                <a:t>部</a:t>
              </a:r>
              <a:r>
                <a:rPr lang="zh-TW" altLang="en-US" sz="900" kern="0" dirty="0" smtClean="0">
                  <a:solidFill>
                    <a:prstClr val="white"/>
                  </a:solidFill>
                  <a:latin typeface="+mn-ea"/>
                </a:rPr>
                <a:t>狀況</a:t>
              </a:r>
              <a:endParaRPr lang="zh-TW" altLang="en-US" sz="900" kern="0" dirty="0">
                <a:solidFill>
                  <a:prstClr val="white"/>
                </a:solidFill>
                <a:latin typeface="+mn-ea"/>
              </a:endParaRPr>
            </a:p>
          </p:txBody>
        </p:sp>
        <p:pic>
          <p:nvPicPr>
            <p:cNvPr id="181" name="圖形 23" descr="放大鏡 以實心填滿">
              <a:extLst>
                <a:ext uri="{FF2B5EF4-FFF2-40B4-BE49-F238E27FC236}">
                  <a16:creationId xmlns:a16="http://schemas.microsoft.com/office/drawing/2014/main" xmlns="" id="{06354F07-045D-6F7F-E15C-3E28BDE76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p:blipFill>
          <p:spPr>
            <a:xfrm>
              <a:off x="8403172" y="3887981"/>
              <a:ext cx="269939" cy="269939"/>
            </a:xfrm>
            <a:prstGeom prst="rect">
              <a:avLst/>
            </a:prstGeom>
          </p:spPr>
        </p:pic>
      </p:grpSp>
      <p:cxnSp>
        <p:nvCxnSpPr>
          <p:cNvPr id="182" name="直線單箭頭接點 181"/>
          <p:cNvCxnSpPr/>
          <p:nvPr/>
        </p:nvCxnSpPr>
        <p:spPr>
          <a:xfrm flipH="1">
            <a:off x="4375722" y="1597885"/>
            <a:ext cx="9639" cy="1995216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字方塊 183">
            <a:extLst>
              <a:ext uri="{FF2B5EF4-FFF2-40B4-BE49-F238E27FC236}">
                <a16:creationId xmlns:a16="http://schemas.microsoft.com/office/drawing/2014/main" xmlns="" id="{CC033CB1-211B-4A93-0006-D162621A90C7}"/>
              </a:ext>
            </a:extLst>
          </p:cNvPr>
          <p:cNvSpPr txBox="1"/>
          <p:nvPr/>
        </p:nvSpPr>
        <p:spPr>
          <a:xfrm>
            <a:off x="4425670" y="2641692"/>
            <a:ext cx="12350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內</a:t>
            </a:r>
            <a:r>
              <a:rPr lang="zh-TW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部</a:t>
            </a:r>
            <a:r>
              <a:rPr lang="zh-TW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檢測</a:t>
            </a:r>
            <a:endParaRPr lang="zh-TW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85" name="群組 184"/>
          <p:cNvGrpSpPr/>
          <p:nvPr/>
        </p:nvGrpSpPr>
        <p:grpSpPr>
          <a:xfrm>
            <a:off x="3679109" y="2362708"/>
            <a:ext cx="827629" cy="605020"/>
            <a:chOff x="3679109" y="2362708"/>
            <a:chExt cx="827629" cy="605020"/>
          </a:xfrm>
        </p:grpSpPr>
        <p:cxnSp>
          <p:nvCxnSpPr>
            <p:cNvPr id="186" name="直線接點 185"/>
            <p:cNvCxnSpPr/>
            <p:nvPr/>
          </p:nvCxnSpPr>
          <p:spPr>
            <a:xfrm flipH="1">
              <a:off x="3679109" y="2672379"/>
              <a:ext cx="388667" cy="842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肘形接點 186"/>
            <p:cNvCxnSpPr>
              <a:stCxn id="168" idx="1"/>
              <a:endCxn id="174" idx="1"/>
            </p:cNvCxnSpPr>
            <p:nvPr/>
          </p:nvCxnSpPr>
          <p:spPr>
            <a:xfrm rot="10800000" flipV="1">
              <a:off x="4494038" y="2362708"/>
              <a:ext cx="12700" cy="605020"/>
            </a:xfrm>
            <a:prstGeom prst="bentConnector3">
              <a:avLst>
                <a:gd name="adj1" fmla="val 3470409"/>
              </a:avLst>
            </a:prstGeom>
            <a:ln w="19050">
              <a:solidFill>
                <a:schemeClr val="accent5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8" name="直線單箭頭接點 187"/>
          <p:cNvCxnSpPr/>
          <p:nvPr/>
        </p:nvCxnSpPr>
        <p:spPr>
          <a:xfrm flipH="1">
            <a:off x="5772859" y="2964784"/>
            <a:ext cx="472" cy="61870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單箭頭接點 188">
            <a:extLst>
              <a:ext uri="{FF2B5EF4-FFF2-40B4-BE49-F238E27FC236}">
                <a16:creationId xmlns:a16="http://schemas.microsoft.com/office/drawing/2014/main" xmlns="" id="{A44F6AD5-66A7-0CB9-F401-991528F11985}"/>
              </a:ext>
            </a:extLst>
          </p:cNvPr>
          <p:cNvCxnSpPr>
            <a:cxnSpLocks/>
            <a:stCxn id="168" idx="3"/>
            <a:endCxn id="165" idx="1"/>
          </p:cNvCxnSpPr>
          <p:nvPr/>
        </p:nvCxnSpPr>
        <p:spPr>
          <a:xfrm>
            <a:off x="5566493" y="2362708"/>
            <a:ext cx="341497" cy="3578"/>
          </a:xfrm>
          <a:prstGeom prst="straightConnector1">
            <a:avLst/>
          </a:prstGeom>
          <a:noFill/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0" name="直線單箭頭接點 189"/>
          <p:cNvCxnSpPr/>
          <p:nvPr/>
        </p:nvCxnSpPr>
        <p:spPr>
          <a:xfrm flipV="1">
            <a:off x="1068621" y="3034285"/>
            <a:ext cx="6713" cy="552122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單箭頭接點 190"/>
          <p:cNvCxnSpPr/>
          <p:nvPr/>
        </p:nvCxnSpPr>
        <p:spPr>
          <a:xfrm flipV="1">
            <a:off x="1833040" y="2245113"/>
            <a:ext cx="20072" cy="206040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單箭頭接點 191"/>
          <p:cNvCxnSpPr/>
          <p:nvPr/>
        </p:nvCxnSpPr>
        <p:spPr>
          <a:xfrm flipH="1">
            <a:off x="1438311" y="3059196"/>
            <a:ext cx="27054" cy="1266446"/>
          </a:xfrm>
          <a:prstGeom prst="straightConnector1">
            <a:avLst/>
          </a:prstGeom>
          <a:ln w="19050">
            <a:solidFill>
              <a:srgbClr val="705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: 圓角 161">
            <a:extLst>
              <a:ext uri="{FF2B5EF4-FFF2-40B4-BE49-F238E27FC236}">
                <a16:creationId xmlns:a16="http://schemas.microsoft.com/office/drawing/2014/main" xmlns="" id="{43E506B5-5F10-7C24-0AAD-51F99699AD43}"/>
              </a:ext>
            </a:extLst>
          </p:cNvPr>
          <p:cNvSpPr/>
          <p:nvPr/>
        </p:nvSpPr>
        <p:spPr>
          <a:xfrm>
            <a:off x="7161968" y="2080969"/>
            <a:ext cx="1016178" cy="21403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zh-TW" altLang="en-US" sz="900" kern="0" dirty="0" smtClean="0">
                <a:solidFill>
                  <a:prstClr val="white"/>
                </a:solidFill>
                <a:latin typeface="+mn-ea"/>
              </a:rPr>
              <a:t>圖片</a:t>
            </a:r>
            <a:r>
              <a:rPr lang="zh-TW" altLang="en-US" sz="900" kern="0" dirty="0">
                <a:solidFill>
                  <a:prstClr val="white"/>
                </a:solidFill>
                <a:latin typeface="+mn-ea"/>
              </a:rPr>
              <a:t>名稱</a:t>
            </a:r>
          </a:p>
        </p:txBody>
      </p:sp>
      <p:pic>
        <p:nvPicPr>
          <p:cNvPr id="194" name="圖形 36" descr="檢查清單 以實心填滿">
            <a:extLst>
              <a:ext uri="{FF2B5EF4-FFF2-40B4-BE49-F238E27FC236}">
                <a16:creationId xmlns:a16="http://schemas.microsoft.com/office/drawing/2014/main" xmlns="" id="{5A1C5E0E-80F1-3E2D-3230-7A3C9040BC9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7815162" y="2083981"/>
            <a:ext cx="242841" cy="216715"/>
          </a:xfrm>
          <a:prstGeom prst="rect">
            <a:avLst/>
          </a:prstGeom>
        </p:spPr>
      </p:pic>
      <p:sp>
        <p:nvSpPr>
          <p:cNvPr id="195" name="矩形: 圓角 161">
            <a:extLst>
              <a:ext uri="{FF2B5EF4-FFF2-40B4-BE49-F238E27FC236}">
                <a16:creationId xmlns:a16="http://schemas.microsoft.com/office/drawing/2014/main" xmlns="" id="{43E506B5-5F10-7C24-0AAD-51F99699AD43}"/>
              </a:ext>
            </a:extLst>
          </p:cNvPr>
          <p:cNvSpPr/>
          <p:nvPr/>
        </p:nvSpPr>
        <p:spPr>
          <a:xfrm>
            <a:off x="7157635" y="2684237"/>
            <a:ext cx="1016178" cy="21403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>
              <a:defRPr/>
            </a:pPr>
            <a:r>
              <a:rPr lang="zh-TW" altLang="en-US" sz="900" kern="0" dirty="0" smtClean="0">
                <a:solidFill>
                  <a:prstClr val="white"/>
                </a:solidFill>
                <a:latin typeface="+mn-ea"/>
              </a:rPr>
              <a:t>圖片</a:t>
            </a:r>
            <a:r>
              <a:rPr lang="zh-TW" altLang="en-US" sz="900" kern="0" dirty="0">
                <a:solidFill>
                  <a:prstClr val="white"/>
                </a:solidFill>
                <a:latin typeface="+mn-ea"/>
              </a:rPr>
              <a:t>名稱</a:t>
            </a:r>
          </a:p>
        </p:txBody>
      </p:sp>
      <p:pic>
        <p:nvPicPr>
          <p:cNvPr id="196" name="圖形 36" descr="檢查清單 以實心填滿">
            <a:extLst>
              <a:ext uri="{FF2B5EF4-FFF2-40B4-BE49-F238E27FC236}">
                <a16:creationId xmlns:a16="http://schemas.microsoft.com/office/drawing/2014/main" xmlns="" id="{5A1C5E0E-80F1-3E2D-3230-7A3C9040BC9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xmlns="" r:embed="rId27"/>
              </a:ext>
            </a:extLst>
          </a:blip>
          <a:stretch>
            <a:fillRect/>
          </a:stretch>
        </p:blipFill>
        <p:spPr>
          <a:xfrm>
            <a:off x="7818144" y="2687249"/>
            <a:ext cx="242841" cy="216715"/>
          </a:xfrm>
          <a:prstGeom prst="rect">
            <a:avLst/>
          </a:prstGeom>
        </p:spPr>
      </p:pic>
      <p:grpSp>
        <p:nvGrpSpPr>
          <p:cNvPr id="197" name="群組 196"/>
          <p:cNvGrpSpPr/>
          <p:nvPr/>
        </p:nvGrpSpPr>
        <p:grpSpPr>
          <a:xfrm>
            <a:off x="6938347" y="2187987"/>
            <a:ext cx="233727" cy="256184"/>
            <a:chOff x="4240489" y="2487556"/>
            <a:chExt cx="233727" cy="256184"/>
          </a:xfrm>
        </p:grpSpPr>
        <p:cxnSp>
          <p:nvCxnSpPr>
            <p:cNvPr id="198" name="直線接點 197"/>
            <p:cNvCxnSpPr/>
            <p:nvPr/>
          </p:nvCxnSpPr>
          <p:spPr>
            <a:xfrm flipH="1">
              <a:off x="4240489" y="2655486"/>
              <a:ext cx="84585" cy="842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肘形接點 198"/>
            <p:cNvCxnSpPr>
              <a:stCxn id="193" idx="1"/>
              <a:endCxn id="162" idx="1"/>
            </p:cNvCxnSpPr>
            <p:nvPr/>
          </p:nvCxnSpPr>
          <p:spPr>
            <a:xfrm rot="10800000" flipH="1" flipV="1">
              <a:off x="4464109" y="2487556"/>
              <a:ext cx="10107" cy="256184"/>
            </a:xfrm>
            <a:prstGeom prst="bentConnector3">
              <a:avLst>
                <a:gd name="adj1" fmla="val -1319383"/>
              </a:avLst>
            </a:prstGeom>
            <a:ln w="19050">
              <a:solidFill>
                <a:schemeClr val="accent5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群組 199"/>
          <p:cNvGrpSpPr/>
          <p:nvPr/>
        </p:nvGrpSpPr>
        <p:grpSpPr>
          <a:xfrm>
            <a:off x="8155365" y="1418712"/>
            <a:ext cx="201036" cy="2159192"/>
            <a:chOff x="8155365" y="1418712"/>
            <a:chExt cx="201036" cy="2159192"/>
          </a:xfrm>
        </p:grpSpPr>
        <p:grpSp>
          <p:nvGrpSpPr>
            <p:cNvPr id="201" name="群組 200"/>
            <p:cNvGrpSpPr/>
            <p:nvPr/>
          </p:nvGrpSpPr>
          <p:grpSpPr>
            <a:xfrm>
              <a:off x="8155365" y="1418712"/>
              <a:ext cx="201036" cy="2159192"/>
              <a:chOff x="8140734" y="1827143"/>
              <a:chExt cx="201036" cy="2659556"/>
            </a:xfrm>
          </p:grpSpPr>
          <p:cxnSp>
            <p:nvCxnSpPr>
              <p:cNvPr id="204" name="直線接點 203"/>
              <p:cNvCxnSpPr/>
              <p:nvPr/>
            </p:nvCxnSpPr>
            <p:spPr>
              <a:xfrm>
                <a:off x="8140734" y="1827143"/>
                <a:ext cx="201036" cy="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線接點 204"/>
              <p:cNvCxnSpPr/>
              <p:nvPr/>
            </p:nvCxnSpPr>
            <p:spPr>
              <a:xfrm>
                <a:off x="8140734" y="2242140"/>
                <a:ext cx="201036" cy="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接點 205"/>
              <p:cNvCxnSpPr/>
              <p:nvPr/>
            </p:nvCxnSpPr>
            <p:spPr>
              <a:xfrm>
                <a:off x="8168527" y="3081479"/>
                <a:ext cx="160515" cy="0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接點 206"/>
              <p:cNvCxnSpPr>
                <a:stCxn id="180" idx="3"/>
              </p:cNvCxnSpPr>
              <p:nvPr/>
            </p:nvCxnSpPr>
            <p:spPr>
              <a:xfrm>
                <a:off x="8159182" y="3825583"/>
                <a:ext cx="182588" cy="7601"/>
              </a:xfrm>
              <a:prstGeom prst="line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單箭頭接點 207"/>
              <p:cNvCxnSpPr/>
              <p:nvPr/>
            </p:nvCxnSpPr>
            <p:spPr>
              <a:xfrm>
                <a:off x="8329042" y="1827143"/>
                <a:ext cx="5170" cy="2659556"/>
              </a:xfrm>
              <a:prstGeom prst="straightConnector1">
                <a:avLst/>
              </a:prstGeom>
              <a:ln w="190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02" name="直線接點 201"/>
            <p:cNvCxnSpPr/>
            <p:nvPr/>
          </p:nvCxnSpPr>
          <p:spPr>
            <a:xfrm>
              <a:off x="8175625" y="2192996"/>
              <a:ext cx="160515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接點 202"/>
            <p:cNvCxnSpPr>
              <a:stCxn id="195" idx="3"/>
            </p:cNvCxnSpPr>
            <p:nvPr/>
          </p:nvCxnSpPr>
          <p:spPr>
            <a:xfrm>
              <a:off x="8173813" y="2791255"/>
              <a:ext cx="176224" cy="240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9" name="群組 208"/>
          <p:cNvGrpSpPr/>
          <p:nvPr/>
        </p:nvGrpSpPr>
        <p:grpSpPr>
          <a:xfrm>
            <a:off x="6932192" y="2796854"/>
            <a:ext cx="241042" cy="256184"/>
            <a:chOff x="4233174" y="2487556"/>
            <a:chExt cx="241042" cy="256184"/>
          </a:xfrm>
        </p:grpSpPr>
        <p:cxnSp>
          <p:nvCxnSpPr>
            <p:cNvPr id="210" name="直線接點 209"/>
            <p:cNvCxnSpPr/>
            <p:nvPr/>
          </p:nvCxnSpPr>
          <p:spPr>
            <a:xfrm flipH="1">
              <a:off x="4233174" y="2655486"/>
              <a:ext cx="84585" cy="842"/>
            </a:xfrm>
            <a:prstGeom prst="line">
              <a:avLst/>
            </a:prstGeom>
            <a:ln w="1905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肘形接點 210"/>
            <p:cNvCxnSpPr/>
            <p:nvPr/>
          </p:nvCxnSpPr>
          <p:spPr>
            <a:xfrm rot="10800000" flipH="1" flipV="1">
              <a:off x="4464109" y="2487556"/>
              <a:ext cx="10107" cy="256184"/>
            </a:xfrm>
            <a:prstGeom prst="bentConnector3">
              <a:avLst>
                <a:gd name="adj1" fmla="val -1319383"/>
              </a:avLst>
            </a:prstGeom>
            <a:ln w="19050">
              <a:solidFill>
                <a:schemeClr val="accent5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2" name="直線單箭頭接點 211">
            <a:extLst>
              <a:ext uri="{FF2B5EF4-FFF2-40B4-BE49-F238E27FC236}">
                <a16:creationId xmlns:a16="http://schemas.microsoft.com/office/drawing/2014/main" xmlns="" id="{A44F6AD5-66A7-0CB9-F401-991528F11985}"/>
              </a:ext>
            </a:extLst>
          </p:cNvPr>
          <p:cNvCxnSpPr>
            <a:cxnSpLocks/>
            <a:stCxn id="174" idx="3"/>
            <a:endCxn id="177" idx="1"/>
          </p:cNvCxnSpPr>
          <p:nvPr/>
        </p:nvCxnSpPr>
        <p:spPr>
          <a:xfrm flipV="1">
            <a:off x="5566493" y="2963215"/>
            <a:ext cx="341497" cy="4513"/>
          </a:xfrm>
          <a:prstGeom prst="straightConnector1">
            <a:avLst/>
          </a:prstGeom>
          <a:noFill/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213" name="圖形 14" descr="文件 以實心填滿">
            <a:extLst>
              <a:ext uri="{FF2B5EF4-FFF2-40B4-BE49-F238E27FC236}">
                <a16:creationId xmlns:a16="http://schemas.microsoft.com/office/drawing/2014/main" xmlns="" id="{EAF1AD50-C68E-9AB8-AB93-485A702962E0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rightnessContrast bright="100000"/>
                    </a14:imgEffect>
                  </a14:imgLayer>
                </a14:imgProps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4089" y="3593396"/>
            <a:ext cx="274157" cy="2160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群組 213">
            <a:extLst>
              <a:ext uri="{FF2B5EF4-FFF2-40B4-BE49-F238E27FC236}">
                <a16:creationId xmlns:a16="http://schemas.microsoft.com/office/drawing/2014/main" xmlns="" id="{1186394D-3C76-4E1E-B150-49130D31F816}"/>
              </a:ext>
            </a:extLst>
          </p:cNvPr>
          <p:cNvGrpSpPr/>
          <p:nvPr/>
        </p:nvGrpSpPr>
        <p:grpSpPr>
          <a:xfrm>
            <a:off x="7403044" y="3564537"/>
            <a:ext cx="1150393" cy="248921"/>
            <a:chOff x="9337704" y="5890809"/>
            <a:chExt cx="1051318" cy="408806"/>
          </a:xfrm>
          <a:solidFill>
            <a:srgbClr val="414141"/>
          </a:solidFill>
        </p:grpSpPr>
        <p:grpSp>
          <p:nvGrpSpPr>
            <p:cNvPr id="215" name="群組 214">
              <a:extLst>
                <a:ext uri="{FF2B5EF4-FFF2-40B4-BE49-F238E27FC236}">
                  <a16:creationId xmlns:a16="http://schemas.microsoft.com/office/drawing/2014/main" xmlns="" id="{60E6D830-CC61-06A1-5F74-BE3F1BC654EF}"/>
                </a:ext>
              </a:extLst>
            </p:cNvPr>
            <p:cNvGrpSpPr/>
            <p:nvPr/>
          </p:nvGrpSpPr>
          <p:grpSpPr>
            <a:xfrm>
              <a:off x="9337704" y="5890809"/>
              <a:ext cx="1051318" cy="408806"/>
              <a:chOff x="469934" y="5869101"/>
              <a:chExt cx="1361722" cy="408806"/>
            </a:xfrm>
            <a:grpFill/>
          </p:grpSpPr>
          <p:sp>
            <p:nvSpPr>
              <p:cNvPr id="217" name="矩形: 圓角 6">
                <a:extLst>
                  <a:ext uri="{FF2B5EF4-FFF2-40B4-BE49-F238E27FC236}">
                    <a16:creationId xmlns:a16="http://schemas.microsoft.com/office/drawing/2014/main" xmlns="" id="{0FED91D0-5018-52F3-B15B-9DF253C6719B}"/>
                  </a:ext>
                </a:extLst>
              </p:cNvPr>
              <p:cNvSpPr/>
              <p:nvPr/>
            </p:nvSpPr>
            <p:spPr>
              <a:xfrm>
                <a:off x="480846" y="5869101"/>
                <a:ext cx="1350810" cy="40880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zh-TW" altLang="en-US" sz="900" dirty="0">
                  <a:latin typeface="+mn-ea"/>
                </a:endParaRPr>
              </a:p>
            </p:txBody>
          </p:sp>
          <p:sp>
            <p:nvSpPr>
              <p:cNvPr id="218" name="文字方塊 217">
                <a:extLst>
                  <a:ext uri="{FF2B5EF4-FFF2-40B4-BE49-F238E27FC236}">
                    <a16:creationId xmlns:a16="http://schemas.microsoft.com/office/drawing/2014/main" xmlns="" id="{16343602-0EE2-43F7-88A9-012ACA9FDDCA}"/>
                  </a:ext>
                </a:extLst>
              </p:cNvPr>
              <p:cNvSpPr txBox="1"/>
              <p:nvPr/>
            </p:nvSpPr>
            <p:spPr>
              <a:xfrm>
                <a:off x="469934" y="5891054"/>
                <a:ext cx="1345378" cy="3790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900" dirty="0" smtClean="0">
                    <a:solidFill>
                      <a:schemeClr val="bg1"/>
                    </a:solidFill>
                    <a:latin typeface="+mn-ea"/>
                  </a:rPr>
                  <a:t>記錄檢測資訊</a:t>
                </a:r>
                <a:endParaRPr lang="zh-TW" altLang="en-US" sz="900" dirty="0">
                  <a:solidFill>
                    <a:schemeClr val="bg1"/>
                  </a:solidFill>
                  <a:latin typeface="+mn-ea"/>
                </a:endParaRPr>
              </a:p>
            </p:txBody>
          </p:sp>
        </p:grpSp>
        <p:pic>
          <p:nvPicPr>
            <p:cNvPr id="216" name="圖形 14" descr="文件 以實心填滿">
              <a:extLst>
                <a:ext uri="{FF2B5EF4-FFF2-40B4-BE49-F238E27FC236}">
                  <a16:creationId xmlns:a16="http://schemas.microsoft.com/office/drawing/2014/main" xmlns="" id="{EAF1AD50-C68E-9AB8-AB93-485A70296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BEBA8EAE-BF5A-486C-A8C5-ECC9F3942E4B}">
                  <a14:imgProps xmlns:a14="http://schemas.microsoft.com/office/drawing/2010/main">
                    <a14:imgLayer r:embed="rId46">
                      <a14:imgEffect>
                        <a14:brightnessContrast bright="100000"/>
                      </a14:imgEffect>
                    </a14:imgLayer>
                  </a14:imgProps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0103984" y="5921259"/>
              <a:ext cx="250546" cy="35487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文字方塊 226">
            <a:extLst>
              <a:ext uri="{FF2B5EF4-FFF2-40B4-BE49-F238E27FC236}">
                <a16:creationId xmlns:a16="http://schemas.microsoft.com/office/drawing/2014/main" xmlns="" id="{16343602-0EE2-43F7-88A9-012ACA9FDDCA}"/>
              </a:ext>
            </a:extLst>
          </p:cNvPr>
          <p:cNvSpPr txBox="1"/>
          <p:nvPr/>
        </p:nvSpPr>
        <p:spPr>
          <a:xfrm>
            <a:off x="2138141" y="1479456"/>
            <a:ext cx="890041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TW" altLang="en-US" sz="900" dirty="0" smtClean="0">
                <a:solidFill>
                  <a:schemeClr val="bg1"/>
                </a:solidFill>
                <a:latin typeface="+mn-ea"/>
              </a:rPr>
              <a:t>馬達調整焦距</a:t>
            </a:r>
            <a:endParaRPr lang="zh-TW" altLang="en-US" sz="9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29" name="圖形 9" descr="靶心 以實心填滿">
            <a:extLst>
              <a:ext uri="{FF2B5EF4-FFF2-40B4-BE49-F238E27FC236}">
                <a16:creationId xmlns:a16="http://schemas.microsoft.com/office/drawing/2014/main" xmlns="" id="{5DEB39D5-633B-3920-F01F-D6CD538C24F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96360" y="2572262"/>
            <a:ext cx="246634" cy="20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83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矩形 276"/>
          <p:cNvSpPr/>
          <p:nvPr/>
        </p:nvSpPr>
        <p:spPr>
          <a:xfrm>
            <a:off x="2986560" y="2280002"/>
            <a:ext cx="1235736" cy="40953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6" name="矩形 275"/>
          <p:cNvSpPr/>
          <p:nvPr/>
        </p:nvSpPr>
        <p:spPr>
          <a:xfrm>
            <a:off x="2994958" y="1379984"/>
            <a:ext cx="1235736" cy="4095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矩形 274"/>
          <p:cNvSpPr/>
          <p:nvPr/>
        </p:nvSpPr>
        <p:spPr>
          <a:xfrm>
            <a:off x="1607581" y="1998597"/>
            <a:ext cx="1161534" cy="40953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2" name="矩形 211"/>
          <p:cNvSpPr/>
          <p:nvPr/>
        </p:nvSpPr>
        <p:spPr>
          <a:xfrm>
            <a:off x="1643910" y="1468204"/>
            <a:ext cx="1089938" cy="3622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00"/>
          </a:p>
        </p:txBody>
      </p:sp>
      <p:grpSp>
        <p:nvGrpSpPr>
          <p:cNvPr id="286" name="群組 285"/>
          <p:cNvGrpSpPr/>
          <p:nvPr/>
        </p:nvGrpSpPr>
        <p:grpSpPr>
          <a:xfrm>
            <a:off x="7408644" y="813085"/>
            <a:ext cx="817351" cy="376793"/>
            <a:chOff x="4765224" y="827836"/>
            <a:chExt cx="817351" cy="376793"/>
          </a:xfrm>
        </p:grpSpPr>
        <p:sp>
          <p:nvSpPr>
            <p:cNvPr id="287" name="橢圓 286"/>
            <p:cNvSpPr/>
            <p:nvPr/>
          </p:nvSpPr>
          <p:spPr>
            <a:xfrm>
              <a:off x="4765224" y="827836"/>
              <a:ext cx="817351" cy="376793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88" name="文字方塊 287"/>
            <p:cNvSpPr txBox="1"/>
            <p:nvPr/>
          </p:nvSpPr>
          <p:spPr>
            <a:xfrm>
              <a:off x="4798625" y="836369"/>
              <a:ext cx="7651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800" dirty="0" smtClean="0"/>
                <a:t>自適應</a:t>
              </a:r>
              <a:endParaRPr lang="en-US" altLang="zh-TW" sz="800" dirty="0" smtClean="0"/>
            </a:p>
            <a:p>
              <a:pPr algn="ctr"/>
              <a:r>
                <a:rPr lang="zh-TW" altLang="en-US" sz="800" dirty="0" smtClean="0"/>
                <a:t>口徑量測</a:t>
              </a:r>
              <a:endParaRPr lang="zh-TW" altLang="en-US" sz="800" dirty="0"/>
            </a:p>
          </p:txBody>
        </p:sp>
      </p:grpSp>
      <p:grpSp>
        <p:nvGrpSpPr>
          <p:cNvPr id="289" name="群組 288"/>
          <p:cNvGrpSpPr/>
          <p:nvPr/>
        </p:nvGrpSpPr>
        <p:grpSpPr>
          <a:xfrm>
            <a:off x="7398297" y="1359606"/>
            <a:ext cx="846018" cy="365199"/>
            <a:chOff x="1165860" y="3108960"/>
            <a:chExt cx="1166368" cy="48006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90" name="矩形 289"/>
            <p:cNvSpPr/>
            <p:nvPr/>
          </p:nvSpPr>
          <p:spPr>
            <a:xfrm>
              <a:off x="1165860" y="3108960"/>
              <a:ext cx="1166368" cy="4800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291" name="文字方塊 290"/>
            <p:cNvSpPr txBox="1"/>
            <p:nvPr/>
          </p:nvSpPr>
          <p:spPr>
            <a:xfrm>
              <a:off x="1293868" y="3129470"/>
              <a:ext cx="973381" cy="445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噴嘴區域</a:t>
              </a:r>
              <a:endParaRPr lang="en-US" altLang="zh-TW" sz="800" dirty="0" smtClean="0"/>
            </a:p>
            <a:p>
              <a:r>
                <a:rPr lang="zh-TW" altLang="en-US" sz="800" dirty="0" smtClean="0"/>
                <a:t>語義分割</a:t>
              </a:r>
              <a:endParaRPr lang="zh-TW" altLang="en-US" sz="800" dirty="0"/>
            </a:p>
          </p:txBody>
        </p:sp>
      </p:grpSp>
      <p:grpSp>
        <p:nvGrpSpPr>
          <p:cNvPr id="292" name="群組 291"/>
          <p:cNvGrpSpPr/>
          <p:nvPr/>
        </p:nvGrpSpPr>
        <p:grpSpPr>
          <a:xfrm>
            <a:off x="7405813" y="1884495"/>
            <a:ext cx="838502" cy="253563"/>
            <a:chOff x="1165860" y="3108961"/>
            <a:chExt cx="1166368" cy="33331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93" name="矩形 292"/>
            <p:cNvSpPr/>
            <p:nvPr/>
          </p:nvSpPr>
          <p:spPr>
            <a:xfrm>
              <a:off x="1165860" y="3108961"/>
              <a:ext cx="1166368" cy="33331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294" name="文字方塊 293"/>
            <p:cNvSpPr txBox="1"/>
            <p:nvPr/>
          </p:nvSpPr>
          <p:spPr>
            <a:xfrm>
              <a:off x="1375514" y="3129471"/>
              <a:ext cx="805558" cy="283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二值化</a:t>
              </a:r>
              <a:endParaRPr lang="zh-TW" altLang="en-US" sz="800" dirty="0"/>
            </a:p>
          </p:txBody>
        </p:sp>
      </p:grpSp>
      <p:grpSp>
        <p:nvGrpSpPr>
          <p:cNvPr id="298" name="群組 297"/>
          <p:cNvGrpSpPr/>
          <p:nvPr/>
        </p:nvGrpSpPr>
        <p:grpSpPr>
          <a:xfrm>
            <a:off x="7404956" y="2325378"/>
            <a:ext cx="839359" cy="270991"/>
            <a:chOff x="1165860" y="3108961"/>
            <a:chExt cx="1166368" cy="35622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99" name="矩形 298"/>
            <p:cNvSpPr/>
            <p:nvPr/>
          </p:nvSpPr>
          <p:spPr>
            <a:xfrm>
              <a:off x="1165860" y="3108961"/>
              <a:ext cx="1166368" cy="35622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00" name="文字方塊 299"/>
            <p:cNvSpPr txBox="1"/>
            <p:nvPr/>
          </p:nvSpPr>
          <p:spPr>
            <a:xfrm>
              <a:off x="1323644" y="3159591"/>
              <a:ext cx="973383" cy="283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邊</a:t>
              </a:r>
              <a:r>
                <a:rPr lang="zh-TW" altLang="en-US" sz="800" dirty="0"/>
                <a:t>緣</a:t>
              </a:r>
              <a:r>
                <a:rPr lang="zh-TW" altLang="en-US" sz="800" dirty="0" smtClean="0"/>
                <a:t>檢測</a:t>
              </a:r>
              <a:endParaRPr lang="zh-TW" altLang="en-US" sz="800" dirty="0"/>
            </a:p>
          </p:txBody>
        </p:sp>
      </p:grpSp>
      <p:grpSp>
        <p:nvGrpSpPr>
          <p:cNvPr id="301" name="群組 300"/>
          <p:cNvGrpSpPr/>
          <p:nvPr/>
        </p:nvGrpSpPr>
        <p:grpSpPr>
          <a:xfrm>
            <a:off x="7404956" y="2744012"/>
            <a:ext cx="839359" cy="257718"/>
            <a:chOff x="1165860" y="3108960"/>
            <a:chExt cx="1166368" cy="338775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02" name="矩形 301"/>
            <p:cNvSpPr/>
            <p:nvPr/>
          </p:nvSpPr>
          <p:spPr>
            <a:xfrm>
              <a:off x="1165860" y="3108960"/>
              <a:ext cx="1166368" cy="33877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03" name="文字方塊 302"/>
            <p:cNvSpPr txBox="1"/>
            <p:nvPr/>
          </p:nvSpPr>
          <p:spPr>
            <a:xfrm>
              <a:off x="1406424" y="3152954"/>
              <a:ext cx="805559" cy="283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形態學</a:t>
              </a:r>
              <a:endParaRPr lang="zh-TW" altLang="en-US" sz="800" dirty="0"/>
            </a:p>
          </p:txBody>
        </p:sp>
      </p:grpSp>
      <p:grpSp>
        <p:nvGrpSpPr>
          <p:cNvPr id="304" name="群組 303"/>
          <p:cNvGrpSpPr/>
          <p:nvPr/>
        </p:nvGrpSpPr>
        <p:grpSpPr>
          <a:xfrm>
            <a:off x="7377573" y="3181155"/>
            <a:ext cx="902811" cy="365199"/>
            <a:chOff x="1127809" y="3108960"/>
            <a:chExt cx="1254540" cy="48006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05" name="矩形 304"/>
            <p:cNvSpPr/>
            <p:nvPr/>
          </p:nvSpPr>
          <p:spPr>
            <a:xfrm>
              <a:off x="1165860" y="3108960"/>
              <a:ext cx="1166368" cy="48006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06" name="文字方塊 305"/>
            <p:cNvSpPr txBox="1"/>
            <p:nvPr/>
          </p:nvSpPr>
          <p:spPr>
            <a:xfrm>
              <a:off x="1127809" y="3129971"/>
              <a:ext cx="1254540" cy="4450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最小平方圓檢測</a:t>
              </a:r>
              <a:endParaRPr lang="en-US" altLang="zh-TW" sz="800" dirty="0" smtClean="0"/>
            </a:p>
            <a:p>
              <a:r>
                <a:rPr lang="zh-TW" altLang="en-US" sz="800" dirty="0" smtClean="0"/>
                <a:t>擬合圓形</a:t>
              </a:r>
              <a:endParaRPr lang="zh-TW" altLang="en-US" sz="800" dirty="0"/>
            </a:p>
          </p:txBody>
        </p:sp>
      </p:grpSp>
      <p:grpSp>
        <p:nvGrpSpPr>
          <p:cNvPr id="307" name="群組 306"/>
          <p:cNvGrpSpPr/>
          <p:nvPr/>
        </p:nvGrpSpPr>
        <p:grpSpPr>
          <a:xfrm>
            <a:off x="7366763" y="3695515"/>
            <a:ext cx="902811" cy="254741"/>
            <a:chOff x="1103383" y="3108961"/>
            <a:chExt cx="1476859" cy="33486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08" name="矩形 307"/>
            <p:cNvSpPr/>
            <p:nvPr/>
          </p:nvSpPr>
          <p:spPr>
            <a:xfrm>
              <a:off x="1165859" y="3108961"/>
              <a:ext cx="1376834" cy="33486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09" name="文字方塊 308"/>
            <p:cNvSpPr txBox="1"/>
            <p:nvPr/>
          </p:nvSpPr>
          <p:spPr>
            <a:xfrm>
              <a:off x="1103383" y="3146602"/>
              <a:ext cx="1476859" cy="283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口徑量測演算法</a:t>
              </a:r>
              <a:endParaRPr lang="zh-TW" altLang="en-US" sz="800" dirty="0"/>
            </a:p>
          </p:txBody>
        </p:sp>
      </p:grpSp>
      <p:cxnSp>
        <p:nvCxnSpPr>
          <p:cNvPr id="310" name="直線單箭頭接點 309"/>
          <p:cNvCxnSpPr>
            <a:stCxn id="287" idx="4"/>
            <a:endCxn id="290" idx="0"/>
          </p:cNvCxnSpPr>
          <p:nvPr/>
        </p:nvCxnSpPr>
        <p:spPr>
          <a:xfrm>
            <a:off x="7817320" y="1189878"/>
            <a:ext cx="3986" cy="169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直線單箭頭接點 310"/>
          <p:cNvCxnSpPr>
            <a:stCxn id="290" idx="2"/>
            <a:endCxn id="293" idx="0"/>
          </p:cNvCxnSpPr>
          <p:nvPr/>
        </p:nvCxnSpPr>
        <p:spPr>
          <a:xfrm>
            <a:off x="7821306" y="1724805"/>
            <a:ext cx="3758" cy="159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直線單箭頭接點 312"/>
          <p:cNvCxnSpPr>
            <a:stCxn id="293" idx="2"/>
            <a:endCxn id="299" idx="0"/>
          </p:cNvCxnSpPr>
          <p:nvPr/>
        </p:nvCxnSpPr>
        <p:spPr>
          <a:xfrm flipH="1">
            <a:off x="7824636" y="2138058"/>
            <a:ext cx="428" cy="187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直線單箭頭接點 313"/>
          <p:cNvCxnSpPr>
            <a:stCxn id="299" idx="2"/>
            <a:endCxn id="302" idx="0"/>
          </p:cNvCxnSpPr>
          <p:nvPr/>
        </p:nvCxnSpPr>
        <p:spPr>
          <a:xfrm>
            <a:off x="7824636" y="2596369"/>
            <a:ext cx="0" cy="147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直線單箭頭接點 314"/>
          <p:cNvCxnSpPr>
            <a:stCxn id="302" idx="2"/>
            <a:endCxn id="305" idx="0"/>
          </p:cNvCxnSpPr>
          <p:nvPr/>
        </p:nvCxnSpPr>
        <p:spPr>
          <a:xfrm>
            <a:off x="7824636" y="3001730"/>
            <a:ext cx="0" cy="179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直線單箭頭接點 315"/>
          <p:cNvCxnSpPr>
            <a:stCxn id="305" idx="2"/>
            <a:endCxn id="308" idx="0"/>
          </p:cNvCxnSpPr>
          <p:nvPr/>
        </p:nvCxnSpPr>
        <p:spPr>
          <a:xfrm>
            <a:off x="7824636" y="3546354"/>
            <a:ext cx="1152" cy="1491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7" name="群組 316"/>
          <p:cNvGrpSpPr/>
          <p:nvPr/>
        </p:nvGrpSpPr>
        <p:grpSpPr>
          <a:xfrm>
            <a:off x="4730123" y="826240"/>
            <a:ext cx="846779" cy="376793"/>
            <a:chOff x="4761879" y="827836"/>
            <a:chExt cx="846779" cy="376793"/>
          </a:xfrm>
        </p:grpSpPr>
        <p:sp>
          <p:nvSpPr>
            <p:cNvPr id="318" name="橢圓 317"/>
            <p:cNvSpPr/>
            <p:nvPr/>
          </p:nvSpPr>
          <p:spPr>
            <a:xfrm>
              <a:off x="4765224" y="827836"/>
              <a:ext cx="817351" cy="376793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19" name="文字方塊 318"/>
            <p:cNvSpPr txBox="1"/>
            <p:nvPr/>
          </p:nvSpPr>
          <p:spPr>
            <a:xfrm>
              <a:off x="4761879" y="908250"/>
              <a:ext cx="84677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自動對焦拍照</a:t>
              </a:r>
              <a:endParaRPr lang="zh-TW" altLang="en-US" sz="800" dirty="0"/>
            </a:p>
          </p:txBody>
        </p:sp>
      </p:grpSp>
      <p:cxnSp>
        <p:nvCxnSpPr>
          <p:cNvPr id="320" name="直線單箭頭接點 319"/>
          <p:cNvCxnSpPr>
            <a:stCxn id="318" idx="4"/>
            <a:endCxn id="327" idx="0"/>
          </p:cNvCxnSpPr>
          <p:nvPr/>
        </p:nvCxnSpPr>
        <p:spPr>
          <a:xfrm flipH="1">
            <a:off x="5141846" y="1203033"/>
            <a:ext cx="298" cy="158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1" name="群組 320"/>
          <p:cNvGrpSpPr/>
          <p:nvPr/>
        </p:nvGrpSpPr>
        <p:grpSpPr>
          <a:xfrm>
            <a:off x="6106946" y="813085"/>
            <a:ext cx="817351" cy="376793"/>
            <a:chOff x="4765224" y="827836"/>
            <a:chExt cx="817351" cy="376793"/>
          </a:xfrm>
        </p:grpSpPr>
        <p:sp>
          <p:nvSpPr>
            <p:cNvPr id="322" name="橢圓 321"/>
            <p:cNvSpPr/>
            <p:nvPr/>
          </p:nvSpPr>
          <p:spPr>
            <a:xfrm>
              <a:off x="4765224" y="827836"/>
              <a:ext cx="817351" cy="376793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23" name="文字方塊 322"/>
            <p:cNvSpPr txBox="1"/>
            <p:nvPr/>
          </p:nvSpPr>
          <p:spPr>
            <a:xfrm>
              <a:off x="4791308" y="840991"/>
              <a:ext cx="7651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800" dirty="0" smtClean="0"/>
                <a:t>全焦距</a:t>
              </a:r>
              <a:endParaRPr lang="en-US" altLang="zh-TW" sz="800" dirty="0" smtClean="0"/>
            </a:p>
            <a:p>
              <a:pPr algn="ctr"/>
              <a:r>
                <a:rPr lang="zh-TW" altLang="en-US" sz="800" dirty="0" smtClean="0"/>
                <a:t>影像</a:t>
              </a:r>
              <a:r>
                <a:rPr lang="zh-TW" altLang="en-US" sz="800" dirty="0"/>
                <a:t>融合</a:t>
              </a:r>
            </a:p>
          </p:txBody>
        </p:sp>
      </p:grpSp>
      <p:cxnSp>
        <p:nvCxnSpPr>
          <p:cNvPr id="325" name="直線單箭頭接點 324"/>
          <p:cNvCxnSpPr>
            <a:stCxn id="322" idx="4"/>
            <a:endCxn id="324" idx="0"/>
          </p:cNvCxnSpPr>
          <p:nvPr/>
        </p:nvCxnSpPr>
        <p:spPr>
          <a:xfrm>
            <a:off x="6515622" y="1189878"/>
            <a:ext cx="0" cy="165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6" name="群組 325"/>
          <p:cNvGrpSpPr/>
          <p:nvPr/>
        </p:nvGrpSpPr>
        <p:grpSpPr>
          <a:xfrm>
            <a:off x="4685665" y="1361430"/>
            <a:ext cx="990289" cy="597047"/>
            <a:chOff x="1165608" y="3108960"/>
            <a:chExt cx="1619953" cy="61760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27" name="矩形 326"/>
            <p:cNvSpPr/>
            <p:nvPr/>
          </p:nvSpPr>
          <p:spPr>
            <a:xfrm>
              <a:off x="1165858" y="3108960"/>
              <a:ext cx="1491977" cy="48006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28" name="文字方塊 327"/>
            <p:cNvSpPr txBox="1"/>
            <p:nvPr/>
          </p:nvSpPr>
          <p:spPr>
            <a:xfrm>
              <a:off x="1165608" y="3119697"/>
              <a:ext cx="1619953" cy="606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馬達控制顯微鏡在範圍區間移動取像</a:t>
              </a:r>
              <a:endParaRPr lang="zh-TW" altLang="en-US" sz="800" dirty="0"/>
            </a:p>
          </p:txBody>
        </p:sp>
      </p:grpSp>
      <p:grpSp>
        <p:nvGrpSpPr>
          <p:cNvPr id="329" name="群組 328"/>
          <p:cNvGrpSpPr/>
          <p:nvPr/>
        </p:nvGrpSpPr>
        <p:grpSpPr>
          <a:xfrm>
            <a:off x="4685818" y="3616273"/>
            <a:ext cx="910661" cy="290321"/>
            <a:chOff x="1165860" y="3108960"/>
            <a:chExt cx="1489695" cy="38163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30" name="矩形 329"/>
            <p:cNvSpPr/>
            <p:nvPr/>
          </p:nvSpPr>
          <p:spPr>
            <a:xfrm>
              <a:off x="1165860" y="3108960"/>
              <a:ext cx="1489695" cy="3816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31" name="文字方塊 330"/>
            <p:cNvSpPr txBox="1"/>
            <p:nvPr/>
          </p:nvSpPr>
          <p:spPr>
            <a:xfrm>
              <a:off x="1332688" y="3155368"/>
              <a:ext cx="1187186" cy="283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拍照並回傳</a:t>
              </a:r>
              <a:endParaRPr lang="zh-TW" altLang="en-US" sz="800" dirty="0"/>
            </a:p>
          </p:txBody>
        </p:sp>
      </p:grpSp>
      <p:cxnSp>
        <p:nvCxnSpPr>
          <p:cNvPr id="334" name="直線單箭頭接點 333"/>
          <p:cNvCxnSpPr>
            <a:stCxn id="327" idx="2"/>
            <a:endCxn id="131" idx="0"/>
          </p:cNvCxnSpPr>
          <p:nvPr/>
        </p:nvCxnSpPr>
        <p:spPr>
          <a:xfrm>
            <a:off x="5141846" y="1825512"/>
            <a:ext cx="2423" cy="138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直線單箭頭接點 334"/>
          <p:cNvCxnSpPr>
            <a:stCxn id="145" idx="2"/>
            <a:endCxn id="337" idx="0"/>
          </p:cNvCxnSpPr>
          <p:nvPr/>
        </p:nvCxnSpPr>
        <p:spPr>
          <a:xfrm flipH="1">
            <a:off x="5141140" y="2851637"/>
            <a:ext cx="2833" cy="186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6" name="群組 335"/>
          <p:cNvGrpSpPr/>
          <p:nvPr/>
        </p:nvGrpSpPr>
        <p:grpSpPr>
          <a:xfrm>
            <a:off x="4634516" y="3038229"/>
            <a:ext cx="1079443" cy="391832"/>
            <a:chOff x="902856" y="3117130"/>
            <a:chExt cx="1765795" cy="515070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37" name="矩形 336"/>
            <p:cNvSpPr/>
            <p:nvPr/>
          </p:nvSpPr>
          <p:spPr>
            <a:xfrm>
              <a:off x="973642" y="3117130"/>
              <a:ext cx="1515939" cy="5150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38" name="文字方塊 337"/>
            <p:cNvSpPr txBox="1"/>
            <p:nvPr/>
          </p:nvSpPr>
          <p:spPr>
            <a:xfrm>
              <a:off x="902856" y="3158536"/>
              <a:ext cx="1765795" cy="44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馬達移動到</a:t>
              </a:r>
              <a:r>
                <a:rPr lang="zh-TW" altLang="en-US" sz="800" dirty="0"/>
                <a:t>拉普拉斯梯度</a:t>
              </a:r>
              <a:r>
                <a:rPr lang="zh-TW" altLang="en-US" sz="800" dirty="0" smtClean="0"/>
                <a:t>最大值位置</a:t>
              </a:r>
              <a:endParaRPr lang="zh-TW" altLang="en-US" sz="800" dirty="0"/>
            </a:p>
          </p:txBody>
        </p:sp>
      </p:grpSp>
      <p:cxnSp>
        <p:nvCxnSpPr>
          <p:cNvPr id="342" name="直線單箭頭接點 341"/>
          <p:cNvCxnSpPr>
            <a:stCxn id="337" idx="2"/>
            <a:endCxn id="330" idx="0"/>
          </p:cNvCxnSpPr>
          <p:nvPr/>
        </p:nvCxnSpPr>
        <p:spPr>
          <a:xfrm>
            <a:off x="5141140" y="3430061"/>
            <a:ext cx="9" cy="186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群組 19"/>
          <p:cNvGrpSpPr/>
          <p:nvPr/>
        </p:nvGrpSpPr>
        <p:grpSpPr>
          <a:xfrm>
            <a:off x="6070332" y="1952206"/>
            <a:ext cx="890582" cy="338554"/>
            <a:chOff x="7416670" y="2231739"/>
            <a:chExt cx="890582" cy="338554"/>
          </a:xfrm>
        </p:grpSpPr>
        <p:sp>
          <p:nvSpPr>
            <p:cNvPr id="344" name="矩形 343"/>
            <p:cNvSpPr/>
            <p:nvPr/>
          </p:nvSpPr>
          <p:spPr>
            <a:xfrm>
              <a:off x="7416670" y="2235017"/>
              <a:ext cx="890582" cy="331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45" name="文字方塊 344"/>
            <p:cNvSpPr txBox="1"/>
            <p:nvPr/>
          </p:nvSpPr>
          <p:spPr>
            <a:xfrm>
              <a:off x="7461850" y="2231739"/>
              <a:ext cx="80021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拍攝多張不同焦距的照片</a:t>
              </a:r>
              <a:endParaRPr lang="zh-TW" altLang="en-US" sz="800" dirty="0"/>
            </a:p>
          </p:txBody>
        </p:sp>
      </p:grpSp>
      <p:cxnSp>
        <p:nvCxnSpPr>
          <p:cNvPr id="346" name="直線單箭頭接點 345"/>
          <p:cNvCxnSpPr>
            <a:stCxn id="324" idx="2"/>
            <a:endCxn id="344" idx="0"/>
          </p:cNvCxnSpPr>
          <p:nvPr/>
        </p:nvCxnSpPr>
        <p:spPr>
          <a:xfrm>
            <a:off x="6515622" y="1836082"/>
            <a:ext cx="1" cy="119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群組 20"/>
          <p:cNvGrpSpPr/>
          <p:nvPr/>
        </p:nvGrpSpPr>
        <p:grpSpPr>
          <a:xfrm>
            <a:off x="6059014" y="2759924"/>
            <a:ext cx="928681" cy="344661"/>
            <a:chOff x="7409476" y="2899114"/>
            <a:chExt cx="928681" cy="344661"/>
          </a:xfrm>
        </p:grpSpPr>
        <p:sp>
          <p:nvSpPr>
            <p:cNvPr id="347" name="矩形 346"/>
            <p:cNvSpPr/>
            <p:nvPr/>
          </p:nvSpPr>
          <p:spPr>
            <a:xfrm>
              <a:off x="7422770" y="2899114"/>
              <a:ext cx="890582" cy="331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48" name="文字方塊 347"/>
            <p:cNvSpPr txBox="1"/>
            <p:nvPr/>
          </p:nvSpPr>
          <p:spPr>
            <a:xfrm>
              <a:off x="7409476" y="2905221"/>
              <a:ext cx="9286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計算每張影像每個像素的清晰度</a:t>
              </a:r>
              <a:endParaRPr lang="zh-TW" altLang="en-US" sz="800" dirty="0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073731" y="3235517"/>
            <a:ext cx="950631" cy="239771"/>
            <a:chOff x="7420069" y="3595521"/>
            <a:chExt cx="950631" cy="239771"/>
          </a:xfrm>
        </p:grpSpPr>
        <p:sp>
          <p:nvSpPr>
            <p:cNvPr id="349" name="矩形 348"/>
            <p:cNvSpPr/>
            <p:nvPr/>
          </p:nvSpPr>
          <p:spPr>
            <a:xfrm>
              <a:off x="7422770" y="3595521"/>
              <a:ext cx="890582" cy="2397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350" name="文字方塊 349"/>
            <p:cNvSpPr txBox="1"/>
            <p:nvPr/>
          </p:nvSpPr>
          <p:spPr>
            <a:xfrm>
              <a:off x="7420069" y="3614242"/>
              <a:ext cx="9506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計算像素的權重</a:t>
              </a:r>
              <a:endParaRPr lang="zh-TW" altLang="en-US" sz="800" dirty="0"/>
            </a:p>
          </p:txBody>
        </p:sp>
      </p:grpSp>
      <p:cxnSp>
        <p:nvCxnSpPr>
          <p:cNvPr id="351" name="直線單箭頭接點 350"/>
          <p:cNvCxnSpPr>
            <a:stCxn id="344" idx="2"/>
            <a:endCxn id="194" idx="0"/>
          </p:cNvCxnSpPr>
          <p:nvPr/>
        </p:nvCxnSpPr>
        <p:spPr>
          <a:xfrm flipH="1">
            <a:off x="6515620" y="2287483"/>
            <a:ext cx="3" cy="120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直線單箭頭接點 351"/>
          <p:cNvCxnSpPr>
            <a:stCxn id="347" idx="2"/>
            <a:endCxn id="349" idx="0"/>
          </p:cNvCxnSpPr>
          <p:nvPr/>
        </p:nvCxnSpPr>
        <p:spPr>
          <a:xfrm>
            <a:off x="6517599" y="3091923"/>
            <a:ext cx="4124" cy="143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0" name="群組 129"/>
          <p:cNvGrpSpPr/>
          <p:nvPr/>
        </p:nvGrpSpPr>
        <p:grpSpPr>
          <a:xfrm>
            <a:off x="4646097" y="1964320"/>
            <a:ext cx="1080771" cy="365195"/>
            <a:chOff x="1100736" y="3108960"/>
            <a:chExt cx="1767966" cy="480055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31" name="矩形 130"/>
            <p:cNvSpPr/>
            <p:nvPr/>
          </p:nvSpPr>
          <p:spPr>
            <a:xfrm>
              <a:off x="1165857" y="3108960"/>
              <a:ext cx="1499613" cy="48005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32" name="文字方塊 131"/>
            <p:cNvSpPr txBox="1"/>
            <p:nvPr/>
          </p:nvSpPr>
          <p:spPr>
            <a:xfrm>
              <a:off x="1100736" y="3123839"/>
              <a:ext cx="1767966" cy="44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拉普拉斯梯度變換計算影像清晰度</a:t>
              </a:r>
              <a:endParaRPr lang="zh-TW" altLang="en-US" sz="800" dirty="0"/>
            </a:p>
          </p:txBody>
        </p:sp>
      </p:grpSp>
      <p:cxnSp>
        <p:nvCxnSpPr>
          <p:cNvPr id="138" name="直線單箭頭接點 137"/>
          <p:cNvCxnSpPr>
            <a:stCxn id="131" idx="2"/>
            <a:endCxn id="145" idx="0"/>
          </p:cNvCxnSpPr>
          <p:nvPr/>
        </p:nvCxnSpPr>
        <p:spPr>
          <a:xfrm flipH="1">
            <a:off x="5143973" y="2329515"/>
            <a:ext cx="296" cy="15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4" name="群組 143"/>
          <p:cNvGrpSpPr/>
          <p:nvPr/>
        </p:nvGrpSpPr>
        <p:grpSpPr>
          <a:xfrm>
            <a:off x="4645801" y="2486442"/>
            <a:ext cx="1080771" cy="365195"/>
            <a:chOff x="1100736" y="3108960"/>
            <a:chExt cx="1767966" cy="480055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45" name="矩形 144"/>
            <p:cNvSpPr/>
            <p:nvPr/>
          </p:nvSpPr>
          <p:spPr>
            <a:xfrm>
              <a:off x="1165857" y="3108960"/>
              <a:ext cx="1499613" cy="48005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46" name="文字方塊 145"/>
            <p:cNvSpPr txBox="1"/>
            <p:nvPr/>
          </p:nvSpPr>
          <p:spPr>
            <a:xfrm>
              <a:off x="1100736" y="3123839"/>
              <a:ext cx="1767966" cy="4450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求出</a:t>
              </a:r>
              <a:r>
                <a:rPr lang="zh-TW" altLang="en-US" sz="800" dirty="0"/>
                <a:t>拉普拉斯梯</a:t>
              </a:r>
              <a:r>
                <a:rPr lang="zh-TW" altLang="en-US" sz="800" dirty="0" smtClean="0"/>
                <a:t>度最大值</a:t>
              </a:r>
              <a:endParaRPr lang="zh-TW" altLang="en-US" sz="800" dirty="0"/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6053903" y="1355278"/>
            <a:ext cx="990289" cy="480804"/>
            <a:chOff x="7400241" y="1530586"/>
            <a:chExt cx="990289" cy="480804"/>
          </a:xfrm>
        </p:grpSpPr>
        <p:sp>
          <p:nvSpPr>
            <p:cNvPr id="324" name="矩形 323"/>
            <p:cNvSpPr/>
            <p:nvPr/>
          </p:nvSpPr>
          <p:spPr>
            <a:xfrm>
              <a:off x="7416669" y="1530586"/>
              <a:ext cx="890582" cy="48080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49" name="文字方塊 148"/>
            <p:cNvSpPr txBox="1"/>
            <p:nvPr/>
          </p:nvSpPr>
          <p:spPr>
            <a:xfrm>
              <a:off x="7400241" y="1549725"/>
              <a:ext cx="990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馬達控制顯微鏡在焦距範圍區間移動取像</a:t>
              </a:r>
              <a:endParaRPr lang="zh-TW" altLang="en-US" sz="800" dirty="0"/>
            </a:p>
          </p:txBody>
        </p:sp>
      </p:grpSp>
      <p:grpSp>
        <p:nvGrpSpPr>
          <p:cNvPr id="134" name="群組 133"/>
          <p:cNvGrpSpPr/>
          <p:nvPr/>
        </p:nvGrpSpPr>
        <p:grpSpPr>
          <a:xfrm>
            <a:off x="6065870" y="4421791"/>
            <a:ext cx="950631" cy="338554"/>
            <a:chOff x="7411912" y="3617714"/>
            <a:chExt cx="950631" cy="338554"/>
          </a:xfrm>
        </p:grpSpPr>
        <p:sp>
          <p:nvSpPr>
            <p:cNvPr id="139" name="矩形 138"/>
            <p:cNvSpPr/>
            <p:nvPr/>
          </p:nvSpPr>
          <p:spPr>
            <a:xfrm>
              <a:off x="7422770" y="3623687"/>
              <a:ext cx="890582" cy="3118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40" name="文字方塊 139"/>
            <p:cNvSpPr txBox="1"/>
            <p:nvPr/>
          </p:nvSpPr>
          <p:spPr>
            <a:xfrm>
              <a:off x="7411912" y="3617714"/>
              <a:ext cx="9506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合成全焦距照片並回傳</a:t>
              </a:r>
              <a:endParaRPr lang="zh-TW" altLang="en-US" sz="800" dirty="0"/>
            </a:p>
          </p:txBody>
        </p:sp>
      </p:grpSp>
      <p:grpSp>
        <p:nvGrpSpPr>
          <p:cNvPr id="141" name="群組 140"/>
          <p:cNvGrpSpPr/>
          <p:nvPr/>
        </p:nvGrpSpPr>
        <p:grpSpPr>
          <a:xfrm>
            <a:off x="6029362" y="3611314"/>
            <a:ext cx="1065260" cy="252309"/>
            <a:chOff x="7375701" y="3596838"/>
            <a:chExt cx="1065260" cy="252309"/>
          </a:xfrm>
        </p:grpSpPr>
        <p:sp>
          <p:nvSpPr>
            <p:cNvPr id="142" name="矩形 141"/>
            <p:cNvSpPr/>
            <p:nvPr/>
          </p:nvSpPr>
          <p:spPr>
            <a:xfrm>
              <a:off x="7422770" y="3596838"/>
              <a:ext cx="890582" cy="25230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43" name="文字方塊 142"/>
            <p:cNvSpPr txBox="1"/>
            <p:nvPr/>
          </p:nvSpPr>
          <p:spPr>
            <a:xfrm>
              <a:off x="7375701" y="3608448"/>
              <a:ext cx="1065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根據權重加權平均</a:t>
              </a:r>
              <a:endParaRPr lang="zh-TW" altLang="en-US" sz="800" dirty="0"/>
            </a:p>
          </p:txBody>
        </p:sp>
      </p:grpSp>
      <p:cxnSp>
        <p:nvCxnSpPr>
          <p:cNvPr id="147" name="直線單箭頭接點 146"/>
          <p:cNvCxnSpPr>
            <a:stCxn id="349" idx="2"/>
            <a:endCxn id="142" idx="0"/>
          </p:cNvCxnSpPr>
          <p:nvPr/>
        </p:nvCxnSpPr>
        <p:spPr>
          <a:xfrm flipH="1">
            <a:off x="6521722" y="3475288"/>
            <a:ext cx="1" cy="136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0" name="群組 149"/>
          <p:cNvGrpSpPr/>
          <p:nvPr/>
        </p:nvGrpSpPr>
        <p:grpSpPr>
          <a:xfrm>
            <a:off x="6014122" y="3996024"/>
            <a:ext cx="1065260" cy="298781"/>
            <a:chOff x="7362400" y="3636763"/>
            <a:chExt cx="1065260" cy="298781"/>
          </a:xfrm>
        </p:grpSpPr>
        <p:sp>
          <p:nvSpPr>
            <p:cNvPr id="151" name="矩形 150"/>
            <p:cNvSpPr/>
            <p:nvPr/>
          </p:nvSpPr>
          <p:spPr>
            <a:xfrm>
              <a:off x="7422770" y="3636763"/>
              <a:ext cx="890582" cy="29878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52" name="文字方塊 151"/>
            <p:cNvSpPr txBox="1"/>
            <p:nvPr/>
          </p:nvSpPr>
          <p:spPr>
            <a:xfrm>
              <a:off x="7362400" y="3676091"/>
              <a:ext cx="1065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800" dirty="0" smtClean="0"/>
                <a:t>過渡區域平滑處理</a:t>
              </a:r>
              <a:endParaRPr lang="zh-TW" altLang="en-US" sz="800" dirty="0"/>
            </a:p>
          </p:txBody>
        </p:sp>
      </p:grpSp>
      <p:cxnSp>
        <p:nvCxnSpPr>
          <p:cNvPr id="153" name="直線單箭頭接點 152"/>
          <p:cNvCxnSpPr>
            <a:stCxn id="142" idx="2"/>
            <a:endCxn id="151" idx="0"/>
          </p:cNvCxnSpPr>
          <p:nvPr/>
        </p:nvCxnSpPr>
        <p:spPr>
          <a:xfrm flipH="1">
            <a:off x="6519783" y="3863623"/>
            <a:ext cx="1939" cy="132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線單箭頭接點 154"/>
          <p:cNvCxnSpPr>
            <a:stCxn id="151" idx="2"/>
            <a:endCxn id="139" idx="0"/>
          </p:cNvCxnSpPr>
          <p:nvPr/>
        </p:nvCxnSpPr>
        <p:spPr>
          <a:xfrm>
            <a:off x="6519783" y="4294805"/>
            <a:ext cx="2236" cy="132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群組 153"/>
          <p:cNvGrpSpPr/>
          <p:nvPr/>
        </p:nvGrpSpPr>
        <p:grpSpPr>
          <a:xfrm>
            <a:off x="7321933" y="4104215"/>
            <a:ext cx="1005403" cy="254741"/>
            <a:chOff x="1060244" y="3107348"/>
            <a:chExt cx="1644684" cy="33486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56" name="矩形 155"/>
            <p:cNvSpPr/>
            <p:nvPr/>
          </p:nvSpPr>
          <p:spPr>
            <a:xfrm>
              <a:off x="1199623" y="3107348"/>
              <a:ext cx="1369496" cy="334862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57" name="文字方塊 156"/>
            <p:cNvSpPr txBox="1"/>
            <p:nvPr/>
          </p:nvSpPr>
          <p:spPr>
            <a:xfrm>
              <a:off x="1060244" y="3136550"/>
              <a:ext cx="1644684" cy="283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回傳口徑量測結果</a:t>
              </a:r>
              <a:endParaRPr lang="zh-TW" altLang="en-US" sz="800" dirty="0"/>
            </a:p>
          </p:txBody>
        </p:sp>
      </p:grpSp>
      <p:cxnSp>
        <p:nvCxnSpPr>
          <p:cNvPr id="158" name="直線單箭頭接點 157"/>
          <p:cNvCxnSpPr>
            <a:stCxn id="308" idx="2"/>
            <a:endCxn id="156" idx="0"/>
          </p:cNvCxnSpPr>
          <p:nvPr/>
        </p:nvCxnSpPr>
        <p:spPr>
          <a:xfrm flipH="1">
            <a:off x="7825726" y="3950256"/>
            <a:ext cx="62" cy="153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9" name="群組 158"/>
          <p:cNvGrpSpPr/>
          <p:nvPr/>
        </p:nvGrpSpPr>
        <p:grpSpPr>
          <a:xfrm>
            <a:off x="7404955" y="4514880"/>
            <a:ext cx="841665" cy="215443"/>
            <a:chOff x="1165859" y="3093291"/>
            <a:chExt cx="1376834" cy="283205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60" name="矩形 159"/>
            <p:cNvSpPr/>
            <p:nvPr/>
          </p:nvSpPr>
          <p:spPr>
            <a:xfrm>
              <a:off x="1165859" y="3108961"/>
              <a:ext cx="1376834" cy="24968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61" name="文字方塊 160"/>
            <p:cNvSpPr txBox="1"/>
            <p:nvPr/>
          </p:nvSpPr>
          <p:spPr>
            <a:xfrm>
              <a:off x="1539416" y="3093291"/>
              <a:ext cx="658712" cy="2832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800" dirty="0" smtClean="0"/>
                <a:t>END</a:t>
              </a:r>
              <a:endParaRPr lang="zh-TW" altLang="en-US" sz="800" dirty="0"/>
            </a:p>
          </p:txBody>
        </p:sp>
      </p:grpSp>
      <p:cxnSp>
        <p:nvCxnSpPr>
          <p:cNvPr id="162" name="直線單箭頭接點 161"/>
          <p:cNvCxnSpPr>
            <a:stCxn id="156" idx="2"/>
            <a:endCxn id="160" idx="0"/>
          </p:cNvCxnSpPr>
          <p:nvPr/>
        </p:nvCxnSpPr>
        <p:spPr>
          <a:xfrm>
            <a:off x="7825726" y="4358956"/>
            <a:ext cx="62" cy="167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3" name="群組 162"/>
          <p:cNvGrpSpPr/>
          <p:nvPr/>
        </p:nvGrpSpPr>
        <p:grpSpPr>
          <a:xfrm>
            <a:off x="4685809" y="4083745"/>
            <a:ext cx="910661" cy="290321"/>
            <a:chOff x="1165860" y="3108960"/>
            <a:chExt cx="1489695" cy="38163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64" name="矩形 163"/>
            <p:cNvSpPr/>
            <p:nvPr/>
          </p:nvSpPr>
          <p:spPr>
            <a:xfrm>
              <a:off x="1165860" y="3108960"/>
              <a:ext cx="1489695" cy="38163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65" name="文字方塊 164"/>
            <p:cNvSpPr txBox="1"/>
            <p:nvPr/>
          </p:nvSpPr>
          <p:spPr>
            <a:xfrm>
              <a:off x="1578711" y="3158173"/>
              <a:ext cx="992940" cy="283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 smtClean="0"/>
                <a:t>END</a:t>
              </a:r>
              <a:endParaRPr lang="zh-TW" altLang="en-US" sz="800" dirty="0"/>
            </a:p>
          </p:txBody>
        </p:sp>
      </p:grpSp>
      <p:cxnSp>
        <p:nvCxnSpPr>
          <p:cNvPr id="166" name="直線單箭頭接點 165"/>
          <p:cNvCxnSpPr>
            <a:stCxn id="330" idx="2"/>
            <a:endCxn id="164" idx="0"/>
          </p:cNvCxnSpPr>
          <p:nvPr/>
        </p:nvCxnSpPr>
        <p:spPr>
          <a:xfrm flipH="1">
            <a:off x="5141140" y="3906593"/>
            <a:ext cx="9" cy="177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7" name="群組 166"/>
          <p:cNvGrpSpPr/>
          <p:nvPr/>
        </p:nvGrpSpPr>
        <p:grpSpPr>
          <a:xfrm>
            <a:off x="6078064" y="4850029"/>
            <a:ext cx="890582" cy="215444"/>
            <a:chOff x="7422770" y="3728013"/>
            <a:chExt cx="890582" cy="215444"/>
          </a:xfrm>
        </p:grpSpPr>
        <p:sp>
          <p:nvSpPr>
            <p:cNvPr id="168" name="矩形 167"/>
            <p:cNvSpPr/>
            <p:nvPr/>
          </p:nvSpPr>
          <p:spPr>
            <a:xfrm>
              <a:off x="7422770" y="3731268"/>
              <a:ext cx="890582" cy="2042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7660654" y="3728013"/>
              <a:ext cx="5523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 smtClean="0"/>
                <a:t>END</a:t>
              </a:r>
              <a:endParaRPr lang="zh-TW" altLang="en-US" sz="800" dirty="0"/>
            </a:p>
          </p:txBody>
        </p:sp>
      </p:grpSp>
      <p:cxnSp>
        <p:nvCxnSpPr>
          <p:cNvPr id="170" name="直線單箭頭接點 169"/>
          <p:cNvCxnSpPr>
            <a:stCxn id="139" idx="2"/>
            <a:endCxn id="168" idx="0"/>
          </p:cNvCxnSpPr>
          <p:nvPr/>
        </p:nvCxnSpPr>
        <p:spPr>
          <a:xfrm>
            <a:off x="6522019" y="4739621"/>
            <a:ext cx="1336" cy="11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5" name="群組 414"/>
          <p:cNvGrpSpPr/>
          <p:nvPr/>
        </p:nvGrpSpPr>
        <p:grpSpPr>
          <a:xfrm>
            <a:off x="443951" y="796557"/>
            <a:ext cx="3850554" cy="4243293"/>
            <a:chOff x="459804" y="874501"/>
            <a:chExt cx="3850554" cy="4243293"/>
          </a:xfrm>
        </p:grpSpPr>
        <p:sp>
          <p:nvSpPr>
            <p:cNvPr id="220" name="橢圓 219"/>
            <p:cNvSpPr/>
            <p:nvPr/>
          </p:nvSpPr>
          <p:spPr>
            <a:xfrm>
              <a:off x="459804" y="874501"/>
              <a:ext cx="817351" cy="37679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 smtClean="0">
                  <a:solidFill>
                    <a:schemeClr val="tx1"/>
                  </a:solidFill>
                </a:rPr>
                <a:t>Start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grpSp>
          <p:nvGrpSpPr>
            <p:cNvPr id="221" name="群組 220"/>
            <p:cNvGrpSpPr/>
            <p:nvPr/>
          </p:nvGrpSpPr>
          <p:grpSpPr>
            <a:xfrm>
              <a:off x="503368" y="2076541"/>
              <a:ext cx="732960" cy="365199"/>
              <a:chOff x="1165860" y="3108960"/>
              <a:chExt cx="1199006" cy="480060"/>
            </a:xfrm>
          </p:grpSpPr>
          <p:sp>
            <p:nvSpPr>
              <p:cNvPr id="222" name="矩形 221"/>
              <p:cNvSpPr/>
              <p:nvPr/>
            </p:nvSpPr>
            <p:spPr>
              <a:xfrm>
                <a:off x="1165860" y="3108960"/>
                <a:ext cx="1166368" cy="4800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23" name="文字方塊 222"/>
              <p:cNvSpPr txBox="1"/>
              <p:nvPr/>
            </p:nvSpPr>
            <p:spPr>
              <a:xfrm>
                <a:off x="1215792" y="3136512"/>
                <a:ext cx="1149074" cy="445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/>
                  <a:t>RS485</a:t>
                </a:r>
                <a:r>
                  <a:rPr lang="zh-TW" altLang="en-US" sz="800" dirty="0"/>
                  <a:t>通訊</a:t>
                </a:r>
              </a:p>
              <a:p>
                <a:r>
                  <a:rPr lang="zh-TW" altLang="en-US" sz="800" dirty="0" smtClean="0"/>
                  <a:t>電控裝置</a:t>
                </a:r>
                <a:endParaRPr lang="en-US" altLang="zh-TW" sz="800" dirty="0" smtClean="0"/>
              </a:p>
            </p:txBody>
          </p:sp>
        </p:grpSp>
        <p:cxnSp>
          <p:nvCxnSpPr>
            <p:cNvPr id="224" name="直線單箭頭接點 223"/>
            <p:cNvCxnSpPr>
              <a:stCxn id="230" idx="2"/>
              <a:endCxn id="222" idx="0"/>
            </p:cNvCxnSpPr>
            <p:nvPr/>
          </p:nvCxnSpPr>
          <p:spPr>
            <a:xfrm flipH="1">
              <a:off x="859872" y="1860542"/>
              <a:ext cx="6003" cy="2159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線單箭頭接點 224"/>
            <p:cNvCxnSpPr>
              <a:stCxn id="222" idx="2"/>
              <a:endCxn id="234" idx="0"/>
            </p:cNvCxnSpPr>
            <p:nvPr/>
          </p:nvCxnSpPr>
          <p:spPr>
            <a:xfrm flipH="1">
              <a:off x="857233" y="2441740"/>
              <a:ext cx="2639" cy="240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9" name="群組 228"/>
            <p:cNvGrpSpPr/>
            <p:nvPr/>
          </p:nvGrpSpPr>
          <p:grpSpPr>
            <a:xfrm>
              <a:off x="509371" y="1495343"/>
              <a:ext cx="713008" cy="365199"/>
              <a:chOff x="1165860" y="3108960"/>
              <a:chExt cx="1166368" cy="480060"/>
            </a:xfrm>
          </p:grpSpPr>
          <p:sp>
            <p:nvSpPr>
              <p:cNvPr id="230" name="矩形 229"/>
              <p:cNvSpPr/>
              <p:nvPr/>
            </p:nvSpPr>
            <p:spPr>
              <a:xfrm>
                <a:off x="1165860" y="3108960"/>
                <a:ext cx="1166368" cy="4800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31" name="文字方塊 230"/>
              <p:cNvSpPr txBox="1"/>
              <p:nvPr/>
            </p:nvSpPr>
            <p:spPr>
              <a:xfrm>
                <a:off x="1252533" y="3139037"/>
                <a:ext cx="973383" cy="445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800" dirty="0" smtClean="0"/>
                  <a:t>讀取座標</a:t>
                </a:r>
                <a:endParaRPr lang="en-US" altLang="zh-TW" sz="800" dirty="0" smtClean="0"/>
              </a:p>
              <a:p>
                <a:r>
                  <a:rPr lang="zh-TW" altLang="en-US" sz="800" dirty="0" smtClean="0"/>
                  <a:t>設定檔案</a:t>
                </a:r>
                <a:endParaRPr lang="zh-TW" altLang="en-US" sz="800" dirty="0"/>
              </a:p>
            </p:txBody>
          </p:sp>
        </p:grpSp>
        <p:cxnSp>
          <p:nvCxnSpPr>
            <p:cNvPr id="232" name="直線單箭頭接點 231"/>
            <p:cNvCxnSpPr>
              <a:stCxn id="220" idx="4"/>
              <a:endCxn id="230" idx="0"/>
            </p:cNvCxnSpPr>
            <p:nvPr/>
          </p:nvCxnSpPr>
          <p:spPr>
            <a:xfrm flipH="1">
              <a:off x="865875" y="1251294"/>
              <a:ext cx="2605" cy="2440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群組 232"/>
            <p:cNvGrpSpPr/>
            <p:nvPr/>
          </p:nvGrpSpPr>
          <p:grpSpPr>
            <a:xfrm>
              <a:off x="500730" y="2682025"/>
              <a:ext cx="732893" cy="365199"/>
              <a:chOff x="1165860" y="3108960"/>
              <a:chExt cx="1198901" cy="480060"/>
            </a:xfrm>
          </p:grpSpPr>
          <p:sp>
            <p:nvSpPr>
              <p:cNvPr id="234" name="矩形 233"/>
              <p:cNvSpPr/>
              <p:nvPr/>
            </p:nvSpPr>
            <p:spPr>
              <a:xfrm>
                <a:off x="1165860" y="3108960"/>
                <a:ext cx="1166368" cy="48006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35" name="文字方塊 234"/>
              <p:cNvSpPr txBox="1"/>
              <p:nvPr/>
            </p:nvSpPr>
            <p:spPr>
              <a:xfrm>
                <a:off x="1165860" y="3126472"/>
                <a:ext cx="1198901" cy="445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800" dirty="0" smtClean="0"/>
                  <a:t>XY</a:t>
                </a:r>
                <a:r>
                  <a:rPr lang="zh-TW" altLang="en-US" sz="800" dirty="0" smtClean="0"/>
                  <a:t>平台移動</a:t>
                </a:r>
                <a:endParaRPr lang="en-US" altLang="zh-TW" sz="800" dirty="0" smtClean="0"/>
              </a:p>
              <a:p>
                <a:r>
                  <a:rPr lang="zh-TW" altLang="en-US" sz="800" dirty="0" smtClean="0"/>
                  <a:t>到座標位置</a:t>
                </a:r>
                <a:endParaRPr lang="zh-TW" altLang="en-US" sz="800" dirty="0"/>
              </a:p>
            </p:txBody>
          </p:sp>
        </p:grpSp>
        <p:cxnSp>
          <p:nvCxnSpPr>
            <p:cNvPr id="236" name="直線單箭頭接點 235"/>
            <p:cNvCxnSpPr>
              <a:stCxn id="234" idx="2"/>
              <a:endCxn id="200" idx="0"/>
            </p:cNvCxnSpPr>
            <p:nvPr/>
          </p:nvCxnSpPr>
          <p:spPr>
            <a:xfrm flipH="1">
              <a:off x="852298" y="3047224"/>
              <a:ext cx="4935" cy="2960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肘形接點 249"/>
            <p:cNvCxnSpPr>
              <a:stCxn id="200" idx="2"/>
              <a:endCxn id="212" idx="0"/>
            </p:cNvCxnSpPr>
            <p:nvPr/>
          </p:nvCxnSpPr>
          <p:spPr>
            <a:xfrm rot="5400000" flipH="1" flipV="1">
              <a:off x="270868" y="2127578"/>
              <a:ext cx="2515293" cy="1352434"/>
            </a:xfrm>
            <a:prstGeom prst="bentConnector5">
              <a:avLst>
                <a:gd name="adj1" fmla="val -11578"/>
                <a:gd name="adj2" fmla="val 50251"/>
                <a:gd name="adj3" fmla="val 109088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2" name="群組 251"/>
            <p:cNvGrpSpPr/>
            <p:nvPr/>
          </p:nvGrpSpPr>
          <p:grpSpPr>
            <a:xfrm>
              <a:off x="1633413" y="2139247"/>
              <a:ext cx="1133247" cy="285851"/>
              <a:chOff x="1109621" y="3286326"/>
              <a:chExt cx="1853802" cy="375757"/>
            </a:xfrm>
          </p:grpSpPr>
          <p:sp>
            <p:nvSpPr>
              <p:cNvPr id="253" name="矩形 252"/>
              <p:cNvSpPr/>
              <p:nvPr/>
            </p:nvSpPr>
            <p:spPr>
              <a:xfrm>
                <a:off x="1165859" y="3286326"/>
                <a:ext cx="1764582" cy="37575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54" name="文字方塊 253"/>
              <p:cNvSpPr txBox="1"/>
              <p:nvPr/>
            </p:nvSpPr>
            <p:spPr>
              <a:xfrm>
                <a:off x="1109621" y="3341188"/>
                <a:ext cx="1853802" cy="283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800" dirty="0"/>
                  <a:t>全</a:t>
                </a:r>
                <a:r>
                  <a:rPr lang="zh-TW" altLang="en-US" sz="800" dirty="0" smtClean="0"/>
                  <a:t>焦距影像融合</a:t>
                </a:r>
                <a:endParaRPr lang="zh-TW" altLang="en-US" sz="800" dirty="0"/>
              </a:p>
            </p:txBody>
          </p:sp>
        </p:grpSp>
        <p:grpSp>
          <p:nvGrpSpPr>
            <p:cNvPr id="270" name="群組 269"/>
            <p:cNvGrpSpPr/>
            <p:nvPr/>
          </p:nvGrpSpPr>
          <p:grpSpPr>
            <a:xfrm>
              <a:off x="3091484" y="2432431"/>
              <a:ext cx="1067015" cy="268083"/>
              <a:chOff x="3078551" y="3300303"/>
              <a:chExt cx="1067015" cy="268083"/>
            </a:xfrm>
          </p:grpSpPr>
          <p:sp>
            <p:nvSpPr>
              <p:cNvPr id="258" name="矩形 257"/>
              <p:cNvSpPr/>
              <p:nvPr/>
            </p:nvSpPr>
            <p:spPr>
              <a:xfrm>
                <a:off x="3078551" y="3300303"/>
                <a:ext cx="1067015" cy="268083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59" name="文字方塊 258"/>
              <p:cNvSpPr txBox="1"/>
              <p:nvPr/>
            </p:nvSpPr>
            <p:spPr>
              <a:xfrm>
                <a:off x="3160679" y="3329757"/>
                <a:ext cx="92555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自適應口徑量測</a:t>
                </a:r>
                <a:endParaRPr lang="zh-TW" altLang="en-US" sz="800" dirty="0"/>
              </a:p>
            </p:txBody>
          </p:sp>
        </p:grpSp>
        <p:grpSp>
          <p:nvGrpSpPr>
            <p:cNvPr id="263" name="群組 262"/>
            <p:cNvGrpSpPr/>
            <p:nvPr/>
          </p:nvGrpSpPr>
          <p:grpSpPr>
            <a:xfrm>
              <a:off x="1667014" y="4098433"/>
              <a:ext cx="1072304" cy="250270"/>
              <a:chOff x="1165860" y="3108961"/>
              <a:chExt cx="1754109" cy="328984"/>
            </a:xfrm>
          </p:grpSpPr>
          <p:sp>
            <p:nvSpPr>
              <p:cNvPr id="264" name="矩形 263"/>
              <p:cNvSpPr/>
              <p:nvPr/>
            </p:nvSpPr>
            <p:spPr>
              <a:xfrm>
                <a:off x="1165860" y="3108961"/>
                <a:ext cx="1754109" cy="32898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65" name="文字方塊 264"/>
              <p:cNvSpPr txBox="1"/>
              <p:nvPr/>
            </p:nvSpPr>
            <p:spPr>
              <a:xfrm>
                <a:off x="1278513" y="3131212"/>
                <a:ext cx="1514051" cy="283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內</a:t>
                </a:r>
                <a:r>
                  <a:rPr lang="zh-TW" altLang="en-US" sz="800" dirty="0"/>
                  <a:t>部</a:t>
                </a:r>
                <a:r>
                  <a:rPr lang="zh-TW" altLang="en-US" sz="800" dirty="0" smtClean="0"/>
                  <a:t>缺陷</a:t>
                </a:r>
                <a:r>
                  <a:rPr lang="en-US" altLang="zh-TW" sz="800" dirty="0" smtClean="0"/>
                  <a:t>AI</a:t>
                </a:r>
                <a:r>
                  <a:rPr lang="zh-TW" altLang="en-US" sz="800" dirty="0"/>
                  <a:t>辨識</a:t>
                </a:r>
              </a:p>
            </p:txBody>
          </p:sp>
        </p:grpSp>
        <p:cxnSp>
          <p:nvCxnSpPr>
            <p:cNvPr id="266" name="直線單箭頭接點 265"/>
            <p:cNvCxnSpPr>
              <a:stCxn id="212" idx="2"/>
              <a:endCxn id="253" idx="0"/>
            </p:cNvCxnSpPr>
            <p:nvPr/>
          </p:nvCxnSpPr>
          <p:spPr>
            <a:xfrm>
              <a:off x="2204732" y="1908395"/>
              <a:ext cx="2413" cy="230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1" name="群組 270"/>
            <p:cNvGrpSpPr/>
            <p:nvPr/>
          </p:nvGrpSpPr>
          <p:grpSpPr>
            <a:xfrm>
              <a:off x="3085487" y="4109057"/>
              <a:ext cx="1078706" cy="234447"/>
              <a:chOff x="1165860" y="3108960"/>
              <a:chExt cx="1764582" cy="308185"/>
            </a:xfrm>
          </p:grpSpPr>
          <p:sp>
            <p:nvSpPr>
              <p:cNvPr id="272" name="矩形 271"/>
              <p:cNvSpPr/>
              <p:nvPr/>
            </p:nvSpPr>
            <p:spPr>
              <a:xfrm>
                <a:off x="1165860" y="3108960"/>
                <a:ext cx="1764582" cy="30818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73" name="文字方塊 272"/>
              <p:cNvSpPr txBox="1"/>
              <p:nvPr/>
            </p:nvSpPr>
            <p:spPr>
              <a:xfrm>
                <a:off x="1315899" y="3117245"/>
                <a:ext cx="1514051" cy="283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外</a:t>
                </a:r>
                <a:r>
                  <a:rPr lang="zh-TW" altLang="en-US" sz="800" dirty="0"/>
                  <a:t>觀</a:t>
                </a:r>
                <a:r>
                  <a:rPr lang="zh-TW" altLang="en-US" sz="800" dirty="0" smtClean="0"/>
                  <a:t>缺陷</a:t>
                </a:r>
                <a:r>
                  <a:rPr lang="en-US" altLang="zh-TW" sz="800" dirty="0" smtClean="0"/>
                  <a:t>AI</a:t>
                </a:r>
                <a:r>
                  <a:rPr lang="zh-TW" altLang="en-US" sz="800" dirty="0" smtClean="0"/>
                  <a:t>辨識</a:t>
                </a:r>
                <a:endParaRPr lang="zh-TW" altLang="en-US" sz="800" dirty="0"/>
              </a:p>
            </p:txBody>
          </p:sp>
        </p:grpSp>
        <p:grpSp>
          <p:nvGrpSpPr>
            <p:cNvPr id="279" name="群組 278"/>
            <p:cNvGrpSpPr/>
            <p:nvPr/>
          </p:nvGrpSpPr>
          <p:grpSpPr>
            <a:xfrm>
              <a:off x="2360030" y="4552116"/>
              <a:ext cx="1078706" cy="222160"/>
              <a:chOff x="1165860" y="3100135"/>
              <a:chExt cx="1764582" cy="292033"/>
            </a:xfrm>
          </p:grpSpPr>
          <p:sp>
            <p:nvSpPr>
              <p:cNvPr id="280" name="矩形 279"/>
              <p:cNvSpPr/>
              <p:nvPr/>
            </p:nvSpPr>
            <p:spPr>
              <a:xfrm>
                <a:off x="1165860" y="3100135"/>
                <a:ext cx="1764582" cy="29203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81" name="文字方塊 280"/>
              <p:cNvSpPr txBox="1"/>
              <p:nvPr/>
            </p:nvSpPr>
            <p:spPr>
              <a:xfrm>
                <a:off x="1229306" y="3108962"/>
                <a:ext cx="1658407" cy="283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記錄檢測結果資訊</a:t>
                </a:r>
                <a:endParaRPr lang="zh-TW" altLang="en-US" sz="800" dirty="0"/>
              </a:p>
            </p:txBody>
          </p:sp>
        </p:grpSp>
        <p:grpSp>
          <p:nvGrpSpPr>
            <p:cNvPr id="135" name="群組 134"/>
            <p:cNvGrpSpPr/>
            <p:nvPr/>
          </p:nvGrpSpPr>
          <p:grpSpPr>
            <a:xfrm>
              <a:off x="3087804" y="1517417"/>
              <a:ext cx="1222554" cy="282062"/>
              <a:chOff x="1165860" y="3167965"/>
              <a:chExt cx="1999892" cy="370775"/>
            </a:xfrm>
          </p:grpSpPr>
          <p:sp>
            <p:nvSpPr>
              <p:cNvPr id="136" name="矩形 135"/>
              <p:cNvSpPr/>
              <p:nvPr/>
            </p:nvSpPr>
            <p:spPr>
              <a:xfrm>
                <a:off x="1165860" y="3167965"/>
                <a:ext cx="1764583" cy="3707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37" name="文字方塊 136"/>
              <p:cNvSpPr txBox="1"/>
              <p:nvPr/>
            </p:nvSpPr>
            <p:spPr>
              <a:xfrm>
                <a:off x="1364775" y="3218390"/>
                <a:ext cx="1800977" cy="283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自動對焦拍照</a:t>
                </a:r>
                <a:endParaRPr lang="zh-TW" altLang="en-US" sz="800" dirty="0"/>
              </a:p>
            </p:txBody>
          </p:sp>
        </p:grpSp>
        <p:cxnSp>
          <p:nvCxnSpPr>
            <p:cNvPr id="148" name="直線單箭頭接點 147"/>
            <p:cNvCxnSpPr>
              <a:stCxn id="136" idx="2"/>
              <a:endCxn id="192" idx="0"/>
            </p:cNvCxnSpPr>
            <p:nvPr/>
          </p:nvCxnSpPr>
          <p:spPr>
            <a:xfrm flipH="1">
              <a:off x="3625967" y="1799476"/>
              <a:ext cx="1191" cy="1571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群組 174"/>
            <p:cNvGrpSpPr/>
            <p:nvPr/>
          </p:nvGrpSpPr>
          <p:grpSpPr>
            <a:xfrm>
              <a:off x="1640237" y="2649189"/>
              <a:ext cx="1120176" cy="357425"/>
              <a:chOff x="1123711" y="3018398"/>
              <a:chExt cx="1832420" cy="469841"/>
            </a:xfrm>
          </p:grpSpPr>
          <p:sp>
            <p:nvSpPr>
              <p:cNvPr id="176" name="矩形 175"/>
              <p:cNvSpPr/>
              <p:nvPr/>
            </p:nvSpPr>
            <p:spPr>
              <a:xfrm>
                <a:off x="1165858" y="3018398"/>
                <a:ext cx="1764582" cy="46984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77" name="文字方塊 176"/>
              <p:cNvSpPr txBox="1"/>
              <p:nvPr/>
            </p:nvSpPr>
            <p:spPr>
              <a:xfrm>
                <a:off x="1123711" y="3043204"/>
                <a:ext cx="1832420" cy="44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/>
                  <a:t>儲存</a:t>
                </a:r>
                <a:r>
                  <a:rPr lang="zh-TW" altLang="en-US" sz="800" dirty="0" smtClean="0"/>
                  <a:t>至噴嘴內部影像</a:t>
                </a:r>
                <a:r>
                  <a:rPr lang="zh-TW" altLang="en-US" sz="800" dirty="0"/>
                  <a:t>佇列</a:t>
                </a:r>
              </a:p>
            </p:txBody>
          </p:sp>
        </p:grpSp>
        <p:grpSp>
          <p:nvGrpSpPr>
            <p:cNvPr id="191" name="群組 190"/>
            <p:cNvGrpSpPr/>
            <p:nvPr/>
          </p:nvGrpSpPr>
          <p:grpSpPr>
            <a:xfrm>
              <a:off x="3060849" y="1956641"/>
              <a:ext cx="1120176" cy="358221"/>
              <a:chOff x="1123711" y="3018808"/>
              <a:chExt cx="1832420" cy="470888"/>
            </a:xfrm>
          </p:grpSpPr>
          <p:sp>
            <p:nvSpPr>
              <p:cNvPr id="192" name="矩形 191"/>
              <p:cNvSpPr/>
              <p:nvPr/>
            </p:nvSpPr>
            <p:spPr>
              <a:xfrm>
                <a:off x="1165858" y="3018808"/>
                <a:ext cx="1764582" cy="45091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93" name="文字方塊 192"/>
              <p:cNvSpPr txBox="1"/>
              <p:nvPr/>
            </p:nvSpPr>
            <p:spPr>
              <a:xfrm>
                <a:off x="1123711" y="3044662"/>
                <a:ext cx="1832420" cy="445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儲存至噴嘴外觀影像</a:t>
                </a:r>
                <a:r>
                  <a:rPr lang="zh-TW" altLang="en-US" sz="800" dirty="0"/>
                  <a:t>佇列</a:t>
                </a:r>
              </a:p>
            </p:txBody>
          </p:sp>
        </p:grpSp>
        <p:cxnSp>
          <p:nvCxnSpPr>
            <p:cNvPr id="196" name="直線單箭頭接點 195"/>
            <p:cNvCxnSpPr>
              <a:stCxn id="192" idx="2"/>
              <a:endCxn id="258" idx="0"/>
            </p:cNvCxnSpPr>
            <p:nvPr/>
          </p:nvCxnSpPr>
          <p:spPr>
            <a:xfrm flipH="1">
              <a:off x="3624992" y="2299671"/>
              <a:ext cx="975" cy="1327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1" name="群組 200"/>
            <p:cNvGrpSpPr/>
            <p:nvPr/>
          </p:nvGrpSpPr>
          <p:grpSpPr>
            <a:xfrm>
              <a:off x="1689867" y="3267019"/>
              <a:ext cx="1025525" cy="687036"/>
              <a:chOff x="1739900" y="2570514"/>
              <a:chExt cx="1025525" cy="687036"/>
            </a:xfrm>
          </p:grpSpPr>
          <p:sp>
            <p:nvSpPr>
              <p:cNvPr id="202" name="菱形 201"/>
              <p:cNvSpPr/>
              <p:nvPr/>
            </p:nvSpPr>
            <p:spPr>
              <a:xfrm>
                <a:off x="1739900" y="2570514"/>
                <a:ext cx="1025525" cy="687036"/>
              </a:xfrm>
              <a:prstGeom prst="diamond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3" name="文字方塊 202"/>
              <p:cNvSpPr txBox="1"/>
              <p:nvPr/>
            </p:nvSpPr>
            <p:spPr>
              <a:xfrm>
                <a:off x="1864129" y="2740822"/>
                <a:ext cx="8941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/>
                  <a:t>判斷</a:t>
                </a:r>
                <a:r>
                  <a:rPr lang="zh-TW" altLang="en-US" sz="800" dirty="0" smtClean="0"/>
                  <a:t>是否為</a:t>
                </a:r>
                <a:endParaRPr lang="en-US" altLang="zh-TW" sz="800" dirty="0" smtClean="0"/>
              </a:p>
              <a:p>
                <a:r>
                  <a:rPr lang="zh-TW" altLang="en-US" sz="800" dirty="0" smtClean="0"/>
                  <a:t>最後一個座標</a:t>
                </a:r>
                <a:endParaRPr lang="zh-TW" altLang="en-US" sz="800" dirty="0"/>
              </a:p>
            </p:txBody>
          </p:sp>
        </p:grpSp>
        <p:grpSp>
          <p:nvGrpSpPr>
            <p:cNvPr id="205" name="群組 204"/>
            <p:cNvGrpSpPr/>
            <p:nvPr/>
          </p:nvGrpSpPr>
          <p:grpSpPr>
            <a:xfrm>
              <a:off x="3066474" y="2848802"/>
              <a:ext cx="1120176" cy="244868"/>
              <a:chOff x="1132913" y="3038843"/>
              <a:chExt cx="1832420" cy="321883"/>
            </a:xfrm>
          </p:grpSpPr>
          <p:sp>
            <p:nvSpPr>
              <p:cNvPr id="206" name="矩形 205"/>
              <p:cNvSpPr/>
              <p:nvPr/>
            </p:nvSpPr>
            <p:spPr>
              <a:xfrm>
                <a:off x="1165859" y="3038843"/>
                <a:ext cx="1764582" cy="32188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207" name="文字方塊 206"/>
              <p:cNvSpPr txBox="1"/>
              <p:nvPr/>
            </p:nvSpPr>
            <p:spPr>
              <a:xfrm>
                <a:off x="1132913" y="3064906"/>
                <a:ext cx="1832420" cy="283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/>
                  <a:t>儲存</a:t>
                </a:r>
                <a:r>
                  <a:rPr lang="zh-TW" altLang="en-US" sz="800" dirty="0" smtClean="0"/>
                  <a:t>至口徑結果佇列</a:t>
                </a:r>
                <a:endParaRPr lang="zh-TW" altLang="en-US" sz="800" dirty="0"/>
              </a:p>
            </p:txBody>
          </p:sp>
        </p:grpSp>
        <p:cxnSp>
          <p:nvCxnSpPr>
            <p:cNvPr id="208" name="直線單箭頭接點 207"/>
            <p:cNvCxnSpPr>
              <a:stCxn id="258" idx="2"/>
              <a:endCxn id="206" idx="0"/>
            </p:cNvCxnSpPr>
            <p:nvPr/>
          </p:nvCxnSpPr>
          <p:spPr>
            <a:xfrm>
              <a:off x="3624992" y="2700514"/>
              <a:ext cx="975" cy="14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線單箭頭接點 217"/>
            <p:cNvCxnSpPr>
              <a:stCxn id="253" idx="2"/>
              <a:endCxn id="176" idx="0"/>
            </p:cNvCxnSpPr>
            <p:nvPr/>
          </p:nvCxnSpPr>
          <p:spPr>
            <a:xfrm flipH="1">
              <a:off x="2205355" y="2425098"/>
              <a:ext cx="1790" cy="2240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3" name="群組 352"/>
            <p:cNvGrpSpPr/>
            <p:nvPr/>
          </p:nvGrpSpPr>
          <p:grpSpPr>
            <a:xfrm>
              <a:off x="3112716" y="3280667"/>
              <a:ext cx="1025525" cy="687036"/>
              <a:chOff x="1739900" y="2570514"/>
              <a:chExt cx="1025525" cy="687036"/>
            </a:xfrm>
          </p:grpSpPr>
          <p:sp>
            <p:nvSpPr>
              <p:cNvPr id="354" name="菱形 353"/>
              <p:cNvSpPr/>
              <p:nvPr/>
            </p:nvSpPr>
            <p:spPr>
              <a:xfrm>
                <a:off x="1739900" y="2570514"/>
                <a:ext cx="1025525" cy="687036"/>
              </a:xfrm>
              <a:prstGeom prst="diamond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5" name="文字方塊 354"/>
              <p:cNvSpPr txBox="1"/>
              <p:nvPr/>
            </p:nvSpPr>
            <p:spPr>
              <a:xfrm>
                <a:off x="1863260" y="2748110"/>
                <a:ext cx="89416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判斷是否為</a:t>
                </a:r>
                <a:endParaRPr lang="en-US" altLang="zh-TW" sz="800" dirty="0" smtClean="0"/>
              </a:p>
              <a:p>
                <a:r>
                  <a:rPr lang="zh-TW" altLang="en-US" sz="800" dirty="0" smtClean="0"/>
                  <a:t>最後一個座標</a:t>
                </a:r>
                <a:endParaRPr lang="zh-TW" altLang="en-US" sz="800" dirty="0"/>
              </a:p>
            </p:txBody>
          </p:sp>
        </p:grpSp>
        <p:cxnSp>
          <p:nvCxnSpPr>
            <p:cNvPr id="356" name="直線單箭頭接點 355"/>
            <p:cNvCxnSpPr>
              <a:stCxn id="177" idx="2"/>
              <a:endCxn id="202" idx="0"/>
            </p:cNvCxnSpPr>
            <p:nvPr/>
          </p:nvCxnSpPr>
          <p:spPr>
            <a:xfrm>
              <a:off x="2200325" y="3006614"/>
              <a:ext cx="2305" cy="2604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直線單箭頭接點 358"/>
            <p:cNvCxnSpPr>
              <a:stCxn id="206" idx="2"/>
              <a:endCxn id="354" idx="0"/>
            </p:cNvCxnSpPr>
            <p:nvPr/>
          </p:nvCxnSpPr>
          <p:spPr>
            <a:xfrm flipH="1">
              <a:off x="3625479" y="3093670"/>
              <a:ext cx="488" cy="1869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肘形接點 367"/>
            <p:cNvCxnSpPr>
              <a:stCxn id="202" idx="1"/>
            </p:cNvCxnSpPr>
            <p:nvPr/>
          </p:nvCxnSpPr>
          <p:spPr>
            <a:xfrm rot="10800000">
              <a:off x="856193" y="1914581"/>
              <a:ext cx="833675" cy="1695956"/>
            </a:xfrm>
            <a:prstGeom prst="bentConnector3">
              <a:avLst>
                <a:gd name="adj1" fmla="val 12348"/>
              </a:avLst>
            </a:prstGeom>
            <a:ln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肘形接點 378"/>
            <p:cNvCxnSpPr>
              <a:stCxn id="354" idx="1"/>
            </p:cNvCxnSpPr>
            <p:nvPr/>
          </p:nvCxnSpPr>
          <p:spPr>
            <a:xfrm rot="10800000">
              <a:off x="1586638" y="3131857"/>
              <a:ext cx="1526078" cy="492328"/>
            </a:xfrm>
            <a:prstGeom prst="bentConnector3">
              <a:avLst>
                <a:gd name="adj1" fmla="val 14736"/>
              </a:avLst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文字方塊 383"/>
            <p:cNvSpPr txBox="1"/>
            <p:nvPr/>
          </p:nvSpPr>
          <p:spPr>
            <a:xfrm>
              <a:off x="1527473" y="3378671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否</a:t>
              </a:r>
              <a:endParaRPr lang="zh-TW" altLang="en-US" sz="800" dirty="0"/>
            </a:p>
          </p:txBody>
        </p:sp>
        <p:sp>
          <p:nvSpPr>
            <p:cNvPr id="385" name="文字方塊 384"/>
            <p:cNvSpPr txBox="1"/>
            <p:nvPr/>
          </p:nvSpPr>
          <p:spPr>
            <a:xfrm>
              <a:off x="2892836" y="3404181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否</a:t>
              </a:r>
              <a:endParaRPr lang="zh-TW" altLang="en-US" sz="800" dirty="0"/>
            </a:p>
          </p:txBody>
        </p:sp>
        <p:cxnSp>
          <p:nvCxnSpPr>
            <p:cNvPr id="392" name="直線單箭頭接點 391"/>
            <p:cNvCxnSpPr>
              <a:stCxn id="202" idx="2"/>
              <a:endCxn id="264" idx="0"/>
            </p:cNvCxnSpPr>
            <p:nvPr/>
          </p:nvCxnSpPr>
          <p:spPr>
            <a:xfrm>
              <a:off x="2202630" y="3954055"/>
              <a:ext cx="536" cy="1443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線單箭頭接點 392"/>
            <p:cNvCxnSpPr>
              <a:stCxn id="354" idx="2"/>
              <a:endCxn id="272" idx="0"/>
            </p:cNvCxnSpPr>
            <p:nvPr/>
          </p:nvCxnSpPr>
          <p:spPr>
            <a:xfrm flipH="1">
              <a:off x="3624840" y="3967703"/>
              <a:ext cx="639" cy="14135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4" name="群組 393"/>
            <p:cNvGrpSpPr/>
            <p:nvPr/>
          </p:nvGrpSpPr>
          <p:grpSpPr>
            <a:xfrm>
              <a:off x="2353483" y="4902348"/>
              <a:ext cx="1078706" cy="215446"/>
              <a:chOff x="1165860" y="3108959"/>
              <a:chExt cx="1764582" cy="283207"/>
            </a:xfrm>
          </p:grpSpPr>
          <p:sp>
            <p:nvSpPr>
              <p:cNvPr id="395" name="矩形 394"/>
              <p:cNvSpPr/>
              <p:nvPr/>
            </p:nvSpPr>
            <p:spPr>
              <a:xfrm>
                <a:off x="1165860" y="3108959"/>
                <a:ext cx="1764582" cy="28320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396" name="文字方塊 395"/>
              <p:cNvSpPr txBox="1"/>
              <p:nvPr/>
            </p:nvSpPr>
            <p:spPr>
              <a:xfrm>
                <a:off x="1229306" y="3108959"/>
                <a:ext cx="1658407" cy="283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800" dirty="0" smtClean="0"/>
                  <a:t>END</a:t>
                </a:r>
                <a:endParaRPr lang="zh-TW" altLang="en-US" sz="800" dirty="0"/>
              </a:p>
            </p:txBody>
          </p:sp>
        </p:grpSp>
        <p:cxnSp>
          <p:nvCxnSpPr>
            <p:cNvPr id="401" name="肘形接點 400"/>
            <p:cNvCxnSpPr>
              <a:stCxn id="272" idx="2"/>
              <a:endCxn id="281" idx="0"/>
            </p:cNvCxnSpPr>
            <p:nvPr/>
          </p:nvCxnSpPr>
          <p:spPr>
            <a:xfrm rot="5400000">
              <a:off x="3157615" y="4091605"/>
              <a:ext cx="215327" cy="719125"/>
            </a:xfrm>
            <a:prstGeom prst="bentConnector3">
              <a:avLst>
                <a:gd name="adj1" fmla="val 312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肘形接點 402"/>
            <p:cNvCxnSpPr>
              <a:stCxn id="264" idx="2"/>
              <a:endCxn id="281" idx="0"/>
            </p:cNvCxnSpPr>
            <p:nvPr/>
          </p:nvCxnSpPr>
          <p:spPr>
            <a:xfrm rot="16200000" flipH="1">
              <a:off x="2449376" y="4102492"/>
              <a:ext cx="210128" cy="702549"/>
            </a:xfrm>
            <a:prstGeom prst="bentConnector3">
              <a:avLst>
                <a:gd name="adj1" fmla="val 29602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線單箭頭接點 411"/>
            <p:cNvCxnSpPr>
              <a:stCxn id="280" idx="2"/>
              <a:endCxn id="396" idx="0"/>
            </p:cNvCxnSpPr>
            <p:nvPr/>
          </p:nvCxnSpPr>
          <p:spPr>
            <a:xfrm flipH="1">
              <a:off x="2899168" y="4774276"/>
              <a:ext cx="215" cy="1280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文字方塊 227"/>
            <p:cNvSpPr txBox="1"/>
            <p:nvPr/>
          </p:nvSpPr>
          <p:spPr>
            <a:xfrm>
              <a:off x="1849843" y="1553446"/>
              <a:ext cx="6976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800" dirty="0" smtClean="0"/>
                <a:t>開啟背光源</a:t>
              </a:r>
              <a:endParaRPr lang="en-US" altLang="zh-TW" sz="800" dirty="0" smtClean="0"/>
            </a:p>
            <a:p>
              <a:r>
                <a:rPr lang="zh-TW" altLang="en-US" sz="800" dirty="0" smtClean="0"/>
                <a:t>關閉正光源</a:t>
              </a:r>
              <a:endParaRPr lang="zh-TW" altLang="en-US" sz="800" dirty="0"/>
            </a:p>
          </p:txBody>
        </p:sp>
        <p:sp>
          <p:nvSpPr>
            <p:cNvPr id="285" name="文字方塊 284"/>
            <p:cNvSpPr txBox="1"/>
            <p:nvPr/>
          </p:nvSpPr>
          <p:spPr>
            <a:xfrm>
              <a:off x="807213" y="1898118"/>
              <a:ext cx="81304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700" dirty="0" smtClean="0">
                  <a:solidFill>
                    <a:schemeClr val="accent5">
                      <a:lumMod val="50000"/>
                    </a:schemeClr>
                  </a:solidFill>
                </a:rPr>
                <a:t>下一個噴嘴座標</a:t>
              </a:r>
              <a:endParaRPr lang="zh-TW" altLang="en-US" sz="7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grpSp>
        <p:nvGrpSpPr>
          <p:cNvPr id="190" name="群組 189"/>
          <p:cNvGrpSpPr/>
          <p:nvPr/>
        </p:nvGrpSpPr>
        <p:grpSpPr>
          <a:xfrm>
            <a:off x="6026995" y="2408127"/>
            <a:ext cx="950631" cy="215444"/>
            <a:chOff x="7379436" y="3570157"/>
            <a:chExt cx="950631" cy="215444"/>
          </a:xfrm>
        </p:grpSpPr>
        <p:sp>
          <p:nvSpPr>
            <p:cNvPr id="194" name="矩形 193"/>
            <p:cNvSpPr/>
            <p:nvPr/>
          </p:nvSpPr>
          <p:spPr>
            <a:xfrm>
              <a:off x="7422770" y="3570346"/>
              <a:ext cx="890582" cy="21368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800"/>
            </a:p>
          </p:txBody>
        </p:sp>
        <p:sp>
          <p:nvSpPr>
            <p:cNvPr id="195" name="文字方塊 194"/>
            <p:cNvSpPr txBox="1"/>
            <p:nvPr/>
          </p:nvSpPr>
          <p:spPr>
            <a:xfrm>
              <a:off x="7379436" y="3570157"/>
              <a:ext cx="95063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800" dirty="0" smtClean="0"/>
                <a:t>影像對齊</a:t>
              </a:r>
              <a:endParaRPr lang="zh-TW" altLang="en-US" sz="800" dirty="0"/>
            </a:p>
          </p:txBody>
        </p:sp>
      </p:grpSp>
      <p:cxnSp>
        <p:nvCxnSpPr>
          <p:cNvPr id="197" name="直線單箭頭接點 196"/>
          <p:cNvCxnSpPr>
            <a:stCxn id="194" idx="2"/>
            <a:endCxn id="347" idx="0"/>
          </p:cNvCxnSpPr>
          <p:nvPr/>
        </p:nvCxnSpPr>
        <p:spPr>
          <a:xfrm>
            <a:off x="6515620" y="2622004"/>
            <a:ext cx="1979" cy="137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文字方塊 188"/>
          <p:cNvSpPr txBox="1"/>
          <p:nvPr/>
        </p:nvSpPr>
        <p:spPr>
          <a:xfrm>
            <a:off x="3625308" y="3815786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" dirty="0" smtClean="0"/>
              <a:t>是</a:t>
            </a:r>
            <a:endParaRPr lang="zh-TW" altLang="en-US" sz="800" dirty="0"/>
          </a:p>
        </p:txBody>
      </p:sp>
      <p:sp>
        <p:nvSpPr>
          <p:cNvPr id="198" name="文字方塊 197"/>
          <p:cNvSpPr txBox="1"/>
          <p:nvPr/>
        </p:nvSpPr>
        <p:spPr>
          <a:xfrm>
            <a:off x="2183504" y="3815786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" dirty="0" smtClean="0"/>
              <a:t>是</a:t>
            </a:r>
            <a:endParaRPr lang="zh-TW" altLang="en-US" sz="800" dirty="0"/>
          </a:p>
        </p:txBody>
      </p:sp>
      <p:sp>
        <p:nvSpPr>
          <p:cNvPr id="200" name="菱形 199"/>
          <p:cNvSpPr/>
          <p:nvPr/>
        </p:nvSpPr>
        <p:spPr>
          <a:xfrm>
            <a:off x="409954" y="3265352"/>
            <a:ext cx="852982" cy="718145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4" name="文字方塊 203"/>
          <p:cNvSpPr txBox="1"/>
          <p:nvPr/>
        </p:nvSpPr>
        <p:spPr>
          <a:xfrm>
            <a:off x="428335" y="3513212"/>
            <a:ext cx="8002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" dirty="0" smtClean="0"/>
              <a:t>確認檢測模式</a:t>
            </a:r>
            <a:endParaRPr lang="zh-TW" altLang="en-US" sz="800" dirty="0"/>
          </a:p>
        </p:txBody>
      </p:sp>
      <p:sp>
        <p:nvSpPr>
          <p:cNvPr id="209" name="文字方塊 208"/>
          <p:cNvSpPr txBox="1"/>
          <p:nvPr/>
        </p:nvSpPr>
        <p:spPr>
          <a:xfrm>
            <a:off x="298325" y="399903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" dirty="0" smtClean="0"/>
              <a:t>內部檢測</a:t>
            </a:r>
            <a:endParaRPr lang="zh-TW" altLang="en-US" sz="800" dirty="0"/>
          </a:p>
        </p:txBody>
      </p:sp>
      <p:sp>
        <p:nvSpPr>
          <p:cNvPr id="210" name="文字方塊 209"/>
          <p:cNvSpPr txBox="1"/>
          <p:nvPr/>
        </p:nvSpPr>
        <p:spPr>
          <a:xfrm>
            <a:off x="951727" y="3267697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" dirty="0" smtClean="0"/>
              <a:t>外</a:t>
            </a:r>
            <a:r>
              <a:rPr lang="zh-TW" altLang="en-US" sz="800" dirty="0"/>
              <a:t>觀</a:t>
            </a:r>
            <a:r>
              <a:rPr lang="zh-TW" altLang="en-US" sz="800" dirty="0" smtClean="0"/>
              <a:t>檢測</a:t>
            </a:r>
            <a:endParaRPr lang="zh-TW" altLang="en-US" sz="800" dirty="0"/>
          </a:p>
        </p:txBody>
      </p:sp>
      <p:sp>
        <p:nvSpPr>
          <p:cNvPr id="211" name="矩形 210"/>
          <p:cNvSpPr/>
          <p:nvPr/>
        </p:nvSpPr>
        <p:spPr>
          <a:xfrm>
            <a:off x="3072453" y="1006655"/>
            <a:ext cx="1077014" cy="2468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00"/>
          </a:p>
        </p:txBody>
      </p:sp>
      <p:cxnSp>
        <p:nvCxnSpPr>
          <p:cNvPr id="213" name="肘形接點 212"/>
          <p:cNvCxnSpPr>
            <a:stCxn id="200" idx="3"/>
            <a:endCxn id="211" idx="1"/>
          </p:cNvCxnSpPr>
          <p:nvPr/>
        </p:nvCxnSpPr>
        <p:spPr>
          <a:xfrm flipV="1">
            <a:off x="1262936" y="1130078"/>
            <a:ext cx="1809517" cy="2494347"/>
          </a:xfrm>
          <a:prstGeom prst="bentConnector3">
            <a:avLst>
              <a:gd name="adj1" fmla="val 108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文字方塊 214"/>
          <p:cNvSpPr txBox="1"/>
          <p:nvPr/>
        </p:nvSpPr>
        <p:spPr>
          <a:xfrm>
            <a:off x="3063371" y="1019125"/>
            <a:ext cx="11043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開啟正光源和背光源</a:t>
            </a:r>
            <a:endParaRPr lang="zh-TW" altLang="en-US" sz="800" dirty="0"/>
          </a:p>
        </p:txBody>
      </p:sp>
      <p:cxnSp>
        <p:nvCxnSpPr>
          <p:cNvPr id="216" name="直線單箭頭接點 215"/>
          <p:cNvCxnSpPr>
            <a:stCxn id="211" idx="2"/>
            <a:endCxn id="136" idx="0"/>
          </p:cNvCxnSpPr>
          <p:nvPr/>
        </p:nvCxnSpPr>
        <p:spPr>
          <a:xfrm>
            <a:off x="3610960" y="1253500"/>
            <a:ext cx="345" cy="185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文字方塊 242"/>
          <p:cNvSpPr txBox="1"/>
          <p:nvPr/>
        </p:nvSpPr>
        <p:spPr>
          <a:xfrm>
            <a:off x="2392247" y="85533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b="1" dirty="0" smtClean="0">
                <a:solidFill>
                  <a:srgbClr val="0909B7"/>
                </a:solidFill>
              </a:rPr>
              <a:t>外</a:t>
            </a:r>
            <a:r>
              <a:rPr lang="zh-TW" altLang="en-US" sz="1000" b="1" dirty="0">
                <a:solidFill>
                  <a:srgbClr val="0909B7"/>
                </a:solidFill>
              </a:rPr>
              <a:t>觀</a:t>
            </a:r>
            <a:r>
              <a:rPr lang="zh-TW" altLang="en-US" sz="1000" b="1" dirty="0" smtClean="0">
                <a:solidFill>
                  <a:srgbClr val="0909B7"/>
                </a:solidFill>
              </a:rPr>
              <a:t>檢測</a:t>
            </a:r>
            <a:endParaRPr lang="zh-TW" altLang="en-US" sz="1000" b="1" dirty="0">
              <a:solidFill>
                <a:srgbClr val="0909B7"/>
              </a:solidFill>
            </a:endParaRPr>
          </a:p>
        </p:txBody>
      </p:sp>
      <p:sp>
        <p:nvSpPr>
          <p:cNvPr id="244" name="文字方塊 243"/>
          <p:cNvSpPr txBox="1"/>
          <p:nvPr/>
        </p:nvSpPr>
        <p:spPr>
          <a:xfrm>
            <a:off x="2159518" y="122214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b="1" dirty="0" smtClean="0">
                <a:solidFill>
                  <a:srgbClr val="0909B7"/>
                </a:solidFill>
              </a:rPr>
              <a:t>內部檢測</a:t>
            </a:r>
            <a:endParaRPr lang="zh-TW" altLang="en-US" sz="1000" b="1" dirty="0">
              <a:solidFill>
                <a:srgbClr val="0909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02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/>
          <p:cNvSpPr/>
          <p:nvPr/>
        </p:nvSpPr>
        <p:spPr>
          <a:xfrm>
            <a:off x="207772" y="3224264"/>
            <a:ext cx="3633933" cy="15385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00"/>
          </a:p>
        </p:txBody>
      </p:sp>
      <p:grpSp>
        <p:nvGrpSpPr>
          <p:cNvPr id="130" name="群組 129"/>
          <p:cNvGrpSpPr/>
          <p:nvPr/>
        </p:nvGrpSpPr>
        <p:grpSpPr>
          <a:xfrm>
            <a:off x="4696688" y="1550523"/>
            <a:ext cx="2033015" cy="1596366"/>
            <a:chOff x="4491533" y="2008232"/>
            <a:chExt cx="1397204" cy="1137305"/>
          </a:xfrm>
        </p:grpSpPr>
        <p:sp>
          <p:nvSpPr>
            <p:cNvPr id="131" name="平行四邊形 130"/>
            <p:cNvSpPr/>
            <p:nvPr/>
          </p:nvSpPr>
          <p:spPr>
            <a:xfrm>
              <a:off x="4491533" y="2838299"/>
              <a:ext cx="1397204" cy="307238"/>
            </a:xfrm>
            <a:prstGeom prst="parallelogram">
              <a:avLst>
                <a:gd name="adj" fmla="val 148972"/>
              </a:avLst>
            </a:prstGeom>
            <a:blipFill>
              <a:blip r:embed="rId3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2" name="平行四邊形 131"/>
            <p:cNvSpPr/>
            <p:nvPr/>
          </p:nvSpPr>
          <p:spPr>
            <a:xfrm>
              <a:off x="4491533" y="2647039"/>
              <a:ext cx="1397204" cy="307238"/>
            </a:xfrm>
            <a:prstGeom prst="parallelogram">
              <a:avLst>
                <a:gd name="adj" fmla="val 148972"/>
              </a:avLst>
            </a:prstGeom>
            <a:blipFill>
              <a:blip r:embed="rId4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3" name="平行四邊形 132"/>
            <p:cNvSpPr/>
            <p:nvPr/>
          </p:nvSpPr>
          <p:spPr>
            <a:xfrm>
              <a:off x="4491533" y="2425993"/>
              <a:ext cx="1397204" cy="307238"/>
            </a:xfrm>
            <a:prstGeom prst="parallelogram">
              <a:avLst>
                <a:gd name="adj" fmla="val 148972"/>
              </a:avLst>
            </a:prstGeom>
            <a:blipFill>
              <a:blip r:embed="rId5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4" name="平行四邊形 133"/>
            <p:cNvSpPr/>
            <p:nvPr/>
          </p:nvSpPr>
          <p:spPr>
            <a:xfrm>
              <a:off x="4491533" y="2229278"/>
              <a:ext cx="1397204" cy="307238"/>
            </a:xfrm>
            <a:prstGeom prst="parallelogram">
              <a:avLst>
                <a:gd name="adj" fmla="val 148972"/>
              </a:avLst>
            </a:prstGeom>
            <a:blipFill>
              <a:blip r:embed="rId6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8" name="平行四邊形 137"/>
            <p:cNvSpPr/>
            <p:nvPr/>
          </p:nvSpPr>
          <p:spPr>
            <a:xfrm>
              <a:off x="4491533" y="2008232"/>
              <a:ext cx="1397204" cy="307238"/>
            </a:xfrm>
            <a:prstGeom prst="parallelogram">
              <a:avLst>
                <a:gd name="adj" fmla="val 148972"/>
              </a:avLst>
            </a:prstGeom>
            <a:blipFill>
              <a:blip r:embed="rId7"/>
              <a:stretch>
                <a:fillRect/>
              </a:stretch>
            </a:blip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39" name="文字方塊 138"/>
          <p:cNvSpPr txBox="1"/>
          <p:nvPr/>
        </p:nvSpPr>
        <p:spPr>
          <a:xfrm>
            <a:off x="3844166" y="797599"/>
            <a:ext cx="5493812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全焦距影像融合</a:t>
            </a:r>
            <a:endParaRPr lang="en-US" altLang="zh-TW" dirty="0" smtClean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拍攝多張</a:t>
            </a:r>
            <a:r>
              <a:rPr lang="zh-TW" altLang="en-US" dirty="0" smtClean="0">
                <a:solidFill>
                  <a:srgbClr val="FF0000"/>
                </a:solidFill>
              </a:rPr>
              <a:t>不同焦距</a:t>
            </a:r>
            <a:r>
              <a:rPr lang="zh-TW" altLang="en-US" dirty="0" smtClean="0"/>
              <a:t>的影像，並結合</a:t>
            </a:r>
            <a:r>
              <a:rPr lang="zh-TW" altLang="en-US" dirty="0" smtClean="0">
                <a:solidFill>
                  <a:srgbClr val="FF0000"/>
                </a:solidFill>
              </a:rPr>
              <a:t>焦點堆疊</a:t>
            </a:r>
            <a:r>
              <a:rPr lang="zh-TW" altLang="en-US" dirty="0" smtClean="0"/>
              <a:t>和</a:t>
            </a:r>
            <a:r>
              <a:rPr lang="zh-TW" altLang="en-US" dirty="0" smtClean="0">
                <a:solidFill>
                  <a:srgbClr val="FF0000"/>
                </a:solidFill>
              </a:rPr>
              <a:t>局部區域融合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zh-TW" altLang="en-US" dirty="0" smtClean="0"/>
              <a:t>技術合成全焦距影像</a:t>
            </a:r>
            <a:endParaRPr lang="zh-TW" altLang="en-US" dirty="0"/>
          </a:p>
        </p:txBody>
      </p:sp>
      <p:sp>
        <p:nvSpPr>
          <p:cNvPr id="140" name="文字方塊 139"/>
          <p:cNvSpPr txBox="1"/>
          <p:nvPr/>
        </p:nvSpPr>
        <p:spPr>
          <a:xfrm>
            <a:off x="162410" y="815045"/>
            <a:ext cx="3724656" cy="730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自動對焦</a:t>
            </a:r>
            <a:endParaRPr lang="en-US" altLang="zh-TW" dirty="0" smtClean="0"/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使用</a:t>
            </a:r>
            <a:r>
              <a:rPr lang="en-US" altLang="zh-TW" dirty="0" smtClean="0">
                <a:solidFill>
                  <a:srgbClr val="FF0000"/>
                </a:solidFill>
              </a:rPr>
              <a:t>Z</a:t>
            </a:r>
            <a:r>
              <a:rPr lang="zh-TW" altLang="en-US" dirty="0" smtClean="0">
                <a:solidFill>
                  <a:srgbClr val="FF0000"/>
                </a:solidFill>
              </a:rPr>
              <a:t>軸升降馬達</a:t>
            </a:r>
            <a:r>
              <a:rPr lang="zh-TW" altLang="en-US" dirty="0" smtClean="0"/>
              <a:t>調整焦距和</a:t>
            </a:r>
            <a:r>
              <a:rPr lang="zh-TW" altLang="en-US" sz="1400" dirty="0">
                <a:solidFill>
                  <a:srgbClr val="FF0000"/>
                </a:solidFill>
              </a:rPr>
              <a:t>拉普拉斯</a:t>
            </a:r>
            <a:r>
              <a:rPr lang="zh-TW" altLang="en-US" sz="1400" dirty="0" smtClean="0">
                <a:solidFill>
                  <a:srgbClr val="FF0000"/>
                </a:solidFill>
              </a:rPr>
              <a:t>梯度變換</a:t>
            </a:r>
            <a:r>
              <a:rPr lang="zh-TW" altLang="en-US" dirty="0" smtClean="0">
                <a:solidFill>
                  <a:srgbClr val="FF0000"/>
                </a:solidFill>
              </a:rPr>
              <a:t>演算法</a:t>
            </a:r>
            <a:r>
              <a:rPr lang="zh-TW" altLang="en-US" dirty="0" smtClean="0"/>
              <a:t>取得清晰</a:t>
            </a:r>
            <a:r>
              <a:rPr lang="zh-TW" altLang="en-US" dirty="0"/>
              <a:t>的</a:t>
            </a:r>
            <a:r>
              <a:rPr lang="zh-TW" altLang="en-US" dirty="0" smtClean="0"/>
              <a:t>照片</a:t>
            </a:r>
            <a:endParaRPr lang="zh-TW" altLang="en-US" dirty="0"/>
          </a:p>
        </p:txBody>
      </p:sp>
      <p:sp>
        <p:nvSpPr>
          <p:cNvPr id="141" name="向右箭號 140"/>
          <p:cNvSpPr/>
          <p:nvPr/>
        </p:nvSpPr>
        <p:spPr>
          <a:xfrm>
            <a:off x="6804751" y="2156275"/>
            <a:ext cx="247177" cy="218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2" name="圖片 14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8" r="10967"/>
          <a:stretch/>
        </p:blipFill>
        <p:spPr>
          <a:xfrm>
            <a:off x="7116653" y="1656492"/>
            <a:ext cx="1928287" cy="1325216"/>
          </a:xfrm>
          <a:prstGeom prst="rect">
            <a:avLst/>
          </a:prstGeom>
        </p:spPr>
      </p:pic>
      <p:pic>
        <p:nvPicPr>
          <p:cNvPr id="143" name="圖片 14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5" r="24211"/>
          <a:stretch/>
        </p:blipFill>
        <p:spPr>
          <a:xfrm>
            <a:off x="2335331" y="1740586"/>
            <a:ext cx="1493580" cy="1435072"/>
          </a:xfrm>
          <a:prstGeom prst="rect">
            <a:avLst/>
          </a:prstGeom>
        </p:spPr>
      </p:pic>
      <p:pic>
        <p:nvPicPr>
          <p:cNvPr id="144" name="圖片 143"/>
          <p:cNvPicPr>
            <a:picLocks noChangeAspect="1"/>
          </p:cNvPicPr>
          <p:nvPr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45" r="24211"/>
          <a:stretch/>
        </p:blipFill>
        <p:spPr>
          <a:xfrm>
            <a:off x="286531" y="1740586"/>
            <a:ext cx="1493580" cy="1435072"/>
          </a:xfrm>
          <a:prstGeom prst="rect">
            <a:avLst/>
          </a:prstGeom>
        </p:spPr>
      </p:pic>
      <p:sp>
        <p:nvSpPr>
          <p:cNvPr id="145" name="向右箭號 144"/>
          <p:cNvSpPr/>
          <p:nvPr/>
        </p:nvSpPr>
        <p:spPr>
          <a:xfrm>
            <a:off x="1829504" y="2348706"/>
            <a:ext cx="460857" cy="2188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10568" y="331597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自動對焦公式：計算每個焦距</a:t>
            </a:r>
            <a:r>
              <a:rPr lang="zh-TW" altLang="en-US" sz="1200" dirty="0" smtClean="0">
                <a:solidFill>
                  <a:srgbClr val="FF0000"/>
                </a:solidFill>
              </a:rPr>
              <a:t>影像的清晰度</a:t>
            </a:r>
            <a:r>
              <a:rPr lang="zh-TW" altLang="en-US" sz="1200" dirty="0" smtClean="0"/>
              <a:t>，</a:t>
            </a:r>
            <a:endParaRPr lang="en-US" altLang="zh-TW" sz="1200" dirty="0" smtClean="0"/>
          </a:p>
          <a:p>
            <a:r>
              <a:rPr lang="zh-TW" altLang="en-US" sz="1200" dirty="0" smtClean="0"/>
              <a:t>求最佳焦距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267353" y="4195151"/>
                <a:ext cx="1748171" cy="2657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1000" dirty="0" smtClean="0">
                    <a:latin typeface="+mn-ea"/>
                  </a:rPr>
                  <a:t>2.</a:t>
                </a:r>
                <a:r>
                  <a:rPr lang="zh-TW" altLang="en-US" sz="1000" dirty="0" smtClean="0">
                    <a:latin typeface="+mn-ea"/>
                  </a:rPr>
                  <a:t> 最佳焦點</a:t>
                </a:r>
                <a:r>
                  <a:rPr lang="en-US" altLang="zh-TW" sz="1000" dirty="0" smtClean="0">
                    <a:latin typeface="+mn-ea"/>
                  </a:rPr>
                  <a:t>:</a:t>
                </a:r>
                <a:r>
                  <a:rPr lang="zh-TW" altLang="en-US" sz="1000" dirty="0" smtClean="0">
                    <a:latin typeface="+mn-ea"/>
                  </a:rPr>
                  <a:t> </a:t>
                </a:r>
                <a:r>
                  <a:rPr lang="en-US" altLang="zh-TW" sz="12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 </a:t>
                </a:r>
                <a:r>
                  <a:rPr lang="zh-TW" altLang="en-US" sz="1200" i="1" dirty="0" smtClean="0">
                    <a:latin typeface="Cambria Math" panose="02040503050406030204" pitchFamily="18" charset="0"/>
                  </a:rPr>
                  <a:t> </a:t>
                </a:r>
                <a:r>
                  <a:rPr lang="en-US" altLang="zh-TW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US" altLang="zh-TW" sz="1200" dirty="0" err="1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arg</a:t>
                </a:r>
                <a:r>
                  <a:rPr lang="en-US" altLang="zh-TW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z="12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altLang="zh-TW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TW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zh-TW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53" y="4195151"/>
                <a:ext cx="1748171" cy="265714"/>
              </a:xfrm>
              <a:prstGeom prst="rect">
                <a:avLst/>
              </a:prstGeom>
              <a:blipFill rotWithShape="0">
                <a:blip r:embed="rId12"/>
                <a:stretch>
                  <a:fillRect l="-4530" t="-18182" b="-18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263373" y="3894935"/>
                <a:ext cx="2120132" cy="2030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1000" dirty="0" smtClean="0">
                    <a:latin typeface="+mn-ea"/>
                  </a:rPr>
                  <a:t>1.</a:t>
                </a:r>
                <a:r>
                  <a:rPr lang="zh-TW" altLang="en-US" sz="1000" dirty="0" smtClean="0">
                    <a:latin typeface="+mn-ea"/>
                  </a:rPr>
                  <a:t> 影像清晰度</a:t>
                </a:r>
                <a:r>
                  <a:rPr lang="en-US" altLang="zh-TW" sz="1000" dirty="0" smtClean="0">
                    <a:latin typeface="+mn-ea"/>
                  </a:rPr>
                  <a:t>:</a:t>
                </a:r>
                <a:r>
                  <a:rPr lang="zh-TW" altLang="en-US" sz="12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TW" altLang="en-US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zh-TW" altLang="en-US" sz="1200" dirty="0" smtClean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TW" altLang="en-US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𝛻</m:t>
                                </m:r>
                              </m:e>
                              <m:sup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73" y="3894935"/>
                <a:ext cx="2120132" cy="203004"/>
              </a:xfrm>
              <a:prstGeom prst="rect">
                <a:avLst/>
              </a:prstGeom>
              <a:blipFill rotWithShape="0">
                <a:blip r:embed="rId13"/>
                <a:stretch>
                  <a:fillRect l="-3736" t="-154545" b="-2363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443415" y="4042617"/>
                <a:ext cx="141096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</a:t>
                </a:r>
                <a:r>
                  <a:rPr lang="zh-TW" altLang="en-US" sz="1000" dirty="0">
                    <a:latin typeface="Cambria Math" panose="02040503050406030204" pitchFamily="18" charset="0"/>
                  </a:rPr>
                  <a:t>：</a:t>
                </a:r>
                <a:r>
                  <a:rPr lang="zh-TW" altLang="en-US" sz="1000" dirty="0" smtClean="0">
                    <a:latin typeface="Cambria Math" panose="02040503050406030204" pitchFamily="18" charset="0"/>
                  </a:rPr>
                  <a:t>焦點</a:t>
                </a:r>
                <a:endParaRPr lang="en-US" altLang="zh-TW" sz="1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1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zh-TW" altLang="en-US" sz="1000" dirty="0">
                    <a:latin typeface="Cambria Math" panose="02040503050406030204" pitchFamily="18" charset="0"/>
                  </a:rPr>
                  <a:t>：</a:t>
                </a:r>
                <a:r>
                  <a:rPr lang="zh-TW" altLang="en-US" sz="1000" dirty="0" smtClean="0">
                    <a:latin typeface="Cambria Math" panose="02040503050406030204" pitchFamily="18" charset="0"/>
                  </a:rPr>
                  <a:t>影像的清晰度值</a:t>
                </a:r>
                <a:endParaRPr lang="en-US" altLang="zh-TW" sz="1000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zh-TW" sz="1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I(x,</a:t>
                </a:r>
                <a:r>
                  <a:rPr lang="zh-TW" altLang="en-US" sz="1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altLang="zh-TW" sz="1000" i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y)</a:t>
                </a:r>
                <a:r>
                  <a:rPr lang="zh-TW" altLang="en-US" sz="1000" dirty="0" smtClean="0">
                    <a:latin typeface="Cambria Math" panose="02040503050406030204" pitchFamily="18" charset="0"/>
                  </a:rPr>
                  <a:t>：影像的像素值</a:t>
                </a:r>
                <a:endParaRPr lang="en-US" altLang="zh-TW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：拉普拉斯運算符</a:t>
                </a:r>
                <a:endParaRPr lang="zh-TW" altLang="en-US" sz="1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3415" y="4042617"/>
                <a:ext cx="1410964" cy="707886"/>
              </a:xfrm>
              <a:prstGeom prst="rect">
                <a:avLst/>
              </a:prstGeom>
              <a:blipFill rotWithShape="0">
                <a:blip r:embed="rId14"/>
                <a:stretch>
                  <a:fillRect b="-43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3997072" y="3234519"/>
            <a:ext cx="5047868" cy="17245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00"/>
          </a:p>
        </p:txBody>
      </p:sp>
      <p:sp>
        <p:nvSpPr>
          <p:cNvPr id="23" name="文字方塊 22"/>
          <p:cNvSpPr txBox="1"/>
          <p:nvPr/>
        </p:nvSpPr>
        <p:spPr>
          <a:xfrm>
            <a:off x="3935224" y="3263814"/>
            <a:ext cx="5009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全焦距影像</a:t>
            </a:r>
            <a:r>
              <a:rPr lang="zh-TW" altLang="en-US" sz="1200" dirty="0" smtClean="0"/>
              <a:t>融合公式：對齊影像後計算每張影像每個</a:t>
            </a:r>
            <a:r>
              <a:rPr lang="zh-TW" altLang="en-US" sz="1200" dirty="0" smtClean="0">
                <a:solidFill>
                  <a:srgbClr val="FF0000"/>
                </a:solidFill>
              </a:rPr>
              <a:t>像素的清晰度</a:t>
            </a:r>
            <a:r>
              <a:rPr lang="zh-TW" altLang="en-US" sz="1200" dirty="0" smtClean="0"/>
              <a:t>，</a:t>
            </a:r>
            <a:r>
              <a:rPr lang="zh-TW" altLang="en-US" sz="1200" dirty="0"/>
              <a:t>並</a:t>
            </a:r>
            <a:r>
              <a:rPr lang="zh-TW" altLang="en-US" sz="1200" dirty="0" smtClean="0"/>
              <a:t>計算像素的權重，加權平均後進行平滑過渡，最後融合成全焦距影像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/>
              <p:cNvSpPr txBox="1"/>
              <p:nvPr/>
            </p:nvSpPr>
            <p:spPr>
              <a:xfrm>
                <a:off x="4059246" y="4332926"/>
                <a:ext cx="3170740" cy="2024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1000" dirty="0" smtClean="0">
                    <a:latin typeface="+mn-ea"/>
                  </a:rPr>
                  <a:t>4. </a:t>
                </a:r>
                <a:r>
                  <a:rPr lang="zh-TW" altLang="en-US" sz="1000" dirty="0" smtClean="0">
                    <a:latin typeface="+mn-ea"/>
                  </a:rPr>
                  <a:t>影像融合</a:t>
                </a:r>
                <a:r>
                  <a:rPr lang="en-US" altLang="zh-TW" sz="1000" dirty="0" smtClean="0">
                    <a:latin typeface="+mn-ea"/>
                  </a:rPr>
                  <a:t>:</a:t>
                </a:r>
                <a:r>
                  <a:rPr lang="zh-TW" altLang="en-US" sz="1000" dirty="0" smtClean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  <m:d>
                      <m:d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nary>
                  </m:oMath>
                </a14:m>
                <a:endParaRPr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文字方塊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246" y="4332926"/>
                <a:ext cx="3170740" cy="202491"/>
              </a:xfrm>
              <a:prstGeom prst="rect">
                <a:avLst/>
              </a:prstGeom>
              <a:blipFill rotWithShape="0">
                <a:blip r:embed="rId15"/>
                <a:stretch>
                  <a:fillRect l="-2500" t="-157576" b="-2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/>
              <p:cNvSpPr txBox="1"/>
              <p:nvPr/>
            </p:nvSpPr>
            <p:spPr>
              <a:xfrm>
                <a:off x="7175545" y="3863483"/>
                <a:ext cx="244384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1000" dirty="0">
                    <a:latin typeface="Cambria Math" panose="02040503050406030204" pitchFamily="18" charset="0"/>
                  </a:rPr>
                  <a:t>：影像的像素</a:t>
                </a:r>
                <a:r>
                  <a:rPr lang="zh-TW" altLang="en-US" sz="1000" dirty="0" smtClean="0">
                    <a:latin typeface="Cambria Math" panose="02040503050406030204" pitchFamily="18" charset="0"/>
                  </a:rPr>
                  <a:t>值</a:t>
                </a:r>
                <a:endParaRPr lang="en-US" altLang="zh-TW" sz="100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1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1000" dirty="0" smtClean="0">
                    <a:latin typeface="+mn-ea"/>
                  </a:rPr>
                  <a:t>：影像平移變換函數</a:t>
                </a:r>
                <a:endParaRPr lang="en-US" altLang="zh-TW" sz="1000" dirty="0" smtClean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altLang="zh-TW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：影像在像素</a:t>
                </a:r>
                <a:r>
                  <a:rPr lang="en-US" altLang="zh-TW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altLang="zh-TW" sz="1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  <a:r>
                  <a:rPr lang="en-US" altLang="zh-TW" sz="1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TW" altLang="en-US" sz="1000" dirty="0" smtClean="0">
                    <a:latin typeface="Cambria Math" panose="02040503050406030204" pitchFamily="18" charset="0"/>
                  </a:rPr>
                  <a:t>位置</a:t>
                </a:r>
                <a:endParaRPr lang="en-US" altLang="zh-TW" sz="1000" dirty="0" smtClean="0">
                  <a:latin typeface="Cambria Math" panose="02040503050406030204" pitchFamily="18" charset="0"/>
                </a:endParaRPr>
              </a:p>
              <a:p>
                <a:r>
                  <a:rPr lang="zh-TW" altLang="en-US" sz="1000" dirty="0" smtClean="0">
                    <a:latin typeface="Cambria Math" panose="02040503050406030204" pitchFamily="18" charset="0"/>
                  </a:rPr>
                  <a:t>的清晰度</a:t>
                </a:r>
                <a:endParaRPr lang="en-US" altLang="zh-TW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：影像</a:t>
                </a:r>
                <a:r>
                  <a:rPr lang="zh-TW" altLang="en-US" sz="1000" dirty="0">
                    <a:latin typeface="Cambria Math" panose="02040503050406030204" pitchFamily="18" charset="0"/>
                  </a:rPr>
                  <a:t>在像素</a:t>
                </a:r>
                <a:r>
                  <a:rPr lang="en-US" altLang="zh-TW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altLang="zh-TW" sz="1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x,y</a:t>
                </a:r>
                <a:r>
                  <a:rPr lang="en-US" altLang="zh-TW" sz="1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r>
                  <a:rPr lang="zh-TW" altLang="en-US" sz="1000" dirty="0" smtClean="0">
                    <a:latin typeface="Cambria Math" panose="02040503050406030204" pitchFamily="18" charset="0"/>
                  </a:rPr>
                  <a:t>位置</a:t>
                </a:r>
                <a:endParaRPr lang="en-US" altLang="zh-TW" sz="1000" dirty="0" smtClean="0">
                  <a:latin typeface="Cambria Math" panose="02040503050406030204" pitchFamily="18" charset="0"/>
                </a:endParaRPr>
              </a:p>
              <a:p>
                <a:r>
                  <a:rPr lang="zh-TW" altLang="en-US" sz="1000" dirty="0" smtClean="0">
                    <a:latin typeface="Cambria Math" panose="02040503050406030204" pitchFamily="18" charset="0"/>
                  </a:rPr>
                  <a:t>的權重</a:t>
                </a:r>
              </a:p>
            </p:txBody>
          </p:sp>
        </mc:Choice>
        <mc:Fallback xmlns=""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45" y="3863483"/>
                <a:ext cx="2443843" cy="1015663"/>
              </a:xfrm>
              <a:prstGeom prst="rect">
                <a:avLst/>
              </a:prstGeom>
              <a:blipFill rotWithShape="0">
                <a:blip r:embed="rId16"/>
                <a:stretch>
                  <a:fillRect b="-2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103374" y="4521130"/>
                <a:ext cx="2107308" cy="418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TW" altLang="en-US" sz="1000" dirty="0" smtClean="0">
                    <a:latin typeface="+mn-ea"/>
                  </a:rPr>
                  <a:t>其中權重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TW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zh-TW" altLang="en-US" sz="12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374" y="4521130"/>
                <a:ext cx="2107308" cy="418000"/>
              </a:xfrm>
              <a:prstGeom prst="rect">
                <a:avLst/>
              </a:prstGeom>
              <a:blipFill rotWithShape="0">
                <a:blip r:embed="rId17"/>
                <a:stretch>
                  <a:fillRect t="-7353" b="-691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/>
              <p:cNvSpPr txBox="1"/>
              <p:nvPr/>
            </p:nvSpPr>
            <p:spPr>
              <a:xfrm>
                <a:off x="4051626" y="3714213"/>
                <a:ext cx="2010743" cy="1848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1000" dirty="0" smtClean="0">
                    <a:latin typeface="+mn-ea"/>
                  </a:rPr>
                  <a:t>1.</a:t>
                </a:r>
                <a:r>
                  <a:rPr lang="zh-TW" altLang="en-US" sz="1000" dirty="0" smtClean="0">
                    <a:latin typeface="+mn-ea"/>
                  </a:rPr>
                  <a:t> 影像對齊</a:t>
                </a:r>
                <a:r>
                  <a:rPr lang="en-US" altLang="zh-TW" sz="1000" dirty="0" smtClean="0">
                    <a:latin typeface="+mn-ea"/>
                  </a:rPr>
                  <a:t>:</a:t>
                </a:r>
                <a:r>
                  <a:rPr lang="zh-TW" altLang="en-US" sz="1000" dirty="0" smtClean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文字方塊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626" y="3714213"/>
                <a:ext cx="2010743" cy="184859"/>
              </a:xfrm>
              <a:prstGeom prst="rect">
                <a:avLst/>
              </a:prstGeom>
              <a:blipFill rotWithShape="0">
                <a:blip r:embed="rId18"/>
                <a:stretch>
                  <a:fillRect l="-3951" t="-25806" r="-2736" b="-483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/>
              <p:cNvSpPr txBox="1"/>
              <p:nvPr/>
            </p:nvSpPr>
            <p:spPr>
              <a:xfrm>
                <a:off x="4053535" y="3909273"/>
                <a:ext cx="243957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1000" dirty="0">
                    <a:latin typeface="+mn-ea"/>
                  </a:rPr>
                  <a:t>2</a:t>
                </a:r>
                <a:r>
                  <a:rPr lang="en-US" altLang="zh-TW" sz="1000" dirty="0" smtClean="0">
                    <a:latin typeface="+mn-ea"/>
                  </a:rPr>
                  <a:t>.</a:t>
                </a:r>
                <a:r>
                  <a:rPr lang="zh-TW" altLang="en-US" sz="1000" dirty="0" smtClean="0">
                    <a:latin typeface="+mn-ea"/>
                  </a:rPr>
                  <a:t> 像素清晰度計算</a:t>
                </a:r>
                <a:r>
                  <a:rPr lang="en-US" altLang="zh-TW" sz="1000" dirty="0" smtClean="0">
                    <a:latin typeface="+mn-ea"/>
                  </a:rPr>
                  <a:t>:</a:t>
                </a:r>
                <a:r>
                  <a:rPr lang="zh-TW" altLang="en-US" sz="1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2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200" dirty="0" smtClean="0">
                    <a:latin typeface="Cambria Math" panose="02040503050406030204" pitchFamily="18" charset="0"/>
                  </a:rPr>
                  <a:t>|</a:t>
                </a:r>
                <a:endParaRPr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文字方塊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535" y="3909273"/>
                <a:ext cx="2439579" cy="184666"/>
              </a:xfrm>
              <a:prstGeom prst="rect">
                <a:avLst/>
              </a:prstGeom>
              <a:blipFill rotWithShape="0">
                <a:blip r:embed="rId19"/>
                <a:stretch>
                  <a:fillRect l="-3250" t="-25806" r="-3000" b="-483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/>
              <p:cNvSpPr txBox="1"/>
              <p:nvPr/>
            </p:nvSpPr>
            <p:spPr>
              <a:xfrm>
                <a:off x="4053535" y="4117171"/>
                <a:ext cx="266239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TW" sz="1000" dirty="0" smtClean="0">
                    <a:latin typeface="+mn-ea"/>
                  </a:rPr>
                  <a:t>3.</a:t>
                </a:r>
                <a:r>
                  <a:rPr lang="zh-TW" altLang="en-US" sz="1000" dirty="0" smtClean="0">
                    <a:latin typeface="+mn-ea"/>
                  </a:rPr>
                  <a:t> 最佳焦點選擇</a:t>
                </a:r>
                <a:r>
                  <a:rPr lang="en-US" altLang="zh-TW" sz="1000" dirty="0" smtClean="0">
                    <a:latin typeface="+mn-ea"/>
                  </a:rPr>
                  <a:t>:</a:t>
                </a:r>
                <a:r>
                  <a:rPr lang="zh-TW" altLang="en-US" sz="1200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=arg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TW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12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zh-TW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535" y="4117171"/>
                <a:ext cx="2662396" cy="184666"/>
              </a:xfrm>
              <a:prstGeom prst="rect">
                <a:avLst/>
              </a:prstGeom>
              <a:blipFill rotWithShape="0">
                <a:blip r:embed="rId20"/>
                <a:stretch>
                  <a:fillRect l="-2975" t="-25806" r="-1602" b="-483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/>
          <p:cNvGrpSpPr/>
          <p:nvPr/>
        </p:nvGrpSpPr>
        <p:grpSpPr>
          <a:xfrm>
            <a:off x="4001006" y="2469224"/>
            <a:ext cx="408429" cy="665992"/>
            <a:chOff x="3932426" y="2183474"/>
            <a:chExt cx="408429" cy="665992"/>
          </a:xfrm>
        </p:grpSpPr>
        <p:grpSp>
          <p:nvGrpSpPr>
            <p:cNvPr id="31" name="群組 30"/>
            <p:cNvGrpSpPr/>
            <p:nvPr/>
          </p:nvGrpSpPr>
          <p:grpSpPr>
            <a:xfrm>
              <a:off x="3932428" y="2183474"/>
              <a:ext cx="408427" cy="665988"/>
              <a:chOff x="4506838" y="1974688"/>
              <a:chExt cx="163275" cy="266239"/>
            </a:xfrm>
          </p:grpSpPr>
          <p:sp>
            <p:nvSpPr>
              <p:cNvPr id="32" name="梯形 31"/>
              <p:cNvSpPr/>
              <p:nvPr/>
            </p:nvSpPr>
            <p:spPr>
              <a:xfrm rot="10800000">
                <a:off x="4506838" y="1974688"/>
                <a:ext cx="163275" cy="133120"/>
              </a:xfrm>
              <a:prstGeom prst="trapezoid">
                <a:avLst>
                  <a:gd name="adj" fmla="val 13333"/>
                </a:avLst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4563107" y="2109348"/>
                <a:ext cx="55320" cy="1315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10" name="直線接點 9"/>
            <p:cNvCxnSpPr/>
            <p:nvPr/>
          </p:nvCxnSpPr>
          <p:spPr>
            <a:xfrm>
              <a:off x="3932428" y="2849466"/>
              <a:ext cx="4084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/>
            <p:cNvCxnSpPr/>
            <p:nvPr/>
          </p:nvCxnSpPr>
          <p:spPr>
            <a:xfrm>
              <a:off x="3932428" y="2767929"/>
              <a:ext cx="4084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/>
            <p:nvPr/>
          </p:nvCxnSpPr>
          <p:spPr>
            <a:xfrm>
              <a:off x="3932428" y="2684029"/>
              <a:ext cx="4084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/>
            <p:nvPr/>
          </p:nvCxnSpPr>
          <p:spPr>
            <a:xfrm>
              <a:off x="3932427" y="2605833"/>
              <a:ext cx="4084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/>
            <p:cNvCxnSpPr/>
            <p:nvPr/>
          </p:nvCxnSpPr>
          <p:spPr>
            <a:xfrm>
              <a:off x="3932426" y="2516469"/>
              <a:ext cx="4084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線單箭頭接點 61"/>
          <p:cNvCxnSpPr/>
          <p:nvPr/>
        </p:nvCxnSpPr>
        <p:spPr>
          <a:xfrm flipV="1">
            <a:off x="4401313" y="1981775"/>
            <a:ext cx="295375" cy="816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單箭頭接點 76"/>
          <p:cNvCxnSpPr/>
          <p:nvPr/>
        </p:nvCxnSpPr>
        <p:spPr>
          <a:xfrm flipV="1">
            <a:off x="4401313" y="2298977"/>
            <a:ext cx="287256" cy="592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V="1">
            <a:off x="4409432" y="2558691"/>
            <a:ext cx="287254" cy="414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V="1">
            <a:off x="4401313" y="2889579"/>
            <a:ext cx="287256" cy="16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/>
          <p:nvPr/>
        </p:nvCxnSpPr>
        <p:spPr>
          <a:xfrm>
            <a:off x="4409432" y="3136680"/>
            <a:ext cx="279137" cy="16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圖形 21" descr="顯微鏡 以實心填滿">
            <a:extLst>
              <a:ext uri="{FF2B5EF4-FFF2-40B4-BE49-F238E27FC236}">
                <a16:creationId xmlns="" xmlns:a16="http://schemas.microsoft.com/office/drawing/2014/main" id="{789246AD-3B17-2D47-D89C-73DA867E821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-100000"/>
                    </a14:imgEffect>
                  </a14:imgLayer>
                </a14:imgProps>
              </a:ex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45379" y="1566045"/>
            <a:ext cx="707680" cy="574538"/>
          </a:xfrm>
          <a:prstGeom prst="rect">
            <a:avLst/>
          </a:prstGeom>
        </p:spPr>
      </p:pic>
      <p:cxnSp>
        <p:nvCxnSpPr>
          <p:cNvPr id="101" name="直線單箭頭接點 100"/>
          <p:cNvCxnSpPr/>
          <p:nvPr/>
        </p:nvCxnSpPr>
        <p:spPr>
          <a:xfrm>
            <a:off x="4210953" y="2132583"/>
            <a:ext cx="2291" cy="303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文字方塊 84"/>
          <p:cNvSpPr txBox="1"/>
          <p:nvPr/>
        </p:nvSpPr>
        <p:spPr>
          <a:xfrm>
            <a:off x="4149651" y="2171186"/>
            <a:ext cx="3898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800" dirty="0" smtClean="0"/>
              <a:t>拍攝</a:t>
            </a:r>
            <a:endParaRPr lang="zh-TW" altLang="en-US" sz="800" dirty="0"/>
          </a:p>
        </p:txBody>
      </p:sp>
    </p:spTree>
    <p:extLst>
      <p:ext uri="{BB962C8B-B14F-4D97-AF65-F5344CB8AC3E}">
        <p14:creationId xmlns:p14="http://schemas.microsoft.com/office/powerpoint/2010/main" val="420679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3C40992A-F0F3-B7F9-D78A-6B186E89C9D8}"/>
              </a:ext>
            </a:extLst>
          </p:cNvPr>
          <p:cNvSpPr/>
          <p:nvPr/>
        </p:nvSpPr>
        <p:spPr>
          <a:xfrm>
            <a:off x="1563303" y="2963068"/>
            <a:ext cx="7391312" cy="198340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20185" y="2961241"/>
            <a:ext cx="3533145" cy="1985230"/>
            <a:chOff x="20185" y="2961241"/>
            <a:chExt cx="3533145" cy="1985230"/>
          </a:xfrm>
        </p:grpSpPr>
        <p:sp>
          <p:nvSpPr>
            <p:cNvPr id="7" name="矩形 6"/>
            <p:cNvSpPr/>
            <p:nvPr/>
          </p:nvSpPr>
          <p:spPr>
            <a:xfrm>
              <a:off x="20185" y="2961241"/>
              <a:ext cx="1544413" cy="198523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1530778" y="3890303"/>
              <a:ext cx="2022552" cy="105563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66" name="群組 65"/>
          <p:cNvGrpSpPr/>
          <p:nvPr/>
        </p:nvGrpSpPr>
        <p:grpSpPr>
          <a:xfrm>
            <a:off x="5840290" y="988076"/>
            <a:ext cx="2386054" cy="559827"/>
            <a:chOff x="5390547" y="484278"/>
            <a:chExt cx="2386054" cy="559827"/>
          </a:xfrm>
        </p:grpSpPr>
        <p:sp>
          <p:nvSpPr>
            <p:cNvPr id="14" name="圓角矩形 13"/>
            <p:cNvSpPr/>
            <p:nvPr/>
          </p:nvSpPr>
          <p:spPr>
            <a:xfrm>
              <a:off x="5390547" y="484278"/>
              <a:ext cx="2386054" cy="559827"/>
            </a:xfrm>
            <a:prstGeom prst="roundRect">
              <a:avLst/>
            </a:prstGeom>
            <a:solidFill>
              <a:schemeClr val="bg2">
                <a:lumMod val="85000"/>
                <a:alpha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5404037" y="556442"/>
              <a:ext cx="2339102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050" dirty="0">
                  <a:solidFill>
                    <a:srgbClr val="FF0000"/>
                  </a:solidFill>
                </a:rPr>
                <a:t>優點</a:t>
              </a:r>
              <a:r>
                <a:rPr lang="zh-TW" altLang="en-US" sz="1050" dirty="0" smtClean="0"/>
                <a:t>：能平衡因噴嘴磨損變形導致的</a:t>
              </a:r>
              <a:endParaRPr lang="en-US" altLang="zh-TW" sz="1050" dirty="0" smtClean="0"/>
            </a:p>
            <a:p>
              <a:r>
                <a:rPr lang="zh-TW" altLang="en-US" sz="1050" dirty="0" smtClean="0"/>
                <a:t>不</a:t>
              </a:r>
              <a:r>
                <a:rPr lang="zh-TW" altLang="en-US" sz="1050" dirty="0"/>
                <a:t>規則</a:t>
              </a:r>
              <a:r>
                <a:rPr lang="zh-TW" altLang="en-US" sz="1050" dirty="0" smtClean="0"/>
                <a:t>邊緣，取得最佳口徑量測結果</a:t>
              </a:r>
              <a:endParaRPr lang="en-US" altLang="zh-TW" sz="1050" dirty="0"/>
            </a:p>
          </p:txBody>
        </p:sp>
      </p:grpSp>
      <p:sp>
        <p:nvSpPr>
          <p:cNvPr id="16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48924" y="4008764"/>
            <a:ext cx="1521948" cy="9422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最小</a:t>
            </a:r>
            <a:r>
              <a:rPr lang="zh-TW" alt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平方圓</a:t>
            </a:r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擬</a:t>
            </a:r>
            <a:r>
              <a:rPr lang="zh-TW" alt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合：</a:t>
            </a:r>
            <a:endParaRPr lang="en-US" altLang="zh-TW" sz="10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利用每個輪廓點座標到圓心的平方距離，來擬合最佳圓形，即真圓度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zh-TW" altLang="en-US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求</a:t>
            </a:r>
            <a:r>
              <a:rPr lang="en-US" altLang="zh-TW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使得</a:t>
            </a:r>
            <a:r>
              <a:rPr lang="en-US" altLang="zh-TW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P</a:t>
            </a:r>
            <a:r>
              <a:rPr lang="zh-TW" altLang="en-US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en-US" altLang="zh-TW" sz="1000" b="1" i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V</a:t>
            </a:r>
            <a:r>
              <a:rPr lang="zh-TW" alt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為最小</a:t>
            </a:r>
            <a:endParaRPr lang="zh-TW" altLang="en-US" sz="1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7749406" y="2148210"/>
            <a:ext cx="1369012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量測</a:t>
            </a:r>
            <a:r>
              <a:rPr lang="zh-TW" altLang="en-US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口徑</a:t>
            </a:r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000" b="1" dirty="0" smtClean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0.17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mm</a:t>
            </a:r>
          </a:p>
          <a:p>
            <a:r>
              <a:rPr lang="zh-TW" altLang="en-US" sz="1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正確口徑：</a:t>
            </a:r>
            <a:r>
              <a:rPr lang="en-US" altLang="zh-TW" sz="1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0.17mm</a:t>
            </a:r>
            <a:endParaRPr lang="en-US" altLang="zh-TW" sz="10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＞形箭號 18"/>
          <p:cNvSpPr/>
          <p:nvPr/>
        </p:nvSpPr>
        <p:spPr>
          <a:xfrm>
            <a:off x="3376738" y="1681714"/>
            <a:ext cx="1149350" cy="158750"/>
          </a:xfrm>
          <a:prstGeom prst="chevron">
            <a:avLst/>
          </a:prstGeom>
          <a:solidFill>
            <a:srgbClr val="FFF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900" b="1" dirty="0" smtClean="0">
                <a:solidFill>
                  <a:schemeClr val="bg2">
                    <a:lumMod val="50000"/>
                  </a:schemeClr>
                </a:solidFill>
              </a:rPr>
              <a:t>Canny</a:t>
            </a:r>
            <a:r>
              <a:rPr lang="zh-TW" altLang="en-US" sz="900" b="1" dirty="0" smtClean="0">
                <a:solidFill>
                  <a:schemeClr val="bg2">
                    <a:lumMod val="50000"/>
                  </a:schemeClr>
                </a:solidFill>
              </a:rPr>
              <a:t>邊緣檢測</a:t>
            </a:r>
            <a:endParaRPr lang="zh-TW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0" name="＞形箭號 19"/>
          <p:cNvSpPr/>
          <p:nvPr/>
        </p:nvSpPr>
        <p:spPr>
          <a:xfrm>
            <a:off x="4506183" y="1686450"/>
            <a:ext cx="1149350" cy="158750"/>
          </a:xfrm>
          <a:prstGeom prst="chevron">
            <a:avLst/>
          </a:prstGeom>
          <a:solidFill>
            <a:srgbClr val="FFF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 smtClean="0">
                <a:solidFill>
                  <a:schemeClr val="bg2">
                    <a:lumMod val="50000"/>
                  </a:schemeClr>
                </a:solidFill>
              </a:rPr>
              <a:t>形態學</a:t>
            </a:r>
            <a:r>
              <a:rPr lang="en-US" altLang="zh-TW" sz="900" b="1" dirty="0" smtClean="0">
                <a:solidFill>
                  <a:schemeClr val="bg2">
                    <a:lumMod val="50000"/>
                  </a:schemeClr>
                </a:solidFill>
              </a:rPr>
              <a:t>Closing</a:t>
            </a:r>
            <a:endParaRPr lang="zh-TW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＞形箭號 20"/>
          <p:cNvSpPr/>
          <p:nvPr/>
        </p:nvSpPr>
        <p:spPr>
          <a:xfrm>
            <a:off x="2426278" y="1672682"/>
            <a:ext cx="971545" cy="162921"/>
          </a:xfrm>
          <a:prstGeom prst="chevron">
            <a:avLst/>
          </a:prstGeom>
          <a:solidFill>
            <a:srgbClr val="FFF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>
                <a:solidFill>
                  <a:schemeClr val="bg2">
                    <a:lumMod val="50000"/>
                  </a:schemeClr>
                </a:solidFill>
              </a:rPr>
              <a:t>二值化</a:t>
            </a:r>
          </a:p>
        </p:txBody>
      </p:sp>
      <p:sp>
        <p:nvSpPr>
          <p:cNvPr id="22" name="＞形箭號 21"/>
          <p:cNvSpPr/>
          <p:nvPr/>
        </p:nvSpPr>
        <p:spPr>
          <a:xfrm>
            <a:off x="5648943" y="1689554"/>
            <a:ext cx="1333605" cy="164570"/>
          </a:xfrm>
          <a:prstGeom prst="chevron">
            <a:avLst/>
          </a:prstGeom>
          <a:solidFill>
            <a:srgbClr val="FFF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 smtClean="0">
                <a:solidFill>
                  <a:schemeClr val="bg2">
                    <a:lumMod val="50000"/>
                  </a:schemeClr>
                </a:solidFill>
              </a:rPr>
              <a:t>最小</a:t>
            </a:r>
            <a:r>
              <a:rPr lang="zh-TW" altLang="en-US" sz="900" b="1" dirty="0">
                <a:solidFill>
                  <a:schemeClr val="bg2">
                    <a:lumMod val="50000"/>
                  </a:schemeClr>
                </a:solidFill>
              </a:rPr>
              <a:t>平方</a:t>
            </a:r>
            <a:r>
              <a:rPr lang="zh-TW" altLang="en-US" sz="900" b="1" dirty="0" smtClean="0">
                <a:solidFill>
                  <a:schemeClr val="bg2">
                    <a:lumMod val="50000"/>
                  </a:schemeClr>
                </a:solidFill>
              </a:rPr>
              <a:t>圓擬</a:t>
            </a:r>
            <a:r>
              <a:rPr lang="zh-TW" altLang="en-US" sz="900" b="1" dirty="0">
                <a:solidFill>
                  <a:schemeClr val="bg2">
                    <a:lumMod val="50000"/>
                  </a:schemeClr>
                </a:solidFill>
              </a:rPr>
              <a:t>合</a:t>
            </a:r>
          </a:p>
        </p:txBody>
      </p:sp>
      <p:sp>
        <p:nvSpPr>
          <p:cNvPr id="23" name="＞形箭號 22"/>
          <p:cNvSpPr/>
          <p:nvPr/>
        </p:nvSpPr>
        <p:spPr>
          <a:xfrm>
            <a:off x="1351031" y="1659735"/>
            <a:ext cx="1095919" cy="189315"/>
          </a:xfrm>
          <a:prstGeom prst="chevron">
            <a:avLst/>
          </a:prstGeom>
          <a:solidFill>
            <a:srgbClr val="FFF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 smtClean="0">
                <a:solidFill>
                  <a:schemeClr val="bg2">
                    <a:lumMod val="50000"/>
                  </a:schemeClr>
                </a:solidFill>
              </a:rPr>
              <a:t>語義分割</a:t>
            </a:r>
            <a:endParaRPr lang="zh-TW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520588" y="1831749"/>
            <a:ext cx="1145028" cy="43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000" b="1" dirty="0" smtClean="0">
                <a:latin typeface="+mn-ea"/>
                <a:ea typeface="+mn-ea"/>
              </a:rPr>
              <a:t>原圖</a:t>
            </a:r>
            <a:r>
              <a:rPr lang="en-US" altLang="zh-TW" sz="1600" b="1" dirty="0">
                <a:latin typeface="+mn-ea"/>
                <a:ea typeface="+mn-ea"/>
              </a:rPr>
              <a:t>	</a:t>
            </a:r>
            <a:endParaRPr lang="zh-TW" altLang="en-US" sz="1600" b="1" dirty="0">
              <a:latin typeface="+mn-ea"/>
              <a:ea typeface="+mn-ea"/>
            </a:endParaRPr>
          </a:p>
        </p:txBody>
      </p:sp>
      <p:sp>
        <p:nvSpPr>
          <p:cNvPr id="25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3014781" y="1809692"/>
            <a:ext cx="1145028" cy="43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000" b="1" dirty="0" smtClean="0">
                <a:latin typeface="+mn-ea"/>
                <a:ea typeface="+mn-ea"/>
              </a:rPr>
              <a:t>二值化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4049363" y="1818724"/>
            <a:ext cx="1145028" cy="43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1000" b="1" dirty="0" smtClean="0">
                <a:latin typeface="+mn-ea"/>
                <a:ea typeface="+mn-ea"/>
              </a:rPr>
              <a:t>Canny</a:t>
            </a:r>
            <a:r>
              <a:rPr lang="zh-TW" altLang="en-US" sz="1000" b="1" dirty="0" smtClean="0">
                <a:latin typeface="+mn-ea"/>
                <a:ea typeface="+mn-ea"/>
              </a:rPr>
              <a:t>邊緣檢測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5281367" y="1819950"/>
            <a:ext cx="1145028" cy="43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1000" b="1" dirty="0" smtClean="0">
                <a:latin typeface="+mn-ea"/>
                <a:ea typeface="+mn-ea"/>
              </a:rPr>
              <a:t>形態學</a:t>
            </a:r>
            <a:r>
              <a:rPr lang="en-US" altLang="zh-TW" sz="1000" b="1" dirty="0" smtClean="0">
                <a:latin typeface="+mn-ea"/>
                <a:ea typeface="+mn-ea"/>
              </a:rPr>
              <a:t>Closing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6619261" y="1822262"/>
            <a:ext cx="1145028" cy="43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000" b="1" dirty="0" smtClean="0">
                <a:latin typeface="+mn-ea"/>
                <a:ea typeface="+mn-ea"/>
              </a:rPr>
              <a:t>最小平方</a:t>
            </a:r>
            <a:r>
              <a:rPr lang="zh-TW" altLang="en-US" sz="1000" b="1" dirty="0">
                <a:latin typeface="+mn-ea"/>
                <a:ea typeface="+mn-ea"/>
              </a:rPr>
              <a:t>圓</a:t>
            </a:r>
            <a:r>
              <a:rPr lang="zh-TW" altLang="en-US" sz="1000" b="1" dirty="0" smtClean="0">
                <a:latin typeface="+mn-ea"/>
                <a:ea typeface="+mn-ea"/>
              </a:rPr>
              <a:t>擬</a:t>
            </a:r>
            <a:r>
              <a:rPr lang="zh-TW" altLang="en-US" sz="1000" b="1" dirty="0">
                <a:latin typeface="+mn-ea"/>
                <a:ea typeface="+mn-ea"/>
              </a:rPr>
              <a:t>合</a:t>
            </a:r>
            <a:r>
              <a:rPr lang="en-US" altLang="zh-TW" sz="1600" b="1" dirty="0">
                <a:latin typeface="+mn-ea"/>
                <a:ea typeface="+mn-ea"/>
              </a:rPr>
              <a:t>	</a:t>
            </a:r>
            <a:endParaRPr lang="zh-TW" altLang="en-US" sz="1600" b="1" dirty="0">
              <a:latin typeface="+mn-ea"/>
              <a:ea typeface="+mn-ea"/>
            </a:endParaRPr>
          </a:p>
        </p:txBody>
      </p:sp>
      <p:sp>
        <p:nvSpPr>
          <p:cNvPr id="29" name="標題 1">
            <a:extLst>
              <a:ext uri="{FF2B5EF4-FFF2-40B4-BE49-F238E27FC236}">
                <a16:creationId xmlns:a16="http://schemas.microsoft.com/office/drawing/2014/main" xmlns="" id="{894B0691-DF90-42D9-C62E-1048420195C6}"/>
              </a:ext>
            </a:extLst>
          </p:cNvPr>
          <p:cNvSpPr txBox="1">
            <a:spLocks/>
          </p:cNvSpPr>
          <p:nvPr/>
        </p:nvSpPr>
        <p:spPr>
          <a:xfrm>
            <a:off x="1701212" y="1811414"/>
            <a:ext cx="1145028" cy="432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1000" b="1" dirty="0">
                <a:latin typeface="+mn-ea"/>
              </a:rPr>
              <a:t>語義分割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  <a:endParaRPr lang="zh-TW" alt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lc="http://schemas.openxmlformats.org/drawingml/2006/lockedCanvas" xmlns="" xmlns:a16="http://schemas.microsoft.com/office/drawing/2014/main" id="{F75A9462-F5EF-DA7B-8DB0-F4628C727C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09" y="2148199"/>
            <a:ext cx="1216311" cy="684175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="" xmlns:a16="http://schemas.microsoft.com/office/drawing/2014/main" id="{899F9FF6-F8A2-31F0-DDC8-4C1DF472A4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092" y="2144551"/>
            <a:ext cx="1217250" cy="684703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lc="http://schemas.openxmlformats.org/drawingml/2006/lockedCanvas" xmlns="" xmlns:a16="http://schemas.microsoft.com/office/drawing/2014/main" id="{42362EB8-7787-3968-A1F7-0F5308748C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867" y="2138280"/>
            <a:ext cx="1231646" cy="692801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="" xmlns:a16="http://schemas.microsoft.com/office/drawing/2014/main" id="{D0102963-A602-4194-44E2-ABE3980367C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045" r="79"/>
          <a:stretch/>
        </p:blipFill>
        <p:spPr>
          <a:xfrm>
            <a:off x="3981688" y="2138280"/>
            <a:ext cx="1240732" cy="695018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="" xmlns:a16="http://schemas.microsoft.com/office/drawing/2014/main" id="{B28AB0AA-27F3-4C56-1D54-B1ADE95AB80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27" t="6767" r="616" b="578"/>
          <a:stretch/>
        </p:blipFill>
        <p:spPr>
          <a:xfrm>
            <a:off x="5255859" y="2148199"/>
            <a:ext cx="1215740" cy="67229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="" xmlns:a16="http://schemas.microsoft.com/office/drawing/2014/main" id="{321C8691-C8A8-B555-A29C-5ED1BA4BDB8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966" t="9272" r="418" b="669"/>
          <a:stretch/>
        </p:blipFill>
        <p:spPr>
          <a:xfrm>
            <a:off x="6530546" y="2138280"/>
            <a:ext cx="1209550" cy="682643"/>
          </a:xfrm>
          <a:prstGeom prst="rect">
            <a:avLst/>
          </a:prstGeom>
        </p:spPr>
      </p:pic>
      <p:grpSp>
        <p:nvGrpSpPr>
          <p:cNvPr id="37" name="群組 36">
            <a:extLst>
              <a:ext uri="{FF2B5EF4-FFF2-40B4-BE49-F238E27FC236}">
                <a16:creationId xmlns:a16="http://schemas.microsoft.com/office/drawing/2014/main" xmlns="" id="{36EB353E-32B6-903F-01B5-D738F3645B43}"/>
              </a:ext>
            </a:extLst>
          </p:cNvPr>
          <p:cNvGrpSpPr/>
          <p:nvPr/>
        </p:nvGrpSpPr>
        <p:grpSpPr>
          <a:xfrm>
            <a:off x="3639038" y="4230810"/>
            <a:ext cx="5262728" cy="571981"/>
            <a:chOff x="3169630" y="5798598"/>
            <a:chExt cx="9026505" cy="1013072"/>
          </a:xfrm>
        </p:grpSpPr>
        <p:pic>
          <p:nvPicPr>
            <p:cNvPr id="38" name="圖片 37">
              <a:extLst>
                <a:ext uri="{FF2B5EF4-FFF2-40B4-BE49-F238E27FC236}">
                  <a16:creationId xmlns:a16="http://schemas.microsoft.com/office/drawing/2014/main" xmlns="" id="{5BFBD558-F1EF-3790-8BA5-EB9DE39AF9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34" r="25344"/>
            <a:stretch/>
          </p:blipFill>
          <p:spPr>
            <a:xfrm>
              <a:off x="3169630" y="5798598"/>
              <a:ext cx="1156905" cy="1011724"/>
            </a:xfrm>
            <a:prstGeom prst="rect">
              <a:avLst/>
            </a:prstGeom>
          </p:spPr>
        </p:pic>
        <p:pic>
          <p:nvPicPr>
            <p:cNvPr id="39" name="圖片 38">
              <a:extLst>
                <a:ext uri="{FF2B5EF4-FFF2-40B4-BE49-F238E27FC236}">
                  <a16:creationId xmlns:a16="http://schemas.microsoft.com/office/drawing/2014/main" xmlns="" id="{49F3A9C5-4249-4A16-38E5-F80BE200AD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521"/>
            <a:stretch/>
          </p:blipFill>
          <p:spPr>
            <a:xfrm>
              <a:off x="4302998" y="5798600"/>
              <a:ext cx="1501470" cy="1011726"/>
            </a:xfrm>
            <a:prstGeom prst="rect">
              <a:avLst/>
            </a:prstGeom>
          </p:spPr>
        </p:pic>
        <p:pic>
          <p:nvPicPr>
            <p:cNvPr id="40" name="圖片 39">
              <a:extLst>
                <a:ext uri="{FF2B5EF4-FFF2-40B4-BE49-F238E27FC236}">
                  <a16:creationId xmlns:a16="http://schemas.microsoft.com/office/drawing/2014/main" xmlns="" id="{20A5F00B-19C9-67B7-A54C-5EAB0787C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8667" y="5798598"/>
              <a:ext cx="1798626" cy="1011728"/>
            </a:xfrm>
            <a:prstGeom prst="rect">
              <a:avLst/>
            </a:prstGeom>
          </p:spPr>
        </p:pic>
        <p:pic>
          <p:nvPicPr>
            <p:cNvPr id="41" name="圖片 40">
              <a:extLst>
                <a:ext uri="{FF2B5EF4-FFF2-40B4-BE49-F238E27FC236}">
                  <a16:creationId xmlns:a16="http://schemas.microsoft.com/office/drawing/2014/main" xmlns="" id="{33DA5F95-F3F1-2DB0-B50D-5592B0735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3333" y="5798598"/>
              <a:ext cx="1798624" cy="1011728"/>
            </a:xfrm>
            <a:prstGeom prst="rect">
              <a:avLst/>
            </a:prstGeom>
          </p:spPr>
        </p:pic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xmlns="" id="{415984B1-3FF8-1BD6-C03E-A756C3F06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1097" y="5798598"/>
              <a:ext cx="1798628" cy="1011728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xmlns="" id="{E01A9DFA-514F-72AB-2C83-A8985B733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7505" y="5799941"/>
              <a:ext cx="1798630" cy="1011729"/>
            </a:xfrm>
            <a:prstGeom prst="rect">
              <a:avLst/>
            </a:prstGeom>
          </p:spPr>
        </p:pic>
      </p:grpSp>
      <p:grpSp>
        <p:nvGrpSpPr>
          <p:cNvPr id="68" name="群組 67"/>
          <p:cNvGrpSpPr/>
          <p:nvPr/>
        </p:nvGrpSpPr>
        <p:grpSpPr>
          <a:xfrm>
            <a:off x="1560940" y="3055200"/>
            <a:ext cx="7244803" cy="483869"/>
            <a:chOff x="1709812" y="3070289"/>
            <a:chExt cx="7244803" cy="4838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/>
                <p:cNvSpPr/>
                <p:nvPr/>
              </p:nvSpPr>
              <p:spPr>
                <a:xfrm>
                  <a:off x="1709812" y="3070289"/>
                  <a:ext cx="7244803" cy="4698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zh-TW" altLang="en-US" sz="1400" b="1" dirty="0" smtClean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自適應口徑量測公式：</a:t>
                  </a:r>
                  <a:r>
                    <a:rPr lang="en-US" altLang="zh-TW" sz="1400" b="1" dirty="0" err="1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arg</a:t>
                  </a:r>
                  <a:r>
                    <a:rPr lang="zh-TW" altLang="en-US" sz="1400" b="1" dirty="0" smtClean="0"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a:t> </a:t>
                  </a:r>
                  <a:r>
                    <a:rPr lang="en-US" altLang="zh-TW" sz="1400" b="1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min</a:t>
                  </a:r>
                  <a:r>
                    <a:rPr lang="zh-TW" altLang="en-US" sz="1400" b="1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zh-TW" altLang="en-US" sz="1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 </m:t>
                          </m:r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1400" b="1" i="1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 </m:t>
                          </m:r>
                          <m:r>
                            <a:rPr lang="en-US" altLang="zh-TW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zh-TW" altLang="en-US" sz="1400" dirty="0" smtClean="0">
                      <a:latin typeface="+mn-ea"/>
                    </a:rPr>
                    <a:t>，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TW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a14:m>
                  <a:r>
                    <a:rPr lang="zh-TW" altLang="en-US" sz="1200" b="1" i="1" dirty="0" smtClean="0"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a:t> </a:t>
                  </a:r>
                  <a:r>
                    <a:rPr lang="en-US" altLang="zh-TW" sz="1200" b="1" i="1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=</a:t>
                  </a:r>
                  <a:r>
                    <a:rPr lang="zh-TW" altLang="en-US" sz="1200" b="1" i="1" dirty="0" smtClean="0"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zh-TW" altLang="en-US" sz="1400" b="1" i="1" dirty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altLang="zh-TW" sz="1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Ø</m:t>
                          </m:r>
                          <m:r>
                            <a:rPr lang="en-US" altLang="zh-TW" sz="1400" b="1" i="1" dirty="0" err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𝒎𝒆𝒂𝒔𝒖𝒓𝒆𝒅</m:t>
                          </m:r>
                        </m:num>
                        <m:den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Ø</m:t>
                          </m:r>
                          <m:r>
                            <a:rPr lang="en-US" altLang="zh-TW" sz="1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zh-TW" sz="1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1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altLang="zh-TW" sz="1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TW" sz="1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</m:oMath>
                  </a14:m>
                  <a:r>
                    <a:rPr lang="zh-TW" altLang="en-US" sz="1400" b="1" dirty="0" smtClean="0">
                      <a:latin typeface="Cambria Math" panose="02040503050406030204" pitchFamily="18" charset="0"/>
                    </a:rPr>
                    <a:t> </a:t>
                  </a:r>
                  <a:r>
                    <a:rPr lang="en-US" altLang="zh-TW" sz="1400" b="1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=</a:t>
                  </a:r>
                  <a:r>
                    <a:rPr lang="zh-TW" altLang="en-US" sz="1400" b="1" dirty="0" smtClean="0">
                      <a:latin typeface="Cambria Math" panose="02040503050406030204" pitchFamily="18" charset="0"/>
                      <a:ea typeface="微軟正黑體" panose="020B0604030504040204" pitchFamily="34" charset="-120"/>
                    </a:rPr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TW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14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nor/>
                            </m:rPr>
                            <a:rPr lang="zh-TW" altLang="en-US" sz="1400" b="1" dirty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．</m:t>
                          </m:r>
                          <m:r>
                            <m:rPr>
                              <m:nor/>
                            </m:rPr>
                            <a:rPr lang="en-US" altLang="zh-TW" sz="14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zh-TW" altLang="en-US" sz="1400" b="1" dirty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TW" altLang="en-US" sz="1400" b="1" dirty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．</m:t>
                          </m:r>
                          <m:r>
                            <m:rPr>
                              <m:nor/>
                            </m:rPr>
                            <a:rPr lang="zh-TW" altLang="en-US" sz="1400" b="1" dirty="0">
                              <a:latin typeface="Cambria Math" panose="02040503050406030204" pitchFamily="18" charset="0"/>
                              <a:ea typeface="微軟正黑體" panose="020B0604030504040204" pitchFamily="34" charset="-12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1400" b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2 </m:t>
                          </m:r>
                        </m:num>
                        <m:den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Ø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𝒔𝒕𝒂𝒏𝒅𝒂𝒓𝒅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den>
                      </m:f>
                    </m:oMath>
                  </a14:m>
                  <a:endParaRPr lang="en-US" altLang="zh-TW" sz="14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矩形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9812" y="3070289"/>
                  <a:ext cx="7244803" cy="469809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l="-25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/>
                <p:cNvSpPr txBox="1"/>
                <p:nvPr/>
              </p:nvSpPr>
              <p:spPr>
                <a:xfrm>
                  <a:off x="3446056" y="3338714"/>
                  <a:ext cx="828560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Ø</m:t>
                        </m:r>
                        <m:r>
                          <a:rPr lang="en-US" altLang="zh-TW" sz="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𝒔𝒕𝒂𝒏𝒅𝒂𝒓𝒅</m:t>
                        </m:r>
                        <m:r>
                          <a:rPr lang="en-US" altLang="zh-TW" sz="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oMath>
                    </m:oMathPara>
                  </a14:m>
                  <a:endParaRPr lang="zh-TW" altLang="en-US" sz="800" dirty="0"/>
                </a:p>
              </p:txBody>
            </p:sp>
          </mc:Choice>
          <mc:Fallback xmlns="">
            <p:sp>
              <p:nvSpPr>
                <p:cNvPr id="46" name="文字方塊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6056" y="3338714"/>
                  <a:ext cx="828560" cy="215444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7098608" y="3212451"/>
                <a:ext cx="150393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Ø</m:t>
                    </m:r>
                    <m:r>
                      <a:rPr lang="en-US" altLang="zh-TW" sz="1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𝒔𝒕𝒂𝒏𝒅𝒂𝒓𝒅</m:t>
                    </m:r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：標準口徑</a:t>
                </a:r>
                <a:endParaRPr lang="zh-TW" altLang="en-US" sz="1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608" y="3212451"/>
                <a:ext cx="1503938" cy="246221"/>
              </a:xfrm>
              <a:prstGeom prst="rect">
                <a:avLst/>
              </a:prstGeom>
              <a:blipFill rotWithShape="0">
                <a:blip r:embed="rId1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7103246" y="3380640"/>
                <a:ext cx="1547218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Ø</m:t>
                    </m:r>
                    <m:r>
                      <a:rPr lang="en-US" altLang="zh-TW" sz="1000" b="1" i="1" dirty="0" err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𝒎𝒆𝒂𝒔𝒖𝒓𝒆𝒅</m:t>
                    </m:r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：量測口徑</a:t>
                </a:r>
                <a:endParaRPr lang="zh-TW" altLang="en-US" sz="1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246" y="3380640"/>
                <a:ext cx="1547218" cy="246221"/>
              </a:xfrm>
              <a:prstGeom prst="rect">
                <a:avLst/>
              </a:prstGeom>
              <a:blipFill rotWithShape="0">
                <a:blip r:embed="rId18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7121495" y="3562805"/>
                <a:ext cx="638316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：半徑</a:t>
                </a:r>
                <a:endParaRPr lang="zh-TW" altLang="en-US" sz="1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495" y="3562805"/>
                <a:ext cx="638316" cy="246221"/>
              </a:xfrm>
              <a:prstGeom prst="rect">
                <a:avLst/>
              </a:prstGeom>
              <a:blipFill rotWithShape="0">
                <a:blip r:embed="rId19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7121495" y="3727678"/>
                <a:ext cx="1542410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10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：像素長度</a:t>
                </a:r>
                <a:r>
                  <a:rPr lang="en-US" altLang="zh-TW" sz="1000" b="1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(mm/pixel)</a:t>
                </a:r>
                <a:endParaRPr lang="zh-TW" altLang="en-US" sz="10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495" y="3727678"/>
                <a:ext cx="1542410" cy="246221"/>
              </a:xfrm>
              <a:prstGeom prst="rect">
                <a:avLst/>
              </a:prstGeom>
              <a:blipFill rotWithShape="0">
                <a:blip r:embed="rId20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50"/>
          <p:cNvSpPr txBox="1"/>
          <p:nvPr/>
        </p:nvSpPr>
        <p:spPr>
          <a:xfrm>
            <a:off x="3538073" y="3831733"/>
            <a:ext cx="2364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標準口徑示意，根據不同口徑進行量測</a:t>
            </a:r>
            <a:endParaRPr lang="zh-TW" altLang="en-US" sz="10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3710360" y="3994353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0.17mm</a:t>
            </a:r>
            <a:endParaRPr lang="zh-TW" altLang="en-US" sz="10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4447398" y="4005000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0.20mm</a:t>
            </a:r>
            <a:endParaRPr lang="zh-TW" altLang="en-US" sz="1000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5302128" y="4004999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0.25mm</a:t>
            </a:r>
            <a:endParaRPr lang="zh-TW" altLang="en-US" sz="1000" dirty="0"/>
          </a:p>
        </p:txBody>
      </p:sp>
      <p:sp>
        <p:nvSpPr>
          <p:cNvPr id="55" name="文字方塊 54"/>
          <p:cNvSpPr txBox="1"/>
          <p:nvPr/>
        </p:nvSpPr>
        <p:spPr>
          <a:xfrm>
            <a:off x="6245245" y="4001694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0.30mm</a:t>
            </a:r>
            <a:endParaRPr lang="zh-TW" altLang="en-US" sz="1000" dirty="0"/>
          </a:p>
        </p:txBody>
      </p:sp>
      <p:sp>
        <p:nvSpPr>
          <p:cNvPr id="56" name="文字方塊 55"/>
          <p:cNvSpPr txBox="1"/>
          <p:nvPr/>
        </p:nvSpPr>
        <p:spPr>
          <a:xfrm>
            <a:off x="7105408" y="4001693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0.35mm</a:t>
            </a:r>
            <a:endParaRPr lang="zh-TW" altLang="en-US" sz="10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7989322" y="3988673"/>
            <a:ext cx="644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smtClean="0"/>
              <a:t>0.40mm</a:t>
            </a:r>
            <a:endParaRPr lang="zh-TW" altLang="en-US" sz="1000" dirty="0"/>
          </a:p>
        </p:txBody>
      </p:sp>
      <p:sp>
        <p:nvSpPr>
          <p:cNvPr id="58" name="＞形箭號 57"/>
          <p:cNvSpPr/>
          <p:nvPr/>
        </p:nvSpPr>
        <p:spPr>
          <a:xfrm>
            <a:off x="6982548" y="1688795"/>
            <a:ext cx="1230875" cy="160003"/>
          </a:xfrm>
          <a:prstGeom prst="chevron">
            <a:avLst/>
          </a:prstGeom>
          <a:solidFill>
            <a:srgbClr val="FFF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 smtClean="0">
                <a:solidFill>
                  <a:schemeClr val="bg2">
                    <a:lumMod val="50000"/>
                  </a:schemeClr>
                </a:solidFill>
              </a:rPr>
              <a:t>口徑量測演算法</a:t>
            </a:r>
            <a:endParaRPr lang="zh-TW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矩形 63"/>
              <p:cNvSpPr/>
              <p:nvPr/>
            </p:nvSpPr>
            <p:spPr>
              <a:xfrm>
                <a:off x="1570083" y="3922115"/>
                <a:ext cx="196799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TW" altLang="en-US" sz="1000" i="1" dirty="0" smtClean="0"/>
                  <a:t>P</a:t>
                </a:r>
                <a:r>
                  <a:rPr lang="zh-TW" altLang="en-US" sz="1000" dirty="0" smtClean="0"/>
                  <a:t>：max(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000" i="1" dirty="0" smtClean="0"/>
                  <a:t>−</a:t>
                </a:r>
                <a:r>
                  <a:rPr lang="en-US" altLang="zh-TW" sz="1000" i="1" dirty="0"/>
                  <a:t>R</a:t>
                </a:r>
                <a:r>
                  <a:rPr lang="zh-TW" altLang="en-US" sz="1000" dirty="0" smtClean="0"/>
                  <a:t>)：</a:t>
                </a:r>
                <a:r>
                  <a:rPr lang="zh-TW" altLang="en-US" sz="1000" dirty="0"/>
                  <a:t>點距離圓的最大波峰</a:t>
                </a:r>
              </a:p>
              <a:p>
                <a:r>
                  <a:rPr lang="zh-TW" altLang="en-US" sz="1000" i="1" dirty="0" smtClean="0"/>
                  <a:t>V</a:t>
                </a:r>
                <a:r>
                  <a:rPr lang="zh-TW" altLang="en-US" sz="1000" dirty="0" smtClean="0"/>
                  <a:t>：</a:t>
                </a:r>
                <a:r>
                  <a:rPr lang="zh-TW" altLang="en-US" sz="1000" i="1" dirty="0" smtClean="0"/>
                  <a:t>−</a:t>
                </a:r>
                <a:r>
                  <a:rPr lang="zh-TW" altLang="en-US" sz="1000" dirty="0" smtClean="0"/>
                  <a:t>min(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1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sz="1000" i="1" dirty="0" smtClean="0"/>
                  <a:t>−</a:t>
                </a:r>
                <a:r>
                  <a:rPr lang="en-US" altLang="zh-TW" sz="1000" i="1" dirty="0" smtClean="0"/>
                  <a:t>R</a:t>
                </a:r>
                <a:r>
                  <a:rPr lang="zh-TW" altLang="en-US" sz="1000" dirty="0" smtClean="0"/>
                  <a:t>)：</a:t>
                </a:r>
                <a:r>
                  <a:rPr lang="zh-TW" altLang="en-US" sz="1000" dirty="0"/>
                  <a:t>點距離圓的</a:t>
                </a:r>
                <a:r>
                  <a:rPr lang="zh-TW" altLang="en-US" sz="1000" dirty="0" smtClean="0"/>
                  <a:t>最</a:t>
                </a:r>
                <a:r>
                  <a:rPr lang="zh-TW" altLang="en-US" sz="1000" dirty="0"/>
                  <a:t>大</a:t>
                </a:r>
                <a:r>
                  <a:rPr lang="zh-TW" altLang="en-US" sz="1000" dirty="0" smtClean="0"/>
                  <a:t>波谷</a:t>
                </a:r>
                <a:r>
                  <a:rPr lang="en-US" altLang="zh-TW" sz="1000" dirty="0" smtClean="0"/>
                  <a:t>(</a:t>
                </a:r>
                <a:r>
                  <a:rPr lang="zh-TW" altLang="en-US" sz="1000" dirty="0" smtClean="0"/>
                  <a:t>取負號使其為正值</a:t>
                </a:r>
                <a:r>
                  <a:rPr lang="en-US" altLang="zh-TW" sz="1000" dirty="0" smtClean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0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TW" sz="1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zh-TW" altLang="en-US" sz="1000" i="1" smtClean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zh-TW" altLang="en-US" sz="1000" dirty="0" smtClean="0"/>
                  <a:t>每個點到圓心的距離</a:t>
                </a:r>
                <a:endParaRPr lang="en-US" altLang="zh-TW" sz="1000" dirty="0" smtClean="0"/>
              </a:p>
              <a:p>
                <a:r>
                  <a:rPr lang="en-US" altLang="zh-TW" sz="1000" i="1" dirty="0"/>
                  <a:t>R</a:t>
                </a:r>
                <a:r>
                  <a:rPr lang="zh-TW" altLang="en-US" sz="1000" dirty="0" smtClean="0"/>
                  <a:t>：半徑</a:t>
                </a:r>
                <a:endParaRPr lang="zh-TW" altLang="en-US" sz="1000" dirty="0"/>
              </a:p>
            </p:txBody>
          </p:sp>
        </mc:Choice>
        <mc:Fallback xmlns="">
          <p:sp>
            <p:nvSpPr>
              <p:cNvPr id="64" name="矩形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0083" y="3922115"/>
                <a:ext cx="1967990" cy="1015663"/>
              </a:xfrm>
              <a:prstGeom prst="rect">
                <a:avLst/>
              </a:prstGeom>
              <a:blipFill rotWithShape="0">
                <a:blip r:embed="rId21"/>
                <a:stretch>
                  <a:fillRect b="-2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/>
              <p:cNvSpPr/>
              <p:nvPr/>
            </p:nvSpPr>
            <p:spPr>
              <a:xfrm>
                <a:off x="7101046" y="3040820"/>
                <a:ext cx="1671163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TW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TW" altLang="en-US" sz="1000" dirty="0" smtClean="0">
                    <a:latin typeface="Cambria Math" panose="02040503050406030204" pitchFamily="18" charset="0"/>
                  </a:rPr>
                  <a:t>：第 </a:t>
                </a:r>
                <a:r>
                  <a:rPr lang="en-US" altLang="zh-TW" sz="1000" b="1" dirty="0" err="1" smtClean="0">
                    <a:latin typeface="Cambria Math" panose="02040503050406030204" pitchFamily="18" charset="0"/>
                  </a:rPr>
                  <a:t>i</a:t>
                </a:r>
                <a:r>
                  <a:rPr lang="zh-TW" altLang="en-US" sz="1000" b="1" dirty="0" smtClean="0">
                    <a:latin typeface="Cambria Math" panose="02040503050406030204" pitchFamily="18" charset="0"/>
                  </a:rPr>
                  <a:t> </a:t>
                </a:r>
                <a:r>
                  <a:rPr lang="zh-TW" altLang="en-US" sz="1000" dirty="0" smtClean="0">
                    <a:latin typeface="Cambria Math" panose="02040503050406030204" pitchFamily="18" charset="0"/>
                  </a:rPr>
                  <a:t>個標準口徑比例尺</a:t>
                </a:r>
                <a:endParaRPr lang="zh-TW" altLang="en-US" sz="1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" name="矩形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046" y="3040820"/>
                <a:ext cx="1671163" cy="246221"/>
              </a:xfrm>
              <a:prstGeom prst="rect">
                <a:avLst/>
              </a:prstGeom>
              <a:blipFill rotWithShape="0">
                <a:blip r:embed="rId22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字方塊 66"/>
          <p:cNvSpPr txBox="1"/>
          <p:nvPr/>
        </p:nvSpPr>
        <p:spPr>
          <a:xfrm>
            <a:off x="93944" y="1111296"/>
            <a:ext cx="5808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自適應口徑量測：</a:t>
            </a:r>
            <a:r>
              <a:rPr lang="zh-TW" altLang="en-US" sz="1400" dirty="0" smtClean="0"/>
              <a:t>基於</a:t>
            </a:r>
            <a:r>
              <a:rPr lang="en-US" altLang="zh-TW" sz="1400" dirty="0" smtClean="0"/>
              <a:t>AI</a:t>
            </a:r>
            <a:r>
              <a:rPr lang="zh-TW" altLang="en-US" sz="1400" dirty="0" smtClean="0">
                <a:solidFill>
                  <a:srgbClr val="FF0000"/>
                </a:solidFill>
              </a:rPr>
              <a:t>語義</a:t>
            </a:r>
            <a:r>
              <a:rPr lang="zh-TW" altLang="en-US" sz="1400" dirty="0">
                <a:solidFill>
                  <a:srgbClr val="FF0000"/>
                </a:solidFill>
              </a:rPr>
              <a:t>分割</a:t>
            </a:r>
            <a:r>
              <a:rPr lang="zh-TW" altLang="en-US" sz="1400" dirty="0"/>
              <a:t>與</a:t>
            </a:r>
            <a:r>
              <a:rPr lang="zh-TW" altLang="en-US" sz="1400" dirty="0">
                <a:solidFill>
                  <a:srgbClr val="FF0000"/>
                </a:solidFill>
              </a:rPr>
              <a:t>最小平方圓擬合</a:t>
            </a:r>
            <a:r>
              <a:rPr lang="zh-TW" altLang="en-US" sz="1400" dirty="0"/>
              <a:t>的口徑量測</a:t>
            </a:r>
            <a:r>
              <a:rPr lang="zh-TW" altLang="en-US" sz="1400" dirty="0" smtClean="0"/>
              <a:t>方法</a:t>
            </a:r>
            <a:endParaRPr lang="en-US" altLang="zh-TW" sz="1400" dirty="0" smtClean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zh-TW" altLang="en-US" sz="1400" dirty="0"/>
          </a:p>
        </p:txBody>
      </p:sp>
      <p:grpSp>
        <p:nvGrpSpPr>
          <p:cNvPr id="102" name="群組 101"/>
          <p:cNvGrpSpPr/>
          <p:nvPr/>
        </p:nvGrpSpPr>
        <p:grpSpPr>
          <a:xfrm>
            <a:off x="328615" y="2994496"/>
            <a:ext cx="999266" cy="1040222"/>
            <a:chOff x="887690" y="996019"/>
            <a:chExt cx="3476605" cy="3619097"/>
          </a:xfrm>
        </p:grpSpPr>
        <p:sp>
          <p:nvSpPr>
            <p:cNvPr id="80" name="橢圓 79"/>
            <p:cNvSpPr/>
            <p:nvPr/>
          </p:nvSpPr>
          <p:spPr>
            <a:xfrm>
              <a:off x="887690" y="996019"/>
              <a:ext cx="3476605" cy="3619097"/>
            </a:xfrm>
            <a:prstGeom prst="ellipse">
              <a:avLst/>
            </a:prstGeom>
            <a:blipFill>
              <a:blip r:embed="rId2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TW" altLang="en-US" dirty="0"/>
            </a:p>
          </p:txBody>
        </p:sp>
        <p:cxnSp>
          <p:nvCxnSpPr>
            <p:cNvPr id="92" name="直線單箭頭接點 91"/>
            <p:cNvCxnSpPr/>
            <p:nvPr/>
          </p:nvCxnSpPr>
          <p:spPr>
            <a:xfrm>
              <a:off x="998461" y="2344904"/>
              <a:ext cx="644631" cy="239294"/>
            </a:xfrm>
            <a:prstGeom prst="straightConnector1">
              <a:avLst/>
            </a:prstGeom>
            <a:ln>
              <a:headEnd type="triangle" w="sm" len="sm"/>
              <a:tailEnd type="triangle" w="sm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1" name="文字方塊 100"/>
          <p:cNvSpPr txBox="1"/>
          <p:nvPr/>
        </p:nvSpPr>
        <p:spPr>
          <a:xfrm>
            <a:off x="-13349" y="3276549"/>
            <a:ext cx="43794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i="1" dirty="0" smtClean="0"/>
              <a:t>P </a:t>
            </a:r>
            <a:r>
              <a:rPr lang="en-US" altLang="zh-TW" sz="800" dirty="0" smtClean="0"/>
              <a:t>+</a:t>
            </a:r>
            <a:r>
              <a:rPr lang="en-US" altLang="zh-TW" sz="800" i="1" dirty="0" smtClean="0"/>
              <a:t> V</a:t>
            </a:r>
            <a:endParaRPr lang="zh-TW" altLang="en-US" sz="800" i="1" dirty="0"/>
          </a:p>
        </p:txBody>
      </p:sp>
      <p:sp>
        <p:nvSpPr>
          <p:cNvPr id="103" name="＞形箭號 102"/>
          <p:cNvSpPr/>
          <p:nvPr/>
        </p:nvSpPr>
        <p:spPr>
          <a:xfrm>
            <a:off x="285781" y="1659484"/>
            <a:ext cx="1095919" cy="189315"/>
          </a:xfrm>
          <a:prstGeom prst="chevron">
            <a:avLst/>
          </a:prstGeom>
          <a:solidFill>
            <a:srgbClr val="FFF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 smtClean="0">
                <a:solidFill>
                  <a:schemeClr val="bg2">
                    <a:lumMod val="50000"/>
                  </a:schemeClr>
                </a:solidFill>
              </a:rPr>
              <a:t>原圖</a:t>
            </a:r>
            <a:endParaRPr lang="zh-TW" altLang="en-US" sz="9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16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2" t="7127" r="58607" b="7549"/>
          <a:stretch/>
        </p:blipFill>
        <p:spPr>
          <a:xfrm>
            <a:off x="710545" y="1440866"/>
            <a:ext cx="2525725" cy="3248025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5" r="24211"/>
          <a:stretch/>
        </p:blipFill>
        <p:spPr>
          <a:xfrm>
            <a:off x="3631265" y="2661121"/>
            <a:ext cx="2110442" cy="202777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8" r="10967"/>
          <a:stretch/>
        </p:blipFill>
        <p:spPr>
          <a:xfrm>
            <a:off x="6019800" y="2661121"/>
            <a:ext cx="2950555" cy="2027770"/>
          </a:xfrm>
          <a:prstGeom prst="rect">
            <a:avLst/>
          </a:prstGeom>
        </p:spPr>
      </p:pic>
      <p:grpSp>
        <p:nvGrpSpPr>
          <p:cNvPr id="10" name="群組 9"/>
          <p:cNvGrpSpPr/>
          <p:nvPr/>
        </p:nvGrpSpPr>
        <p:grpSpPr>
          <a:xfrm flipV="1">
            <a:off x="4613977" y="2129032"/>
            <a:ext cx="163275" cy="339204"/>
            <a:chOff x="4506838" y="1901723"/>
            <a:chExt cx="163275" cy="339204"/>
          </a:xfrm>
        </p:grpSpPr>
        <p:sp>
          <p:nvSpPr>
            <p:cNvPr id="8" name="梯形 7"/>
            <p:cNvSpPr/>
            <p:nvPr/>
          </p:nvSpPr>
          <p:spPr>
            <a:xfrm rot="10800000">
              <a:off x="4506838" y="1901723"/>
              <a:ext cx="163275" cy="206083"/>
            </a:xfrm>
            <a:prstGeom prst="trapezoid">
              <a:avLst>
                <a:gd name="adj" fmla="val 13333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4563107" y="2109348"/>
              <a:ext cx="55320" cy="13157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7332776" y="2047657"/>
            <a:ext cx="163275" cy="339204"/>
            <a:chOff x="4506838" y="1901723"/>
            <a:chExt cx="163275" cy="339204"/>
          </a:xfrm>
        </p:grpSpPr>
        <p:sp>
          <p:nvSpPr>
            <p:cNvPr id="12" name="梯形 11"/>
            <p:cNvSpPr/>
            <p:nvPr/>
          </p:nvSpPr>
          <p:spPr>
            <a:xfrm rot="10800000">
              <a:off x="4506838" y="1901723"/>
              <a:ext cx="163275" cy="206083"/>
            </a:xfrm>
            <a:prstGeom prst="trapezoid">
              <a:avLst>
                <a:gd name="adj" fmla="val 13333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4563107" y="2109348"/>
              <a:ext cx="55320" cy="131579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4" name="圖形 21" descr="顯微鏡 以實心填滿">
            <a:extLst>
              <a:ext uri="{FF2B5EF4-FFF2-40B4-BE49-F238E27FC236}">
                <a16:creationId xmlns="" xmlns:a16="http://schemas.microsoft.com/office/drawing/2014/main" id="{789246AD-3B17-2D47-D89C-73DA867E82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43137" y="1090167"/>
            <a:ext cx="707680" cy="574538"/>
          </a:xfrm>
          <a:prstGeom prst="rect">
            <a:avLst/>
          </a:prstGeom>
        </p:spPr>
      </p:pic>
      <p:pic>
        <p:nvPicPr>
          <p:cNvPr id="15" name="圖形 21" descr="顯微鏡 以實心填滿">
            <a:extLst>
              <a:ext uri="{FF2B5EF4-FFF2-40B4-BE49-F238E27FC236}">
                <a16:creationId xmlns="" xmlns:a16="http://schemas.microsoft.com/office/drawing/2014/main" id="{789246AD-3B17-2D47-D89C-73DA867E82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27457" y="1121569"/>
            <a:ext cx="707680" cy="574538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286879" y="2143605"/>
            <a:ext cx="1023761" cy="553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有</a:t>
            </a:r>
            <a:r>
              <a:rPr lang="en-US" altLang="zh-TW" sz="1000" dirty="0" smtClean="0"/>
              <a:t>2</a:t>
            </a:r>
            <a:r>
              <a:rPr lang="zh-TW" altLang="en-US" sz="1000" dirty="0" smtClean="0"/>
              <a:t>種檢測模式</a:t>
            </a:r>
            <a:endParaRPr lang="en-US" altLang="zh-TW" sz="1000" dirty="0" smtClean="0"/>
          </a:p>
          <a:p>
            <a:r>
              <a:rPr lang="en-US" altLang="zh-TW" sz="1000" dirty="0" smtClean="0"/>
              <a:t>1.</a:t>
            </a:r>
            <a:r>
              <a:rPr lang="zh-TW" altLang="en-US" sz="1000" dirty="0" smtClean="0"/>
              <a:t> 外觀檢測</a:t>
            </a:r>
            <a:endParaRPr lang="en-US" altLang="zh-TW" sz="1000" dirty="0" smtClean="0"/>
          </a:p>
          <a:p>
            <a:r>
              <a:rPr lang="en-US" altLang="zh-TW" sz="1000" dirty="0" smtClean="0"/>
              <a:t>2.</a:t>
            </a:r>
            <a:r>
              <a:rPr lang="zh-TW" altLang="en-US" sz="1000" dirty="0"/>
              <a:t> </a:t>
            </a:r>
            <a:r>
              <a:rPr lang="zh-TW" altLang="en-US" sz="1000" dirty="0" smtClean="0"/>
              <a:t>內部檢測</a:t>
            </a:r>
            <a:endParaRPr lang="zh-TW" altLang="en-US" sz="10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2210657" y="4294831"/>
            <a:ext cx="725082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一鍵啟動</a:t>
            </a:r>
            <a:endParaRPr lang="zh-TW" altLang="en-US" sz="1000" dirty="0"/>
          </a:p>
        </p:txBody>
      </p:sp>
      <p:cxnSp>
        <p:nvCxnSpPr>
          <p:cNvPr id="19" name="直線單箭頭接點 18"/>
          <p:cNvCxnSpPr/>
          <p:nvPr/>
        </p:nvCxnSpPr>
        <p:spPr>
          <a:xfrm>
            <a:off x="4696979" y="1794671"/>
            <a:ext cx="2291" cy="303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3535617" y="582337"/>
            <a:ext cx="23227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外觀檢測：從</a:t>
            </a:r>
            <a:r>
              <a:rPr lang="zh-TW" altLang="en-US" dirty="0"/>
              <a:t>噴嘴正面</a:t>
            </a:r>
            <a:r>
              <a:rPr lang="zh-TW" altLang="en-US" dirty="0" smtClean="0"/>
              <a:t>拍攝</a:t>
            </a:r>
            <a:r>
              <a:rPr lang="zh-TW" altLang="en-US" dirty="0" smtClean="0">
                <a:solidFill>
                  <a:srgbClr val="FF0000"/>
                </a:solidFill>
              </a:rPr>
              <a:t>外觀</a:t>
            </a:r>
            <a:r>
              <a:rPr lang="zh-TW" altLang="en-US" dirty="0" smtClean="0"/>
              <a:t>狀況</a:t>
            </a:r>
            <a:r>
              <a:rPr lang="en-US" altLang="zh-TW" dirty="0" smtClean="0"/>
              <a:t>+</a:t>
            </a:r>
            <a:r>
              <a:rPr lang="zh-TW" altLang="en-US" dirty="0">
                <a:solidFill>
                  <a:srgbClr val="FF0000"/>
                </a:solidFill>
              </a:rPr>
              <a:t>量測</a:t>
            </a:r>
            <a:r>
              <a:rPr lang="zh-TW" altLang="en-US" dirty="0" smtClean="0">
                <a:solidFill>
                  <a:srgbClr val="FF0000"/>
                </a:solidFill>
              </a:rPr>
              <a:t>口徑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245833" y="582336"/>
            <a:ext cx="229746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內部檢測：</a:t>
            </a:r>
            <a:r>
              <a:rPr lang="zh-TW" altLang="en-US" dirty="0"/>
              <a:t>從</a:t>
            </a:r>
            <a:r>
              <a:rPr lang="zh-TW" altLang="en-US" dirty="0" smtClean="0"/>
              <a:t>噴嘴背面拍攝裡面</a:t>
            </a:r>
            <a:r>
              <a:rPr lang="zh-TW" altLang="en-US" dirty="0" smtClean="0">
                <a:solidFill>
                  <a:srgbClr val="FF0000"/>
                </a:solidFill>
              </a:rPr>
              <a:t>內部</a:t>
            </a:r>
            <a:r>
              <a:rPr lang="zh-TW" altLang="en-US" dirty="0" smtClean="0"/>
              <a:t>狀況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498339" y="946578"/>
            <a:ext cx="995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>
                <a:latin typeface="+mn-ea"/>
              </a:rPr>
              <a:t>UI</a:t>
            </a:r>
            <a:r>
              <a:rPr lang="zh-TW" altLang="en-US" dirty="0" smtClean="0">
                <a:latin typeface="+mn-ea"/>
              </a:rPr>
              <a:t>介面</a:t>
            </a:r>
            <a:endParaRPr lang="en-US" altLang="zh-TW" dirty="0" smtClean="0">
              <a:latin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297670" y="2354220"/>
            <a:ext cx="795890" cy="1327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4482278" y="1670740"/>
            <a:ext cx="408417" cy="1206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4492768" y="2510551"/>
            <a:ext cx="408417" cy="1206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4848335" y="160797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正光源</a:t>
            </a:r>
            <a:endParaRPr lang="zh-TW" altLang="en-US" sz="10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846005" y="244170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背光源</a:t>
            </a:r>
            <a:endParaRPr lang="zh-TW" altLang="en-US" sz="10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048224" y="2273124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治具</a:t>
            </a:r>
            <a:endParaRPr lang="zh-TW" altLang="en-US" sz="10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846005" y="132244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顯微鏡</a:t>
            </a:r>
            <a:endParaRPr lang="zh-TW" altLang="en-US" sz="10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4756589" y="210437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噴嘴</a:t>
            </a:r>
            <a:endParaRPr lang="zh-TW" altLang="en-US" sz="1000" dirty="0"/>
          </a:p>
        </p:txBody>
      </p:sp>
      <p:cxnSp>
        <p:nvCxnSpPr>
          <p:cNvPr id="36" name="直線單箭頭接點 35"/>
          <p:cNvCxnSpPr/>
          <p:nvPr/>
        </p:nvCxnSpPr>
        <p:spPr>
          <a:xfrm>
            <a:off x="7412122" y="1741855"/>
            <a:ext cx="2291" cy="303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7001593" y="2031392"/>
            <a:ext cx="795890" cy="1327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7206271" y="2451565"/>
            <a:ext cx="408417" cy="1206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文字方塊 40"/>
          <p:cNvSpPr txBox="1"/>
          <p:nvPr/>
        </p:nvSpPr>
        <p:spPr>
          <a:xfrm>
            <a:off x="7573933" y="23890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背光源</a:t>
            </a:r>
            <a:endParaRPr lang="zh-TW" altLang="en-US" sz="10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781984" y="197964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治具</a:t>
            </a:r>
            <a:endParaRPr lang="zh-TW" altLang="en-US" sz="1000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7460107" y="217505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噴嘴</a:t>
            </a:r>
            <a:endParaRPr lang="zh-TW" altLang="en-US" sz="1000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7589218" y="128572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顯微鏡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3153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/>
        </p:nvSpPr>
        <p:spPr>
          <a:xfrm>
            <a:off x="236385" y="1027932"/>
            <a:ext cx="83482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sz="1400" dirty="0" smtClean="0">
                <a:solidFill>
                  <a:prstClr val="black"/>
                </a:solidFill>
              </a:rPr>
              <a:t>噴嘴外觀</a:t>
            </a:r>
            <a:r>
              <a:rPr lang="en-US" altLang="zh-TW" sz="1400" dirty="0" smtClean="0">
                <a:solidFill>
                  <a:prstClr val="black"/>
                </a:solidFill>
              </a:rPr>
              <a:t>AI</a:t>
            </a:r>
            <a:r>
              <a:rPr lang="zh-TW" altLang="en-US" sz="1400" dirty="0" smtClean="0">
                <a:solidFill>
                  <a:prstClr val="black"/>
                </a:solidFill>
              </a:rPr>
              <a:t>缺陷檢測：使用</a:t>
            </a:r>
            <a:r>
              <a:rPr lang="zh-TW" altLang="en-US" sz="1400" dirty="0" smtClean="0">
                <a:solidFill>
                  <a:srgbClr val="FF0000"/>
                </a:solidFill>
              </a:rPr>
              <a:t>物件偵測</a:t>
            </a:r>
            <a:r>
              <a:rPr lang="zh-TW" altLang="en-US" sz="1400" dirty="0" smtClean="0">
                <a:solidFill>
                  <a:prstClr val="black"/>
                </a:solidFill>
              </a:rPr>
              <a:t>方</a:t>
            </a:r>
            <a:r>
              <a:rPr lang="zh-TW" altLang="en-US" sz="1400" dirty="0">
                <a:solidFill>
                  <a:prstClr val="black"/>
                </a:solidFill>
              </a:rPr>
              <a:t>法</a:t>
            </a:r>
            <a:r>
              <a:rPr lang="zh-TW" altLang="en-US" sz="1400" dirty="0" smtClean="0">
                <a:solidFill>
                  <a:prstClr val="black"/>
                </a:solidFill>
              </a:rPr>
              <a:t>對噴嘴內圈</a:t>
            </a:r>
            <a:r>
              <a:rPr lang="zh-TW" altLang="en-US" sz="1400" dirty="0" smtClean="0"/>
              <a:t>髒污</a:t>
            </a:r>
            <a:r>
              <a:rPr lang="zh-TW" altLang="en-US" sz="1400" dirty="0"/>
              <a:t>、</a:t>
            </a:r>
            <a:r>
              <a:rPr lang="zh-TW" altLang="en-US" sz="1400" dirty="0" smtClean="0"/>
              <a:t>堵孔和外圈磨損進行辨識，皆能成功檢測出缺陷</a:t>
            </a:r>
            <a:r>
              <a:rPr lang="zh-TW" altLang="en-US" sz="1400" dirty="0" smtClean="0">
                <a:solidFill>
                  <a:prstClr val="black"/>
                </a:solidFill>
              </a:rPr>
              <a:t>     </a:t>
            </a:r>
            <a:r>
              <a:rPr kumimoji="0" lang="en-US" altLang="zh-TW" sz="1400" dirty="0">
                <a:solidFill>
                  <a:srgbClr val="FF0000"/>
                </a:solidFill>
              </a:rPr>
              <a:t>	</a:t>
            </a:r>
          </a:p>
        </p:txBody>
      </p:sp>
      <p:sp>
        <p:nvSpPr>
          <p:cNvPr id="43" name="圓角矩形 42"/>
          <p:cNvSpPr/>
          <p:nvPr/>
        </p:nvSpPr>
        <p:spPr>
          <a:xfrm>
            <a:off x="4403504" y="3092756"/>
            <a:ext cx="3125399" cy="1644452"/>
          </a:xfrm>
          <a:prstGeom prst="roundRect">
            <a:avLst>
              <a:gd name="adj" fmla="val 5807"/>
            </a:avLst>
          </a:prstGeom>
          <a:solidFill>
            <a:srgbClr val="FFC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1" name="Picture 3" descr="20240801162535.338_h1.07v0.602mm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98" t="26317" r="40766" b="12083"/>
          <a:stretch/>
        </p:blipFill>
        <p:spPr bwMode="auto">
          <a:xfrm>
            <a:off x="6013611" y="3280034"/>
            <a:ext cx="1418611" cy="131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矩形 44"/>
          <p:cNvSpPr/>
          <p:nvPr/>
        </p:nvSpPr>
        <p:spPr>
          <a:xfrm>
            <a:off x="2373307" y="1839804"/>
            <a:ext cx="1971032" cy="11499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接點 45"/>
          <p:cNvCxnSpPr/>
          <p:nvPr/>
        </p:nvCxnSpPr>
        <p:spPr>
          <a:xfrm>
            <a:off x="3235225" y="2036010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/>
          <p:nvPr/>
        </p:nvCxnSpPr>
        <p:spPr>
          <a:xfrm>
            <a:off x="3816353" y="2036010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/>
          <p:cNvSpPr txBox="1"/>
          <p:nvPr/>
        </p:nvSpPr>
        <p:spPr>
          <a:xfrm>
            <a:off x="2348008" y="2419645"/>
            <a:ext cx="304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預測</a:t>
            </a:r>
          </a:p>
        </p:txBody>
      </p:sp>
      <p:sp>
        <p:nvSpPr>
          <p:cNvPr id="49" name="文字方塊 48"/>
          <p:cNvSpPr txBox="1"/>
          <p:nvPr/>
        </p:nvSpPr>
        <p:spPr>
          <a:xfrm>
            <a:off x="3612383" y="1820566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實際</a:t>
            </a:r>
          </a:p>
        </p:txBody>
      </p:sp>
      <p:cxnSp>
        <p:nvCxnSpPr>
          <p:cNvPr id="50" name="直線接點 49"/>
          <p:cNvCxnSpPr/>
          <p:nvPr/>
        </p:nvCxnSpPr>
        <p:spPr>
          <a:xfrm>
            <a:off x="2652142" y="2208466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/>
          <p:nvPr/>
        </p:nvCxnSpPr>
        <p:spPr>
          <a:xfrm>
            <a:off x="2655690" y="2604505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3379345" y="1989760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3924193" y="1989760"/>
            <a:ext cx="3887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763982" y="2290110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2764116" y="2703457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56" name="圓角矩形 55"/>
          <p:cNvSpPr/>
          <p:nvPr/>
        </p:nvSpPr>
        <p:spPr>
          <a:xfrm>
            <a:off x="2434711" y="1693619"/>
            <a:ext cx="955752" cy="3036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 smtClean="0"/>
              <a:t>口徑</a:t>
            </a:r>
            <a:r>
              <a:rPr lang="en-US" altLang="zh-TW" sz="900" dirty="0" smtClean="0"/>
              <a:t>0.17mm</a:t>
            </a:r>
            <a:endParaRPr lang="zh-TW" altLang="en-US" sz="900" dirty="0"/>
          </a:p>
        </p:txBody>
      </p:sp>
      <p:sp>
        <p:nvSpPr>
          <p:cNvPr id="57" name="文字方塊 56"/>
          <p:cNvSpPr txBox="1"/>
          <p:nvPr/>
        </p:nvSpPr>
        <p:spPr>
          <a:xfrm>
            <a:off x="3428767" y="2317735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3</a:t>
            </a:r>
            <a:endParaRPr lang="zh-TW" altLang="en-US" sz="800" dirty="0" smtClean="0"/>
          </a:p>
        </p:txBody>
      </p:sp>
      <p:sp>
        <p:nvSpPr>
          <p:cNvPr id="58" name="文字方塊 57"/>
          <p:cNvSpPr txBox="1"/>
          <p:nvPr/>
        </p:nvSpPr>
        <p:spPr>
          <a:xfrm>
            <a:off x="3958228" y="2714285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2</a:t>
            </a:r>
            <a:endParaRPr lang="zh-TW" altLang="en-US" sz="800" dirty="0" smtClean="0"/>
          </a:p>
        </p:txBody>
      </p:sp>
      <p:sp>
        <p:nvSpPr>
          <p:cNvPr id="60" name="矩形 59"/>
          <p:cNvSpPr/>
          <p:nvPr/>
        </p:nvSpPr>
        <p:spPr>
          <a:xfrm>
            <a:off x="233896" y="1841635"/>
            <a:ext cx="1971032" cy="11499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1" name="直線接點 60"/>
          <p:cNvCxnSpPr/>
          <p:nvPr/>
        </p:nvCxnSpPr>
        <p:spPr>
          <a:xfrm>
            <a:off x="1095813" y="2037841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/>
          <p:nvPr/>
        </p:nvCxnSpPr>
        <p:spPr>
          <a:xfrm>
            <a:off x="1676941" y="2037841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208596" y="2421476"/>
            <a:ext cx="304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預測</a:t>
            </a:r>
          </a:p>
        </p:txBody>
      </p:sp>
      <p:sp>
        <p:nvSpPr>
          <p:cNvPr id="64" name="文字方塊 63"/>
          <p:cNvSpPr txBox="1"/>
          <p:nvPr/>
        </p:nvSpPr>
        <p:spPr>
          <a:xfrm>
            <a:off x="1472971" y="1822397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實際</a:t>
            </a:r>
          </a:p>
        </p:txBody>
      </p:sp>
      <p:cxnSp>
        <p:nvCxnSpPr>
          <p:cNvPr id="65" name="直線接點 64"/>
          <p:cNvCxnSpPr/>
          <p:nvPr/>
        </p:nvCxnSpPr>
        <p:spPr>
          <a:xfrm>
            <a:off x="512730" y="2210297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>
            <a:off x="516279" y="2606336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1240826" y="1991591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1784608" y="1991591"/>
            <a:ext cx="355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624570" y="2291941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24569" y="2705288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71" name="圓角矩形 70"/>
          <p:cNvSpPr/>
          <p:nvPr/>
        </p:nvSpPr>
        <p:spPr>
          <a:xfrm>
            <a:off x="295300" y="1695450"/>
            <a:ext cx="955752" cy="3036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 smtClean="0"/>
              <a:t>口徑</a:t>
            </a:r>
            <a:r>
              <a:rPr lang="en-US" altLang="zh-TW" sz="900" dirty="0" smtClean="0"/>
              <a:t>0.2mm</a:t>
            </a:r>
            <a:endParaRPr lang="zh-TW" altLang="en-US" sz="900" dirty="0"/>
          </a:p>
        </p:txBody>
      </p:sp>
      <p:sp>
        <p:nvSpPr>
          <p:cNvPr id="72" name="文字方塊 71"/>
          <p:cNvSpPr txBox="1"/>
          <p:nvPr/>
        </p:nvSpPr>
        <p:spPr>
          <a:xfrm>
            <a:off x="1278180" y="2304211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5</a:t>
            </a:r>
            <a:endParaRPr lang="zh-TW" altLang="en-US" sz="800" dirty="0" smtClean="0"/>
          </a:p>
        </p:txBody>
      </p:sp>
      <p:sp>
        <p:nvSpPr>
          <p:cNvPr id="73" name="文字方塊 72"/>
          <p:cNvSpPr txBox="1"/>
          <p:nvPr/>
        </p:nvSpPr>
        <p:spPr>
          <a:xfrm>
            <a:off x="1818817" y="2716116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1</a:t>
            </a:r>
            <a:endParaRPr lang="zh-TW" altLang="en-US" sz="800" dirty="0" smtClean="0"/>
          </a:p>
        </p:txBody>
      </p:sp>
      <p:sp>
        <p:nvSpPr>
          <p:cNvPr id="75" name="矩形 74"/>
          <p:cNvSpPr/>
          <p:nvPr/>
        </p:nvSpPr>
        <p:spPr>
          <a:xfrm>
            <a:off x="4477170" y="1829110"/>
            <a:ext cx="1971032" cy="11499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接點 75"/>
          <p:cNvCxnSpPr/>
          <p:nvPr/>
        </p:nvCxnSpPr>
        <p:spPr>
          <a:xfrm>
            <a:off x="5339088" y="2025316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/>
          <p:nvPr/>
        </p:nvCxnSpPr>
        <p:spPr>
          <a:xfrm>
            <a:off x="5920216" y="2025316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4451871" y="2408951"/>
            <a:ext cx="304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預測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5716246" y="1809872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實際</a:t>
            </a:r>
          </a:p>
        </p:txBody>
      </p:sp>
      <p:cxnSp>
        <p:nvCxnSpPr>
          <p:cNvPr id="80" name="直線接點 79"/>
          <p:cNvCxnSpPr/>
          <p:nvPr/>
        </p:nvCxnSpPr>
        <p:spPr>
          <a:xfrm>
            <a:off x="4756005" y="2197772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>
            <a:off x="4759553" y="2593811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字方塊 81"/>
          <p:cNvSpPr txBox="1"/>
          <p:nvPr/>
        </p:nvSpPr>
        <p:spPr>
          <a:xfrm>
            <a:off x="5446754" y="1979066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83" name="文字方塊 82"/>
          <p:cNvSpPr txBox="1"/>
          <p:nvPr/>
        </p:nvSpPr>
        <p:spPr>
          <a:xfrm>
            <a:off x="6018918" y="1979066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84" name="文字方塊 83"/>
          <p:cNvSpPr txBox="1"/>
          <p:nvPr/>
        </p:nvSpPr>
        <p:spPr>
          <a:xfrm>
            <a:off x="4867845" y="2279416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85" name="文字方塊 84"/>
          <p:cNvSpPr txBox="1"/>
          <p:nvPr/>
        </p:nvSpPr>
        <p:spPr>
          <a:xfrm>
            <a:off x="4864008" y="2692763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86" name="圓角矩形 85"/>
          <p:cNvSpPr/>
          <p:nvPr/>
        </p:nvSpPr>
        <p:spPr>
          <a:xfrm>
            <a:off x="4538574" y="1682925"/>
            <a:ext cx="955752" cy="3036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 smtClean="0"/>
              <a:t>口徑</a:t>
            </a:r>
            <a:r>
              <a:rPr lang="en-US" altLang="zh-TW" sz="900" dirty="0" smtClean="0"/>
              <a:t>0.25mm</a:t>
            </a:r>
            <a:endParaRPr lang="zh-TW" altLang="en-US" sz="900" dirty="0"/>
          </a:p>
        </p:txBody>
      </p:sp>
      <p:sp>
        <p:nvSpPr>
          <p:cNvPr id="87" name="文字方塊 86"/>
          <p:cNvSpPr txBox="1"/>
          <p:nvPr/>
        </p:nvSpPr>
        <p:spPr>
          <a:xfrm>
            <a:off x="5494326" y="2276153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/>
              <a:t>5</a:t>
            </a:r>
            <a:endParaRPr lang="zh-TW" altLang="en-US" sz="800" dirty="0" smtClean="0"/>
          </a:p>
        </p:txBody>
      </p:sp>
      <p:sp>
        <p:nvSpPr>
          <p:cNvPr id="88" name="文字方塊 87"/>
          <p:cNvSpPr txBox="1"/>
          <p:nvPr/>
        </p:nvSpPr>
        <p:spPr>
          <a:xfrm>
            <a:off x="6062091" y="2703591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1</a:t>
            </a:r>
            <a:endParaRPr lang="zh-TW" altLang="en-US" sz="800" dirty="0" smtClean="0"/>
          </a:p>
        </p:txBody>
      </p:sp>
      <p:sp>
        <p:nvSpPr>
          <p:cNvPr id="90" name="矩形 89"/>
          <p:cNvSpPr/>
          <p:nvPr/>
        </p:nvSpPr>
        <p:spPr>
          <a:xfrm>
            <a:off x="180757" y="3413841"/>
            <a:ext cx="1971032" cy="11461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1" name="直線接點 90"/>
          <p:cNvCxnSpPr/>
          <p:nvPr/>
        </p:nvCxnSpPr>
        <p:spPr>
          <a:xfrm>
            <a:off x="1042674" y="3606273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/>
          <p:nvPr/>
        </p:nvCxnSpPr>
        <p:spPr>
          <a:xfrm>
            <a:off x="1623802" y="3606273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字方塊 92"/>
          <p:cNvSpPr txBox="1"/>
          <p:nvPr/>
        </p:nvSpPr>
        <p:spPr>
          <a:xfrm>
            <a:off x="155457" y="3989908"/>
            <a:ext cx="304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預測</a:t>
            </a:r>
          </a:p>
        </p:txBody>
      </p:sp>
      <p:sp>
        <p:nvSpPr>
          <p:cNvPr id="94" name="文字方塊 93"/>
          <p:cNvSpPr txBox="1"/>
          <p:nvPr/>
        </p:nvSpPr>
        <p:spPr>
          <a:xfrm>
            <a:off x="1419832" y="3390829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實際</a:t>
            </a:r>
          </a:p>
        </p:txBody>
      </p:sp>
      <p:cxnSp>
        <p:nvCxnSpPr>
          <p:cNvPr id="95" name="直線接點 94"/>
          <p:cNvCxnSpPr/>
          <p:nvPr/>
        </p:nvCxnSpPr>
        <p:spPr>
          <a:xfrm>
            <a:off x="459591" y="3778729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>
            <a:off x="463140" y="4174768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字方塊 96"/>
          <p:cNvSpPr txBox="1"/>
          <p:nvPr/>
        </p:nvSpPr>
        <p:spPr>
          <a:xfrm>
            <a:off x="1188069" y="3551779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1731312" y="3567551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571432" y="3860373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100" name="文字方塊 99"/>
          <p:cNvSpPr txBox="1"/>
          <p:nvPr/>
        </p:nvSpPr>
        <p:spPr>
          <a:xfrm>
            <a:off x="571432" y="4273720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101" name="圓角矩形 100"/>
          <p:cNvSpPr/>
          <p:nvPr/>
        </p:nvSpPr>
        <p:spPr>
          <a:xfrm>
            <a:off x="242161" y="3263882"/>
            <a:ext cx="955752" cy="3036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 smtClean="0"/>
              <a:t>口徑</a:t>
            </a:r>
            <a:r>
              <a:rPr lang="en-US" altLang="zh-TW" sz="900" dirty="0" smtClean="0"/>
              <a:t>0.3mm</a:t>
            </a:r>
            <a:endParaRPr lang="zh-TW" altLang="en-US" sz="900" dirty="0"/>
          </a:p>
        </p:txBody>
      </p:sp>
      <p:sp>
        <p:nvSpPr>
          <p:cNvPr id="102" name="文字方塊 101"/>
          <p:cNvSpPr txBox="1"/>
          <p:nvPr/>
        </p:nvSpPr>
        <p:spPr>
          <a:xfrm>
            <a:off x="1197913" y="3857110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5</a:t>
            </a:r>
            <a:endParaRPr lang="zh-TW" altLang="en-US" sz="800" dirty="0" smtClean="0"/>
          </a:p>
        </p:txBody>
      </p:sp>
      <p:sp>
        <p:nvSpPr>
          <p:cNvPr id="103" name="文字方塊 102"/>
          <p:cNvSpPr txBox="1"/>
          <p:nvPr/>
        </p:nvSpPr>
        <p:spPr>
          <a:xfrm>
            <a:off x="1765678" y="4284548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1</a:t>
            </a:r>
            <a:endParaRPr lang="zh-TW" altLang="en-US" sz="800" dirty="0" smtClean="0"/>
          </a:p>
        </p:txBody>
      </p:sp>
      <p:sp>
        <p:nvSpPr>
          <p:cNvPr id="105" name="矩形 104"/>
          <p:cNvSpPr/>
          <p:nvPr/>
        </p:nvSpPr>
        <p:spPr>
          <a:xfrm>
            <a:off x="2297787" y="3421904"/>
            <a:ext cx="1971032" cy="11428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接點 105"/>
          <p:cNvCxnSpPr/>
          <p:nvPr/>
        </p:nvCxnSpPr>
        <p:spPr>
          <a:xfrm>
            <a:off x="3159704" y="3611032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06"/>
          <p:cNvCxnSpPr/>
          <p:nvPr/>
        </p:nvCxnSpPr>
        <p:spPr>
          <a:xfrm>
            <a:off x="3740832" y="3611032"/>
            <a:ext cx="8964" cy="95375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文字方塊 107"/>
          <p:cNvSpPr txBox="1"/>
          <p:nvPr/>
        </p:nvSpPr>
        <p:spPr>
          <a:xfrm>
            <a:off x="2272487" y="3994667"/>
            <a:ext cx="304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預測</a:t>
            </a:r>
          </a:p>
        </p:txBody>
      </p:sp>
      <p:sp>
        <p:nvSpPr>
          <p:cNvPr id="109" name="文字方塊 108"/>
          <p:cNvSpPr txBox="1"/>
          <p:nvPr/>
        </p:nvSpPr>
        <p:spPr>
          <a:xfrm>
            <a:off x="3536862" y="3395588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800" dirty="0" smtClean="0"/>
              <a:t>實際</a:t>
            </a:r>
          </a:p>
        </p:txBody>
      </p:sp>
      <p:cxnSp>
        <p:nvCxnSpPr>
          <p:cNvPr id="110" name="直線接點 109"/>
          <p:cNvCxnSpPr/>
          <p:nvPr/>
        </p:nvCxnSpPr>
        <p:spPr>
          <a:xfrm>
            <a:off x="2576621" y="3783488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/>
          <p:cNvCxnSpPr/>
          <p:nvPr/>
        </p:nvCxnSpPr>
        <p:spPr>
          <a:xfrm>
            <a:off x="2580170" y="4179527"/>
            <a:ext cx="169219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字方塊 111"/>
          <p:cNvSpPr txBox="1"/>
          <p:nvPr/>
        </p:nvSpPr>
        <p:spPr>
          <a:xfrm>
            <a:off x="3309797" y="3564371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113" name="文字方塊 112"/>
          <p:cNvSpPr txBox="1"/>
          <p:nvPr/>
        </p:nvSpPr>
        <p:spPr>
          <a:xfrm>
            <a:off x="3849561" y="3564371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114" name="文字方塊 113"/>
          <p:cNvSpPr txBox="1"/>
          <p:nvPr/>
        </p:nvSpPr>
        <p:spPr>
          <a:xfrm>
            <a:off x="2688461" y="3865132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NG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115" name="文字方塊 114"/>
          <p:cNvSpPr txBox="1"/>
          <p:nvPr/>
        </p:nvSpPr>
        <p:spPr>
          <a:xfrm>
            <a:off x="2688508" y="4276228"/>
            <a:ext cx="667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>
                <a:solidFill>
                  <a:srgbClr val="005087"/>
                </a:solidFill>
              </a:rPr>
              <a:t>OK</a:t>
            </a:r>
            <a:endParaRPr lang="zh-TW" altLang="en-US" sz="800" dirty="0" smtClean="0">
              <a:solidFill>
                <a:srgbClr val="005087"/>
              </a:solidFill>
            </a:endParaRPr>
          </a:p>
        </p:txBody>
      </p:sp>
      <p:sp>
        <p:nvSpPr>
          <p:cNvPr id="116" name="圓角矩形 115"/>
          <p:cNvSpPr/>
          <p:nvPr/>
        </p:nvSpPr>
        <p:spPr>
          <a:xfrm>
            <a:off x="2359190" y="3268641"/>
            <a:ext cx="955752" cy="3036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dirty="0" smtClean="0"/>
              <a:t>口徑</a:t>
            </a:r>
            <a:r>
              <a:rPr lang="en-US" altLang="zh-TW" sz="900" dirty="0" smtClean="0"/>
              <a:t>0.4mm</a:t>
            </a:r>
            <a:endParaRPr lang="zh-TW" altLang="en-US" sz="900" dirty="0"/>
          </a:p>
        </p:txBody>
      </p:sp>
      <p:sp>
        <p:nvSpPr>
          <p:cNvPr id="117" name="文字方塊 116"/>
          <p:cNvSpPr txBox="1"/>
          <p:nvPr/>
        </p:nvSpPr>
        <p:spPr>
          <a:xfrm>
            <a:off x="3360657" y="3875762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6</a:t>
            </a:r>
            <a:endParaRPr lang="zh-TW" altLang="en-US" sz="800" dirty="0" smtClean="0"/>
          </a:p>
        </p:txBody>
      </p:sp>
      <p:sp>
        <p:nvSpPr>
          <p:cNvPr id="118" name="文字方塊 117"/>
          <p:cNvSpPr txBox="1"/>
          <p:nvPr/>
        </p:nvSpPr>
        <p:spPr>
          <a:xfrm>
            <a:off x="3884482" y="4275024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19" name="橢圓 118"/>
          <p:cNvSpPr/>
          <p:nvPr/>
        </p:nvSpPr>
        <p:spPr>
          <a:xfrm>
            <a:off x="5465855" y="2253672"/>
            <a:ext cx="304133" cy="277816"/>
          </a:xfrm>
          <a:prstGeom prst="ellipse">
            <a:avLst/>
          </a:prstGeom>
          <a:noFill/>
          <a:ln w="38100">
            <a:solidFill>
              <a:srgbClr val="0050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0" name="弧形接點 119"/>
          <p:cNvCxnSpPr>
            <a:stCxn id="119" idx="6"/>
            <a:endCxn id="121" idx="0"/>
          </p:cNvCxnSpPr>
          <p:nvPr/>
        </p:nvCxnSpPr>
        <p:spPr>
          <a:xfrm>
            <a:off x="5769988" y="2392580"/>
            <a:ext cx="952929" cy="887454"/>
          </a:xfrm>
          <a:prstGeom prst="curvedConnector2">
            <a:avLst/>
          </a:prstGeom>
          <a:ln w="19050">
            <a:solidFill>
              <a:srgbClr val="00508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字方塊 121"/>
          <p:cNvSpPr txBox="1"/>
          <p:nvPr/>
        </p:nvSpPr>
        <p:spPr>
          <a:xfrm>
            <a:off x="3884820" y="3893958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23" name="文字方塊 122"/>
          <p:cNvSpPr txBox="1"/>
          <p:nvPr/>
        </p:nvSpPr>
        <p:spPr>
          <a:xfrm>
            <a:off x="3360657" y="4273720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24" name="文字方塊 123"/>
          <p:cNvSpPr txBox="1"/>
          <p:nvPr/>
        </p:nvSpPr>
        <p:spPr>
          <a:xfrm>
            <a:off x="1751603" y="3865132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25" name="文字方塊 124"/>
          <p:cNvSpPr txBox="1"/>
          <p:nvPr/>
        </p:nvSpPr>
        <p:spPr>
          <a:xfrm>
            <a:off x="1204338" y="4273850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26" name="文字方塊 125"/>
          <p:cNvSpPr txBox="1"/>
          <p:nvPr/>
        </p:nvSpPr>
        <p:spPr>
          <a:xfrm>
            <a:off x="3975545" y="2323654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27" name="文字方塊 126"/>
          <p:cNvSpPr txBox="1"/>
          <p:nvPr/>
        </p:nvSpPr>
        <p:spPr>
          <a:xfrm>
            <a:off x="3427961" y="2703457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28" name="文字方塊 127"/>
          <p:cNvSpPr txBox="1"/>
          <p:nvPr/>
        </p:nvSpPr>
        <p:spPr>
          <a:xfrm>
            <a:off x="1818132" y="2308429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29" name="文字方塊 128"/>
          <p:cNvSpPr txBox="1"/>
          <p:nvPr/>
        </p:nvSpPr>
        <p:spPr>
          <a:xfrm>
            <a:off x="1261155" y="2698610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30" name="文字方塊 129"/>
          <p:cNvSpPr txBox="1"/>
          <p:nvPr/>
        </p:nvSpPr>
        <p:spPr>
          <a:xfrm>
            <a:off x="6054638" y="2271648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sp>
        <p:nvSpPr>
          <p:cNvPr id="131" name="文字方塊 130"/>
          <p:cNvSpPr txBox="1"/>
          <p:nvPr/>
        </p:nvSpPr>
        <p:spPr>
          <a:xfrm>
            <a:off x="5521455" y="2702599"/>
            <a:ext cx="3861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 smtClean="0"/>
              <a:t>0</a:t>
            </a:r>
            <a:endParaRPr lang="zh-TW" altLang="en-US" sz="800" dirty="0" smtClean="0"/>
          </a:p>
        </p:txBody>
      </p:sp>
      <p:grpSp>
        <p:nvGrpSpPr>
          <p:cNvPr id="3" name="群組 2"/>
          <p:cNvGrpSpPr/>
          <p:nvPr/>
        </p:nvGrpSpPr>
        <p:grpSpPr>
          <a:xfrm>
            <a:off x="7638551" y="1470985"/>
            <a:ext cx="1119252" cy="3016168"/>
            <a:chOff x="7621461" y="1219264"/>
            <a:chExt cx="1119252" cy="3193745"/>
          </a:xfrm>
        </p:grpSpPr>
        <p:grpSp>
          <p:nvGrpSpPr>
            <p:cNvPr id="132" name="群組 131"/>
            <p:cNvGrpSpPr/>
            <p:nvPr/>
          </p:nvGrpSpPr>
          <p:grpSpPr>
            <a:xfrm>
              <a:off x="7709128" y="1219264"/>
              <a:ext cx="817351" cy="376793"/>
              <a:chOff x="4765224" y="827836"/>
              <a:chExt cx="817351" cy="376793"/>
            </a:xfrm>
          </p:grpSpPr>
          <p:sp>
            <p:nvSpPr>
              <p:cNvPr id="133" name="橢圓 132"/>
              <p:cNvSpPr/>
              <p:nvPr/>
            </p:nvSpPr>
            <p:spPr>
              <a:xfrm>
                <a:off x="4765224" y="827836"/>
                <a:ext cx="817351" cy="376793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文字方塊 133"/>
              <p:cNvSpPr txBox="1"/>
              <p:nvPr/>
            </p:nvSpPr>
            <p:spPr>
              <a:xfrm>
                <a:off x="4790306" y="843391"/>
                <a:ext cx="765180" cy="358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800" dirty="0" smtClean="0"/>
                  <a:t>外觀缺陷</a:t>
                </a:r>
                <a:endParaRPr lang="en-US" altLang="zh-TW" sz="800" dirty="0" smtClean="0"/>
              </a:p>
              <a:p>
                <a:pPr algn="ctr"/>
                <a:r>
                  <a:rPr lang="en-US" altLang="zh-TW" sz="800" dirty="0" smtClean="0"/>
                  <a:t>AI</a:t>
                </a:r>
                <a:r>
                  <a:rPr lang="zh-TW" altLang="en-US" sz="800" dirty="0" smtClean="0"/>
                  <a:t>辨識</a:t>
                </a:r>
                <a:endParaRPr lang="zh-TW" altLang="en-US" sz="800" dirty="0"/>
              </a:p>
            </p:txBody>
          </p:sp>
        </p:grpSp>
        <p:cxnSp>
          <p:nvCxnSpPr>
            <p:cNvPr id="135" name="直線單箭頭接點 134"/>
            <p:cNvCxnSpPr>
              <a:stCxn id="133" idx="4"/>
              <a:endCxn id="137" idx="0"/>
            </p:cNvCxnSpPr>
            <p:nvPr/>
          </p:nvCxnSpPr>
          <p:spPr>
            <a:xfrm flipH="1">
              <a:off x="8117506" y="1596057"/>
              <a:ext cx="298" cy="240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6" name="群組 135"/>
            <p:cNvGrpSpPr/>
            <p:nvPr/>
          </p:nvGrpSpPr>
          <p:grpSpPr>
            <a:xfrm>
              <a:off x="7661478" y="1836342"/>
              <a:ext cx="1005405" cy="273572"/>
              <a:chOff x="1165858" y="3108960"/>
              <a:chExt cx="1644681" cy="282991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137" name="矩形 136"/>
              <p:cNvSpPr/>
              <p:nvPr/>
            </p:nvSpPr>
            <p:spPr>
              <a:xfrm>
                <a:off x="1165858" y="3108960"/>
                <a:ext cx="1491977" cy="28299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38" name="文字方塊 137"/>
              <p:cNvSpPr txBox="1"/>
              <p:nvPr/>
            </p:nvSpPr>
            <p:spPr>
              <a:xfrm>
                <a:off x="1190585" y="3132360"/>
                <a:ext cx="1619954" cy="235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 smtClean="0"/>
                  <a:t>Load AI Model</a:t>
                </a:r>
                <a:endParaRPr lang="zh-TW" altLang="en-US" sz="800" dirty="0"/>
              </a:p>
            </p:txBody>
          </p:sp>
        </p:grpSp>
        <p:grpSp>
          <p:nvGrpSpPr>
            <p:cNvPr id="139" name="群組 138"/>
            <p:cNvGrpSpPr/>
            <p:nvPr/>
          </p:nvGrpSpPr>
          <p:grpSpPr>
            <a:xfrm>
              <a:off x="7661478" y="4122688"/>
              <a:ext cx="910661" cy="290321"/>
              <a:chOff x="1165860" y="2737738"/>
              <a:chExt cx="1489695" cy="381631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140" name="矩形 139"/>
              <p:cNvSpPr/>
              <p:nvPr/>
            </p:nvSpPr>
            <p:spPr>
              <a:xfrm>
                <a:off x="1165860" y="2737738"/>
                <a:ext cx="1489695" cy="3816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41" name="文字方塊 140"/>
              <p:cNvSpPr txBox="1"/>
              <p:nvPr/>
            </p:nvSpPr>
            <p:spPr>
              <a:xfrm>
                <a:off x="1552913" y="2790696"/>
                <a:ext cx="753517" cy="299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 smtClean="0"/>
                  <a:t>END</a:t>
                </a:r>
                <a:endParaRPr lang="zh-TW" altLang="en-US" sz="800" dirty="0"/>
              </a:p>
            </p:txBody>
          </p:sp>
        </p:grpSp>
        <p:cxnSp>
          <p:nvCxnSpPr>
            <p:cNvPr id="142" name="直線單箭頭接點 141"/>
            <p:cNvCxnSpPr>
              <a:stCxn id="137" idx="2"/>
              <a:endCxn id="149" idx="0"/>
            </p:cNvCxnSpPr>
            <p:nvPr/>
          </p:nvCxnSpPr>
          <p:spPr>
            <a:xfrm>
              <a:off x="8117506" y="2109914"/>
              <a:ext cx="2423" cy="223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單箭頭接點 142"/>
            <p:cNvCxnSpPr>
              <a:stCxn id="153" idx="2"/>
              <a:endCxn id="145" idx="0"/>
            </p:cNvCxnSpPr>
            <p:nvPr/>
          </p:nvCxnSpPr>
          <p:spPr>
            <a:xfrm flipH="1">
              <a:off x="8116800" y="3275263"/>
              <a:ext cx="2833" cy="2416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群組 143"/>
            <p:cNvGrpSpPr/>
            <p:nvPr/>
          </p:nvGrpSpPr>
          <p:grpSpPr>
            <a:xfrm>
              <a:off x="7653448" y="3516942"/>
              <a:ext cx="1087265" cy="391833"/>
              <a:chOff x="973642" y="2781260"/>
              <a:chExt cx="1778590" cy="515071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145" name="矩形 144"/>
              <p:cNvSpPr/>
              <p:nvPr/>
            </p:nvSpPr>
            <p:spPr>
              <a:xfrm>
                <a:off x="973642" y="2781260"/>
                <a:ext cx="1515939" cy="5150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46" name="文字方塊 145"/>
              <p:cNvSpPr txBox="1"/>
              <p:nvPr/>
            </p:nvSpPr>
            <p:spPr>
              <a:xfrm>
                <a:off x="986437" y="2811940"/>
                <a:ext cx="1765795" cy="471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儲存辨識結果並</a:t>
                </a:r>
                <a:endParaRPr lang="en-US" altLang="zh-TW" sz="800" dirty="0" smtClean="0"/>
              </a:p>
              <a:p>
                <a:r>
                  <a:rPr lang="zh-TW" altLang="en-US" sz="800" dirty="0" smtClean="0"/>
                  <a:t>回傳</a:t>
                </a:r>
                <a:endParaRPr lang="zh-TW" altLang="en-US" sz="800" dirty="0"/>
              </a:p>
            </p:txBody>
          </p:sp>
        </p:grpSp>
        <p:cxnSp>
          <p:nvCxnSpPr>
            <p:cNvPr id="147" name="直線單箭頭接點 146"/>
            <p:cNvCxnSpPr>
              <a:stCxn id="145" idx="2"/>
              <a:endCxn id="140" idx="0"/>
            </p:cNvCxnSpPr>
            <p:nvPr/>
          </p:nvCxnSpPr>
          <p:spPr>
            <a:xfrm>
              <a:off x="8116800" y="3908776"/>
              <a:ext cx="9" cy="2139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群組 147"/>
            <p:cNvGrpSpPr/>
            <p:nvPr/>
          </p:nvGrpSpPr>
          <p:grpSpPr>
            <a:xfrm>
              <a:off x="7621461" y="2333055"/>
              <a:ext cx="1080771" cy="365195"/>
              <a:chOff x="1100252" y="2843803"/>
              <a:chExt cx="1767966" cy="480055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149" name="矩形 148"/>
              <p:cNvSpPr/>
              <p:nvPr/>
            </p:nvSpPr>
            <p:spPr>
              <a:xfrm>
                <a:off x="1165857" y="2843803"/>
                <a:ext cx="1499613" cy="4800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50" name="文字方塊 149"/>
              <p:cNvSpPr txBox="1"/>
              <p:nvPr/>
            </p:nvSpPr>
            <p:spPr>
              <a:xfrm>
                <a:off x="1100252" y="2852619"/>
                <a:ext cx="1767966" cy="471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依序讀取噴嘴外觀影像佇列的影像</a:t>
                </a:r>
                <a:endParaRPr lang="zh-TW" altLang="en-US" sz="800" dirty="0"/>
              </a:p>
            </p:txBody>
          </p:sp>
        </p:grpSp>
        <p:cxnSp>
          <p:nvCxnSpPr>
            <p:cNvPr id="151" name="直線單箭頭接點 150"/>
            <p:cNvCxnSpPr>
              <a:stCxn id="149" idx="2"/>
              <a:endCxn id="153" idx="0"/>
            </p:cNvCxnSpPr>
            <p:nvPr/>
          </p:nvCxnSpPr>
          <p:spPr>
            <a:xfrm flipH="1">
              <a:off x="8119633" y="2698250"/>
              <a:ext cx="296" cy="2118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2" name="群組 151"/>
            <p:cNvGrpSpPr/>
            <p:nvPr/>
          </p:nvGrpSpPr>
          <p:grpSpPr>
            <a:xfrm>
              <a:off x="7661270" y="2910067"/>
              <a:ext cx="916725" cy="365195"/>
              <a:chOff x="1165857" y="2817287"/>
              <a:chExt cx="1499613" cy="480055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153" name="矩形 152"/>
              <p:cNvSpPr/>
              <p:nvPr/>
            </p:nvSpPr>
            <p:spPr>
              <a:xfrm>
                <a:off x="1165857" y="2817287"/>
                <a:ext cx="1499613" cy="4800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154" name="文字方塊 153"/>
              <p:cNvSpPr txBox="1"/>
              <p:nvPr/>
            </p:nvSpPr>
            <p:spPr>
              <a:xfrm>
                <a:off x="1323131" y="2912008"/>
                <a:ext cx="1213754" cy="299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 smtClean="0"/>
                  <a:t>AI</a:t>
                </a:r>
                <a:r>
                  <a:rPr lang="zh-TW" altLang="en-US" sz="800" dirty="0" smtClean="0"/>
                  <a:t>預測影像</a:t>
                </a:r>
                <a:endParaRPr lang="zh-TW" altLang="en-US" sz="800" dirty="0"/>
              </a:p>
            </p:txBody>
          </p:sp>
        </p:grpSp>
      </p:grp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34" t="28055" r="38984" b="23472"/>
          <a:stretch/>
        </p:blipFill>
        <p:spPr>
          <a:xfrm>
            <a:off x="4547652" y="3285660"/>
            <a:ext cx="1373030" cy="1323721"/>
          </a:xfrm>
          <a:prstGeom prst="rect">
            <a:avLst/>
          </a:prstGeom>
        </p:spPr>
      </p:pic>
      <p:sp>
        <p:nvSpPr>
          <p:cNvPr id="156" name="橢圓 155"/>
          <p:cNvSpPr/>
          <p:nvPr/>
        </p:nvSpPr>
        <p:spPr>
          <a:xfrm>
            <a:off x="3396117" y="2280380"/>
            <a:ext cx="304133" cy="277816"/>
          </a:xfrm>
          <a:prstGeom prst="ellipse">
            <a:avLst/>
          </a:prstGeom>
          <a:noFill/>
          <a:ln w="38100">
            <a:solidFill>
              <a:srgbClr val="00508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7" name="弧形接點 156"/>
          <p:cNvCxnSpPr>
            <a:stCxn id="156" idx="6"/>
            <a:endCxn id="7" idx="0"/>
          </p:cNvCxnSpPr>
          <p:nvPr/>
        </p:nvCxnSpPr>
        <p:spPr>
          <a:xfrm>
            <a:off x="3700250" y="2419288"/>
            <a:ext cx="1533917" cy="866372"/>
          </a:xfrm>
          <a:prstGeom prst="curvedConnector2">
            <a:avLst/>
          </a:prstGeom>
          <a:ln w="19050">
            <a:solidFill>
              <a:srgbClr val="00508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55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7" r="19104"/>
          <a:stretch/>
        </p:blipFill>
        <p:spPr>
          <a:xfrm>
            <a:off x="2925147" y="1836152"/>
            <a:ext cx="1400899" cy="1289322"/>
          </a:xfrm>
          <a:prstGeom prst="rect">
            <a:avLst/>
          </a:prstGeom>
        </p:spPr>
      </p:pic>
      <p:pic>
        <p:nvPicPr>
          <p:cNvPr id="46" name="圖片 4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6" r="22145"/>
          <a:stretch/>
        </p:blipFill>
        <p:spPr>
          <a:xfrm>
            <a:off x="2919565" y="3265736"/>
            <a:ext cx="1406481" cy="1295382"/>
          </a:xfrm>
          <a:prstGeom prst="rect">
            <a:avLst/>
          </a:prstGeom>
        </p:spPr>
      </p:pic>
      <p:pic>
        <p:nvPicPr>
          <p:cNvPr id="48" name="圖片 4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6" r="21370"/>
          <a:stretch/>
        </p:blipFill>
        <p:spPr>
          <a:xfrm>
            <a:off x="6182820" y="1792936"/>
            <a:ext cx="1406479" cy="1295382"/>
          </a:xfrm>
          <a:prstGeom prst="rect">
            <a:avLst/>
          </a:prstGeom>
        </p:spPr>
      </p:pic>
      <p:sp>
        <p:nvSpPr>
          <p:cNvPr id="50" name="圓角矩形 49"/>
          <p:cNvSpPr/>
          <p:nvPr/>
        </p:nvSpPr>
        <p:spPr>
          <a:xfrm>
            <a:off x="2866554" y="1422357"/>
            <a:ext cx="3150296" cy="3294344"/>
          </a:xfrm>
          <a:prstGeom prst="roundRect">
            <a:avLst>
              <a:gd name="adj" fmla="val 226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圓角矩形 50"/>
          <p:cNvSpPr/>
          <p:nvPr/>
        </p:nvSpPr>
        <p:spPr>
          <a:xfrm>
            <a:off x="6080738" y="1422357"/>
            <a:ext cx="1652374" cy="3294344"/>
          </a:xfrm>
          <a:prstGeom prst="roundRect">
            <a:avLst>
              <a:gd name="adj" fmla="val 2262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/>
          <p:cNvSpPr txBox="1"/>
          <p:nvPr/>
        </p:nvSpPr>
        <p:spPr>
          <a:xfrm>
            <a:off x="2866554" y="1427630"/>
            <a:ext cx="4539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NG</a:t>
            </a:r>
            <a:endParaRPr lang="zh-TW" altLang="en-US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6080738" y="1427630"/>
            <a:ext cx="44275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OK</a:t>
            </a:r>
            <a:endParaRPr lang="zh-TW" altLang="en-US" dirty="0"/>
          </a:p>
        </p:txBody>
      </p:sp>
      <p:sp>
        <p:nvSpPr>
          <p:cNvPr id="54" name="文字方塊 53"/>
          <p:cNvSpPr txBox="1"/>
          <p:nvPr/>
        </p:nvSpPr>
        <p:spPr>
          <a:xfrm>
            <a:off x="527622" y="1005773"/>
            <a:ext cx="6574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TW" altLang="en-US" sz="1400" dirty="0" smtClean="0">
                <a:solidFill>
                  <a:prstClr val="black"/>
                </a:solidFill>
              </a:rPr>
              <a:t>噴嘴內部</a:t>
            </a:r>
            <a:r>
              <a:rPr lang="en-US" altLang="zh-TW" sz="1400" dirty="0" smtClean="0">
                <a:solidFill>
                  <a:prstClr val="black"/>
                </a:solidFill>
              </a:rPr>
              <a:t>AI</a:t>
            </a:r>
            <a:r>
              <a:rPr lang="zh-TW" altLang="en-US" sz="1400" dirty="0" smtClean="0">
                <a:solidFill>
                  <a:prstClr val="black"/>
                </a:solidFill>
              </a:rPr>
              <a:t>缺陷</a:t>
            </a:r>
            <a:r>
              <a:rPr lang="zh-TW" altLang="en-US" sz="1400" dirty="0">
                <a:solidFill>
                  <a:prstClr val="black"/>
                </a:solidFill>
              </a:rPr>
              <a:t>檢測：</a:t>
            </a:r>
            <a:r>
              <a:rPr lang="zh-TW" altLang="en-US" sz="1400" dirty="0" smtClean="0">
                <a:solidFill>
                  <a:prstClr val="black"/>
                </a:solidFill>
              </a:rPr>
              <a:t>使用</a:t>
            </a:r>
            <a:r>
              <a:rPr lang="zh-TW" altLang="en-US" sz="1400" dirty="0" smtClean="0">
                <a:solidFill>
                  <a:srgbClr val="FF0000"/>
                </a:solidFill>
              </a:rPr>
              <a:t>異常偵測</a:t>
            </a:r>
            <a:r>
              <a:rPr lang="zh-TW" altLang="en-US" sz="1400" dirty="0" smtClean="0">
                <a:solidFill>
                  <a:prstClr val="black"/>
                </a:solidFill>
              </a:rPr>
              <a:t>方法對噴嘴</a:t>
            </a:r>
            <a:r>
              <a:rPr lang="zh-TW" altLang="en-US" sz="1400" dirty="0" smtClean="0"/>
              <a:t>內部髒污特徵</a:t>
            </a:r>
            <a:r>
              <a:rPr lang="zh-TW" altLang="en-US" sz="1400" dirty="0" smtClean="0">
                <a:solidFill>
                  <a:prstClr val="black"/>
                </a:solidFill>
              </a:rPr>
              <a:t>進行異常辨識</a:t>
            </a:r>
            <a:endParaRPr lang="en-US" altLang="zh-TW" sz="1400" dirty="0">
              <a:solidFill>
                <a:srgbClr val="FF0000"/>
              </a:solidFill>
            </a:endParaRPr>
          </a:p>
        </p:txBody>
      </p:sp>
      <p:sp>
        <p:nvSpPr>
          <p:cNvPr id="2" name="橢圓 1"/>
          <p:cNvSpPr/>
          <p:nvPr/>
        </p:nvSpPr>
        <p:spPr>
          <a:xfrm rot="19478803">
            <a:off x="3022668" y="3515641"/>
            <a:ext cx="936169" cy="6543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橢圓 54"/>
          <p:cNvSpPr/>
          <p:nvPr/>
        </p:nvSpPr>
        <p:spPr>
          <a:xfrm rot="19478803">
            <a:off x="3340873" y="2213466"/>
            <a:ext cx="401990" cy="2428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橢圓 55"/>
          <p:cNvSpPr/>
          <p:nvPr/>
        </p:nvSpPr>
        <p:spPr>
          <a:xfrm rot="17338975">
            <a:off x="3638956" y="2442456"/>
            <a:ext cx="401990" cy="2428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3086758" y="1739872"/>
            <a:ext cx="1111042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最內圈大塊髒污</a:t>
            </a:r>
            <a:endParaRPr lang="zh-TW" altLang="en-US" sz="1000" dirty="0"/>
          </a:p>
        </p:txBody>
      </p:sp>
      <p:sp>
        <p:nvSpPr>
          <p:cNvPr id="60" name="文字方塊 59"/>
          <p:cNvSpPr txBox="1"/>
          <p:nvPr/>
        </p:nvSpPr>
        <p:spPr>
          <a:xfrm>
            <a:off x="3115384" y="3141689"/>
            <a:ext cx="974700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000" dirty="0" smtClean="0"/>
              <a:t>大塊深色髒污</a:t>
            </a:r>
            <a:endParaRPr lang="zh-TW" altLang="en-US" sz="1000" dirty="0"/>
          </a:p>
        </p:txBody>
      </p:sp>
      <p:grpSp>
        <p:nvGrpSpPr>
          <p:cNvPr id="4" name="群組 3"/>
          <p:cNvGrpSpPr/>
          <p:nvPr/>
        </p:nvGrpSpPr>
        <p:grpSpPr>
          <a:xfrm>
            <a:off x="245296" y="2095834"/>
            <a:ext cx="2776215" cy="1848599"/>
            <a:chOff x="475398" y="1830660"/>
            <a:chExt cx="3464637" cy="2306999"/>
          </a:xfrm>
        </p:grpSpPr>
        <p:grpSp>
          <p:nvGrpSpPr>
            <p:cNvPr id="63" name="群組 62"/>
            <p:cNvGrpSpPr/>
            <p:nvPr/>
          </p:nvGrpSpPr>
          <p:grpSpPr>
            <a:xfrm>
              <a:off x="475398" y="1830660"/>
              <a:ext cx="3464637" cy="2306999"/>
              <a:chOff x="743918" y="2479331"/>
              <a:chExt cx="2396143" cy="1146186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743918" y="2479331"/>
                <a:ext cx="2116063" cy="11461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/>
              </a:p>
            </p:txBody>
          </p:sp>
          <p:cxnSp>
            <p:nvCxnSpPr>
              <p:cNvPr id="65" name="直線接點 64"/>
              <p:cNvCxnSpPr/>
              <p:nvPr/>
            </p:nvCxnSpPr>
            <p:spPr>
              <a:xfrm>
                <a:off x="1669256" y="2671763"/>
                <a:ext cx="9624" cy="953753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65"/>
              <p:cNvCxnSpPr/>
              <p:nvPr/>
            </p:nvCxnSpPr>
            <p:spPr>
              <a:xfrm>
                <a:off x="2293144" y="2671763"/>
                <a:ext cx="9624" cy="953753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字方塊 66"/>
              <p:cNvSpPr txBox="1"/>
              <p:nvPr/>
            </p:nvSpPr>
            <p:spPr>
              <a:xfrm>
                <a:off x="780036" y="2968366"/>
                <a:ext cx="326512" cy="2293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200" dirty="0" smtClean="0"/>
                  <a:t>預測</a:t>
                </a:r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1698585" y="2486345"/>
                <a:ext cx="716757" cy="13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200" dirty="0" smtClean="0"/>
                  <a:t>實際</a:t>
                </a:r>
              </a:p>
            </p:txBody>
          </p:sp>
          <p:cxnSp>
            <p:nvCxnSpPr>
              <p:cNvPr id="69" name="直線接點 68"/>
              <p:cNvCxnSpPr/>
              <p:nvPr/>
            </p:nvCxnSpPr>
            <p:spPr>
              <a:xfrm>
                <a:off x="1043269" y="2844219"/>
                <a:ext cx="1816711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接點 69"/>
              <p:cNvCxnSpPr/>
              <p:nvPr/>
            </p:nvCxnSpPr>
            <p:spPr>
              <a:xfrm>
                <a:off x="1042020" y="3240258"/>
                <a:ext cx="1816711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/>
              <p:cNvSpPr txBox="1"/>
              <p:nvPr/>
            </p:nvSpPr>
            <p:spPr>
              <a:xfrm>
                <a:off x="1790862" y="2660016"/>
                <a:ext cx="716757" cy="13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>
                    <a:solidFill>
                      <a:srgbClr val="005087"/>
                    </a:solidFill>
                  </a:rPr>
                  <a:t>NG</a:t>
                </a:r>
                <a:endParaRPr lang="zh-TW" altLang="en-US" sz="1200" dirty="0" smtClean="0">
                  <a:solidFill>
                    <a:srgbClr val="005087"/>
                  </a:solidFill>
                </a:endParaRPr>
              </a:p>
            </p:txBody>
          </p:sp>
          <p:sp>
            <p:nvSpPr>
              <p:cNvPr id="72" name="文字方塊 71"/>
              <p:cNvSpPr txBox="1"/>
              <p:nvPr/>
            </p:nvSpPr>
            <p:spPr>
              <a:xfrm>
                <a:off x="2423304" y="2660016"/>
                <a:ext cx="716757" cy="13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>
                    <a:solidFill>
                      <a:srgbClr val="005087"/>
                    </a:solidFill>
                  </a:rPr>
                  <a:t>OK</a:t>
                </a:r>
                <a:endParaRPr lang="zh-TW" altLang="en-US" sz="1200" dirty="0" smtClean="0">
                  <a:solidFill>
                    <a:srgbClr val="005087"/>
                  </a:solidFill>
                </a:endParaRPr>
              </a:p>
            </p:txBody>
          </p:sp>
          <p:sp>
            <p:nvSpPr>
              <p:cNvPr id="73" name="文字方塊 72"/>
              <p:cNvSpPr txBox="1"/>
              <p:nvPr/>
            </p:nvSpPr>
            <p:spPr>
              <a:xfrm>
                <a:off x="1191497" y="2973428"/>
                <a:ext cx="716757" cy="13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>
                    <a:solidFill>
                      <a:srgbClr val="005087"/>
                    </a:solidFill>
                  </a:rPr>
                  <a:t>NG</a:t>
                </a:r>
                <a:endParaRPr lang="zh-TW" altLang="en-US" sz="1200" dirty="0" smtClean="0">
                  <a:solidFill>
                    <a:srgbClr val="005087"/>
                  </a:solidFill>
                </a:endParaRPr>
              </a:p>
            </p:txBody>
          </p:sp>
          <p:sp>
            <p:nvSpPr>
              <p:cNvPr id="74" name="文字方塊 73"/>
              <p:cNvSpPr txBox="1"/>
              <p:nvPr/>
            </p:nvSpPr>
            <p:spPr>
              <a:xfrm>
                <a:off x="1180526" y="3349285"/>
                <a:ext cx="716757" cy="13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 smtClean="0">
                    <a:solidFill>
                      <a:srgbClr val="005087"/>
                    </a:solidFill>
                  </a:rPr>
                  <a:t>OK</a:t>
                </a:r>
                <a:endParaRPr lang="zh-TW" altLang="en-US" sz="1200" dirty="0" smtClean="0">
                  <a:solidFill>
                    <a:srgbClr val="005087"/>
                  </a:solidFill>
                </a:endParaRPr>
              </a:p>
            </p:txBody>
          </p:sp>
          <p:sp>
            <p:nvSpPr>
              <p:cNvPr id="76" name="文字方塊 75"/>
              <p:cNvSpPr txBox="1"/>
              <p:nvPr/>
            </p:nvSpPr>
            <p:spPr>
              <a:xfrm>
                <a:off x="1893439" y="2972661"/>
                <a:ext cx="414521" cy="13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/>
                  <a:t>7</a:t>
                </a:r>
                <a:endParaRPr lang="zh-TW" altLang="en-US" sz="1200" dirty="0" smtClean="0"/>
              </a:p>
            </p:txBody>
          </p:sp>
          <p:sp>
            <p:nvSpPr>
              <p:cNvPr id="77" name="文字方塊 76"/>
              <p:cNvSpPr txBox="1"/>
              <p:nvPr/>
            </p:nvSpPr>
            <p:spPr>
              <a:xfrm>
                <a:off x="2507620" y="3364077"/>
                <a:ext cx="414521" cy="137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/>
                  <a:t>3</a:t>
                </a:r>
                <a:endParaRPr lang="zh-TW" altLang="en-US" sz="1200" dirty="0" smtClean="0"/>
              </a:p>
            </p:txBody>
          </p:sp>
        </p:grpSp>
        <p:sp>
          <p:nvSpPr>
            <p:cNvPr id="78" name="文字方塊 77"/>
            <p:cNvSpPr txBox="1"/>
            <p:nvPr/>
          </p:nvSpPr>
          <p:spPr>
            <a:xfrm>
              <a:off x="2994612" y="2792253"/>
              <a:ext cx="5993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0</a:t>
              </a:r>
              <a:endParaRPr lang="zh-TW" altLang="en-US" sz="1200" dirty="0" smtClean="0"/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2141360" y="3594483"/>
              <a:ext cx="599365" cy="276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smtClean="0"/>
                <a:t>0</a:t>
              </a:r>
              <a:endParaRPr lang="zh-TW" altLang="en-US" sz="1200" dirty="0" smtClean="0"/>
            </a:p>
          </p:txBody>
        </p:sp>
      </p:grp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r="18881"/>
          <a:stretch/>
        </p:blipFill>
        <p:spPr>
          <a:xfrm>
            <a:off x="4410734" y="1836152"/>
            <a:ext cx="1409567" cy="1283044"/>
          </a:xfrm>
          <a:prstGeom prst="rect">
            <a:avLst/>
          </a:prstGeom>
        </p:spPr>
      </p:pic>
      <p:sp>
        <p:nvSpPr>
          <p:cNvPr id="40" name="橢圓 39"/>
          <p:cNvSpPr/>
          <p:nvPr/>
        </p:nvSpPr>
        <p:spPr>
          <a:xfrm rot="17338975">
            <a:off x="3473152" y="2674889"/>
            <a:ext cx="205672" cy="2428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11" r="21897"/>
          <a:stretch/>
        </p:blipFill>
        <p:spPr>
          <a:xfrm>
            <a:off x="4394760" y="3271888"/>
            <a:ext cx="1425541" cy="1278844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4" t="5046" r="28890" b="19214"/>
          <a:stretch/>
        </p:blipFill>
        <p:spPr>
          <a:xfrm>
            <a:off x="6182820" y="3241929"/>
            <a:ext cx="1406479" cy="1319189"/>
          </a:xfrm>
          <a:prstGeom prst="rect">
            <a:avLst/>
          </a:prstGeom>
        </p:spPr>
      </p:pic>
      <p:grpSp>
        <p:nvGrpSpPr>
          <p:cNvPr id="36" name="群組 35"/>
          <p:cNvGrpSpPr/>
          <p:nvPr/>
        </p:nvGrpSpPr>
        <p:grpSpPr>
          <a:xfrm>
            <a:off x="7943351" y="1469254"/>
            <a:ext cx="1119252" cy="3016168"/>
            <a:chOff x="7621461" y="1219264"/>
            <a:chExt cx="1119252" cy="3193745"/>
          </a:xfrm>
        </p:grpSpPr>
        <p:grpSp>
          <p:nvGrpSpPr>
            <p:cNvPr id="37" name="群組 36"/>
            <p:cNvGrpSpPr/>
            <p:nvPr/>
          </p:nvGrpSpPr>
          <p:grpSpPr>
            <a:xfrm>
              <a:off x="7709128" y="1219264"/>
              <a:ext cx="817351" cy="376793"/>
              <a:chOff x="4765224" y="827836"/>
              <a:chExt cx="817351" cy="376793"/>
            </a:xfrm>
          </p:grpSpPr>
          <p:sp>
            <p:nvSpPr>
              <p:cNvPr id="86" name="橢圓 85"/>
              <p:cNvSpPr/>
              <p:nvPr/>
            </p:nvSpPr>
            <p:spPr>
              <a:xfrm>
                <a:off x="4765224" y="827836"/>
                <a:ext cx="817351" cy="376793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文字方塊 86"/>
              <p:cNvSpPr txBox="1"/>
              <p:nvPr/>
            </p:nvSpPr>
            <p:spPr>
              <a:xfrm>
                <a:off x="4790306" y="843391"/>
                <a:ext cx="765180" cy="358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800" dirty="0" smtClean="0"/>
                  <a:t>內</a:t>
                </a:r>
                <a:r>
                  <a:rPr lang="zh-TW" altLang="en-US" sz="800" dirty="0"/>
                  <a:t>部</a:t>
                </a:r>
                <a:r>
                  <a:rPr lang="zh-TW" altLang="en-US" sz="800" dirty="0" smtClean="0"/>
                  <a:t>缺陷</a:t>
                </a:r>
                <a:endParaRPr lang="en-US" altLang="zh-TW" sz="800" dirty="0" smtClean="0"/>
              </a:p>
              <a:p>
                <a:pPr algn="ctr"/>
                <a:r>
                  <a:rPr lang="en-US" altLang="zh-TW" sz="800" dirty="0" smtClean="0"/>
                  <a:t>AI</a:t>
                </a:r>
                <a:r>
                  <a:rPr lang="zh-TW" altLang="en-US" sz="800" dirty="0" smtClean="0"/>
                  <a:t>辨識</a:t>
                </a:r>
                <a:endParaRPr lang="zh-TW" altLang="en-US" sz="800" dirty="0"/>
              </a:p>
            </p:txBody>
          </p:sp>
        </p:grpSp>
        <p:cxnSp>
          <p:nvCxnSpPr>
            <p:cNvPr id="38" name="直線單箭頭接點 37"/>
            <p:cNvCxnSpPr>
              <a:stCxn id="86" idx="4"/>
              <a:endCxn id="84" idx="0"/>
            </p:cNvCxnSpPr>
            <p:nvPr/>
          </p:nvCxnSpPr>
          <p:spPr>
            <a:xfrm flipH="1">
              <a:off x="8117506" y="1596057"/>
              <a:ext cx="298" cy="24028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群組 38"/>
            <p:cNvGrpSpPr/>
            <p:nvPr/>
          </p:nvGrpSpPr>
          <p:grpSpPr>
            <a:xfrm>
              <a:off x="7661478" y="1836342"/>
              <a:ext cx="1005405" cy="273572"/>
              <a:chOff x="1165858" y="3108960"/>
              <a:chExt cx="1644681" cy="282991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84" name="矩形 83"/>
              <p:cNvSpPr/>
              <p:nvPr/>
            </p:nvSpPr>
            <p:spPr>
              <a:xfrm>
                <a:off x="1165858" y="3108960"/>
                <a:ext cx="1491977" cy="28299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85" name="文字方塊 84"/>
              <p:cNvSpPr txBox="1"/>
              <p:nvPr/>
            </p:nvSpPr>
            <p:spPr>
              <a:xfrm>
                <a:off x="1190585" y="3139220"/>
                <a:ext cx="1619954" cy="235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 smtClean="0"/>
                  <a:t>Load AI Model</a:t>
                </a:r>
                <a:endParaRPr lang="zh-TW" altLang="en-US" sz="800" dirty="0"/>
              </a:p>
            </p:txBody>
          </p:sp>
        </p:grpSp>
        <p:grpSp>
          <p:nvGrpSpPr>
            <p:cNvPr id="41" name="群組 40"/>
            <p:cNvGrpSpPr/>
            <p:nvPr/>
          </p:nvGrpSpPr>
          <p:grpSpPr>
            <a:xfrm>
              <a:off x="7661478" y="4122688"/>
              <a:ext cx="910661" cy="290321"/>
              <a:chOff x="1165860" y="2737738"/>
              <a:chExt cx="1489695" cy="381631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82" name="矩形 81"/>
              <p:cNvSpPr/>
              <p:nvPr/>
            </p:nvSpPr>
            <p:spPr>
              <a:xfrm>
                <a:off x="1165860" y="2737738"/>
                <a:ext cx="1489695" cy="38163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83" name="文字方塊 82"/>
              <p:cNvSpPr txBox="1"/>
              <p:nvPr/>
            </p:nvSpPr>
            <p:spPr>
              <a:xfrm>
                <a:off x="1552913" y="2790696"/>
                <a:ext cx="753517" cy="299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 smtClean="0"/>
                  <a:t>END</a:t>
                </a:r>
                <a:endParaRPr lang="zh-TW" altLang="en-US" sz="800" dirty="0"/>
              </a:p>
            </p:txBody>
          </p:sp>
        </p:grpSp>
        <p:cxnSp>
          <p:nvCxnSpPr>
            <p:cNvPr id="42" name="直線單箭頭接點 41"/>
            <p:cNvCxnSpPr>
              <a:stCxn id="84" idx="2"/>
              <a:endCxn id="62" idx="0"/>
            </p:cNvCxnSpPr>
            <p:nvPr/>
          </p:nvCxnSpPr>
          <p:spPr>
            <a:xfrm>
              <a:off x="8117506" y="2109914"/>
              <a:ext cx="2423" cy="2231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/>
            <p:cNvCxnSpPr>
              <a:stCxn id="58" idx="2"/>
              <a:endCxn id="80" idx="0"/>
            </p:cNvCxnSpPr>
            <p:nvPr/>
          </p:nvCxnSpPr>
          <p:spPr>
            <a:xfrm flipH="1">
              <a:off x="8116800" y="3275263"/>
              <a:ext cx="2833" cy="2416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群組 43"/>
            <p:cNvGrpSpPr/>
            <p:nvPr/>
          </p:nvGrpSpPr>
          <p:grpSpPr>
            <a:xfrm>
              <a:off x="7653448" y="3516942"/>
              <a:ext cx="1087265" cy="391833"/>
              <a:chOff x="973642" y="2781260"/>
              <a:chExt cx="1778590" cy="515071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80" name="矩形 79"/>
              <p:cNvSpPr/>
              <p:nvPr/>
            </p:nvSpPr>
            <p:spPr>
              <a:xfrm>
                <a:off x="973642" y="2781260"/>
                <a:ext cx="1515939" cy="51507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81" name="文字方塊 80"/>
              <p:cNvSpPr txBox="1"/>
              <p:nvPr/>
            </p:nvSpPr>
            <p:spPr>
              <a:xfrm>
                <a:off x="986437" y="2811940"/>
                <a:ext cx="1765795" cy="471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儲存辨識結果並</a:t>
                </a:r>
                <a:endParaRPr lang="en-US" altLang="zh-TW" sz="800" dirty="0" smtClean="0"/>
              </a:p>
              <a:p>
                <a:r>
                  <a:rPr lang="zh-TW" altLang="en-US" sz="800" dirty="0" smtClean="0"/>
                  <a:t>回傳</a:t>
                </a:r>
                <a:endParaRPr lang="zh-TW" altLang="en-US" sz="800" dirty="0"/>
              </a:p>
            </p:txBody>
          </p:sp>
        </p:grpSp>
        <p:cxnSp>
          <p:nvCxnSpPr>
            <p:cNvPr id="45" name="直線單箭頭接點 44"/>
            <p:cNvCxnSpPr>
              <a:stCxn id="80" idx="2"/>
              <a:endCxn id="82" idx="0"/>
            </p:cNvCxnSpPr>
            <p:nvPr/>
          </p:nvCxnSpPr>
          <p:spPr>
            <a:xfrm>
              <a:off x="8116800" y="3908776"/>
              <a:ext cx="9" cy="21391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群組 46"/>
            <p:cNvGrpSpPr/>
            <p:nvPr/>
          </p:nvGrpSpPr>
          <p:grpSpPr>
            <a:xfrm>
              <a:off x="7621461" y="2333055"/>
              <a:ext cx="1080771" cy="365195"/>
              <a:chOff x="1100252" y="2843803"/>
              <a:chExt cx="1767966" cy="480055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62" name="矩形 61"/>
              <p:cNvSpPr/>
              <p:nvPr/>
            </p:nvSpPr>
            <p:spPr>
              <a:xfrm>
                <a:off x="1165857" y="2843803"/>
                <a:ext cx="1499613" cy="4800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75" name="文字方塊 74"/>
              <p:cNvSpPr txBox="1"/>
              <p:nvPr/>
            </p:nvSpPr>
            <p:spPr>
              <a:xfrm>
                <a:off x="1100252" y="2852619"/>
                <a:ext cx="1767966" cy="471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800" dirty="0" smtClean="0"/>
                  <a:t>依序讀取噴嘴內部影像佇列的影像</a:t>
                </a:r>
                <a:endParaRPr lang="zh-TW" altLang="en-US" sz="800" dirty="0"/>
              </a:p>
            </p:txBody>
          </p:sp>
        </p:grpSp>
        <p:cxnSp>
          <p:nvCxnSpPr>
            <p:cNvPr id="49" name="直線單箭頭接點 48"/>
            <p:cNvCxnSpPr>
              <a:stCxn id="62" idx="2"/>
              <a:endCxn id="58" idx="0"/>
            </p:cNvCxnSpPr>
            <p:nvPr/>
          </p:nvCxnSpPr>
          <p:spPr>
            <a:xfrm flipH="1">
              <a:off x="8119633" y="2698250"/>
              <a:ext cx="296" cy="2118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群組 56"/>
            <p:cNvGrpSpPr/>
            <p:nvPr/>
          </p:nvGrpSpPr>
          <p:grpSpPr>
            <a:xfrm>
              <a:off x="7661270" y="2910067"/>
              <a:ext cx="916725" cy="365195"/>
              <a:chOff x="1165857" y="2817287"/>
              <a:chExt cx="1499613" cy="480055"/>
            </a:xfrm>
            <a:solidFill>
              <a:schemeClr val="accent3">
                <a:lumMod val="40000"/>
                <a:lumOff val="60000"/>
              </a:schemeClr>
            </a:solidFill>
          </p:grpSpPr>
          <p:sp>
            <p:nvSpPr>
              <p:cNvPr id="58" name="矩形 57"/>
              <p:cNvSpPr/>
              <p:nvPr/>
            </p:nvSpPr>
            <p:spPr>
              <a:xfrm>
                <a:off x="1165857" y="2817287"/>
                <a:ext cx="1499613" cy="48005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800"/>
              </a:p>
            </p:txBody>
          </p:sp>
          <p:sp>
            <p:nvSpPr>
              <p:cNvPr id="61" name="文字方塊 60"/>
              <p:cNvSpPr txBox="1"/>
              <p:nvPr/>
            </p:nvSpPr>
            <p:spPr>
              <a:xfrm>
                <a:off x="1323131" y="2912008"/>
                <a:ext cx="1213754" cy="299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dirty="0" smtClean="0"/>
                  <a:t>AI</a:t>
                </a:r>
                <a:r>
                  <a:rPr lang="zh-TW" altLang="en-US" sz="800" dirty="0" smtClean="0"/>
                  <a:t>預測影像</a:t>
                </a:r>
                <a:endParaRPr lang="zh-TW" altLang="en-US" sz="800" dirty="0"/>
              </a:p>
            </p:txBody>
          </p:sp>
        </p:grpSp>
      </p:grpSp>
      <p:sp>
        <p:nvSpPr>
          <p:cNvPr id="88" name="橢圓 87"/>
          <p:cNvSpPr/>
          <p:nvPr/>
        </p:nvSpPr>
        <p:spPr>
          <a:xfrm rot="13508348">
            <a:off x="3830835" y="3434489"/>
            <a:ext cx="401990" cy="2428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85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群組 37"/>
          <p:cNvGrpSpPr/>
          <p:nvPr/>
        </p:nvGrpSpPr>
        <p:grpSpPr>
          <a:xfrm>
            <a:off x="994452" y="1276173"/>
            <a:ext cx="6477914" cy="1870206"/>
            <a:chOff x="4151303" y="2899841"/>
            <a:chExt cx="6543520" cy="2135086"/>
          </a:xfrm>
        </p:grpSpPr>
        <p:pic>
          <p:nvPicPr>
            <p:cNvPr id="39" name="圖片 38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6" t="24364" r="-1" b="32231"/>
            <a:stretch/>
          </p:blipFill>
          <p:spPr>
            <a:xfrm>
              <a:off x="4151303" y="2899841"/>
              <a:ext cx="6543520" cy="2135086"/>
            </a:xfrm>
            <a:prstGeom prst="rect">
              <a:avLst/>
            </a:prstGeom>
          </p:spPr>
        </p:pic>
        <p:sp>
          <p:nvSpPr>
            <p:cNvPr id="40" name="文字方塊 39"/>
            <p:cNvSpPr txBox="1"/>
            <p:nvPr/>
          </p:nvSpPr>
          <p:spPr>
            <a:xfrm>
              <a:off x="9392717" y="3089913"/>
              <a:ext cx="800219" cy="27699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TW" altLang="en-US" sz="1200" dirty="0" smtClean="0"/>
                <a:t>電控裝置</a:t>
              </a:r>
              <a:endParaRPr lang="zh-TW" altLang="en-US" sz="1200" dirty="0"/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7070157" y="2979203"/>
              <a:ext cx="1236236" cy="27699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TW" altLang="en-US" sz="1200" dirty="0" smtClean="0"/>
                <a:t>顯微鏡</a:t>
              </a:r>
              <a:r>
                <a:rPr lang="en-US" altLang="zh-TW" sz="1200" dirty="0" smtClean="0"/>
                <a:t>(</a:t>
              </a:r>
              <a:r>
                <a:rPr lang="zh-TW" altLang="en-US" sz="1200" dirty="0" smtClean="0"/>
                <a:t>含馬達</a:t>
              </a:r>
              <a:r>
                <a:rPr lang="en-US" altLang="zh-TW" sz="1200" dirty="0" smtClean="0"/>
                <a:t>)</a:t>
              </a:r>
              <a:endParaRPr lang="zh-TW" altLang="en-US" sz="1200" dirty="0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7305454" y="4757928"/>
              <a:ext cx="1008609" cy="27699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200" dirty="0" smtClean="0"/>
                <a:t>XY</a:t>
              </a:r>
              <a:r>
                <a:rPr lang="zh-TW" altLang="en-US" sz="1200" dirty="0" smtClean="0"/>
                <a:t>電動平台</a:t>
              </a:r>
              <a:endParaRPr lang="zh-TW" altLang="en-US" sz="1200" dirty="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478787" y="2993162"/>
              <a:ext cx="405880" cy="27699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200" dirty="0" smtClean="0"/>
                <a:t>PC</a:t>
              </a:r>
              <a:endParaRPr lang="zh-TW" altLang="en-US" sz="1200" dirty="0"/>
            </a:p>
          </p:txBody>
        </p:sp>
      </p:grpSp>
      <p:grpSp>
        <p:nvGrpSpPr>
          <p:cNvPr id="89" name="群組 88"/>
          <p:cNvGrpSpPr/>
          <p:nvPr/>
        </p:nvGrpSpPr>
        <p:grpSpPr>
          <a:xfrm>
            <a:off x="4026726" y="64618"/>
            <a:ext cx="4795635" cy="1139958"/>
            <a:chOff x="4622465" y="3091206"/>
            <a:chExt cx="2777231" cy="1139958"/>
          </a:xfrm>
        </p:grpSpPr>
        <p:sp>
          <p:nvSpPr>
            <p:cNvPr id="90" name="矩形 89"/>
            <p:cNvSpPr/>
            <p:nvPr/>
          </p:nvSpPr>
          <p:spPr>
            <a:xfrm>
              <a:off x="4954515" y="3251857"/>
              <a:ext cx="2445181" cy="979307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50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91" name="群組 90"/>
            <p:cNvGrpSpPr/>
            <p:nvPr/>
          </p:nvGrpSpPr>
          <p:grpSpPr>
            <a:xfrm>
              <a:off x="4622465" y="3091206"/>
              <a:ext cx="371634" cy="408164"/>
              <a:chOff x="345553" y="2960388"/>
              <a:chExt cx="371634" cy="408164"/>
            </a:xfrm>
            <a:solidFill>
              <a:srgbClr val="005087"/>
            </a:solidFill>
          </p:grpSpPr>
          <p:sp>
            <p:nvSpPr>
              <p:cNvPr id="99" name="圓角矩形 98"/>
              <p:cNvSpPr/>
              <p:nvPr/>
            </p:nvSpPr>
            <p:spPr>
              <a:xfrm>
                <a:off x="345554" y="2960388"/>
                <a:ext cx="371633" cy="408164"/>
              </a:xfrm>
              <a:prstGeom prst="roundRect">
                <a:avLst>
                  <a:gd name="adj" fmla="val 717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="" xmlns:a16="http://schemas.microsoft.com/office/drawing/2014/main" id="{2FB82B3E-7C5A-4E57-B159-B07D5CBA84B6}"/>
                  </a:ext>
                </a:extLst>
              </p:cNvPr>
              <p:cNvSpPr/>
              <p:nvPr/>
            </p:nvSpPr>
            <p:spPr>
              <a:xfrm>
                <a:off x="345553" y="3021219"/>
                <a:ext cx="36349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sz="1200" b="1" dirty="0" smtClean="0">
                    <a:solidFill>
                      <a:schemeClr val="bg1"/>
                    </a:solidFill>
                  </a:rPr>
                  <a:t>效益</a:t>
                </a:r>
                <a:endParaRPr lang="en-US" altLang="zh-TW" sz="12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7" name="群組 26"/>
          <p:cNvGrpSpPr/>
          <p:nvPr/>
        </p:nvGrpSpPr>
        <p:grpSpPr>
          <a:xfrm>
            <a:off x="4722757" y="314080"/>
            <a:ext cx="3968169" cy="798615"/>
            <a:chOff x="4708566" y="3215083"/>
            <a:chExt cx="3968169" cy="798615"/>
          </a:xfrm>
        </p:grpSpPr>
        <p:sp>
          <p:nvSpPr>
            <p:cNvPr id="28" name="圓角矩形 27"/>
            <p:cNvSpPr/>
            <p:nvPr/>
          </p:nvSpPr>
          <p:spPr>
            <a:xfrm>
              <a:off x="4708566" y="3215083"/>
              <a:ext cx="1938650" cy="798615"/>
            </a:xfrm>
            <a:prstGeom prst="roundRect">
              <a:avLst>
                <a:gd name="adj" fmla="val 1548"/>
              </a:avLst>
            </a:prstGeom>
            <a:solidFill>
              <a:schemeClr val="bg1"/>
            </a:solidFill>
            <a:ln w="9525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254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4805789" y="3511610"/>
              <a:ext cx="14311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000" dirty="0" smtClean="0">
                  <a:solidFill>
                    <a:srgbClr val="F64C00"/>
                  </a:solidFill>
                  <a:sym typeface="Wingdings" pitchFamily="2" charset="2"/>
                </a:rPr>
                <a:t>減少</a:t>
              </a:r>
              <a:r>
                <a:rPr lang="zh-TW" altLang="en-US" sz="1000" dirty="0" smtClean="0">
                  <a:sym typeface="Wingdings" pitchFamily="2" charset="2"/>
                </a:rPr>
                <a:t>人員檢查工時 </a:t>
              </a:r>
              <a:r>
                <a:rPr lang="en-US" altLang="zh-TW" sz="1000" dirty="0" smtClean="0">
                  <a:solidFill>
                    <a:schemeClr val="accent1"/>
                  </a:solidFill>
                  <a:sym typeface="Wingdings" pitchFamily="2" charset="2"/>
                </a:rPr>
                <a:t>300 </a:t>
              </a:r>
              <a:r>
                <a:rPr lang="en-US" altLang="zh-TW" sz="1000" dirty="0" err="1" smtClean="0">
                  <a:solidFill>
                    <a:schemeClr val="accent1"/>
                  </a:solidFill>
                  <a:sym typeface="Wingdings" pitchFamily="2" charset="2"/>
                </a:rPr>
                <a:t>hrs</a:t>
              </a:r>
              <a:r>
                <a:rPr lang="en-US" altLang="zh-TW" sz="1000" dirty="0" smtClean="0">
                  <a:solidFill>
                    <a:schemeClr val="accent1"/>
                  </a:solidFill>
                  <a:sym typeface="Wingdings" pitchFamily="2" charset="2"/>
                </a:rPr>
                <a:t>/</a:t>
              </a:r>
              <a:r>
                <a:rPr lang="zh-TW" altLang="en-US" sz="1000" dirty="0">
                  <a:solidFill>
                    <a:schemeClr val="accent1"/>
                  </a:solidFill>
                  <a:sym typeface="Wingdings" pitchFamily="2" charset="2"/>
                </a:rPr>
                <a:t>年</a:t>
              </a:r>
              <a:endParaRPr lang="zh-TW" altLang="en-US" sz="1000" dirty="0">
                <a:solidFill>
                  <a:schemeClr val="accent1"/>
                </a:solidFill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4788291" y="3245333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zh-TW" altLang="en-US" sz="1200" b="1" dirty="0" smtClean="0"/>
                <a:t>人力工時改善</a:t>
              </a:r>
              <a:endParaRPr lang="zh-TW" altLang="en-US" sz="1200" b="1" dirty="0"/>
            </a:p>
          </p:txBody>
        </p:sp>
        <p:sp>
          <p:nvSpPr>
            <p:cNvPr id="31" name="圓角矩形 30"/>
            <p:cNvSpPr/>
            <p:nvPr/>
          </p:nvSpPr>
          <p:spPr>
            <a:xfrm>
              <a:off x="6738085" y="3215083"/>
              <a:ext cx="1938650" cy="798615"/>
            </a:xfrm>
            <a:prstGeom prst="roundRect">
              <a:avLst>
                <a:gd name="adj" fmla="val 1548"/>
              </a:avLst>
            </a:prstGeom>
            <a:solidFill>
              <a:schemeClr val="bg1"/>
            </a:solidFill>
            <a:ln w="9525">
              <a:solidFill>
                <a:schemeClr val="tx2">
                  <a:lumMod val="50000"/>
                  <a:lumOff val="50000"/>
                </a:schemeClr>
              </a:solidFill>
            </a:ln>
            <a:effectLst>
              <a:outerShdw blurRad="254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6738085" y="3492863"/>
              <a:ext cx="15192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zh-TW" altLang="en-US" sz="1000" dirty="0" smtClean="0">
                  <a:solidFill>
                    <a:srgbClr val="F64C00"/>
                  </a:solidFill>
                </a:rPr>
                <a:t>減少</a:t>
              </a:r>
              <a:r>
                <a:rPr lang="zh-TW" altLang="en-US" sz="1000" dirty="0" smtClean="0"/>
                <a:t>因噴嘴異常造成的</a:t>
              </a:r>
              <a:endParaRPr lang="en-US" altLang="zh-TW" sz="1000" dirty="0" smtClean="0"/>
            </a:p>
            <a:p>
              <a:pPr lvl="0"/>
              <a:r>
                <a:rPr lang="zh-TW" altLang="en-US" sz="1000" dirty="0" smtClean="0"/>
                <a:t>玻璃報廢 </a:t>
              </a:r>
              <a:r>
                <a:rPr lang="en-US" altLang="zh-TW" sz="1000" dirty="0" smtClean="0">
                  <a:solidFill>
                    <a:schemeClr val="accent1"/>
                  </a:solidFill>
                </a:rPr>
                <a:t>188.28</a:t>
              </a:r>
              <a:r>
                <a:rPr lang="zh-TW" altLang="en-US" sz="1000" dirty="0" smtClean="0">
                  <a:solidFill>
                    <a:schemeClr val="accent1"/>
                  </a:solidFill>
                </a:rPr>
                <a:t>萬</a:t>
              </a:r>
              <a:r>
                <a:rPr lang="en-US" altLang="zh-TW" sz="1000" dirty="0" smtClean="0">
                  <a:solidFill>
                    <a:schemeClr val="accent1"/>
                  </a:solidFill>
                </a:rPr>
                <a:t>/</a:t>
              </a:r>
              <a:r>
                <a:rPr lang="zh-TW" altLang="en-US" sz="1000" dirty="0" smtClean="0">
                  <a:solidFill>
                    <a:schemeClr val="accent1"/>
                  </a:solidFill>
                </a:rPr>
                <a:t>年</a:t>
              </a:r>
              <a:endParaRPr lang="zh-TW" altLang="en-US" sz="1000" dirty="0">
                <a:solidFill>
                  <a:schemeClr val="accent1"/>
                </a:solidFill>
              </a:endParaRP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6724653" y="3245332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/>
              <a:r>
                <a:rPr lang="zh-TW" altLang="en-US" sz="1200" b="1" dirty="0" smtClean="0"/>
                <a:t>重大報廢改善</a:t>
              </a:r>
              <a:endParaRPr lang="zh-TW" altLang="en-US" sz="1200" b="1" dirty="0"/>
            </a:p>
          </p:txBody>
        </p:sp>
        <p:pic>
          <p:nvPicPr>
            <p:cNvPr id="34" name="圖片 3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5759" y="3470180"/>
              <a:ext cx="424659" cy="384858"/>
            </a:xfrm>
            <a:prstGeom prst="rect">
              <a:avLst/>
            </a:prstGeom>
          </p:spPr>
        </p:pic>
        <p:pic>
          <p:nvPicPr>
            <p:cNvPr id="35" name="圖片 3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0721" y="3467111"/>
              <a:ext cx="476991" cy="432285"/>
            </a:xfrm>
            <a:prstGeom prst="rect">
              <a:avLst/>
            </a:prstGeom>
          </p:spPr>
        </p:pic>
      </p:grpSp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0" t="40974" r="24842" b="29124"/>
          <a:stretch/>
        </p:blipFill>
        <p:spPr>
          <a:xfrm>
            <a:off x="732184" y="3228122"/>
            <a:ext cx="1852304" cy="1069056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3671" y="3228122"/>
            <a:ext cx="1760571" cy="1069056"/>
          </a:xfrm>
          <a:prstGeom prst="rect">
            <a:avLst/>
          </a:prstGeom>
        </p:spPr>
      </p:pic>
      <p:sp>
        <p:nvSpPr>
          <p:cNvPr id="2" name="文字方塊 1"/>
          <p:cNvSpPr txBox="1"/>
          <p:nvPr/>
        </p:nvSpPr>
        <p:spPr>
          <a:xfrm>
            <a:off x="479146" y="4297178"/>
            <a:ext cx="224452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舊治具缺點：</a:t>
            </a:r>
            <a:endParaRPr lang="en-US" altLang="zh-TW" sz="1000" dirty="0" smtClean="0"/>
          </a:p>
          <a:p>
            <a:r>
              <a:rPr lang="en-US" altLang="zh-TW" sz="1000" dirty="0" smtClean="0"/>
              <a:t>1.</a:t>
            </a:r>
            <a:r>
              <a:rPr lang="zh-TW" altLang="en-US" sz="1000" dirty="0" smtClean="0"/>
              <a:t> 側柱撞到鏡頭，邊緣噴嘴拍攝不到</a:t>
            </a:r>
            <a:endParaRPr lang="en-US" altLang="zh-TW" sz="1000" dirty="0" smtClean="0"/>
          </a:p>
          <a:p>
            <a:r>
              <a:rPr lang="en-US" altLang="zh-TW" sz="1000" dirty="0"/>
              <a:t>2</a:t>
            </a:r>
            <a:r>
              <a:rPr lang="en-US" altLang="zh-TW" sz="1000" dirty="0" smtClean="0"/>
              <a:t>.</a:t>
            </a:r>
            <a:r>
              <a:rPr lang="zh-TW" altLang="en-US" sz="1000" dirty="0" smtClean="0"/>
              <a:t> 治具太厚鏡頭無法對焦噴嘴頂端</a:t>
            </a:r>
            <a:endParaRPr lang="zh-TW" altLang="en-US" sz="10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2653291" y="4297178"/>
            <a:ext cx="17059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新治具改善：</a:t>
            </a:r>
            <a:endParaRPr lang="en-US" altLang="zh-TW" sz="1000" dirty="0" smtClean="0"/>
          </a:p>
          <a:p>
            <a:r>
              <a:rPr lang="en-US" altLang="zh-TW" sz="1000" dirty="0" smtClean="0"/>
              <a:t>1.</a:t>
            </a:r>
            <a:r>
              <a:rPr lang="zh-TW" altLang="en-US" sz="1000" dirty="0" smtClean="0"/>
              <a:t> 側柱</a:t>
            </a:r>
            <a:r>
              <a:rPr lang="zh-TW" altLang="en-US" sz="1000" dirty="0" smtClean="0">
                <a:solidFill>
                  <a:srgbClr val="FF0000"/>
                </a:solidFill>
              </a:rPr>
              <a:t>改圓弧</a:t>
            </a:r>
            <a:r>
              <a:rPr lang="zh-TW" altLang="en-US" sz="1000" dirty="0" smtClean="0"/>
              <a:t>設計避開鏡頭</a:t>
            </a:r>
            <a:endParaRPr lang="en-US" altLang="zh-TW" sz="1000" dirty="0" smtClean="0"/>
          </a:p>
          <a:p>
            <a:r>
              <a:rPr lang="en-US" altLang="zh-TW" sz="1000" dirty="0" smtClean="0"/>
              <a:t>2.</a:t>
            </a:r>
            <a:r>
              <a:rPr lang="zh-TW" altLang="en-US" sz="1000" dirty="0" smtClean="0"/>
              <a:t>厚度</a:t>
            </a:r>
            <a:r>
              <a:rPr lang="zh-TW" altLang="en-US" sz="1000" dirty="0" smtClean="0">
                <a:solidFill>
                  <a:srgbClr val="FF0000"/>
                </a:solidFill>
              </a:rPr>
              <a:t>改薄</a:t>
            </a:r>
            <a:r>
              <a:rPr lang="zh-TW" altLang="en-US" sz="1000" dirty="0" smtClean="0"/>
              <a:t>使鏡頭能夠對焦</a:t>
            </a:r>
            <a:endParaRPr lang="en-US" altLang="zh-TW" sz="1000" dirty="0" smtClean="0"/>
          </a:p>
          <a:p>
            <a:r>
              <a:rPr lang="zh-TW" altLang="en-US" sz="1000" dirty="0" smtClean="0"/>
              <a:t>噴嘴頂端</a:t>
            </a:r>
            <a:endParaRPr lang="zh-TW" altLang="en-US" sz="1000" dirty="0"/>
          </a:p>
        </p:txBody>
      </p:sp>
      <p:sp>
        <p:nvSpPr>
          <p:cNvPr id="3" name="文字方塊 2"/>
          <p:cNvSpPr txBox="1"/>
          <p:nvPr/>
        </p:nvSpPr>
        <p:spPr>
          <a:xfrm>
            <a:off x="411600" y="935219"/>
            <a:ext cx="116570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mtClean="0"/>
              <a:t>實際硬體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9" b="8779"/>
          <a:stretch/>
        </p:blipFill>
        <p:spPr>
          <a:xfrm>
            <a:off x="4654405" y="3215895"/>
            <a:ext cx="3331823" cy="121299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639268" y="4305776"/>
            <a:ext cx="27767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000" dirty="0" smtClean="0"/>
              <a:t>定位塊用途：</a:t>
            </a:r>
            <a:endParaRPr lang="en-US" altLang="zh-TW" sz="1000" dirty="0" smtClean="0"/>
          </a:p>
          <a:p>
            <a:r>
              <a:rPr lang="en-US" altLang="zh-TW" sz="1000" dirty="0" smtClean="0"/>
              <a:t>1.</a:t>
            </a:r>
            <a:r>
              <a:rPr lang="zh-TW" altLang="en-US" sz="1000" dirty="0" smtClean="0"/>
              <a:t> </a:t>
            </a:r>
            <a:r>
              <a:rPr lang="zh-TW" altLang="en-US" sz="1000" dirty="0" smtClean="0">
                <a:solidFill>
                  <a:srgbClr val="FF0000"/>
                </a:solidFill>
              </a:rPr>
              <a:t>固定治具</a:t>
            </a:r>
            <a:r>
              <a:rPr lang="zh-TW" altLang="en-US" sz="1000" dirty="0" smtClean="0"/>
              <a:t>，防止</a:t>
            </a:r>
            <a:r>
              <a:rPr lang="en-US" altLang="zh-TW" sz="1000" dirty="0" smtClean="0"/>
              <a:t>XY</a:t>
            </a:r>
            <a:r>
              <a:rPr lang="zh-TW" altLang="en-US" sz="1000" dirty="0" smtClean="0"/>
              <a:t>平台移動時治具位置跑掉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7892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99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m_20231227_auo_latest_theme">
  <a:themeElements>
    <a:clrScheme name="自訂 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087"/>
      </a:accent1>
      <a:accent2>
        <a:srgbClr val="64DCF0"/>
      </a:accent2>
      <a:accent3>
        <a:srgbClr val="FFE664"/>
      </a:accent3>
      <a:accent4>
        <a:srgbClr val="B491D7"/>
      </a:accent4>
      <a:accent5>
        <a:srgbClr val="87DC64"/>
      </a:accent5>
      <a:accent6>
        <a:srgbClr val="147891"/>
      </a:accent6>
      <a:hlink>
        <a:srgbClr val="16CAE8"/>
      </a:hlink>
      <a:folHlink>
        <a:srgbClr val="414141"/>
      </a:folHlink>
    </a:clrScheme>
    <a:fontScheme name="Custom 16">
      <a:majorFont>
        <a:latin typeface="Mabry Pro Medium"/>
        <a:ea typeface="Noto Sans TC Medium"/>
        <a:cs typeface="MabryPro-Bold"/>
      </a:majorFont>
      <a:minorFont>
        <a:latin typeface="Mabry Pro"/>
        <a:ea typeface="Noto Sans TC"/>
        <a:cs typeface="MabryPro-Bold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m_20231227_auo_latest_theme" id="{4B994A7F-7376-478C-B28A-A4CF3D3789B3}" vid="{54ECFD4F-0804-4A99-91F1-FEFD888C4A8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vm_20231227_auo_latest_theme</Template>
  <TotalTime>213248</TotalTime>
  <Words>4209</Words>
  <Application>Microsoft Office PowerPoint</Application>
  <PresentationFormat>如螢幕大小 (16:9)</PresentationFormat>
  <Paragraphs>1074</Paragraphs>
  <Slides>40</Slides>
  <Notes>19</Notes>
  <HiddenSlides>2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40</vt:i4>
      </vt:variant>
    </vt:vector>
  </HeadingPairs>
  <TitlesOfParts>
    <vt:vector size="56" baseType="lpstr">
      <vt:lpstr>等线</vt:lpstr>
      <vt:lpstr>Noto Sans TC</vt:lpstr>
      <vt:lpstr>Noto Sans TC Medium</vt:lpstr>
      <vt:lpstr>微軟正黑體</vt:lpstr>
      <vt:lpstr>新細明體</vt:lpstr>
      <vt:lpstr>Arial</vt:lpstr>
      <vt:lpstr>Arial</vt:lpstr>
      <vt:lpstr>Bahnschrift</vt:lpstr>
      <vt:lpstr>Calibri</vt:lpstr>
      <vt:lpstr>Cambria Math</vt:lpstr>
      <vt:lpstr>Gill Sans MT</vt:lpstr>
      <vt:lpstr>Mabry Pro</vt:lpstr>
      <vt:lpstr>Mabry Pro Medium</vt:lpstr>
      <vt:lpstr>MabryPro-Bold</vt:lpstr>
      <vt:lpstr>Wingdings</vt:lpstr>
      <vt:lpstr>vm_20231227_auo_latest_theme</vt:lpstr>
      <vt:lpstr>IMAGE組 個人報告</vt:lpstr>
      <vt:lpstr>PowerPoint 簡報</vt:lpstr>
      <vt:lpstr>進行中的專案</vt:lpstr>
      <vt:lpstr>CVD值班查詢系統</vt:lpstr>
      <vt:lpstr>CVD-THK MQC輔助決策系統</vt:lpstr>
      <vt:lpstr>AM功能網頁</vt:lpstr>
      <vt:lpstr>Auto R2R(Chip ID)</vt:lpstr>
      <vt:lpstr>ODF Nozzle檢查機</vt:lpstr>
      <vt:lpstr>ODF Nozzle檢查機</vt:lpstr>
      <vt:lpstr>ODF Nozzle檢查機</vt:lpstr>
      <vt:lpstr>PowerPoint 簡報</vt:lpstr>
      <vt:lpstr>PowerPoint 簡報</vt:lpstr>
      <vt:lpstr>PowerPoint 簡報</vt:lpstr>
      <vt:lpstr>eStone &amp; Mail 通報功能上線</vt:lpstr>
      <vt:lpstr>CD鷹眼網頁</vt:lpstr>
      <vt:lpstr>PowerPoint 簡報</vt:lpstr>
      <vt:lpstr>平展站點</vt:lpstr>
      <vt:lpstr>PowerPoint 簡報</vt:lpstr>
      <vt:lpstr>進行中的專案</vt:lpstr>
      <vt:lpstr>PowerPoint 簡報</vt:lpstr>
      <vt:lpstr>門禁畫面</vt:lpstr>
      <vt:lpstr>人臉戴口罩辨識</vt:lpstr>
      <vt:lpstr>PowerPoint 簡報</vt:lpstr>
      <vt:lpstr>PowerPoint 簡報</vt:lpstr>
      <vt:lpstr>照片收集</vt:lpstr>
      <vt:lpstr>AI模型測試</vt:lpstr>
      <vt:lpstr>PowerPoint 簡報</vt:lpstr>
      <vt:lpstr>進行中的專案</vt:lpstr>
      <vt:lpstr>Seal Dispenser密封膠噴嘴 自動化檢測系統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Ruby YC Lin 林怡辰</cp:lastModifiedBy>
  <cp:revision>1562</cp:revision>
  <dcterms:created xsi:type="dcterms:W3CDTF">2021-12-10T03:08:47Z</dcterms:created>
  <dcterms:modified xsi:type="dcterms:W3CDTF">2025-06-06T07:55:23Z</dcterms:modified>
</cp:coreProperties>
</file>